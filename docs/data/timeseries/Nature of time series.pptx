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1618" r:id="rId2"/>
    <p:sldId id="257" r:id="rId3"/>
    <p:sldId id="258" r:id="rId4"/>
    <p:sldId id="1619" r:id="rId5"/>
    <p:sldId id="268" r:id="rId6"/>
    <p:sldId id="269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8682A-D114-AE4E-AA68-7A2533725E7D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D18D6-8439-1442-BB70-04DE0040AC4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404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F8814-B36A-A138-DD75-69776CC7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018D7-1BF2-335A-42C7-C787CBE6B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3DEF4-D478-9368-1728-8F9F3BB9F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7ED2B-51DA-F857-44FC-02FCDDECC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25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back to the "order matters" slides. The variance–covariance matrix is the formal statement of the independence assumption: OLS puts σ² on the diagonal and zero everywhere else. A random walk fills the off-diagonal in, because two samples share all the evolutionary history up to the earlier of the two — hence Cov = σ² min(t,s). Point out the numbers along the right-hand diagonal: the variance itself grows with time, so late samples are more spread out than early ones. Ignoring all of this is exactly what shrinks the standard errors and inflates 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previous slide showed one realisation of each mode; this one shows what the model actually says — the whole distribution of lineages it can produce. The dashed band is the model's prediction about covariance made visible. Stasis is the exception: it predicts zero covariance, so a stasis time series really is a set of independent draws — which is precisely why all four adePEM tests are white-noise tests, and why random-walk and trend data are detrended first. Detrending removes the covariance the model predicts; if the model is right, what is left should be independent. Note that paleoTS also adds the uncertainty in each sample mean to the diagonal of the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75017FD-52D0-17A3-59F0-0F746948B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31048F5F-4AC9-78EC-ADFE-6FAD896CD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3663430-2477-71B6-C3F3-BB22FC63B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D932833-78CD-BB72-9D84-4C1E2166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66294CB-2F51-8E0D-D323-F01BBC3A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982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7D875A0-AEF5-40F0-6020-5266C08E6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8C4DC85-04E1-B12D-E9D7-384436917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B16314E-CA0A-C3F9-3E46-EFEFAD25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804A995-587D-CF3F-ECC8-DAEC21F0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971A09C-6168-01BE-349F-9EF1B9B6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854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884F24D-2299-57BF-5707-5F05D7D7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AC56FA2-C77A-8A3A-140F-67D780FC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41A11BF-9D4F-1F9C-877F-5FA17FC3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FFEA4C2-3B2B-E2D5-4B09-8189EFB9F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02D7FC6-25B0-DC6B-D0AA-69A62EF2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7580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5C0AC0B-455B-4974-9C32-7ECAC4BA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BCD53A9-1D1C-1121-D0B9-3E2017880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62418472-62AC-7859-EA64-D66598065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D884A8CA-43C8-6C1B-9D6F-B89F6881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9127C6E5-8968-5C6C-EB07-F8187EAD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F76BD1D-52E7-7FEE-4486-A37ECB59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9758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F5A27CE-FE30-EC8A-0AD0-E8CD44930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008E0A7-8061-7405-69BF-7C8E2DBF1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B724F4E-4733-7D72-903A-7A442AAFF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121476D7-A2F3-43F4-03F1-443AE5C90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F9496A8A-AFF7-E02A-8210-36EF26869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EF4E95F0-2722-991E-7FAA-FF7169F3C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BFA172FA-A860-7B97-DC61-65848624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F467FE19-9995-1F9B-74B8-F01412AB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4562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53B672F-EC94-04AE-AC16-F6EFB0D1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62FE9BB8-DD6D-9648-12ED-26A93FC6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6A002105-6407-F8A5-EA03-163625F4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C140214A-E863-2935-CB98-8D0AB8F5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944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5AA3946E-4006-A69A-329A-7BFF7875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5BAD76D5-6FD8-319D-7AC6-F1002EE8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D5D1790-B95A-1632-3A64-CC14D034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3478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8905D53-38D8-55ED-280E-5EA251CC6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6EB0BF5-DECD-771F-ED0D-171FD503B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B0451F7-73F8-9E31-8DF5-B6A82AD74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3CFDD3D-4DF5-E4E9-E1DE-CE3B81E2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B20AA52D-CA60-1C2E-6530-383EC2F5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F7F0F3D-0520-5B4A-2B47-1695542C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8221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785C0F4-15BE-9A8F-C228-318D4CC6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14A3F3C1-82F5-A367-2A95-C1A5B44E7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C28884D-FB0B-170E-BAAD-B3EB6B05C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BA4E993-600D-5548-3E58-2D7DC6A1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8D1FEDD-8E2C-523B-F163-EAB58B5F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C86DB832-284F-C5CB-CE01-CD90C05B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0589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0D8A449-2E72-06FD-9BBD-198AA2A2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4B78EC8-19B0-AFDD-014F-4C0B21EF7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C78D65D-4C82-411D-EF8C-A4B14DC90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3F8407D-6CB7-5459-BC19-43067863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07605F7-88E9-3D57-CF1A-40A4F979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04806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993C3443-0F92-ED78-A6D7-067D0A3A6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1127EDD-D15F-1EF8-CDF3-C2A2BD26A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867ABE1-BC06-135A-9D26-8B173954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43C84CE-109B-1DD6-9495-35D1E5B0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311213F-595F-1B8D-BFDA-039206EE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11226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319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BC220135-02FB-DEC9-8A6D-0E9D9682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47A3438-560F-1994-7BB1-921D42AAA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C2D00E3-F379-9A0F-A47B-80A93694F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E3987-7E85-2C40-BF7B-38B165DC97D7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066642C-9388-6C1B-60EC-A30431D6E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EE4878A-944E-33CA-8FF8-C7E85967F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D7CC3-8A39-4D40-830C-2D0960D354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835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0089-B8DE-E287-32DD-784DB341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DAA65A27-5B66-2D33-CD7B-AB7A16A36976}"/>
              </a:ext>
            </a:extLst>
          </p:cNvPr>
          <p:cNvSpPr txBox="1">
            <a:spLocks/>
          </p:cNvSpPr>
          <p:nvPr/>
        </p:nvSpPr>
        <p:spPr>
          <a:xfrm>
            <a:off x="411126" y="1041400"/>
            <a:ext cx="1156310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sz="6000" dirty="0">
                <a:latin typeface="Palatino" pitchFamily="2" charset="77"/>
                <a:ea typeface="Palatino" pitchFamily="2" charset="77"/>
              </a:rPr>
              <a:t>Nature </a:t>
            </a:r>
            <a:r>
              <a:rPr lang="nb-NO" sz="6000" dirty="0" err="1">
                <a:latin typeface="Palatino" pitchFamily="2" charset="77"/>
                <a:ea typeface="Palatino" pitchFamily="2" charset="77"/>
              </a:rPr>
              <a:t>of</a:t>
            </a:r>
            <a:r>
              <a:rPr lang="nb-NO" sz="6000" dirty="0">
                <a:latin typeface="Palatino" pitchFamily="2" charset="77"/>
                <a:ea typeface="Palatino" pitchFamily="2" charset="77"/>
              </a:rPr>
              <a:t> time series data</a:t>
            </a:r>
          </a:p>
        </p:txBody>
      </p:sp>
    </p:spTree>
    <p:extLst>
      <p:ext uri="{BB962C8B-B14F-4D97-AF65-F5344CB8AC3E}">
        <p14:creationId xmlns:p14="http://schemas.microsoft.com/office/powerpoint/2010/main" val="3482492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609448" y="656216"/>
            <a:ext cx="5804799" cy="5790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anose="020F0502020204030204" pitchFamily="34" charset="0"/>
              </a:rPr>
              <a:t>Example:</a:t>
            </a:r>
          </a:p>
          <a:p>
            <a:pPr>
              <a:spcAft>
                <a:spcPts val="1000"/>
              </a:spcAft>
              <a:buSzPct val="100000"/>
            </a:pPr>
            <a:endParaRPr lang="en-US" sz="2200" dirty="0">
              <a:solidFill>
                <a:srgbClr val="1A1A1A"/>
              </a:solidFill>
              <a:latin typeface="Palatino" pitchFamily="2" charset="77"/>
              <a:ea typeface="Palatino" pitchFamily="2" charset="77"/>
              <a:cs typeface="Calibri" panose="020F0502020204030204" pitchFamily="34" charset="0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anose="020F0502020204030204" pitchFamily="34" charset="0"/>
              </a:rPr>
              <a:t>Regression data: many different individuals, each measured once. </a:t>
            </a:r>
          </a:p>
          <a:p>
            <a:pPr>
              <a:spcAft>
                <a:spcPts val="1000"/>
              </a:spcAft>
              <a:buSzPct val="100000"/>
            </a:pPr>
            <a:endParaRPr lang="en-US" sz="2200" dirty="0">
              <a:solidFill>
                <a:srgbClr val="1A1A1A"/>
              </a:solidFill>
              <a:latin typeface="Palatino" pitchFamily="2" charset="77"/>
              <a:ea typeface="Palatino" pitchFamily="2" charset="77"/>
              <a:cs typeface="Calibri" panose="020F0502020204030204" pitchFamily="34" charset="0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anose="020F0502020204030204" pitchFamily="34" charset="0"/>
              </a:rPr>
              <a:t>Time-series data: one individual, measured again and again. </a:t>
            </a:r>
          </a:p>
          <a:p>
            <a:pPr>
              <a:spcAft>
                <a:spcPts val="1000"/>
              </a:spcAft>
              <a:buSzPct val="100000"/>
            </a:pPr>
            <a:endParaRPr lang="en-US" sz="2200" dirty="0">
              <a:latin typeface="Palatino" pitchFamily="2" charset="77"/>
              <a:ea typeface="Palatino" pitchFamily="2" charset="77"/>
              <a:cs typeface="Calibri" panose="020F0502020204030204" pitchFamily="34" charset="0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anose="020F0502020204030204" pitchFamily="34" charset="0"/>
              </a:rPr>
              <a:t>Same number of data points but a completely different kind of information.</a:t>
            </a:r>
            <a:endParaRPr lang="en-US" sz="2200" dirty="0">
              <a:latin typeface="Palatino" pitchFamily="2" charset="77"/>
              <a:ea typeface="Palatino" pitchFamily="2" charset="77"/>
              <a:cs typeface="Calibri" panose="020F0502020204030204" pitchFamily="34" charset="0"/>
            </a:endParaRPr>
          </a:p>
        </p:txBody>
      </p:sp>
      <p:pic>
        <p:nvPicPr>
          <p:cNvPr id="8" name="Image 0" descr="/home/claude/paleo_ts_deck/figs/figA_two_kinds.png"/>
          <p:cNvPicPr>
            <a:picLocks noChangeAspect="1"/>
          </p:cNvPicPr>
          <p:nvPr/>
        </p:nvPicPr>
        <p:blipFill>
          <a:blip r:embed="rId3"/>
          <a:srcRect l="49850"/>
          <a:stretch>
            <a:fillRect/>
          </a:stretch>
        </p:blipFill>
        <p:spPr>
          <a:xfrm>
            <a:off x="6906182" y="3195737"/>
            <a:ext cx="4218867" cy="3410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0" name="Image 0" descr="/home/claude/paleo_ts_deck/figs/figA_two_kinds.png">
            <a:extLst>
              <a:ext uri="{FF2B5EF4-FFF2-40B4-BE49-F238E27FC236}">
                <a16:creationId xmlns:a16="http://schemas.microsoft.com/office/drawing/2014/main" id="{738EB81A-C0C2-617E-9D21-C631236493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850"/>
          <a:stretch>
            <a:fillRect/>
          </a:stretch>
        </p:blipFill>
        <p:spPr>
          <a:xfrm>
            <a:off x="6906182" y="251460"/>
            <a:ext cx="4218866" cy="34108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87680" y="2111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Order Matters</a:t>
            </a:r>
            <a:endParaRPr lang="en-US" sz="32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1165860"/>
            <a:ext cx="465028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In a regression, it doesn't matter which one you list first.</a:t>
            </a:r>
          </a:p>
          <a:p>
            <a:pPr>
              <a:spcAft>
                <a:spcPts val="1000"/>
              </a:spcAft>
              <a:buSzPct val="100000"/>
            </a:pPr>
            <a:endParaRPr lang="en-US" sz="2200" dirty="0">
              <a:latin typeface="Palatino" pitchFamily="2" charset="77"/>
              <a:ea typeface="Palatino" pitchFamily="2" charset="77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nb-NO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In a time series</a:t>
            </a: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, shuffling data wrecks the story.</a:t>
            </a:r>
          </a:p>
          <a:p>
            <a:pPr>
              <a:spcAft>
                <a:spcPts val="1000"/>
              </a:spcAft>
              <a:buSzPct val="100000"/>
            </a:pPr>
            <a:endParaRPr lang="en-US" sz="2200" dirty="0">
              <a:latin typeface="Palatino" pitchFamily="2" charset="77"/>
              <a:ea typeface="Palatino" pitchFamily="2" charset="77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The order IS the data in a time series. </a:t>
            </a:r>
            <a:endParaRPr lang="en-US" sz="2200" dirty="0"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8" name="Image 0" descr="/home/claude/paleo_ts_deck/figs/figB_why_order_mat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449" y="508288"/>
            <a:ext cx="5773871" cy="59610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E9C6-57D6-5926-71AA-75214881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F45E29A-3B8B-6EB8-8B30-252441E8D5F1}"/>
              </a:ext>
            </a:extLst>
          </p:cNvPr>
          <p:cNvSpPr/>
          <p:nvPr/>
        </p:nvSpPr>
        <p:spPr>
          <a:xfrm>
            <a:off x="487680" y="2111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Order Matters</a:t>
            </a:r>
            <a:endParaRPr lang="en-US" sz="32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0C1DECC-5C01-7FAF-8259-B1EF59279397}"/>
              </a:ext>
            </a:extLst>
          </p:cNvPr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42B4C22F-3FC1-F120-A945-E151516E0D05}"/>
              </a:ext>
            </a:extLst>
          </p:cNvPr>
          <p:cNvSpPr/>
          <p:nvPr/>
        </p:nvSpPr>
        <p:spPr>
          <a:xfrm>
            <a:off x="670560" y="988348"/>
            <a:ext cx="1130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Consecutive samples are dependent: the value at t is the value at t−1 plus whatever happened in between.</a:t>
            </a:r>
            <a:endParaRPr lang="en-US" sz="2200" dirty="0">
              <a:latin typeface="Palatino" pitchFamily="2" charset="77"/>
              <a:ea typeface="Palatino" pitchFamily="2" charset="77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50 dependent samples don't carry 50 samples' worth of information (effective sample size shrinks).</a:t>
            </a:r>
            <a:endParaRPr lang="en-US" sz="2200" dirty="0">
              <a:latin typeface="Palatino" pitchFamily="2" charset="77"/>
              <a:ea typeface="Palatino" pitchFamily="2" charset="77"/>
            </a:endParaRPr>
          </a:p>
          <a:p>
            <a:pPr>
              <a:spcAft>
                <a:spcPts val="1000"/>
              </a:spcAft>
              <a:buSzPct val="100000"/>
            </a:pP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Every standard error computed under independence is too small (</a:t>
            </a:r>
            <a:r>
              <a:rPr lang="nb-NO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and </a:t>
            </a:r>
            <a:r>
              <a:rPr lang="en-US" sz="2200" dirty="0">
                <a:solidFill>
                  <a:srgbClr val="1A1A1A"/>
                </a:solidFill>
                <a:latin typeface="Palatino" pitchFamily="2" charset="77"/>
                <a:ea typeface="Palatino" pitchFamily="2" charset="77"/>
                <a:cs typeface="Calibri" pitchFamily="34" charset="-120"/>
              </a:rPr>
              <a:t>every p-value too generous.)</a:t>
            </a:r>
            <a:endParaRPr lang="en-US" sz="2200" dirty="0"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3" name="Image 0" descr="/home/claude/paleo_ts_deck/figs/fig2_trajectory_increments.png">
            <a:extLst>
              <a:ext uri="{FF2B5EF4-FFF2-40B4-BE49-F238E27FC236}">
                <a16:creationId xmlns:a16="http://schemas.microsoft.com/office/drawing/2014/main" id="{05C4E00E-9AAC-DBFD-F45F-5C8C90AE0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838" y="3137188"/>
            <a:ext cx="7592861" cy="367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2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ordinary regression quietly assumes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normal regression assumes the errors are independent: Cov(εᵢ, εⱼ) = 0 for every pair of observations. That is what makes each new point count as a whole new point.</a:t>
            </a:r>
            <a:endParaRPr lang="en-US" sz="2300" dirty="0"/>
          </a:p>
        </p:txBody>
      </p:sp>
      <p:pic>
        <p:nvPicPr>
          <p:cNvPr id="4" name="Image 0" descr="/home/claude/lecture/figs/cov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286000"/>
            <a:ext cx="950976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6692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200" i="1" dirty="0">
                <a:solidFill>
                  <a:srgbClr val="0000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 a fossil time series that assumption is simply false: the trait mean at time t already contains the trait mean at t−1.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model of evolution is a model of covariance</a:t>
            </a:r>
            <a:endParaRPr lang="en-US" sz="3200" dirty="0"/>
          </a:p>
        </p:txBody>
      </p:sp>
      <p:pic>
        <p:nvPicPr>
          <p:cNvPr id="3" name="Image 0" descr="/home/claude/lecture/figs/cov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43000"/>
            <a:ext cx="9875520" cy="3054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42245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250 simulated lineages per mode, with the expected ±2 SD band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1248" y="4681728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Stasis:   Cov(t, s) = 0   —  the band never widens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Random walk:   Cov(t, s) = σ² · min(t, s)   —  the band widens as √time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Directional trend:   the same covariance, but the expected value moves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66928" y="6217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0000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Choosing a mode of evolution means choosing a covariance structure.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532</Words>
  <Application>Microsoft Macintosh PowerPoint</Application>
  <PresentationFormat>Widescreen</PresentationFormat>
  <Paragraphs>37</Paragraphs>
  <Slides>6</Slides>
  <Notes>5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Palatino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Kjetil Lysne Voje</dc:creator>
  <cp:lastModifiedBy>Kjetil Lysne Voje</cp:lastModifiedBy>
  <cp:revision>3</cp:revision>
  <dcterms:created xsi:type="dcterms:W3CDTF">2026-08-25T08:07:54Z</dcterms:created>
  <dcterms:modified xsi:type="dcterms:W3CDTF">2026-08-25T08:25:28Z</dcterms:modified>
</cp:coreProperties>
</file>