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varScale="1">
        <p:scale>
          <a:sx n="95" d="100"/>
          <a:sy n="95" d="100"/>
        </p:scale>
        <p:origin x="200" y="8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38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the whole lecture: model selection tells you which of your candidates fits best. It never tells you whether that winner is a good description of your data. Two separate questions; today we deal with the second 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steps quickly — this is what they already do in their project work. Then land on the last two lines: at no point did anyone check that the winner is a sensible description of the data. Ask the room how they would check, and let them try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Relative fit compares models with each other; absolute fit compares one model with the data. The second question does not involve the other candidates at all. Stress that the two answers are logically independent.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race analogy is the line to repeat later. The structural point: information criteria and likelihood ratio tests have no mechanism for rejecting all candidates at once, because they only ever compare.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 test statistic is just a number you can compute from a dataset — a correlation, a slope, a count. Step 5 is the whole logic: your data are one dataset, the model tells you what a thousand of its own datasets look like, and if yours is an outlier among them the model does not produce data like yours. If it falls outside, the model fails that test.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not palaeontological — the logic is completely general.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last line and plant the seed: every candidate makes the same constant-noise assumption, so no amount of model comparison between them can ever catch a problem with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ΔAICc of 53.9 for model A is enormous — nobody would defend it. Between B and C the difference is small and the extra parameter is not worth it. The winner looks convincing. Pause on the last 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look for 20-30 seconds before saying anything. Some will spot it, some will not — that is the point: eyeballing works sometimes but is unreliable, which is why we turn the comparison into a number.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are the plus and minus residuals in random order? Observed 44 runs; the model produces 32-49. Passes. Right: does the spread grow with shoe size? Observed slope 0.63; the model essentially never produces anything above 0.23. Fails badly. Say the consequence out loud: the single residual SD of 5.7 cm we would have reported describes nobody — far too wide for size 36, far too narrow for size 47. Failing one test is enough.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logic, same problem, different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Palaeontologists face the identical situation: three candidate models, an AICc ranking, and parameters — rates of evolution — that people then interpret biologically. Those rate estimates are only meaningful if the model actually describes the trait dynamics.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dwell on the maths. What matters is that each statistic captures a feature the model has a commitment to, and each is compared against 1000 simulations exactly as in the shoe-size example. The net evolution test is the one that encodes the verbal definition of stasis: little net change.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AICc scores are negative, so −38.73 is the best — say that explicitly, undergraduates trip on it. This is the cleanest demonstration that a huge ΔAICc is not evidence of a good model. And it cannot be seen by eye: the autocorrelation in the proloculus data is not visually obvious.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mirror image of the previous case: adequacy can promote a model that lost the ranking. Ask what they would have reported if they had only looked at the AICc column — a directional trend, a claim about sustained directional evolution, from data that do not support it. Voje (2018), figs. 5-6 and table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point 5. Model adequacy is not a gatekeeping ritual: it tells you which assumptions your data break, and you decide whether that matters for the inference you want to make. An adequate model is also not a true model — it only means the data do not violate the specific properties you tested.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600200"/>
            <a:ext cx="11055096" cy="914400"/>
          </a:xfrm>
          <a:prstGeom prst="rect">
            <a:avLst/>
          </a:prstGeom>
          <a:noFill/>
          <a:ln/>
        </p:spPr>
        <p:txBody>
          <a:bodyPr wrap="square" lIns="0" tIns="0" rIns="0" bIns="0" rtlCol="0" anchor="ctr"/>
          <a:lstStyle/>
          <a:p>
            <a:pPr marL="0" indent="0" algn="ctr">
              <a:buNone/>
            </a:pPr>
            <a:r>
              <a:rPr lang="en-US" sz="5000" dirty="0">
                <a:solidFill>
                  <a:srgbClr val="000000"/>
                </a:solidFill>
                <a:latin typeface="Palatino" pitchFamily="34" charset="0"/>
                <a:ea typeface="Palatino" pitchFamily="34" charset="-122"/>
                <a:cs typeface="Palatino" pitchFamily="34" charset="-120"/>
              </a:rPr>
              <a:t>Model adequacy</a:t>
            </a:r>
          </a:p>
          <a:p>
            <a:pPr marL="0" indent="0" algn="ctr">
              <a:buNone/>
            </a:pPr>
            <a:endParaRPr lang="en-US" sz="5000" dirty="0"/>
          </a:p>
        </p:txBody>
      </p:sp>
      <p:sp>
        <p:nvSpPr>
          <p:cNvPr id="3" name="Text 1"/>
          <p:cNvSpPr/>
          <p:nvPr/>
        </p:nvSpPr>
        <p:spPr>
          <a:xfrm>
            <a:off x="566928" y="2606040"/>
            <a:ext cx="11055096" cy="640080"/>
          </a:xfrm>
          <a:prstGeom prst="rect">
            <a:avLst/>
          </a:prstGeom>
          <a:noFill/>
          <a:ln/>
        </p:spPr>
        <p:txBody>
          <a:bodyPr wrap="square" lIns="0" tIns="0" rIns="0" bIns="0" rtlCol="0" anchor="ctr"/>
          <a:lstStyle/>
          <a:p>
            <a:pPr marL="0" indent="0" algn="ctr">
              <a:buNone/>
            </a:pPr>
            <a:r>
              <a:rPr lang="en-US" sz="2600" dirty="0">
                <a:solidFill>
                  <a:srgbClr val="000000"/>
                </a:solidFill>
                <a:latin typeface="Palatino" pitchFamily="34" charset="0"/>
                <a:ea typeface="Palatino" pitchFamily="34" charset="-122"/>
                <a:cs typeface="Palatino" pitchFamily="34" charset="-120"/>
              </a:rPr>
              <a:t>(and why AIC cannot tell you whether your model is any good)</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How we often choose a model</a:t>
            </a:r>
            <a:endParaRPr lang="en-US" sz="3200" dirty="0"/>
          </a:p>
        </p:txBody>
      </p:sp>
      <p:sp>
        <p:nvSpPr>
          <p:cNvPr id="3" name="Text 1"/>
          <p:cNvSpPr/>
          <p:nvPr/>
        </p:nvSpPr>
        <p:spPr>
          <a:xfrm>
            <a:off x="932688" y="1554480"/>
            <a:ext cx="10515600" cy="2377440"/>
          </a:xfrm>
          <a:prstGeom prst="rect">
            <a:avLst/>
          </a:prstGeom>
          <a:noFill/>
          <a:ln/>
        </p:spPr>
        <p:txBody>
          <a:bodyPr wrap="square" lIns="0" tIns="0" rIns="0" bIns="0" rtlCol="0" anchor="t"/>
          <a:lstStyle/>
          <a:p>
            <a:pPr marL="342900" indent="-342900">
              <a:spcAft>
                <a:spcPts val="2200"/>
              </a:spcAft>
              <a:buSzPct val="100000"/>
              <a:buFont typeface="+mj-lt"/>
              <a:buAutoNum type="arabicPeriod"/>
            </a:pPr>
            <a:r>
              <a:rPr lang="en-US" sz="2800" dirty="0">
                <a:solidFill>
                  <a:srgbClr val="000000"/>
                </a:solidFill>
                <a:latin typeface="Palatino" pitchFamily="34" charset="0"/>
                <a:ea typeface="Palatino" pitchFamily="34" charset="-122"/>
                <a:cs typeface="Palatino" pitchFamily="34" charset="-120"/>
              </a:rPr>
              <a:t>Write down a few candidate models</a:t>
            </a:r>
            <a:endParaRPr lang="en-US" sz="2800" dirty="0"/>
          </a:p>
          <a:p>
            <a:pPr marL="342900" indent="-342900">
              <a:spcAft>
                <a:spcPts val="2200"/>
              </a:spcAft>
              <a:buSzPct val="100000"/>
              <a:buFont typeface="+mj-lt"/>
              <a:buAutoNum type="arabicPeriod"/>
            </a:pPr>
            <a:r>
              <a:rPr lang="en-US" sz="2800" dirty="0">
                <a:solidFill>
                  <a:srgbClr val="000000"/>
                </a:solidFill>
                <a:latin typeface="Palatino" pitchFamily="34" charset="0"/>
                <a:ea typeface="Palatino" pitchFamily="34" charset="-122"/>
                <a:cs typeface="Palatino" pitchFamily="34" charset="-120"/>
              </a:rPr>
              <a:t>Fit each one to the data</a:t>
            </a:r>
            <a:endParaRPr lang="en-US" sz="2800" dirty="0"/>
          </a:p>
          <a:p>
            <a:pPr marL="342900" indent="-342900">
              <a:spcAft>
                <a:spcPts val="2200"/>
              </a:spcAft>
              <a:buSzPct val="100000"/>
              <a:buFont typeface="+mj-lt"/>
              <a:buAutoNum type="arabicPeriod"/>
            </a:pPr>
            <a:r>
              <a:rPr lang="en-US" sz="2800" dirty="0">
                <a:solidFill>
                  <a:srgbClr val="000000"/>
                </a:solidFill>
                <a:latin typeface="Palatino" pitchFamily="34" charset="0"/>
                <a:ea typeface="Palatino" pitchFamily="34" charset="-122"/>
                <a:cs typeface="Palatino" pitchFamily="34" charset="-120"/>
              </a:rPr>
              <a:t>Rank them with AIC — the lowest score wins</a:t>
            </a:r>
            <a:endParaRPr lang="en-US" sz="2800" dirty="0"/>
          </a:p>
        </p:txBody>
      </p:sp>
      <p:sp>
        <p:nvSpPr>
          <p:cNvPr id="4" name="Text 2"/>
          <p:cNvSpPr/>
          <p:nvPr/>
        </p:nvSpPr>
        <p:spPr>
          <a:xfrm>
            <a:off x="566928" y="4114800"/>
            <a:ext cx="10881360" cy="1097280"/>
          </a:xfrm>
          <a:prstGeom prst="rect">
            <a:avLst/>
          </a:prstGeom>
          <a:noFill/>
          <a:ln/>
        </p:spPr>
        <p:txBody>
          <a:bodyPr wrap="square" lIns="0" tIns="0" rIns="0" bIns="0" rtlCol="0" anchor="t"/>
          <a:lstStyle/>
          <a:p>
            <a:pPr marL="0" indent="0">
              <a:lnSpc>
                <a:spcPts val="3800"/>
              </a:lnSpc>
              <a:buNone/>
            </a:pPr>
            <a:r>
              <a:rPr lang="en-US" sz="2700" dirty="0">
                <a:solidFill>
                  <a:srgbClr val="000000"/>
                </a:solidFill>
                <a:latin typeface="Palatino" pitchFamily="34" charset="0"/>
                <a:ea typeface="Palatino" pitchFamily="34" charset="-122"/>
                <a:cs typeface="Palatino" pitchFamily="34" charset="-120"/>
              </a:rPr>
              <a:t>Nothing in this workflow ever asks whether the winning model is a good description of the data.</a:t>
            </a:r>
            <a:endParaRPr lang="en-US" sz="2700" dirty="0"/>
          </a:p>
        </p:txBody>
      </p:sp>
      <p:sp>
        <p:nvSpPr>
          <p:cNvPr id="5" name="Text 3"/>
          <p:cNvSpPr/>
          <p:nvPr/>
        </p:nvSpPr>
        <p:spPr>
          <a:xfrm>
            <a:off x="566928" y="5486400"/>
            <a:ext cx="10881360" cy="731520"/>
          </a:xfrm>
          <a:prstGeom prst="rect">
            <a:avLst/>
          </a:prstGeom>
          <a:noFill/>
          <a:ln/>
        </p:spPr>
        <p:txBody>
          <a:bodyPr wrap="square" lIns="0" tIns="0" rIns="0" bIns="0" rtlCol="0" anchor="t"/>
          <a:lstStyle/>
          <a:p>
            <a:pPr marL="0" indent="0">
              <a:buNone/>
            </a:pPr>
            <a:r>
              <a:rPr lang="en-US" sz="2800" i="1" dirty="0">
                <a:solidFill>
                  <a:srgbClr val="000000"/>
                </a:solidFill>
                <a:latin typeface="Palatino" pitchFamily="34" charset="0"/>
                <a:ea typeface="Palatino" pitchFamily="34" charset="-122"/>
                <a:cs typeface="Palatino" pitchFamily="34" charset="-120"/>
              </a:rPr>
              <a:t>How would you even check?</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Two different questions</a:t>
            </a:r>
            <a:endParaRPr lang="en-US" sz="3200" dirty="0"/>
          </a:p>
        </p:txBody>
      </p:sp>
      <p:sp>
        <p:nvSpPr>
          <p:cNvPr id="3" name="Text 1"/>
          <p:cNvSpPr/>
          <p:nvPr/>
        </p:nvSpPr>
        <p:spPr>
          <a:xfrm>
            <a:off x="566928" y="1371600"/>
            <a:ext cx="10881360" cy="457200"/>
          </a:xfrm>
          <a:prstGeom prst="rect">
            <a:avLst/>
          </a:prstGeom>
          <a:noFill/>
          <a:ln/>
        </p:spPr>
        <p:txBody>
          <a:bodyPr wrap="square" lIns="0" tIns="0" rIns="0" bIns="0" rtlCol="0" anchor="ctr"/>
          <a:lstStyle/>
          <a:p>
            <a:pPr marL="0" indent="0">
              <a:buNone/>
            </a:pPr>
            <a:r>
              <a:rPr lang="en-US" sz="2800" b="1" dirty="0">
                <a:solidFill>
                  <a:srgbClr val="000000"/>
                </a:solidFill>
                <a:latin typeface="Palatino" pitchFamily="34" charset="0"/>
                <a:ea typeface="Palatino" pitchFamily="34" charset="-122"/>
                <a:cs typeface="Palatino" pitchFamily="34" charset="-120"/>
              </a:rPr>
              <a:t>Relative fit</a:t>
            </a:r>
            <a:endParaRPr lang="en-US" sz="2800" dirty="0"/>
          </a:p>
        </p:txBody>
      </p:sp>
      <p:sp>
        <p:nvSpPr>
          <p:cNvPr id="4" name="Text 2"/>
          <p:cNvSpPr/>
          <p:nvPr/>
        </p:nvSpPr>
        <p:spPr>
          <a:xfrm>
            <a:off x="932688" y="1874520"/>
            <a:ext cx="10515600" cy="1005840"/>
          </a:xfrm>
          <a:prstGeom prst="rect">
            <a:avLst/>
          </a:prstGeom>
          <a:noFill/>
          <a:ln/>
        </p:spPr>
        <p:txBody>
          <a:bodyPr wrap="square" lIns="0" tIns="0" rIns="0" bIns="0" rtlCol="0" anchor="t"/>
          <a:lstStyle/>
          <a:p>
            <a:pPr marL="0" indent="0">
              <a:lnSpc>
                <a:spcPts val="3400"/>
              </a:lnSpc>
              <a:buNone/>
            </a:pPr>
            <a:r>
              <a:rPr lang="en-US" sz="2500" dirty="0">
                <a:solidFill>
                  <a:srgbClr val="000000"/>
                </a:solidFill>
                <a:latin typeface="Palatino" pitchFamily="34" charset="0"/>
                <a:ea typeface="Palatino" pitchFamily="34" charset="-122"/>
                <a:cs typeface="Palatino" pitchFamily="34" charset="-120"/>
              </a:rPr>
              <a:t>Which of my candidate models fits best?</a:t>
            </a:r>
            <a:endParaRPr lang="en-US" sz="2500" dirty="0"/>
          </a:p>
          <a:p>
            <a:pPr marL="0" indent="0">
              <a:lnSpc>
                <a:spcPts val="3400"/>
              </a:lnSpc>
              <a:buNone/>
            </a:pPr>
            <a:r>
              <a:rPr lang="en-US" sz="2500" dirty="0">
                <a:solidFill>
                  <a:srgbClr val="000000"/>
                </a:solidFill>
                <a:latin typeface="Palatino" pitchFamily="34" charset="0"/>
                <a:ea typeface="Palatino" pitchFamily="34" charset="-122"/>
                <a:cs typeface="Palatino" pitchFamily="34" charset="-120"/>
              </a:rPr>
              <a:t>AIC, AICc, likelihood ratio tests.   The answer is a ranking.</a:t>
            </a:r>
            <a:endParaRPr lang="en-US" sz="2500" dirty="0"/>
          </a:p>
        </p:txBody>
      </p:sp>
      <p:sp>
        <p:nvSpPr>
          <p:cNvPr id="5" name="Text 3"/>
          <p:cNvSpPr/>
          <p:nvPr/>
        </p:nvSpPr>
        <p:spPr>
          <a:xfrm>
            <a:off x="566928" y="3108960"/>
            <a:ext cx="10881360" cy="457200"/>
          </a:xfrm>
          <a:prstGeom prst="rect">
            <a:avLst/>
          </a:prstGeom>
          <a:noFill/>
          <a:ln/>
        </p:spPr>
        <p:txBody>
          <a:bodyPr wrap="square" lIns="0" tIns="0" rIns="0" bIns="0" rtlCol="0" anchor="ctr"/>
          <a:lstStyle/>
          <a:p>
            <a:pPr marL="0" indent="0">
              <a:buNone/>
            </a:pPr>
            <a:r>
              <a:rPr lang="en-US" sz="2800" b="1" dirty="0">
                <a:solidFill>
                  <a:srgbClr val="000000"/>
                </a:solidFill>
                <a:latin typeface="Palatino" pitchFamily="34" charset="0"/>
                <a:ea typeface="Palatino" pitchFamily="34" charset="-122"/>
                <a:cs typeface="Palatino" pitchFamily="34" charset="-120"/>
              </a:rPr>
              <a:t>Absolute fit  —  model adequacy</a:t>
            </a:r>
            <a:endParaRPr lang="en-US" sz="2800" dirty="0"/>
          </a:p>
        </p:txBody>
      </p:sp>
      <p:sp>
        <p:nvSpPr>
          <p:cNvPr id="6" name="Text 4"/>
          <p:cNvSpPr/>
          <p:nvPr/>
        </p:nvSpPr>
        <p:spPr>
          <a:xfrm>
            <a:off x="932688" y="3611880"/>
            <a:ext cx="10515600" cy="1005840"/>
          </a:xfrm>
          <a:prstGeom prst="rect">
            <a:avLst/>
          </a:prstGeom>
          <a:noFill/>
          <a:ln/>
        </p:spPr>
        <p:txBody>
          <a:bodyPr wrap="square" lIns="0" tIns="0" rIns="0" bIns="0" rtlCol="0" anchor="t"/>
          <a:lstStyle/>
          <a:p>
            <a:pPr marL="0" indent="0">
              <a:lnSpc>
                <a:spcPts val="3400"/>
              </a:lnSpc>
              <a:buNone/>
            </a:pPr>
            <a:r>
              <a:rPr lang="en-US" sz="2500" dirty="0">
                <a:solidFill>
                  <a:srgbClr val="000000"/>
                </a:solidFill>
                <a:latin typeface="Palatino" pitchFamily="34" charset="0"/>
                <a:ea typeface="Palatino" pitchFamily="34" charset="-122"/>
                <a:cs typeface="Palatino" pitchFamily="34" charset="-120"/>
              </a:rPr>
              <a:t>Could this model have produced data like mine?</a:t>
            </a:r>
            <a:endParaRPr lang="en-US" sz="2500" dirty="0"/>
          </a:p>
          <a:p>
            <a:pPr marL="0" indent="0">
              <a:lnSpc>
                <a:spcPts val="3400"/>
              </a:lnSpc>
              <a:buNone/>
            </a:pPr>
            <a:r>
              <a:rPr lang="en-US" sz="2500" dirty="0">
                <a:solidFill>
                  <a:srgbClr val="000000"/>
                </a:solidFill>
                <a:latin typeface="Palatino" pitchFamily="34" charset="0"/>
                <a:ea typeface="Palatino" pitchFamily="34" charset="-122"/>
                <a:cs typeface="Palatino" pitchFamily="34" charset="-120"/>
              </a:rPr>
              <a:t>Simulate from the fitted model and compare.   No other model is involved.</a:t>
            </a:r>
            <a:endParaRPr lang="en-US" sz="2500" dirty="0"/>
          </a:p>
        </p:txBody>
      </p:sp>
      <p:sp>
        <p:nvSpPr>
          <p:cNvPr id="7" name="Text 5"/>
          <p:cNvSpPr/>
          <p:nvPr/>
        </p:nvSpPr>
        <p:spPr>
          <a:xfrm>
            <a:off x="566928" y="4937760"/>
            <a:ext cx="10881360" cy="1188720"/>
          </a:xfrm>
          <a:prstGeom prst="rect">
            <a:avLst/>
          </a:prstGeom>
          <a:noFill/>
          <a:ln/>
        </p:spPr>
        <p:txBody>
          <a:bodyPr wrap="square" lIns="0" tIns="0" rIns="0" bIns="0" rtlCol="0" anchor="t"/>
          <a:lstStyle/>
          <a:p>
            <a:pPr marL="0" indent="0">
              <a:lnSpc>
                <a:spcPts val="3400"/>
              </a:lnSpc>
              <a:buNone/>
            </a:pPr>
            <a:r>
              <a:rPr lang="en-US" sz="2300" i="1" dirty="0">
                <a:solidFill>
                  <a:srgbClr val="000000"/>
                </a:solidFill>
                <a:latin typeface="Palatino" pitchFamily="34" charset="0"/>
                <a:ea typeface="Palatino" pitchFamily="34" charset="-122"/>
                <a:cs typeface="Palatino" pitchFamily="34" charset="-120"/>
              </a:rPr>
              <a:t>The two answers are independent. A model can win the ranking and still describe the data badly.</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What AIC cannot do</a:t>
            </a:r>
            <a:endParaRPr lang="en-US" sz="3200" dirty="0"/>
          </a:p>
        </p:txBody>
      </p:sp>
      <p:sp>
        <p:nvSpPr>
          <p:cNvPr id="3" name="Text 1"/>
          <p:cNvSpPr/>
          <p:nvPr/>
        </p:nvSpPr>
        <p:spPr>
          <a:xfrm>
            <a:off x="932688" y="1554480"/>
            <a:ext cx="10689336" cy="3108960"/>
          </a:xfrm>
          <a:prstGeom prst="rect">
            <a:avLst/>
          </a:prstGeom>
          <a:noFill/>
          <a:ln/>
        </p:spPr>
        <p:txBody>
          <a:bodyPr wrap="square" lIns="0" tIns="0" rIns="0" bIns="0" rtlCol="0" anchor="t"/>
          <a:lstStyle/>
          <a:p>
            <a:pPr marL="342900" indent="-342900">
              <a:spcAft>
                <a:spcPts val="2000"/>
              </a:spcAft>
              <a:buSzPct val="100000"/>
              <a:buChar char="•"/>
            </a:pPr>
            <a:r>
              <a:rPr lang="en-US" sz="2700" dirty="0">
                <a:solidFill>
                  <a:srgbClr val="000000"/>
                </a:solidFill>
                <a:latin typeface="Palatino" pitchFamily="34" charset="0"/>
                <a:ea typeface="Palatino" pitchFamily="34" charset="-122"/>
                <a:cs typeface="Palatino" pitchFamily="34" charset="-120"/>
              </a:rPr>
              <a:t>It cannot reject all your candidates (one of them always comes first)</a:t>
            </a:r>
            <a:endParaRPr lang="en-US" sz="2700" dirty="0"/>
          </a:p>
          <a:p>
            <a:pPr marL="342900" indent="-342900">
              <a:spcAft>
                <a:spcPts val="2000"/>
              </a:spcAft>
              <a:buSzPct val="100000"/>
              <a:buChar char="•"/>
            </a:pPr>
            <a:r>
              <a:rPr lang="en-US" sz="2700" dirty="0">
                <a:solidFill>
                  <a:srgbClr val="000000"/>
                </a:solidFill>
                <a:latin typeface="Palatino" pitchFamily="34" charset="0"/>
                <a:ea typeface="Palatino" pitchFamily="34" charset="-122"/>
                <a:cs typeface="Palatino" pitchFamily="34" charset="-120"/>
              </a:rPr>
              <a:t>A large ΔAIC means “much better”, not “good”</a:t>
            </a:r>
            <a:endParaRPr lang="en-US" sz="2700" dirty="0"/>
          </a:p>
          <a:p>
            <a:pPr marL="342900" indent="-342900">
              <a:spcAft>
                <a:spcPts val="2000"/>
              </a:spcAft>
              <a:buSzPct val="100000"/>
              <a:buChar char="•"/>
            </a:pPr>
            <a:r>
              <a:rPr lang="en-US" sz="2700" dirty="0">
                <a:solidFill>
                  <a:srgbClr val="000000"/>
                </a:solidFill>
                <a:latin typeface="Palatino" pitchFamily="34" charset="0"/>
                <a:ea typeface="Palatino" pitchFamily="34" charset="-122"/>
                <a:cs typeface="Palatino" pitchFamily="34" charset="-120"/>
              </a:rPr>
              <a:t>It cannot see a pattern that none of your models has a name for</a:t>
            </a:r>
            <a:endParaRPr lang="en-US" sz="2700" dirty="0"/>
          </a:p>
          <a:p>
            <a:pPr marL="342900" indent="-342900">
              <a:spcAft>
                <a:spcPts val="2000"/>
              </a:spcAft>
              <a:buSzPct val="100000"/>
              <a:buChar char="•"/>
            </a:pPr>
            <a:r>
              <a:rPr lang="en-US" sz="2700" dirty="0">
                <a:solidFill>
                  <a:srgbClr val="000000"/>
                </a:solidFill>
                <a:latin typeface="Palatino" pitchFamily="34" charset="0"/>
                <a:ea typeface="Palatino" pitchFamily="34" charset="-122"/>
                <a:cs typeface="Palatino" pitchFamily="34" charset="-120"/>
              </a:rPr>
              <a:t>The winner is only the best of the list you wrote down</a:t>
            </a:r>
            <a:endParaRPr lang="en-US" sz="2700" dirty="0"/>
          </a:p>
        </p:txBody>
      </p:sp>
      <p:sp>
        <p:nvSpPr>
          <p:cNvPr id="4" name="Text 2"/>
          <p:cNvSpPr/>
          <p:nvPr/>
        </p:nvSpPr>
        <p:spPr>
          <a:xfrm>
            <a:off x="566928" y="4846320"/>
            <a:ext cx="10881360" cy="1188720"/>
          </a:xfrm>
          <a:prstGeom prst="rect">
            <a:avLst/>
          </a:prstGeom>
          <a:noFill/>
          <a:ln/>
        </p:spPr>
        <p:txBody>
          <a:bodyPr wrap="square" lIns="0" tIns="0" rIns="0" bIns="0" rtlCol="0" anchor="t"/>
          <a:lstStyle/>
          <a:p>
            <a:pPr marL="0" indent="0" algn="ctr">
              <a:lnSpc>
                <a:spcPts val="3800"/>
              </a:lnSpc>
              <a:buNone/>
            </a:pPr>
            <a:r>
              <a:rPr lang="en-US" sz="2800" i="1" dirty="0">
                <a:solidFill>
                  <a:srgbClr val="000000"/>
                </a:solidFill>
                <a:latin typeface="Palatino" pitchFamily="34" charset="0"/>
                <a:ea typeface="Palatino" pitchFamily="34" charset="-122"/>
                <a:cs typeface="Palatino" pitchFamily="34" charset="-120"/>
              </a:rPr>
              <a:t>A race always has a winner.</a:t>
            </a:r>
            <a:endParaRPr lang="en-US" sz="2800" dirty="0"/>
          </a:p>
          <a:p>
            <a:pPr marL="0" indent="0" algn="ctr">
              <a:lnSpc>
                <a:spcPts val="3800"/>
              </a:lnSpc>
              <a:buNone/>
            </a:pPr>
            <a:r>
              <a:rPr lang="en-US" sz="2800" i="1" dirty="0">
                <a:solidFill>
                  <a:srgbClr val="000000"/>
                </a:solidFill>
                <a:latin typeface="Palatino" pitchFamily="34" charset="0"/>
                <a:ea typeface="Palatino" pitchFamily="34" charset="-122"/>
                <a:cs typeface="Palatino" pitchFamily="34" charset="-120"/>
              </a:rPr>
              <a:t>That tells you nothing about whether anyone ran fast.</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Model adequacy</a:t>
            </a:r>
            <a:endParaRPr lang="en-US" sz="3200" dirty="0"/>
          </a:p>
        </p:txBody>
      </p:sp>
      <p:sp>
        <p:nvSpPr>
          <p:cNvPr id="3" name="Text 1"/>
          <p:cNvSpPr/>
          <p:nvPr/>
        </p:nvSpPr>
        <p:spPr>
          <a:xfrm>
            <a:off x="566928" y="1234440"/>
            <a:ext cx="10881360" cy="1188720"/>
          </a:xfrm>
          <a:prstGeom prst="rect">
            <a:avLst/>
          </a:prstGeom>
          <a:noFill/>
          <a:ln/>
        </p:spPr>
        <p:txBody>
          <a:bodyPr wrap="square" lIns="0" tIns="0" rIns="0" bIns="0" rtlCol="0" anchor="t"/>
          <a:lstStyle/>
          <a:p>
            <a:pPr marL="0" indent="0">
              <a:lnSpc>
                <a:spcPts val="3800"/>
              </a:lnSpc>
              <a:buNone/>
            </a:pPr>
            <a:r>
              <a:rPr lang="en-US" sz="2700" dirty="0">
                <a:solidFill>
                  <a:srgbClr val="000000"/>
                </a:solidFill>
                <a:latin typeface="Palatino" pitchFamily="34" charset="0"/>
                <a:ea typeface="Palatino" pitchFamily="34" charset="-122"/>
                <a:cs typeface="Palatino" pitchFamily="34" charset="-120"/>
              </a:rPr>
              <a:t>If a model describes my data well, then data simulated by that model should look like the data I actually have.</a:t>
            </a:r>
            <a:endParaRPr lang="en-US" sz="2700" dirty="0"/>
          </a:p>
        </p:txBody>
      </p:sp>
      <p:sp>
        <p:nvSpPr>
          <p:cNvPr id="4" name="Text 2"/>
          <p:cNvSpPr/>
          <p:nvPr/>
        </p:nvSpPr>
        <p:spPr>
          <a:xfrm>
            <a:off x="932688" y="2697480"/>
            <a:ext cx="10515600" cy="3200400"/>
          </a:xfrm>
          <a:prstGeom prst="rect">
            <a:avLst/>
          </a:prstGeom>
          <a:noFill/>
          <a:ln/>
        </p:spPr>
        <p:txBody>
          <a:bodyPr wrap="square" lIns="0" tIns="0" rIns="0" bIns="0" rtlCol="0" anchor="t"/>
          <a:lstStyle/>
          <a:p>
            <a:pPr marL="342900" indent="-342900">
              <a:spcAft>
                <a:spcPts val="1400"/>
              </a:spcAft>
              <a:buSzPct val="100000"/>
              <a:buFont typeface="+mj-lt"/>
              <a:buAutoNum type="arabicPeriod"/>
            </a:pPr>
            <a:r>
              <a:rPr lang="en-US" sz="2500" dirty="0">
                <a:solidFill>
                  <a:srgbClr val="000000"/>
                </a:solidFill>
                <a:latin typeface="Palatino" pitchFamily="34" charset="0"/>
                <a:ea typeface="Palatino" pitchFamily="34" charset="-122"/>
                <a:cs typeface="Palatino" pitchFamily="34" charset="-120"/>
              </a:rPr>
              <a:t>Fit the model to your data</a:t>
            </a:r>
            <a:endParaRPr lang="en-US" sz="2500" dirty="0"/>
          </a:p>
          <a:p>
            <a:pPr marL="342900" indent="-342900">
              <a:spcAft>
                <a:spcPts val="1400"/>
              </a:spcAft>
              <a:buSzPct val="100000"/>
              <a:buFont typeface="+mj-lt"/>
              <a:buAutoNum type="arabicPeriod"/>
            </a:pPr>
            <a:r>
              <a:rPr lang="en-US" sz="2500" dirty="0">
                <a:solidFill>
                  <a:srgbClr val="000000"/>
                </a:solidFill>
                <a:latin typeface="Palatino" pitchFamily="34" charset="0"/>
                <a:ea typeface="Palatino" pitchFamily="34" charset="-122"/>
                <a:cs typeface="Palatino" pitchFamily="34" charset="-120"/>
              </a:rPr>
              <a:t>Calculate a test statistic on your data</a:t>
            </a:r>
            <a:endParaRPr lang="en-US" sz="2500" dirty="0"/>
          </a:p>
          <a:p>
            <a:pPr marL="342900" indent="-342900">
              <a:spcAft>
                <a:spcPts val="1400"/>
              </a:spcAft>
              <a:buSzPct val="100000"/>
              <a:buFont typeface="+mj-lt"/>
              <a:buAutoNum type="arabicPeriod"/>
            </a:pPr>
            <a:r>
              <a:rPr lang="en-US" sz="2500" dirty="0">
                <a:solidFill>
                  <a:srgbClr val="000000"/>
                </a:solidFill>
                <a:latin typeface="Palatino" pitchFamily="34" charset="0"/>
                <a:ea typeface="Palatino" pitchFamily="34" charset="-122"/>
                <a:cs typeface="Palatino" pitchFamily="34" charset="-120"/>
              </a:rPr>
              <a:t>Simulate 1000 new datasets from the fitted model</a:t>
            </a:r>
            <a:endParaRPr lang="en-US" sz="2500" dirty="0"/>
          </a:p>
          <a:p>
            <a:pPr marL="342900" indent="-342900">
              <a:spcAft>
                <a:spcPts val="1400"/>
              </a:spcAft>
              <a:buSzPct val="100000"/>
              <a:buFont typeface="+mj-lt"/>
              <a:buAutoNum type="arabicPeriod"/>
            </a:pPr>
            <a:r>
              <a:rPr lang="en-US" sz="2500" dirty="0">
                <a:solidFill>
                  <a:srgbClr val="000000"/>
                </a:solidFill>
                <a:latin typeface="Palatino" pitchFamily="34" charset="0"/>
                <a:ea typeface="Palatino" pitchFamily="34" charset="-122"/>
                <a:cs typeface="Palatino" pitchFamily="34" charset="-120"/>
              </a:rPr>
              <a:t>Calculate the same test statistic on each of them</a:t>
            </a:r>
            <a:endParaRPr lang="en-US" sz="2500" dirty="0"/>
          </a:p>
          <a:p>
            <a:pPr marL="342900" indent="-342900">
              <a:spcAft>
                <a:spcPts val="1400"/>
              </a:spcAft>
              <a:buSzPct val="100000"/>
              <a:buFont typeface="+mj-lt"/>
              <a:buAutoNum type="arabicPeriod"/>
            </a:pPr>
            <a:r>
              <a:rPr lang="en-US" sz="2500" dirty="0">
                <a:solidFill>
                  <a:srgbClr val="000000"/>
                </a:solidFill>
                <a:latin typeface="Palatino" pitchFamily="34" charset="0"/>
                <a:ea typeface="Palatino" pitchFamily="34" charset="-122"/>
                <a:cs typeface="Palatino" pitchFamily="34" charset="-120"/>
              </a:rPr>
              <a:t>Is the observed value inside the middle 95% of the simulated ones?</a:t>
            </a:r>
            <a:endParaRPr lang="en-US" sz="2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97280" y="2651760"/>
            <a:ext cx="9994392" cy="1554480"/>
          </a:xfrm>
          <a:prstGeom prst="rect">
            <a:avLst/>
          </a:prstGeom>
          <a:noFill/>
          <a:ln/>
        </p:spPr>
        <p:txBody>
          <a:bodyPr wrap="square" lIns="0" tIns="0" rIns="0" bIns="0" rtlCol="0" anchor="ctr"/>
          <a:lstStyle/>
          <a:p>
            <a:pPr marL="0" indent="0" algn="ctr">
              <a:buNone/>
            </a:pPr>
            <a:r>
              <a:rPr lang="en-US" sz="4000" dirty="0">
                <a:solidFill>
                  <a:srgbClr val="000000"/>
                </a:solidFill>
                <a:latin typeface="Palatino" pitchFamily="34" charset="0"/>
                <a:ea typeface="Palatino" pitchFamily="34" charset="-122"/>
                <a:cs typeface="Palatino" pitchFamily="34" charset="-120"/>
              </a:rPr>
              <a:t>A toy example: shoe size and height</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80 students: shoe size and height</a:t>
            </a:r>
            <a:endParaRPr lang="en-US" sz="3200" dirty="0"/>
          </a:p>
        </p:txBody>
      </p:sp>
      <p:pic>
        <p:nvPicPr>
          <p:cNvPr id="3" name="Image 0" descr="/home/claude/lecture/figs/toy_data.png"/>
          <p:cNvPicPr>
            <a:picLocks noChangeAspect="1"/>
          </p:cNvPicPr>
          <p:nvPr/>
        </p:nvPicPr>
        <p:blipFill>
          <a:blip r:embed="rId3"/>
          <a:stretch>
            <a:fillRect/>
          </a:stretch>
        </p:blipFill>
        <p:spPr>
          <a:xfrm>
            <a:off x="6172200" y="1463040"/>
            <a:ext cx="5532120" cy="3236976"/>
          </a:xfrm>
          <a:prstGeom prst="rect">
            <a:avLst/>
          </a:prstGeom>
        </p:spPr>
      </p:pic>
      <p:sp>
        <p:nvSpPr>
          <p:cNvPr id="4" name="Text 1"/>
          <p:cNvSpPr/>
          <p:nvPr/>
        </p:nvSpPr>
        <p:spPr>
          <a:xfrm>
            <a:off x="566928" y="1325880"/>
            <a:ext cx="5486400" cy="457200"/>
          </a:xfrm>
          <a:prstGeom prst="rect">
            <a:avLst/>
          </a:prstGeom>
          <a:noFill/>
          <a:ln/>
        </p:spPr>
        <p:txBody>
          <a:bodyPr wrap="square" lIns="0" tIns="0" rIns="0" bIns="0" rtlCol="0" anchor="t"/>
          <a:lstStyle/>
          <a:p>
            <a:pPr marL="0" indent="0">
              <a:buNone/>
            </a:pPr>
            <a:r>
              <a:rPr lang="en-US" sz="2500" dirty="0">
                <a:solidFill>
                  <a:srgbClr val="000000"/>
                </a:solidFill>
                <a:latin typeface="Palatino" pitchFamily="34" charset="0"/>
                <a:ea typeface="Palatino" pitchFamily="34" charset="-122"/>
                <a:cs typeface="Palatino" pitchFamily="34" charset="-120"/>
              </a:rPr>
              <a:t>Three candidate models:</a:t>
            </a:r>
            <a:endParaRPr lang="en-US" sz="2500" dirty="0"/>
          </a:p>
        </p:txBody>
      </p:sp>
      <p:sp>
        <p:nvSpPr>
          <p:cNvPr id="5" name="Text 2"/>
          <p:cNvSpPr/>
          <p:nvPr/>
        </p:nvSpPr>
        <p:spPr>
          <a:xfrm>
            <a:off x="841248" y="1965960"/>
            <a:ext cx="5486400" cy="2011680"/>
          </a:xfrm>
          <a:prstGeom prst="rect">
            <a:avLst/>
          </a:prstGeom>
          <a:noFill/>
          <a:ln/>
        </p:spPr>
        <p:txBody>
          <a:bodyPr wrap="square" lIns="0" tIns="0" rIns="0" bIns="0" rtlCol="0" anchor="t"/>
          <a:lstStyle/>
          <a:p>
            <a:pPr marL="0" indent="0">
              <a:spcAft>
                <a:spcPts val="1800"/>
              </a:spcAft>
              <a:buNone/>
            </a:pPr>
            <a:r>
              <a:rPr lang="en-US" sz="2600" dirty="0">
                <a:solidFill>
                  <a:srgbClr val="000000"/>
                </a:solidFill>
                <a:latin typeface="Palatino" pitchFamily="34" charset="0"/>
                <a:ea typeface="Palatino" pitchFamily="34" charset="-122"/>
                <a:cs typeface="Palatino" pitchFamily="34" charset="-120"/>
              </a:rPr>
              <a:t>A.   No relationship</a:t>
            </a:r>
            <a:endParaRPr lang="en-US" sz="2600" dirty="0"/>
          </a:p>
          <a:p>
            <a:pPr marL="0" indent="0">
              <a:spcAft>
                <a:spcPts val="1800"/>
              </a:spcAft>
              <a:buNone/>
            </a:pPr>
            <a:r>
              <a:rPr lang="en-US" sz="2600" dirty="0">
                <a:solidFill>
                  <a:srgbClr val="000000"/>
                </a:solidFill>
                <a:latin typeface="Palatino" pitchFamily="34" charset="0"/>
                <a:ea typeface="Palatino" pitchFamily="34" charset="-122"/>
                <a:cs typeface="Palatino" pitchFamily="34" charset="-120"/>
              </a:rPr>
              <a:t>B.   A straight line</a:t>
            </a:r>
            <a:endParaRPr lang="en-US" sz="2600" dirty="0"/>
          </a:p>
          <a:p>
            <a:pPr marL="0" indent="0">
              <a:spcAft>
                <a:spcPts val="1800"/>
              </a:spcAft>
              <a:buNone/>
            </a:pPr>
            <a:r>
              <a:rPr lang="en-US" sz="2600" dirty="0">
                <a:solidFill>
                  <a:srgbClr val="000000"/>
                </a:solidFill>
                <a:latin typeface="Palatino" pitchFamily="34" charset="0"/>
                <a:ea typeface="Palatino" pitchFamily="34" charset="-122"/>
                <a:cs typeface="Palatino" pitchFamily="34" charset="-120"/>
              </a:rPr>
              <a:t>C.   A curve</a:t>
            </a:r>
            <a:endParaRPr lang="en-US" sz="2600" dirty="0"/>
          </a:p>
        </p:txBody>
      </p:sp>
      <p:sp>
        <p:nvSpPr>
          <p:cNvPr id="6" name="Text 3"/>
          <p:cNvSpPr/>
          <p:nvPr/>
        </p:nvSpPr>
        <p:spPr>
          <a:xfrm>
            <a:off x="566928" y="4892040"/>
            <a:ext cx="10972800" cy="914400"/>
          </a:xfrm>
          <a:prstGeom prst="rect">
            <a:avLst/>
          </a:prstGeom>
          <a:noFill/>
          <a:ln/>
        </p:spPr>
        <p:txBody>
          <a:bodyPr wrap="square" lIns="0" tIns="0" rIns="0" bIns="0" rtlCol="0" anchor="t"/>
          <a:lstStyle/>
          <a:p>
            <a:pPr marL="0" indent="0">
              <a:lnSpc>
                <a:spcPts val="3300"/>
              </a:lnSpc>
              <a:buNone/>
            </a:pPr>
            <a:r>
              <a:rPr lang="en-US" sz="2400" i="1" dirty="0">
                <a:solidFill>
                  <a:srgbClr val="000000"/>
                </a:solidFill>
                <a:latin typeface="Palatino" pitchFamily="34" charset="0"/>
                <a:ea typeface="Palatino" pitchFamily="34" charset="-122"/>
                <a:cs typeface="Palatino" pitchFamily="34" charset="-120"/>
              </a:rPr>
              <a:t>All three assume the noise is normal, and the same size for everybody.</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AIC picks the straight line</a:t>
            </a:r>
            <a:endParaRPr lang="en-US" sz="3200" dirty="0"/>
          </a:p>
        </p:txBody>
      </p:sp>
      <p:sp>
        <p:nvSpPr>
          <p:cNvPr id="3" name="Text 1"/>
          <p:cNvSpPr/>
          <p:nvPr/>
        </p:nvSpPr>
        <p:spPr>
          <a:xfrm>
            <a:off x="841248" y="1417320"/>
            <a:ext cx="4114800" cy="658368"/>
          </a:xfrm>
          <a:prstGeom prst="rect">
            <a:avLst/>
          </a:prstGeom>
          <a:noFill/>
          <a:ln/>
        </p:spPr>
        <p:txBody>
          <a:bodyPr wrap="square" lIns="0" tIns="0" rIns="0" bIns="0" rtlCol="0" anchor="ctr"/>
          <a:lstStyle/>
          <a:p>
            <a:pPr marL="0" indent="0" algn="l">
              <a:buNone/>
            </a:pPr>
            <a:r>
              <a:rPr lang="en-US" sz="2100" i="1" dirty="0">
                <a:solidFill>
                  <a:srgbClr val="555555"/>
                </a:solidFill>
                <a:latin typeface="Palatino" pitchFamily="34" charset="0"/>
                <a:ea typeface="Palatino" pitchFamily="34" charset="-122"/>
                <a:cs typeface="Palatino" pitchFamily="34" charset="-120"/>
              </a:rPr>
              <a:t>Model</a:t>
            </a:r>
            <a:endParaRPr lang="en-US" sz="2100" dirty="0"/>
          </a:p>
        </p:txBody>
      </p:sp>
      <p:sp>
        <p:nvSpPr>
          <p:cNvPr id="4" name="Text 2"/>
          <p:cNvSpPr/>
          <p:nvPr/>
        </p:nvSpPr>
        <p:spPr>
          <a:xfrm>
            <a:off x="4572000" y="1417320"/>
            <a:ext cx="1280160" cy="658368"/>
          </a:xfrm>
          <a:prstGeom prst="rect">
            <a:avLst/>
          </a:prstGeom>
          <a:noFill/>
          <a:ln/>
        </p:spPr>
        <p:txBody>
          <a:bodyPr wrap="square" lIns="0" tIns="0" rIns="0" bIns="0" rtlCol="0" anchor="ctr"/>
          <a:lstStyle/>
          <a:p>
            <a:pPr marL="0" indent="0" algn="r">
              <a:buNone/>
            </a:pPr>
            <a:r>
              <a:rPr lang="en-US" sz="2100" i="1" dirty="0">
                <a:solidFill>
                  <a:srgbClr val="555555"/>
                </a:solidFill>
                <a:latin typeface="Palatino" pitchFamily="34" charset="0"/>
                <a:ea typeface="Palatino" pitchFamily="34" charset="-122"/>
                <a:cs typeface="Palatino" pitchFamily="34" charset="-120"/>
              </a:rPr>
              <a:t>AICc</a:t>
            </a:r>
            <a:endParaRPr lang="en-US" sz="2100" dirty="0"/>
          </a:p>
        </p:txBody>
      </p:sp>
      <p:sp>
        <p:nvSpPr>
          <p:cNvPr id="5" name="Text 3"/>
          <p:cNvSpPr/>
          <p:nvPr/>
        </p:nvSpPr>
        <p:spPr>
          <a:xfrm>
            <a:off x="6035040" y="1417320"/>
            <a:ext cx="1371600" cy="658368"/>
          </a:xfrm>
          <a:prstGeom prst="rect">
            <a:avLst/>
          </a:prstGeom>
          <a:noFill/>
          <a:ln/>
        </p:spPr>
        <p:txBody>
          <a:bodyPr wrap="square" lIns="0" tIns="0" rIns="0" bIns="0" rtlCol="0" anchor="ctr"/>
          <a:lstStyle/>
          <a:p>
            <a:pPr marL="0" indent="0" algn="r">
              <a:buNone/>
            </a:pPr>
            <a:r>
              <a:rPr lang="en-US" sz="2100" i="1" dirty="0">
                <a:solidFill>
                  <a:srgbClr val="555555"/>
                </a:solidFill>
                <a:latin typeface="Palatino" pitchFamily="34" charset="0"/>
                <a:ea typeface="Palatino" pitchFamily="34" charset="-122"/>
                <a:cs typeface="Palatino" pitchFamily="34" charset="-120"/>
              </a:rPr>
              <a:t>ΔAICc</a:t>
            </a:r>
            <a:endParaRPr lang="en-US" sz="2100" dirty="0"/>
          </a:p>
        </p:txBody>
      </p:sp>
      <p:sp>
        <p:nvSpPr>
          <p:cNvPr id="6" name="Text 4"/>
          <p:cNvSpPr/>
          <p:nvPr/>
        </p:nvSpPr>
        <p:spPr>
          <a:xfrm>
            <a:off x="7589520" y="1417320"/>
            <a:ext cx="2011680" cy="658368"/>
          </a:xfrm>
          <a:prstGeom prst="rect">
            <a:avLst/>
          </a:prstGeom>
          <a:noFill/>
          <a:ln/>
        </p:spPr>
        <p:txBody>
          <a:bodyPr wrap="square" lIns="0" tIns="0" rIns="0" bIns="0" rtlCol="0" anchor="ctr"/>
          <a:lstStyle/>
          <a:p>
            <a:pPr marL="0" indent="0" algn="r">
              <a:buNone/>
            </a:pPr>
            <a:r>
              <a:rPr lang="en-US" sz="2100" i="1" dirty="0">
                <a:solidFill>
                  <a:srgbClr val="555555"/>
                </a:solidFill>
                <a:latin typeface="Palatino" pitchFamily="34" charset="0"/>
                <a:ea typeface="Palatino" pitchFamily="34" charset="-122"/>
                <a:cs typeface="Palatino" pitchFamily="34" charset="-120"/>
              </a:rPr>
              <a:t>Akaike weight</a:t>
            </a:r>
            <a:endParaRPr lang="en-US" sz="2100" dirty="0"/>
          </a:p>
        </p:txBody>
      </p:sp>
      <p:sp>
        <p:nvSpPr>
          <p:cNvPr id="7" name="Shape 5"/>
          <p:cNvSpPr/>
          <p:nvPr/>
        </p:nvSpPr>
        <p:spPr>
          <a:xfrm>
            <a:off x="841248" y="2020824"/>
            <a:ext cx="9326880" cy="0"/>
          </a:xfrm>
          <a:prstGeom prst="line">
            <a:avLst/>
          </a:prstGeom>
          <a:noFill/>
          <a:ln w="9525">
            <a:solidFill>
              <a:srgbClr val="AAAAAA"/>
            </a:solidFill>
            <a:prstDash val="solid"/>
          </a:ln>
        </p:spPr>
      </p:sp>
      <p:sp>
        <p:nvSpPr>
          <p:cNvPr id="8" name="Text 6"/>
          <p:cNvSpPr/>
          <p:nvPr/>
        </p:nvSpPr>
        <p:spPr>
          <a:xfrm>
            <a:off x="841248" y="2075688"/>
            <a:ext cx="4114800" cy="658368"/>
          </a:xfrm>
          <a:prstGeom prst="rect">
            <a:avLst/>
          </a:prstGeom>
          <a:noFill/>
          <a:ln/>
        </p:spPr>
        <p:txBody>
          <a:bodyPr wrap="square" lIns="0" tIns="0" rIns="0" bIns="0" rtlCol="0" anchor="ctr"/>
          <a:lstStyle/>
          <a:p>
            <a:pPr marL="0" indent="0" algn="l">
              <a:buNone/>
            </a:pPr>
            <a:r>
              <a:rPr lang="en-US" sz="2600" dirty="0">
                <a:solidFill>
                  <a:srgbClr val="000000"/>
                </a:solidFill>
                <a:latin typeface="Palatino" pitchFamily="34" charset="0"/>
                <a:ea typeface="Palatino" pitchFamily="34" charset="-122"/>
                <a:cs typeface="Palatino" pitchFamily="34" charset="-120"/>
              </a:rPr>
              <a:t>A.  No relationship</a:t>
            </a:r>
            <a:endParaRPr lang="en-US" sz="2600" dirty="0"/>
          </a:p>
        </p:txBody>
      </p:sp>
      <p:sp>
        <p:nvSpPr>
          <p:cNvPr id="9" name="Text 7"/>
          <p:cNvSpPr/>
          <p:nvPr/>
        </p:nvSpPr>
        <p:spPr>
          <a:xfrm>
            <a:off x="4572000" y="2075688"/>
            <a:ext cx="128016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564.4</a:t>
            </a:r>
            <a:endParaRPr lang="en-US" sz="2600" dirty="0"/>
          </a:p>
        </p:txBody>
      </p:sp>
      <p:sp>
        <p:nvSpPr>
          <p:cNvPr id="10" name="Text 8"/>
          <p:cNvSpPr/>
          <p:nvPr/>
        </p:nvSpPr>
        <p:spPr>
          <a:xfrm>
            <a:off x="6035040" y="2075688"/>
            <a:ext cx="137160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53.9</a:t>
            </a:r>
            <a:endParaRPr lang="en-US" sz="2600" dirty="0"/>
          </a:p>
        </p:txBody>
      </p:sp>
      <p:sp>
        <p:nvSpPr>
          <p:cNvPr id="11" name="Text 9"/>
          <p:cNvSpPr/>
          <p:nvPr/>
        </p:nvSpPr>
        <p:spPr>
          <a:xfrm>
            <a:off x="7589520" y="2075688"/>
            <a:ext cx="201168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0.00</a:t>
            </a:r>
            <a:endParaRPr lang="en-US" sz="2600" dirty="0"/>
          </a:p>
        </p:txBody>
      </p:sp>
      <p:sp>
        <p:nvSpPr>
          <p:cNvPr id="12" name="Text 10"/>
          <p:cNvSpPr/>
          <p:nvPr/>
        </p:nvSpPr>
        <p:spPr>
          <a:xfrm>
            <a:off x="841248" y="2734056"/>
            <a:ext cx="4114800" cy="658368"/>
          </a:xfrm>
          <a:prstGeom prst="rect">
            <a:avLst/>
          </a:prstGeom>
          <a:noFill/>
          <a:ln/>
        </p:spPr>
        <p:txBody>
          <a:bodyPr wrap="square" lIns="0" tIns="0" rIns="0" bIns="0" rtlCol="0" anchor="ctr"/>
          <a:lstStyle/>
          <a:p>
            <a:pPr marL="0" indent="0" algn="l">
              <a:buNone/>
            </a:pPr>
            <a:r>
              <a:rPr lang="en-US" sz="2600" b="1" dirty="0">
                <a:solidFill>
                  <a:srgbClr val="000000"/>
                </a:solidFill>
                <a:latin typeface="Palatino" pitchFamily="34" charset="0"/>
                <a:ea typeface="Palatino" pitchFamily="34" charset="-122"/>
                <a:cs typeface="Palatino" pitchFamily="34" charset="-120"/>
              </a:rPr>
              <a:t>B.  A straight line</a:t>
            </a:r>
            <a:endParaRPr lang="en-US" sz="2600" dirty="0"/>
          </a:p>
        </p:txBody>
      </p:sp>
      <p:sp>
        <p:nvSpPr>
          <p:cNvPr id="13" name="Text 11"/>
          <p:cNvSpPr/>
          <p:nvPr/>
        </p:nvSpPr>
        <p:spPr>
          <a:xfrm>
            <a:off x="4572000" y="2734056"/>
            <a:ext cx="1280160" cy="658368"/>
          </a:xfrm>
          <a:prstGeom prst="rect">
            <a:avLst/>
          </a:prstGeom>
          <a:noFill/>
          <a:ln/>
        </p:spPr>
        <p:txBody>
          <a:bodyPr wrap="square" lIns="0" tIns="0" rIns="0" bIns="0" rtlCol="0" anchor="ctr"/>
          <a:lstStyle/>
          <a:p>
            <a:pPr marL="0" indent="0" algn="r">
              <a:buNone/>
            </a:pPr>
            <a:r>
              <a:rPr lang="en-US" sz="2600" b="1" dirty="0">
                <a:solidFill>
                  <a:srgbClr val="000000"/>
                </a:solidFill>
                <a:latin typeface="Palatino" pitchFamily="34" charset="0"/>
                <a:ea typeface="Palatino" pitchFamily="34" charset="-122"/>
                <a:cs typeface="Palatino" pitchFamily="34" charset="-120"/>
              </a:rPr>
              <a:t>510.5</a:t>
            </a:r>
            <a:endParaRPr lang="en-US" sz="2600" dirty="0"/>
          </a:p>
        </p:txBody>
      </p:sp>
      <p:sp>
        <p:nvSpPr>
          <p:cNvPr id="14" name="Text 12"/>
          <p:cNvSpPr/>
          <p:nvPr/>
        </p:nvSpPr>
        <p:spPr>
          <a:xfrm>
            <a:off x="6035040" y="2734056"/>
            <a:ext cx="1371600" cy="658368"/>
          </a:xfrm>
          <a:prstGeom prst="rect">
            <a:avLst/>
          </a:prstGeom>
          <a:noFill/>
          <a:ln/>
        </p:spPr>
        <p:txBody>
          <a:bodyPr wrap="square" lIns="0" tIns="0" rIns="0" bIns="0" rtlCol="0" anchor="ctr"/>
          <a:lstStyle/>
          <a:p>
            <a:pPr marL="0" indent="0" algn="r">
              <a:buNone/>
            </a:pPr>
            <a:r>
              <a:rPr lang="en-US" sz="2600" b="1" dirty="0">
                <a:solidFill>
                  <a:srgbClr val="000000"/>
                </a:solidFill>
                <a:latin typeface="Palatino" pitchFamily="34" charset="0"/>
                <a:ea typeface="Palatino" pitchFamily="34" charset="-122"/>
                <a:cs typeface="Palatino" pitchFamily="34" charset="-120"/>
              </a:rPr>
              <a:t>0.0</a:t>
            </a:r>
            <a:endParaRPr lang="en-US" sz="2600" dirty="0"/>
          </a:p>
        </p:txBody>
      </p:sp>
      <p:sp>
        <p:nvSpPr>
          <p:cNvPr id="15" name="Text 13"/>
          <p:cNvSpPr/>
          <p:nvPr/>
        </p:nvSpPr>
        <p:spPr>
          <a:xfrm>
            <a:off x="7589520" y="2734056"/>
            <a:ext cx="2011680" cy="658368"/>
          </a:xfrm>
          <a:prstGeom prst="rect">
            <a:avLst/>
          </a:prstGeom>
          <a:noFill/>
          <a:ln/>
        </p:spPr>
        <p:txBody>
          <a:bodyPr wrap="square" lIns="0" tIns="0" rIns="0" bIns="0" rtlCol="0" anchor="ctr"/>
          <a:lstStyle/>
          <a:p>
            <a:pPr marL="0" indent="0" algn="r">
              <a:buNone/>
            </a:pPr>
            <a:r>
              <a:rPr lang="en-US" sz="2600" b="1" dirty="0">
                <a:solidFill>
                  <a:srgbClr val="000000"/>
                </a:solidFill>
                <a:latin typeface="Palatino" pitchFamily="34" charset="0"/>
                <a:ea typeface="Palatino" pitchFamily="34" charset="-122"/>
                <a:cs typeface="Palatino" pitchFamily="34" charset="-120"/>
              </a:rPr>
              <a:t>0.71</a:t>
            </a:r>
            <a:endParaRPr lang="en-US" sz="2600" dirty="0"/>
          </a:p>
        </p:txBody>
      </p:sp>
      <p:sp>
        <p:nvSpPr>
          <p:cNvPr id="16" name="Text 14"/>
          <p:cNvSpPr/>
          <p:nvPr/>
        </p:nvSpPr>
        <p:spPr>
          <a:xfrm>
            <a:off x="841248" y="3392424"/>
            <a:ext cx="4114800" cy="658368"/>
          </a:xfrm>
          <a:prstGeom prst="rect">
            <a:avLst/>
          </a:prstGeom>
          <a:noFill/>
          <a:ln/>
        </p:spPr>
        <p:txBody>
          <a:bodyPr wrap="square" lIns="0" tIns="0" rIns="0" bIns="0" rtlCol="0" anchor="ctr"/>
          <a:lstStyle/>
          <a:p>
            <a:pPr marL="0" indent="0" algn="l">
              <a:buNone/>
            </a:pPr>
            <a:r>
              <a:rPr lang="en-US" sz="2600" dirty="0">
                <a:solidFill>
                  <a:srgbClr val="000000"/>
                </a:solidFill>
                <a:latin typeface="Palatino" pitchFamily="34" charset="0"/>
                <a:ea typeface="Palatino" pitchFamily="34" charset="-122"/>
                <a:cs typeface="Palatino" pitchFamily="34" charset="-120"/>
              </a:rPr>
              <a:t>C.  A curve</a:t>
            </a:r>
            <a:endParaRPr lang="en-US" sz="2600" dirty="0"/>
          </a:p>
        </p:txBody>
      </p:sp>
      <p:sp>
        <p:nvSpPr>
          <p:cNvPr id="17" name="Text 15"/>
          <p:cNvSpPr/>
          <p:nvPr/>
        </p:nvSpPr>
        <p:spPr>
          <a:xfrm>
            <a:off x="4572000" y="3392424"/>
            <a:ext cx="128016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512.4</a:t>
            </a:r>
            <a:endParaRPr lang="en-US" sz="2600" dirty="0"/>
          </a:p>
        </p:txBody>
      </p:sp>
      <p:sp>
        <p:nvSpPr>
          <p:cNvPr id="18" name="Text 16"/>
          <p:cNvSpPr/>
          <p:nvPr/>
        </p:nvSpPr>
        <p:spPr>
          <a:xfrm>
            <a:off x="6035040" y="3392424"/>
            <a:ext cx="137160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1.8</a:t>
            </a:r>
            <a:endParaRPr lang="en-US" sz="2600" dirty="0"/>
          </a:p>
        </p:txBody>
      </p:sp>
      <p:sp>
        <p:nvSpPr>
          <p:cNvPr id="19" name="Text 17"/>
          <p:cNvSpPr/>
          <p:nvPr/>
        </p:nvSpPr>
        <p:spPr>
          <a:xfrm>
            <a:off x="7589520" y="3392424"/>
            <a:ext cx="201168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0.29</a:t>
            </a:r>
            <a:endParaRPr lang="en-US" sz="2600" dirty="0"/>
          </a:p>
        </p:txBody>
      </p:sp>
      <p:sp>
        <p:nvSpPr>
          <p:cNvPr id="20" name="Text 18"/>
          <p:cNvSpPr/>
          <p:nvPr/>
        </p:nvSpPr>
        <p:spPr>
          <a:xfrm>
            <a:off x="841248" y="4297680"/>
            <a:ext cx="10515600" cy="548640"/>
          </a:xfrm>
          <a:prstGeom prst="rect">
            <a:avLst/>
          </a:prstGeom>
          <a:noFill/>
          <a:ln/>
        </p:spPr>
        <p:txBody>
          <a:bodyPr wrap="square" lIns="0" tIns="0" rIns="0" bIns="0" rtlCol="0" anchor="t"/>
          <a:lstStyle/>
          <a:p>
            <a:pPr marL="0" indent="0">
              <a:buNone/>
            </a:pPr>
            <a:r>
              <a:rPr lang="en-US" sz="2600" dirty="0">
                <a:solidFill>
                  <a:srgbClr val="000000"/>
                </a:solidFill>
                <a:latin typeface="Palatino" pitchFamily="34" charset="0"/>
                <a:ea typeface="Palatino" pitchFamily="34" charset="-122"/>
                <a:cs typeface="Palatino" pitchFamily="34" charset="-120"/>
              </a:rPr>
              <a:t>height  ≈  93 + 1.7 × shoe size,      residual SD  ≈  5.7 cm</a:t>
            </a:r>
            <a:endParaRPr lang="en-US" sz="2600" dirty="0"/>
          </a:p>
        </p:txBody>
      </p:sp>
      <p:sp>
        <p:nvSpPr>
          <p:cNvPr id="21" name="Text 19"/>
          <p:cNvSpPr/>
          <p:nvPr/>
        </p:nvSpPr>
        <p:spPr>
          <a:xfrm>
            <a:off x="566928" y="5029200"/>
            <a:ext cx="10881360" cy="548640"/>
          </a:xfrm>
          <a:prstGeom prst="rect">
            <a:avLst/>
          </a:prstGeom>
          <a:noFill/>
          <a:ln/>
        </p:spPr>
        <p:txBody>
          <a:bodyPr wrap="square" lIns="0" tIns="0" rIns="0" bIns="0" rtlCol="0" anchor="t"/>
          <a:lstStyle/>
          <a:p>
            <a:pPr marL="0" indent="0">
              <a:buNone/>
            </a:pPr>
            <a:r>
              <a:rPr lang="en-US" sz="2600" dirty="0">
                <a:solidFill>
                  <a:srgbClr val="000000"/>
                </a:solidFill>
                <a:latin typeface="Palatino" pitchFamily="34" charset="0"/>
                <a:ea typeface="Palatino" pitchFamily="34" charset="-122"/>
                <a:cs typeface="Palatino" pitchFamily="34" charset="-120"/>
              </a:rPr>
              <a:t>This is where most analyses stop.</a:t>
            </a:r>
            <a:endParaRPr lang="en-US" sz="2600" dirty="0"/>
          </a:p>
        </p:txBody>
      </p:sp>
      <p:sp>
        <p:nvSpPr>
          <p:cNvPr id="22" name="Text 20"/>
          <p:cNvSpPr/>
          <p:nvPr/>
        </p:nvSpPr>
        <p:spPr>
          <a:xfrm>
            <a:off x="566928" y="5623560"/>
            <a:ext cx="10881360" cy="548640"/>
          </a:xfrm>
          <a:prstGeom prst="rect">
            <a:avLst/>
          </a:prstGeom>
          <a:noFill/>
          <a:ln/>
        </p:spPr>
        <p:txBody>
          <a:bodyPr wrap="square" lIns="0" tIns="0" rIns="0" bIns="0" rtlCol="0" anchor="t"/>
          <a:lstStyle/>
          <a:p>
            <a:pPr marL="0" indent="0">
              <a:buNone/>
            </a:pPr>
            <a:r>
              <a:rPr lang="en-US" sz="2600" i="1" dirty="0">
                <a:solidFill>
                  <a:srgbClr val="000000"/>
                </a:solidFill>
                <a:latin typeface="Palatino" pitchFamily="34" charset="0"/>
                <a:ea typeface="Palatino" pitchFamily="34" charset="-122"/>
                <a:cs typeface="Palatino" pitchFamily="34" charset="-120"/>
              </a:rPr>
              <a:t>So: is model B a good description of these 80 students?</a:t>
            </a:r>
            <a:endParaRPr lang="en-US" sz="2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Let the winning model make some data</a:t>
            </a:r>
            <a:endParaRPr lang="en-US" sz="3200" dirty="0"/>
          </a:p>
        </p:txBody>
      </p:sp>
      <p:pic>
        <p:nvPicPr>
          <p:cNvPr id="3" name="Image 0" descr="/home/claude/lecture/figs/toy_sim_vs_obs.png"/>
          <p:cNvPicPr>
            <a:picLocks noChangeAspect="1"/>
          </p:cNvPicPr>
          <p:nvPr/>
        </p:nvPicPr>
        <p:blipFill>
          <a:blip r:embed="rId3"/>
          <a:stretch>
            <a:fillRect/>
          </a:stretch>
        </p:blipFill>
        <p:spPr>
          <a:xfrm>
            <a:off x="5394960" y="1188720"/>
            <a:ext cx="6263640" cy="4169664"/>
          </a:xfrm>
          <a:prstGeom prst="rect">
            <a:avLst/>
          </a:prstGeom>
        </p:spPr>
      </p:pic>
      <p:sp>
        <p:nvSpPr>
          <p:cNvPr id="4" name="Text 1"/>
          <p:cNvSpPr/>
          <p:nvPr/>
        </p:nvSpPr>
        <p:spPr>
          <a:xfrm>
            <a:off x="566928" y="1600200"/>
            <a:ext cx="4572000" cy="1920240"/>
          </a:xfrm>
          <a:prstGeom prst="rect">
            <a:avLst/>
          </a:prstGeom>
          <a:noFill/>
          <a:ln/>
        </p:spPr>
        <p:txBody>
          <a:bodyPr wrap="square" lIns="0" tIns="0" rIns="0" bIns="0" rtlCol="0" anchor="t"/>
          <a:lstStyle/>
          <a:p>
            <a:pPr marL="0" indent="0">
              <a:lnSpc>
                <a:spcPts val="3400"/>
              </a:lnSpc>
              <a:buNone/>
            </a:pPr>
            <a:r>
              <a:rPr lang="en-US" sz="2400" dirty="0">
                <a:solidFill>
                  <a:srgbClr val="000000"/>
                </a:solidFill>
                <a:latin typeface="Palatino" pitchFamily="34" charset="0"/>
                <a:ea typeface="Palatino" pitchFamily="34" charset="-122"/>
                <a:cs typeface="Palatino" pitchFamily="34" charset="-120"/>
              </a:rPr>
              <a:t>Three of these four panels were generated by the fitted model B. One is the real 80 students.</a:t>
            </a:r>
            <a:endParaRPr lang="en-US" sz="2400" dirty="0"/>
          </a:p>
        </p:txBody>
      </p:sp>
      <p:sp>
        <p:nvSpPr>
          <p:cNvPr id="5" name="Text 2"/>
          <p:cNvSpPr/>
          <p:nvPr/>
        </p:nvSpPr>
        <p:spPr>
          <a:xfrm>
            <a:off x="566928" y="3611880"/>
            <a:ext cx="4572000" cy="548640"/>
          </a:xfrm>
          <a:prstGeom prst="rect">
            <a:avLst/>
          </a:prstGeom>
          <a:noFill/>
          <a:ln/>
        </p:spPr>
        <p:txBody>
          <a:bodyPr wrap="square" lIns="0" tIns="0" rIns="0" bIns="0" rtlCol="0" anchor="t"/>
          <a:lstStyle/>
          <a:p>
            <a:pPr marL="0" indent="0">
              <a:buNone/>
            </a:pPr>
            <a:r>
              <a:rPr lang="en-US" sz="2800" i="1" dirty="0">
                <a:solidFill>
                  <a:srgbClr val="000000"/>
                </a:solidFill>
                <a:latin typeface="Palatino" pitchFamily="34" charset="0"/>
                <a:ea typeface="Palatino" pitchFamily="34" charset="-122"/>
                <a:cs typeface="Palatino" pitchFamily="34" charset="-120"/>
              </a:rPr>
              <a:t>Which one is real?</a:t>
            </a:r>
            <a:endParaRPr lang="en-US" sz="2800" dirty="0"/>
          </a:p>
        </p:txBody>
      </p:sp>
      <p:sp>
        <p:nvSpPr>
          <p:cNvPr id="6" name="Text 3"/>
          <p:cNvSpPr/>
          <p:nvPr/>
        </p:nvSpPr>
        <p:spPr>
          <a:xfrm>
            <a:off x="566928" y="4434840"/>
            <a:ext cx="4572000" cy="1920240"/>
          </a:xfrm>
          <a:prstGeom prst="rect">
            <a:avLst/>
          </a:prstGeom>
          <a:noFill/>
          <a:ln/>
        </p:spPr>
        <p:txBody>
          <a:bodyPr wrap="square" lIns="0" tIns="0" rIns="0" bIns="0" rtlCol="0" anchor="t"/>
          <a:lstStyle/>
          <a:p>
            <a:pPr marL="0" indent="0">
              <a:lnSpc>
                <a:spcPts val="3000"/>
              </a:lnSpc>
              <a:buNone/>
            </a:pPr>
            <a:r>
              <a:rPr lang="en-US" sz="2100" dirty="0">
                <a:solidFill>
                  <a:srgbClr val="555555"/>
                </a:solidFill>
                <a:latin typeface="Palatino" pitchFamily="34" charset="0"/>
                <a:ea typeface="Palatino" pitchFamily="34" charset="-122"/>
                <a:cs typeface="Palatino" pitchFamily="34" charset="-120"/>
              </a:rPr>
              <a:t>Panel C. In the real data the small-footed students sit tightly around the line and the large-footed ones scatter widely.</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Two test statistics, one verdict</a:t>
            </a:r>
            <a:endParaRPr lang="en-US" sz="3200" dirty="0"/>
          </a:p>
        </p:txBody>
      </p:sp>
      <p:pic>
        <p:nvPicPr>
          <p:cNvPr id="3" name="Image 0" descr="/home/claude/lecture/figs/toy_null_dists.png"/>
          <p:cNvPicPr>
            <a:picLocks noChangeAspect="1"/>
          </p:cNvPicPr>
          <p:nvPr/>
        </p:nvPicPr>
        <p:blipFill>
          <a:blip r:embed="rId3"/>
          <a:stretch>
            <a:fillRect/>
          </a:stretch>
        </p:blipFill>
        <p:spPr>
          <a:xfrm>
            <a:off x="1371600" y="1097280"/>
            <a:ext cx="9418320" cy="3803904"/>
          </a:xfrm>
          <a:prstGeom prst="rect">
            <a:avLst/>
          </a:prstGeom>
        </p:spPr>
      </p:pic>
      <p:sp>
        <p:nvSpPr>
          <p:cNvPr id="4" name="Text 1"/>
          <p:cNvSpPr/>
          <p:nvPr/>
        </p:nvSpPr>
        <p:spPr>
          <a:xfrm>
            <a:off x="566928" y="4956048"/>
            <a:ext cx="10881360" cy="365760"/>
          </a:xfrm>
          <a:prstGeom prst="rect">
            <a:avLst/>
          </a:prstGeom>
          <a:noFill/>
          <a:ln/>
        </p:spPr>
        <p:txBody>
          <a:bodyPr wrap="square" lIns="0" tIns="0" rIns="0" bIns="0" rtlCol="0" anchor="t"/>
          <a:lstStyle/>
          <a:p>
            <a:pPr marL="0" indent="0" algn="ctr">
              <a:buNone/>
            </a:pPr>
            <a:r>
              <a:rPr lang="en-US" sz="1600" dirty="0">
                <a:solidFill>
                  <a:srgbClr val="555555"/>
                </a:solidFill>
                <a:latin typeface="Palatino" pitchFamily="34" charset="0"/>
                <a:ea typeface="Palatino" pitchFamily="34" charset="-122"/>
                <a:cs typeface="Palatino" pitchFamily="34" charset="-120"/>
              </a:rPr>
              <a:t>2000 datasets simulated by model B.   Dotted lines: the middle 95%.   Red: our real students.</a:t>
            </a:r>
            <a:endParaRPr lang="en-US" sz="1600" dirty="0"/>
          </a:p>
        </p:txBody>
      </p:sp>
      <p:sp>
        <p:nvSpPr>
          <p:cNvPr id="5" name="Text 2"/>
          <p:cNvSpPr/>
          <p:nvPr/>
        </p:nvSpPr>
        <p:spPr>
          <a:xfrm>
            <a:off x="566928" y="5440680"/>
            <a:ext cx="10881360" cy="1188720"/>
          </a:xfrm>
          <a:prstGeom prst="rect">
            <a:avLst/>
          </a:prstGeom>
          <a:noFill/>
          <a:ln/>
        </p:spPr>
        <p:txBody>
          <a:bodyPr wrap="square" lIns="0" tIns="0" rIns="0" bIns="0" rtlCol="0" anchor="t"/>
          <a:lstStyle/>
          <a:p>
            <a:pPr marL="0" indent="0">
              <a:lnSpc>
                <a:spcPts val="3400"/>
              </a:lnSpc>
              <a:buNone/>
            </a:pPr>
            <a:r>
              <a:rPr lang="en-US" sz="2500" dirty="0">
                <a:solidFill>
                  <a:srgbClr val="000000"/>
                </a:solidFill>
                <a:latin typeface="Palatino" pitchFamily="34" charset="0"/>
                <a:ea typeface="Palatino" pitchFamily="34" charset="-122"/>
                <a:cs typeface="Palatino" pitchFamily="34" charset="-120"/>
              </a:rPr>
              <a:t>Model B is not an adequate description of these data, and comparing it with A and C could never have told us that.</a:t>
            </a:r>
            <a:endParaRPr lang="en-US" sz="2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97280" y="2651760"/>
            <a:ext cx="9994392" cy="1554480"/>
          </a:xfrm>
          <a:prstGeom prst="rect">
            <a:avLst/>
          </a:prstGeom>
          <a:noFill/>
          <a:ln/>
        </p:spPr>
        <p:txBody>
          <a:bodyPr wrap="square" lIns="0" tIns="0" rIns="0" bIns="0" rtlCol="0" anchor="ctr"/>
          <a:lstStyle/>
          <a:p>
            <a:pPr marL="0" indent="0" algn="ctr">
              <a:buNone/>
            </a:pPr>
            <a:r>
              <a:rPr lang="en-US" sz="4000" dirty="0">
                <a:solidFill>
                  <a:srgbClr val="000000"/>
                </a:solidFill>
                <a:latin typeface="Palatino" pitchFamily="34" charset="0"/>
                <a:ea typeface="Palatino" pitchFamily="34" charset="-122"/>
                <a:cs typeface="Palatino" pitchFamily="34" charset="-120"/>
              </a:rPr>
              <a:t>Back to the fossil record</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Three models of phyletic evolution</a:t>
            </a:r>
            <a:endParaRPr lang="en-US" sz="3200" dirty="0"/>
          </a:p>
        </p:txBody>
      </p:sp>
      <p:pic>
        <p:nvPicPr>
          <p:cNvPr id="3" name="Image 0" descr="/home/claude/lecture/figs/modes.png"/>
          <p:cNvPicPr>
            <a:picLocks noChangeAspect="1"/>
          </p:cNvPicPr>
          <p:nvPr/>
        </p:nvPicPr>
        <p:blipFill>
          <a:blip r:embed="rId3"/>
          <a:stretch>
            <a:fillRect/>
          </a:stretch>
        </p:blipFill>
        <p:spPr>
          <a:xfrm>
            <a:off x="914400" y="1188720"/>
            <a:ext cx="10378440" cy="3054096"/>
          </a:xfrm>
          <a:prstGeom prst="rect">
            <a:avLst/>
          </a:prstGeom>
        </p:spPr>
      </p:pic>
      <p:sp>
        <p:nvSpPr>
          <p:cNvPr id="4" name="Text 1"/>
          <p:cNvSpPr/>
          <p:nvPr/>
        </p:nvSpPr>
        <p:spPr>
          <a:xfrm>
            <a:off x="841248" y="4434840"/>
            <a:ext cx="10881360" cy="1737360"/>
          </a:xfrm>
          <a:prstGeom prst="rect">
            <a:avLst/>
          </a:prstGeom>
          <a:noFill/>
          <a:ln/>
        </p:spPr>
        <p:txBody>
          <a:bodyPr wrap="square" lIns="0" tIns="0" rIns="0" bIns="0" rtlCol="0" anchor="t"/>
          <a:lstStyle/>
          <a:p>
            <a:pPr marL="342900" indent="-342900">
              <a:spcAft>
                <a:spcPts val="1200"/>
              </a:spcAft>
              <a:buSzPct val="100000"/>
              <a:buChar char="•"/>
            </a:pPr>
            <a:r>
              <a:rPr lang="en-US" sz="2100" dirty="0">
                <a:solidFill>
                  <a:srgbClr val="000000"/>
                </a:solidFill>
                <a:latin typeface="Palatino" pitchFamily="34" charset="0"/>
                <a:ea typeface="Palatino" pitchFamily="34" charset="-122"/>
                <a:cs typeface="Palatino" pitchFamily="34" charset="-120"/>
              </a:rPr>
              <a:t>Stasis — fluctuation around a fixed optimum θ with variance ω. White noise.</a:t>
            </a:r>
            <a:endParaRPr lang="en-US" sz="2100" dirty="0"/>
          </a:p>
          <a:p>
            <a:pPr marL="342900" indent="-342900">
              <a:spcAft>
                <a:spcPts val="1200"/>
              </a:spcAft>
              <a:buSzPct val="100000"/>
              <a:buChar char="•"/>
            </a:pPr>
            <a:r>
              <a:rPr lang="en-US" sz="2100" dirty="0">
                <a:solidFill>
                  <a:srgbClr val="000000"/>
                </a:solidFill>
                <a:latin typeface="Palatino" pitchFamily="34" charset="0"/>
                <a:ea typeface="Palatino" pitchFamily="34" charset="-122"/>
                <a:cs typeface="Palatino" pitchFamily="34" charset="-120"/>
              </a:rPr>
              <a:t>Random walk — steps drawn from a normal distribution with mean zero, variance vstep.</a:t>
            </a:r>
            <a:endParaRPr lang="en-US" sz="2100" dirty="0"/>
          </a:p>
          <a:p>
            <a:pPr marL="342900" indent="-342900">
              <a:spcAft>
                <a:spcPts val="1200"/>
              </a:spcAft>
              <a:buSzPct val="100000"/>
              <a:buChar char="•"/>
            </a:pPr>
            <a:r>
              <a:rPr lang="en-US" sz="2100" dirty="0">
                <a:solidFill>
                  <a:srgbClr val="000000"/>
                </a:solidFill>
                <a:latin typeface="Palatino" pitchFamily="34" charset="0"/>
                <a:ea typeface="Palatino" pitchFamily="34" charset="-122"/>
                <a:cs typeface="Palatino" pitchFamily="34" charset="-120"/>
              </a:rPr>
              <a:t>Directional trend — the same, but the step distribution has a non-zero mean mstep.</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Four adequacy tests in adePEM</a:t>
            </a:r>
            <a:endParaRPr lang="en-US" sz="3200" dirty="0"/>
          </a:p>
        </p:txBody>
      </p:sp>
      <p:sp>
        <p:nvSpPr>
          <p:cNvPr id="3" name="Text 1"/>
          <p:cNvSpPr/>
          <p:nvPr/>
        </p:nvSpPr>
        <p:spPr>
          <a:xfrm>
            <a:off x="841248" y="1463040"/>
            <a:ext cx="10607040" cy="2834640"/>
          </a:xfrm>
          <a:prstGeom prst="rect">
            <a:avLst/>
          </a:prstGeom>
          <a:noFill/>
          <a:ln/>
        </p:spPr>
        <p:txBody>
          <a:bodyPr wrap="square" lIns="0" tIns="0" rIns="0" bIns="0" rtlCol="0" anchor="t"/>
          <a:lstStyle/>
          <a:p>
            <a:pPr marL="342900" indent="-342900">
              <a:spcAft>
                <a:spcPts val="2200"/>
              </a:spcAft>
              <a:buSzPct val="100000"/>
              <a:buChar char="•"/>
            </a:pPr>
            <a:r>
              <a:rPr lang="en-US" sz="2500" dirty="0">
                <a:solidFill>
                  <a:srgbClr val="000000"/>
                </a:solidFill>
                <a:latin typeface="Palatino" pitchFamily="34" charset="0"/>
                <a:ea typeface="Palatino" pitchFamily="34" charset="-122"/>
                <a:cs typeface="Palatino" pitchFamily="34" charset="-120"/>
              </a:rPr>
              <a:t>Autocorrelation — is each observation correlated with the next one?</a:t>
            </a:r>
            <a:endParaRPr lang="en-US" sz="2500" dirty="0"/>
          </a:p>
          <a:p>
            <a:pPr marL="342900" indent="-342900">
              <a:spcAft>
                <a:spcPts val="2200"/>
              </a:spcAft>
              <a:buSzPct val="100000"/>
              <a:buChar char="•"/>
            </a:pPr>
            <a:r>
              <a:rPr lang="en-US" sz="2500" dirty="0">
                <a:solidFill>
                  <a:srgbClr val="000000"/>
                </a:solidFill>
                <a:latin typeface="Palatino" pitchFamily="34" charset="0"/>
                <a:ea typeface="Palatino" pitchFamily="34" charset="-122"/>
                <a:cs typeface="Palatino" pitchFamily="34" charset="-120"/>
              </a:rPr>
              <a:t>Runs — are the signs of the deviations in random order, or in long streaks?</a:t>
            </a:r>
            <a:endParaRPr lang="en-US" sz="2500" dirty="0"/>
          </a:p>
          <a:p>
            <a:pPr marL="342900" indent="-342900">
              <a:spcAft>
                <a:spcPts val="2200"/>
              </a:spcAft>
              <a:buSzPct val="100000"/>
              <a:buChar char="•"/>
            </a:pPr>
            <a:r>
              <a:rPr lang="en-US" sz="2500" dirty="0">
                <a:solidFill>
                  <a:srgbClr val="000000"/>
                </a:solidFill>
                <a:latin typeface="Palatino" pitchFamily="34" charset="0"/>
                <a:ea typeface="Palatino" pitchFamily="34" charset="-122"/>
                <a:cs typeface="Palatino" pitchFamily="34" charset="-120"/>
              </a:rPr>
              <a:t>Fixed variance — do the deviations grow or shrink through time?</a:t>
            </a:r>
            <a:endParaRPr lang="en-US" sz="2500" dirty="0"/>
          </a:p>
          <a:p>
            <a:pPr marL="342900" indent="-342900">
              <a:spcAft>
                <a:spcPts val="2200"/>
              </a:spcAft>
              <a:buSzPct val="100000"/>
              <a:buChar char="•"/>
            </a:pPr>
            <a:r>
              <a:rPr lang="en-US" sz="2500" dirty="0">
                <a:solidFill>
                  <a:srgbClr val="000000"/>
                </a:solidFill>
                <a:latin typeface="Palatino" pitchFamily="34" charset="0"/>
                <a:ea typeface="Palatino" pitchFamily="34" charset="-122"/>
                <a:cs typeface="Palatino" pitchFamily="34" charset="-120"/>
              </a:rPr>
              <a:t>Net evolution — is the net change small?  (stasis only)</a:t>
            </a:r>
            <a:endParaRPr lang="en-US" sz="2500" dirty="0"/>
          </a:p>
        </p:txBody>
      </p:sp>
      <p:sp>
        <p:nvSpPr>
          <p:cNvPr id="4" name="Text 2"/>
          <p:cNvSpPr/>
          <p:nvPr/>
        </p:nvSpPr>
        <p:spPr>
          <a:xfrm>
            <a:off x="566928" y="4892040"/>
            <a:ext cx="10881360" cy="1188720"/>
          </a:xfrm>
          <a:prstGeom prst="rect">
            <a:avLst/>
          </a:prstGeom>
          <a:noFill/>
          <a:ln/>
        </p:spPr>
        <p:txBody>
          <a:bodyPr wrap="square" lIns="0" tIns="0" rIns="0" bIns="0" rtlCol="0" anchor="t"/>
          <a:lstStyle/>
          <a:p>
            <a:pPr marL="0" indent="0">
              <a:lnSpc>
                <a:spcPts val="3200"/>
              </a:lnSpc>
              <a:buNone/>
            </a:pPr>
            <a:r>
              <a:rPr lang="en-US" sz="2200" dirty="0">
                <a:solidFill>
                  <a:srgbClr val="000000"/>
                </a:solidFill>
                <a:latin typeface="Palatino" pitchFamily="34" charset="0"/>
                <a:ea typeface="Palatino" pitchFamily="34" charset="-122"/>
                <a:cs typeface="Palatino" pitchFamily="34" charset="-120"/>
              </a:rPr>
              <a:t>All four assume white noise, which is what stasis looks like. Random-walk and trend data are detrended first, so the same tests apply to all three models.</a:t>
            </a:r>
            <a:endParaRPr lang="en-US" sz="2200" dirty="0"/>
          </a:p>
        </p:txBody>
      </p:sp>
      <p:sp>
        <p:nvSpPr>
          <p:cNvPr id="5" name="Text 3"/>
          <p:cNvSpPr/>
          <p:nvPr/>
        </p:nvSpPr>
        <p:spPr>
          <a:xfrm>
            <a:off x="566928" y="6236208"/>
            <a:ext cx="11055096" cy="365760"/>
          </a:xfrm>
          <a:prstGeom prst="rect">
            <a:avLst/>
          </a:prstGeom>
          <a:noFill/>
          <a:ln/>
        </p:spPr>
        <p:txBody>
          <a:bodyPr wrap="square" lIns="0" tIns="0" rIns="0" bIns="0" rtlCol="0" anchor="t"/>
          <a:lstStyle/>
          <a:p>
            <a:pPr marL="0" indent="0">
              <a:buNone/>
            </a:pPr>
            <a:r>
              <a:rPr lang="en-US" sz="1300" dirty="0">
                <a:solidFill>
                  <a:srgbClr val="555555"/>
                </a:solidFill>
                <a:latin typeface="Palatino" pitchFamily="34" charset="0"/>
                <a:ea typeface="Palatino" pitchFamily="34" charset="-122"/>
                <a:cs typeface="Palatino" pitchFamily="34" charset="-120"/>
              </a:rPr>
              <a:t>Voje (2018), table 1.  R package adePEM: fit3adequacy.stasis(), fit3adequacy.RW(), fit3adequacy.trend()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A solid winner that fails anyway</a:t>
            </a:r>
            <a:endParaRPr lang="en-US" sz="3200" dirty="0"/>
          </a:p>
        </p:txBody>
      </p:sp>
      <p:sp>
        <p:nvSpPr>
          <p:cNvPr id="3" name="Text 1"/>
          <p:cNvSpPr/>
          <p:nvPr/>
        </p:nvSpPr>
        <p:spPr>
          <a:xfrm>
            <a:off x="566928" y="960120"/>
            <a:ext cx="10881360" cy="411480"/>
          </a:xfrm>
          <a:prstGeom prst="rect">
            <a:avLst/>
          </a:prstGeom>
          <a:noFill/>
          <a:ln/>
        </p:spPr>
        <p:txBody>
          <a:bodyPr wrap="square" lIns="0" tIns="0" rIns="0" bIns="0" rtlCol="0" anchor="t"/>
          <a:lstStyle/>
          <a:p>
            <a:pPr marL="0" indent="0">
              <a:buNone/>
            </a:pPr>
            <a:r>
              <a:rPr lang="en-US" sz="2200" i="1" dirty="0">
                <a:solidFill>
                  <a:srgbClr val="555555"/>
                </a:solidFill>
                <a:latin typeface="Palatino" pitchFamily="34" charset="0"/>
                <a:ea typeface="Palatino" pitchFamily="34" charset="-122"/>
                <a:cs typeface="Palatino" pitchFamily="34" charset="-120"/>
              </a:rPr>
              <a:t>Log diameter of the proloculus in Afrobolivina afra</a:t>
            </a:r>
            <a:endParaRPr lang="en-US" sz="2200" dirty="0"/>
          </a:p>
        </p:txBody>
      </p:sp>
      <p:sp>
        <p:nvSpPr>
          <p:cNvPr id="4" name="Text 2"/>
          <p:cNvSpPr/>
          <p:nvPr/>
        </p:nvSpPr>
        <p:spPr>
          <a:xfrm>
            <a:off x="841248" y="1600200"/>
            <a:ext cx="3657600" cy="658368"/>
          </a:xfrm>
          <a:prstGeom prst="rect">
            <a:avLst/>
          </a:prstGeom>
          <a:noFill/>
          <a:ln/>
        </p:spPr>
        <p:txBody>
          <a:bodyPr wrap="square" lIns="0" tIns="0" rIns="0" bIns="0" rtlCol="0" anchor="ctr"/>
          <a:lstStyle/>
          <a:p>
            <a:pPr marL="0" indent="0" algn="l">
              <a:buNone/>
            </a:pPr>
            <a:r>
              <a:rPr lang="en-US" sz="2100" i="1" dirty="0">
                <a:solidFill>
                  <a:srgbClr val="555555"/>
                </a:solidFill>
                <a:latin typeface="Palatino" pitchFamily="34" charset="0"/>
                <a:ea typeface="Palatino" pitchFamily="34" charset="-122"/>
                <a:cs typeface="Palatino" pitchFamily="34" charset="-120"/>
              </a:rPr>
              <a:t>Model</a:t>
            </a:r>
            <a:endParaRPr lang="en-US" sz="2100" dirty="0"/>
          </a:p>
        </p:txBody>
      </p:sp>
      <p:sp>
        <p:nvSpPr>
          <p:cNvPr id="5" name="Text 3"/>
          <p:cNvSpPr/>
          <p:nvPr/>
        </p:nvSpPr>
        <p:spPr>
          <a:xfrm>
            <a:off x="4297680" y="1600200"/>
            <a:ext cx="1280160" cy="658368"/>
          </a:xfrm>
          <a:prstGeom prst="rect">
            <a:avLst/>
          </a:prstGeom>
          <a:noFill/>
          <a:ln/>
        </p:spPr>
        <p:txBody>
          <a:bodyPr wrap="square" lIns="0" tIns="0" rIns="0" bIns="0" rtlCol="0" anchor="ctr"/>
          <a:lstStyle/>
          <a:p>
            <a:pPr marL="0" indent="0" algn="r">
              <a:buNone/>
            </a:pPr>
            <a:r>
              <a:rPr lang="en-US" sz="2100" i="1" dirty="0">
                <a:solidFill>
                  <a:srgbClr val="555555"/>
                </a:solidFill>
                <a:latin typeface="Palatino" pitchFamily="34" charset="0"/>
                <a:ea typeface="Palatino" pitchFamily="34" charset="-122"/>
                <a:cs typeface="Palatino" pitchFamily="34" charset="-120"/>
              </a:rPr>
              <a:t>AICc</a:t>
            </a:r>
            <a:endParaRPr lang="en-US" sz="2100" dirty="0"/>
          </a:p>
        </p:txBody>
      </p:sp>
      <p:sp>
        <p:nvSpPr>
          <p:cNvPr id="6" name="Text 4"/>
          <p:cNvSpPr/>
          <p:nvPr/>
        </p:nvSpPr>
        <p:spPr>
          <a:xfrm>
            <a:off x="5760720" y="1600200"/>
            <a:ext cx="1371600" cy="658368"/>
          </a:xfrm>
          <a:prstGeom prst="rect">
            <a:avLst/>
          </a:prstGeom>
          <a:noFill/>
          <a:ln/>
        </p:spPr>
        <p:txBody>
          <a:bodyPr wrap="square" lIns="0" tIns="0" rIns="0" bIns="0" rtlCol="0" anchor="ctr"/>
          <a:lstStyle/>
          <a:p>
            <a:pPr marL="0" indent="0" algn="r">
              <a:buNone/>
            </a:pPr>
            <a:r>
              <a:rPr lang="en-US" sz="2100" i="1" dirty="0">
                <a:solidFill>
                  <a:srgbClr val="555555"/>
                </a:solidFill>
                <a:latin typeface="Palatino" pitchFamily="34" charset="0"/>
                <a:ea typeface="Palatino" pitchFamily="34" charset="-122"/>
                <a:cs typeface="Palatino" pitchFamily="34" charset="-120"/>
              </a:rPr>
              <a:t>ΔAICc</a:t>
            </a:r>
            <a:endParaRPr lang="en-US" sz="2100" dirty="0"/>
          </a:p>
        </p:txBody>
      </p:sp>
      <p:sp>
        <p:nvSpPr>
          <p:cNvPr id="7" name="Text 5"/>
          <p:cNvSpPr/>
          <p:nvPr/>
        </p:nvSpPr>
        <p:spPr>
          <a:xfrm>
            <a:off x="7315200" y="1600200"/>
            <a:ext cx="2194560" cy="658368"/>
          </a:xfrm>
          <a:prstGeom prst="rect">
            <a:avLst/>
          </a:prstGeom>
          <a:noFill/>
          <a:ln/>
        </p:spPr>
        <p:txBody>
          <a:bodyPr wrap="square" lIns="0" tIns="0" rIns="0" bIns="0" rtlCol="0" anchor="ctr"/>
          <a:lstStyle/>
          <a:p>
            <a:pPr marL="0" indent="0" algn="r">
              <a:buNone/>
            </a:pPr>
            <a:r>
              <a:rPr lang="en-US" sz="2100" i="1" dirty="0">
                <a:solidFill>
                  <a:srgbClr val="555555"/>
                </a:solidFill>
                <a:latin typeface="Palatino" pitchFamily="34" charset="0"/>
                <a:ea typeface="Palatino" pitchFamily="34" charset="-122"/>
                <a:cs typeface="Palatino" pitchFamily="34" charset="-120"/>
              </a:rPr>
              <a:t>Adequate?</a:t>
            </a:r>
            <a:endParaRPr lang="en-US" sz="2100" dirty="0"/>
          </a:p>
        </p:txBody>
      </p:sp>
      <p:sp>
        <p:nvSpPr>
          <p:cNvPr id="8" name="Shape 6"/>
          <p:cNvSpPr/>
          <p:nvPr/>
        </p:nvSpPr>
        <p:spPr>
          <a:xfrm>
            <a:off x="841248" y="2203704"/>
            <a:ext cx="9235440" cy="0"/>
          </a:xfrm>
          <a:prstGeom prst="line">
            <a:avLst/>
          </a:prstGeom>
          <a:noFill/>
          <a:ln w="9525">
            <a:solidFill>
              <a:srgbClr val="AAAAAA"/>
            </a:solidFill>
            <a:prstDash val="solid"/>
          </a:ln>
        </p:spPr>
      </p:sp>
      <p:sp>
        <p:nvSpPr>
          <p:cNvPr id="9" name="Text 7"/>
          <p:cNvSpPr/>
          <p:nvPr/>
        </p:nvSpPr>
        <p:spPr>
          <a:xfrm>
            <a:off x="841248" y="2258568"/>
            <a:ext cx="3657600" cy="658368"/>
          </a:xfrm>
          <a:prstGeom prst="rect">
            <a:avLst/>
          </a:prstGeom>
          <a:noFill/>
          <a:ln/>
        </p:spPr>
        <p:txBody>
          <a:bodyPr wrap="square" lIns="0" tIns="0" rIns="0" bIns="0" rtlCol="0" anchor="ctr"/>
          <a:lstStyle/>
          <a:p>
            <a:pPr marL="0" indent="0" algn="l">
              <a:buNone/>
            </a:pPr>
            <a:r>
              <a:rPr lang="en-US" sz="2600" b="1" dirty="0">
                <a:solidFill>
                  <a:srgbClr val="C00000"/>
                </a:solidFill>
                <a:latin typeface="Palatino" pitchFamily="34" charset="0"/>
                <a:ea typeface="Palatino" pitchFamily="34" charset="-122"/>
                <a:cs typeface="Palatino" pitchFamily="34" charset="-120"/>
              </a:rPr>
              <a:t>Stasis</a:t>
            </a:r>
            <a:endParaRPr lang="en-US" sz="2600" dirty="0"/>
          </a:p>
        </p:txBody>
      </p:sp>
      <p:sp>
        <p:nvSpPr>
          <p:cNvPr id="10" name="Text 8"/>
          <p:cNvSpPr/>
          <p:nvPr/>
        </p:nvSpPr>
        <p:spPr>
          <a:xfrm>
            <a:off x="4297680" y="2258568"/>
            <a:ext cx="1280160" cy="658368"/>
          </a:xfrm>
          <a:prstGeom prst="rect">
            <a:avLst/>
          </a:prstGeom>
          <a:noFill/>
          <a:ln/>
        </p:spPr>
        <p:txBody>
          <a:bodyPr wrap="square" lIns="0" tIns="0" rIns="0" bIns="0" rtlCol="0" anchor="ctr"/>
          <a:lstStyle/>
          <a:p>
            <a:pPr marL="0" indent="0" algn="r">
              <a:buNone/>
            </a:pPr>
            <a:r>
              <a:rPr lang="en-US" sz="2600" b="1" dirty="0">
                <a:solidFill>
                  <a:srgbClr val="C00000"/>
                </a:solidFill>
                <a:latin typeface="Palatino" pitchFamily="34" charset="0"/>
                <a:ea typeface="Palatino" pitchFamily="34" charset="-122"/>
                <a:cs typeface="Palatino" pitchFamily="34" charset="-120"/>
              </a:rPr>
              <a:t>−38.73</a:t>
            </a:r>
            <a:endParaRPr lang="en-US" sz="2600" dirty="0"/>
          </a:p>
        </p:txBody>
      </p:sp>
      <p:sp>
        <p:nvSpPr>
          <p:cNvPr id="11" name="Text 9"/>
          <p:cNvSpPr/>
          <p:nvPr/>
        </p:nvSpPr>
        <p:spPr>
          <a:xfrm>
            <a:off x="5760720" y="2258568"/>
            <a:ext cx="1371600" cy="658368"/>
          </a:xfrm>
          <a:prstGeom prst="rect">
            <a:avLst/>
          </a:prstGeom>
          <a:noFill/>
          <a:ln/>
        </p:spPr>
        <p:txBody>
          <a:bodyPr wrap="square" lIns="0" tIns="0" rIns="0" bIns="0" rtlCol="0" anchor="ctr"/>
          <a:lstStyle/>
          <a:p>
            <a:pPr marL="0" indent="0" algn="r">
              <a:buNone/>
            </a:pPr>
            <a:r>
              <a:rPr lang="en-US" sz="2600" b="1" dirty="0">
                <a:solidFill>
                  <a:srgbClr val="C00000"/>
                </a:solidFill>
                <a:latin typeface="Palatino" pitchFamily="34" charset="0"/>
                <a:ea typeface="Palatino" pitchFamily="34" charset="-122"/>
                <a:cs typeface="Palatino" pitchFamily="34" charset="-120"/>
              </a:rPr>
              <a:t>0.00</a:t>
            </a:r>
            <a:endParaRPr lang="en-US" sz="2600" dirty="0"/>
          </a:p>
        </p:txBody>
      </p:sp>
      <p:sp>
        <p:nvSpPr>
          <p:cNvPr id="12" name="Text 10"/>
          <p:cNvSpPr/>
          <p:nvPr/>
        </p:nvSpPr>
        <p:spPr>
          <a:xfrm>
            <a:off x="7315200" y="2258568"/>
            <a:ext cx="2194560" cy="658368"/>
          </a:xfrm>
          <a:prstGeom prst="rect">
            <a:avLst/>
          </a:prstGeom>
          <a:noFill/>
          <a:ln/>
        </p:spPr>
        <p:txBody>
          <a:bodyPr wrap="square" lIns="0" tIns="0" rIns="0" bIns="0" rtlCol="0" anchor="ctr"/>
          <a:lstStyle/>
          <a:p>
            <a:pPr marL="0" indent="0" algn="r">
              <a:buNone/>
            </a:pPr>
            <a:r>
              <a:rPr lang="en-US" sz="2600" b="1" dirty="0">
                <a:solidFill>
                  <a:srgbClr val="C00000"/>
                </a:solidFill>
                <a:latin typeface="Palatino" pitchFamily="34" charset="0"/>
                <a:ea typeface="Palatino" pitchFamily="34" charset="-122"/>
                <a:cs typeface="Palatino" pitchFamily="34" charset="-120"/>
              </a:rPr>
              <a:t>no</a:t>
            </a:r>
            <a:endParaRPr lang="en-US" sz="2600" dirty="0"/>
          </a:p>
        </p:txBody>
      </p:sp>
      <p:sp>
        <p:nvSpPr>
          <p:cNvPr id="13" name="Text 11"/>
          <p:cNvSpPr/>
          <p:nvPr/>
        </p:nvSpPr>
        <p:spPr>
          <a:xfrm>
            <a:off x="841248" y="2916936"/>
            <a:ext cx="3657600" cy="658368"/>
          </a:xfrm>
          <a:prstGeom prst="rect">
            <a:avLst/>
          </a:prstGeom>
          <a:noFill/>
          <a:ln/>
        </p:spPr>
        <p:txBody>
          <a:bodyPr wrap="square" lIns="0" tIns="0" rIns="0" bIns="0" rtlCol="0" anchor="ctr"/>
          <a:lstStyle/>
          <a:p>
            <a:pPr marL="0" indent="0" algn="l">
              <a:buNone/>
            </a:pPr>
            <a:r>
              <a:rPr lang="en-US" sz="2600" dirty="0">
                <a:solidFill>
                  <a:srgbClr val="000000"/>
                </a:solidFill>
                <a:latin typeface="Palatino" pitchFamily="34" charset="0"/>
                <a:ea typeface="Palatino" pitchFamily="34" charset="-122"/>
                <a:cs typeface="Palatino" pitchFamily="34" charset="-120"/>
              </a:rPr>
              <a:t>Random walk</a:t>
            </a:r>
            <a:endParaRPr lang="en-US" sz="2600" dirty="0"/>
          </a:p>
        </p:txBody>
      </p:sp>
      <p:sp>
        <p:nvSpPr>
          <p:cNvPr id="14" name="Text 12"/>
          <p:cNvSpPr/>
          <p:nvPr/>
        </p:nvSpPr>
        <p:spPr>
          <a:xfrm>
            <a:off x="4297680" y="2916936"/>
            <a:ext cx="128016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−27.81</a:t>
            </a:r>
            <a:endParaRPr lang="en-US" sz="2600" dirty="0"/>
          </a:p>
        </p:txBody>
      </p:sp>
      <p:sp>
        <p:nvSpPr>
          <p:cNvPr id="15" name="Text 13"/>
          <p:cNvSpPr/>
          <p:nvPr/>
        </p:nvSpPr>
        <p:spPr>
          <a:xfrm>
            <a:off x="5760720" y="2916936"/>
            <a:ext cx="137160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10.92</a:t>
            </a:r>
            <a:endParaRPr lang="en-US" sz="2600" dirty="0"/>
          </a:p>
        </p:txBody>
      </p:sp>
      <p:sp>
        <p:nvSpPr>
          <p:cNvPr id="16" name="Text 14"/>
          <p:cNvSpPr/>
          <p:nvPr/>
        </p:nvSpPr>
        <p:spPr>
          <a:xfrm>
            <a:off x="7315200" y="2916936"/>
            <a:ext cx="219456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no</a:t>
            </a:r>
            <a:endParaRPr lang="en-US" sz="2600" dirty="0"/>
          </a:p>
        </p:txBody>
      </p:sp>
      <p:sp>
        <p:nvSpPr>
          <p:cNvPr id="17" name="Text 15"/>
          <p:cNvSpPr/>
          <p:nvPr/>
        </p:nvSpPr>
        <p:spPr>
          <a:xfrm>
            <a:off x="841248" y="3575304"/>
            <a:ext cx="3657600" cy="658368"/>
          </a:xfrm>
          <a:prstGeom prst="rect">
            <a:avLst/>
          </a:prstGeom>
          <a:noFill/>
          <a:ln/>
        </p:spPr>
        <p:txBody>
          <a:bodyPr wrap="square" lIns="0" tIns="0" rIns="0" bIns="0" rtlCol="0" anchor="ctr"/>
          <a:lstStyle/>
          <a:p>
            <a:pPr marL="0" indent="0" algn="l">
              <a:buNone/>
            </a:pPr>
            <a:r>
              <a:rPr lang="en-US" sz="2600" dirty="0">
                <a:solidFill>
                  <a:srgbClr val="000000"/>
                </a:solidFill>
                <a:latin typeface="Palatino" pitchFamily="34" charset="0"/>
                <a:ea typeface="Palatino" pitchFamily="34" charset="-122"/>
                <a:cs typeface="Palatino" pitchFamily="34" charset="-120"/>
              </a:rPr>
              <a:t>Directional change</a:t>
            </a:r>
            <a:endParaRPr lang="en-US" sz="2600" dirty="0"/>
          </a:p>
        </p:txBody>
      </p:sp>
      <p:sp>
        <p:nvSpPr>
          <p:cNvPr id="18" name="Text 16"/>
          <p:cNvSpPr/>
          <p:nvPr/>
        </p:nvSpPr>
        <p:spPr>
          <a:xfrm>
            <a:off x="4297680" y="3575304"/>
            <a:ext cx="128016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−25.54</a:t>
            </a:r>
            <a:endParaRPr lang="en-US" sz="2600" dirty="0"/>
          </a:p>
        </p:txBody>
      </p:sp>
      <p:sp>
        <p:nvSpPr>
          <p:cNvPr id="19" name="Text 17"/>
          <p:cNvSpPr/>
          <p:nvPr/>
        </p:nvSpPr>
        <p:spPr>
          <a:xfrm>
            <a:off x="5760720" y="3575304"/>
            <a:ext cx="137160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13.20</a:t>
            </a:r>
            <a:endParaRPr lang="en-US" sz="2600" dirty="0"/>
          </a:p>
        </p:txBody>
      </p:sp>
      <p:sp>
        <p:nvSpPr>
          <p:cNvPr id="20" name="Text 18"/>
          <p:cNvSpPr/>
          <p:nvPr/>
        </p:nvSpPr>
        <p:spPr>
          <a:xfrm>
            <a:off x="7315200" y="3575304"/>
            <a:ext cx="219456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no</a:t>
            </a:r>
            <a:endParaRPr lang="en-US" sz="2600" dirty="0"/>
          </a:p>
        </p:txBody>
      </p:sp>
      <p:sp>
        <p:nvSpPr>
          <p:cNvPr id="21" name="Text 19"/>
          <p:cNvSpPr/>
          <p:nvPr/>
        </p:nvSpPr>
        <p:spPr>
          <a:xfrm>
            <a:off x="566928" y="4389120"/>
            <a:ext cx="10881360" cy="1188720"/>
          </a:xfrm>
          <a:prstGeom prst="rect">
            <a:avLst/>
          </a:prstGeom>
          <a:noFill/>
          <a:ln/>
        </p:spPr>
        <p:txBody>
          <a:bodyPr wrap="square" lIns="0" tIns="0" rIns="0" bIns="0" rtlCol="0" anchor="t"/>
          <a:lstStyle/>
          <a:p>
            <a:pPr marL="0" indent="0">
              <a:lnSpc>
                <a:spcPts val="3400"/>
              </a:lnSpc>
              <a:buNone/>
            </a:pPr>
            <a:r>
              <a:rPr lang="en-US" sz="2400" dirty="0">
                <a:solidFill>
                  <a:srgbClr val="000000"/>
                </a:solidFill>
                <a:latin typeface="Palatino" pitchFamily="34" charset="0"/>
                <a:ea typeface="Palatino" pitchFamily="34" charset="-122"/>
                <a:cs typeface="Palatino" pitchFamily="34" charset="-120"/>
              </a:rPr>
              <a:t>Stasis wins by ~11 and ~13 AICc units, and still fails the autocorrelation and runs tests. Neither of the other two models is adequate either.</a:t>
            </a:r>
            <a:endParaRPr lang="en-US" sz="2400" dirty="0"/>
          </a:p>
        </p:txBody>
      </p:sp>
      <p:sp>
        <p:nvSpPr>
          <p:cNvPr id="22" name="Text 20"/>
          <p:cNvSpPr/>
          <p:nvPr/>
        </p:nvSpPr>
        <p:spPr>
          <a:xfrm>
            <a:off x="566928" y="5623560"/>
            <a:ext cx="10881360" cy="548640"/>
          </a:xfrm>
          <a:prstGeom prst="rect">
            <a:avLst/>
          </a:prstGeom>
          <a:noFill/>
          <a:ln/>
        </p:spPr>
        <p:txBody>
          <a:bodyPr wrap="square" lIns="0" tIns="0" rIns="0" bIns="0" rtlCol="0" anchor="t"/>
          <a:lstStyle/>
          <a:p>
            <a:pPr marL="0" indent="0">
              <a:buNone/>
            </a:pPr>
            <a:r>
              <a:rPr lang="en-US" sz="2500" i="1" dirty="0">
                <a:solidFill>
                  <a:srgbClr val="000000"/>
                </a:solidFill>
                <a:latin typeface="Palatino" pitchFamily="34" charset="0"/>
                <a:ea typeface="Palatino" pitchFamily="34" charset="-122"/>
                <a:cs typeface="Palatino" pitchFamily="34" charset="-120"/>
              </a:rPr>
              <a:t>So ω should not be read as “how tightly constrained this trait was”.</a:t>
            </a:r>
            <a:endParaRPr lang="en-US" sz="2500" dirty="0"/>
          </a:p>
        </p:txBody>
      </p:sp>
      <p:sp>
        <p:nvSpPr>
          <p:cNvPr id="23" name="Text 21"/>
          <p:cNvSpPr/>
          <p:nvPr/>
        </p:nvSpPr>
        <p:spPr>
          <a:xfrm>
            <a:off x="566928" y="6236208"/>
            <a:ext cx="11055096" cy="365760"/>
          </a:xfrm>
          <a:prstGeom prst="rect">
            <a:avLst/>
          </a:prstGeom>
          <a:noFill/>
          <a:ln/>
        </p:spPr>
        <p:txBody>
          <a:bodyPr wrap="square" lIns="0" tIns="0" rIns="0" bIns="0" rtlCol="0" anchor="t"/>
          <a:lstStyle/>
          <a:p>
            <a:pPr marL="0" indent="0">
              <a:buNone/>
            </a:pPr>
            <a:r>
              <a:rPr lang="en-US" sz="1300" dirty="0">
                <a:solidFill>
                  <a:srgbClr val="555555"/>
                </a:solidFill>
                <a:latin typeface="Palatino" pitchFamily="34" charset="0"/>
                <a:ea typeface="Palatino" pitchFamily="34" charset="-122"/>
                <a:cs typeface="Palatino" pitchFamily="34" charset="-120"/>
              </a:rPr>
              <a:t>Voje (2018), fig. 4 and table 3</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When the runner-up is the one to trust</a:t>
            </a:r>
            <a:endParaRPr lang="en-US" sz="3200" dirty="0"/>
          </a:p>
        </p:txBody>
      </p:sp>
      <p:sp>
        <p:nvSpPr>
          <p:cNvPr id="3" name="Text 1"/>
          <p:cNvSpPr/>
          <p:nvPr/>
        </p:nvSpPr>
        <p:spPr>
          <a:xfrm>
            <a:off x="566928" y="960120"/>
            <a:ext cx="10881360" cy="411480"/>
          </a:xfrm>
          <a:prstGeom prst="rect">
            <a:avLst/>
          </a:prstGeom>
          <a:noFill/>
          <a:ln/>
        </p:spPr>
        <p:txBody>
          <a:bodyPr wrap="square" lIns="0" tIns="0" rIns="0" bIns="0" rtlCol="0" anchor="t"/>
          <a:lstStyle/>
          <a:p>
            <a:pPr marL="0" indent="0">
              <a:buNone/>
            </a:pPr>
            <a:r>
              <a:rPr lang="en-US" sz="2200" i="1" dirty="0">
                <a:solidFill>
                  <a:srgbClr val="555555"/>
                </a:solidFill>
                <a:latin typeface="Palatino" pitchFamily="34" charset="0"/>
                <a:ea typeface="Palatino" pitchFamily="34" charset="-122"/>
                <a:cs typeface="Palatino" pitchFamily="34" charset="-120"/>
              </a:rPr>
              <a:t>Log area of the second cycle in the coccolithophore Chiasmolithus</a:t>
            </a:r>
            <a:endParaRPr lang="en-US" sz="2200" dirty="0"/>
          </a:p>
        </p:txBody>
      </p:sp>
      <p:sp>
        <p:nvSpPr>
          <p:cNvPr id="4" name="Text 2"/>
          <p:cNvSpPr/>
          <p:nvPr/>
        </p:nvSpPr>
        <p:spPr>
          <a:xfrm>
            <a:off x="841248" y="1600200"/>
            <a:ext cx="3657600" cy="658368"/>
          </a:xfrm>
          <a:prstGeom prst="rect">
            <a:avLst/>
          </a:prstGeom>
          <a:noFill/>
          <a:ln/>
        </p:spPr>
        <p:txBody>
          <a:bodyPr wrap="square" lIns="0" tIns="0" rIns="0" bIns="0" rtlCol="0" anchor="ctr"/>
          <a:lstStyle/>
          <a:p>
            <a:pPr marL="0" indent="0" algn="l">
              <a:buNone/>
            </a:pPr>
            <a:r>
              <a:rPr lang="en-US" sz="2100" i="1" dirty="0">
                <a:solidFill>
                  <a:srgbClr val="555555"/>
                </a:solidFill>
                <a:latin typeface="Palatino" pitchFamily="34" charset="0"/>
                <a:ea typeface="Palatino" pitchFamily="34" charset="-122"/>
                <a:cs typeface="Palatino" pitchFamily="34" charset="-120"/>
              </a:rPr>
              <a:t>Model</a:t>
            </a:r>
            <a:endParaRPr lang="en-US" sz="2100" dirty="0"/>
          </a:p>
        </p:txBody>
      </p:sp>
      <p:sp>
        <p:nvSpPr>
          <p:cNvPr id="5" name="Text 3"/>
          <p:cNvSpPr/>
          <p:nvPr/>
        </p:nvSpPr>
        <p:spPr>
          <a:xfrm>
            <a:off x="4297680" y="1600200"/>
            <a:ext cx="1371600" cy="658368"/>
          </a:xfrm>
          <a:prstGeom prst="rect">
            <a:avLst/>
          </a:prstGeom>
          <a:noFill/>
          <a:ln/>
        </p:spPr>
        <p:txBody>
          <a:bodyPr wrap="square" lIns="0" tIns="0" rIns="0" bIns="0" rtlCol="0" anchor="ctr"/>
          <a:lstStyle/>
          <a:p>
            <a:pPr marL="0" indent="0" algn="r">
              <a:buNone/>
            </a:pPr>
            <a:r>
              <a:rPr lang="en-US" sz="2100" i="1" dirty="0">
                <a:solidFill>
                  <a:srgbClr val="555555"/>
                </a:solidFill>
                <a:latin typeface="Palatino" pitchFamily="34" charset="0"/>
                <a:ea typeface="Palatino" pitchFamily="34" charset="-122"/>
                <a:cs typeface="Palatino" pitchFamily="34" charset="-120"/>
              </a:rPr>
              <a:t>AICc</a:t>
            </a:r>
            <a:endParaRPr lang="en-US" sz="2100" dirty="0"/>
          </a:p>
        </p:txBody>
      </p:sp>
      <p:sp>
        <p:nvSpPr>
          <p:cNvPr id="6" name="Text 4"/>
          <p:cNvSpPr/>
          <p:nvPr/>
        </p:nvSpPr>
        <p:spPr>
          <a:xfrm>
            <a:off x="5852160" y="1600200"/>
            <a:ext cx="1371600" cy="658368"/>
          </a:xfrm>
          <a:prstGeom prst="rect">
            <a:avLst/>
          </a:prstGeom>
          <a:noFill/>
          <a:ln/>
        </p:spPr>
        <p:txBody>
          <a:bodyPr wrap="square" lIns="0" tIns="0" rIns="0" bIns="0" rtlCol="0" anchor="ctr"/>
          <a:lstStyle/>
          <a:p>
            <a:pPr marL="0" indent="0" algn="r">
              <a:buNone/>
            </a:pPr>
            <a:r>
              <a:rPr lang="en-US" sz="2100" i="1" dirty="0">
                <a:solidFill>
                  <a:srgbClr val="555555"/>
                </a:solidFill>
                <a:latin typeface="Palatino" pitchFamily="34" charset="0"/>
                <a:ea typeface="Palatino" pitchFamily="34" charset="-122"/>
                <a:cs typeface="Palatino" pitchFamily="34" charset="-120"/>
              </a:rPr>
              <a:t>ΔAICc</a:t>
            </a:r>
            <a:endParaRPr lang="en-US" sz="2100" dirty="0"/>
          </a:p>
        </p:txBody>
      </p:sp>
      <p:sp>
        <p:nvSpPr>
          <p:cNvPr id="7" name="Text 5"/>
          <p:cNvSpPr/>
          <p:nvPr/>
        </p:nvSpPr>
        <p:spPr>
          <a:xfrm>
            <a:off x="7498080" y="1600200"/>
            <a:ext cx="3840480" cy="658368"/>
          </a:xfrm>
          <a:prstGeom prst="rect">
            <a:avLst/>
          </a:prstGeom>
          <a:noFill/>
          <a:ln/>
        </p:spPr>
        <p:txBody>
          <a:bodyPr wrap="square" lIns="0" tIns="0" rIns="0" bIns="0" rtlCol="0" anchor="ctr"/>
          <a:lstStyle/>
          <a:p>
            <a:pPr marL="0" indent="0" algn="l">
              <a:buNone/>
            </a:pPr>
            <a:r>
              <a:rPr lang="en-US" sz="2100" i="1" dirty="0">
                <a:solidFill>
                  <a:srgbClr val="555555"/>
                </a:solidFill>
                <a:latin typeface="Palatino" pitchFamily="34" charset="0"/>
                <a:ea typeface="Palatino" pitchFamily="34" charset="-122"/>
                <a:cs typeface="Palatino" pitchFamily="34" charset="-120"/>
              </a:rPr>
              <a:t>Adequate?</a:t>
            </a:r>
            <a:endParaRPr lang="en-US" sz="2100" dirty="0"/>
          </a:p>
        </p:txBody>
      </p:sp>
      <p:sp>
        <p:nvSpPr>
          <p:cNvPr id="8" name="Shape 6"/>
          <p:cNvSpPr/>
          <p:nvPr/>
        </p:nvSpPr>
        <p:spPr>
          <a:xfrm>
            <a:off x="841248" y="2203704"/>
            <a:ext cx="10607040" cy="0"/>
          </a:xfrm>
          <a:prstGeom prst="line">
            <a:avLst/>
          </a:prstGeom>
          <a:noFill/>
          <a:ln w="9525">
            <a:solidFill>
              <a:srgbClr val="AAAAAA"/>
            </a:solidFill>
            <a:prstDash val="solid"/>
          </a:ln>
        </p:spPr>
      </p:sp>
      <p:sp>
        <p:nvSpPr>
          <p:cNvPr id="9" name="Text 7"/>
          <p:cNvSpPr/>
          <p:nvPr/>
        </p:nvSpPr>
        <p:spPr>
          <a:xfrm>
            <a:off x="841248" y="2258568"/>
            <a:ext cx="3657600" cy="658368"/>
          </a:xfrm>
          <a:prstGeom prst="rect">
            <a:avLst/>
          </a:prstGeom>
          <a:noFill/>
          <a:ln/>
        </p:spPr>
        <p:txBody>
          <a:bodyPr wrap="square" lIns="0" tIns="0" rIns="0" bIns="0" rtlCol="0" anchor="ctr"/>
          <a:lstStyle/>
          <a:p>
            <a:pPr marL="0" indent="0" algn="l">
              <a:buNone/>
            </a:pPr>
            <a:r>
              <a:rPr lang="en-US" sz="2600" b="1" dirty="0">
                <a:solidFill>
                  <a:srgbClr val="C00000"/>
                </a:solidFill>
                <a:latin typeface="Palatino" pitchFamily="34" charset="0"/>
                <a:ea typeface="Palatino" pitchFamily="34" charset="-122"/>
                <a:cs typeface="Palatino" pitchFamily="34" charset="-120"/>
              </a:rPr>
              <a:t>Directional change</a:t>
            </a:r>
            <a:endParaRPr lang="en-US" sz="2600" dirty="0"/>
          </a:p>
        </p:txBody>
      </p:sp>
      <p:sp>
        <p:nvSpPr>
          <p:cNvPr id="10" name="Text 8"/>
          <p:cNvSpPr/>
          <p:nvPr/>
        </p:nvSpPr>
        <p:spPr>
          <a:xfrm>
            <a:off x="4297680" y="2258568"/>
            <a:ext cx="1371600" cy="658368"/>
          </a:xfrm>
          <a:prstGeom prst="rect">
            <a:avLst/>
          </a:prstGeom>
          <a:noFill/>
          <a:ln/>
        </p:spPr>
        <p:txBody>
          <a:bodyPr wrap="square" lIns="0" tIns="0" rIns="0" bIns="0" rtlCol="0" anchor="ctr"/>
          <a:lstStyle/>
          <a:p>
            <a:pPr marL="0" indent="0" algn="r">
              <a:buNone/>
            </a:pPr>
            <a:r>
              <a:rPr lang="en-US" sz="2600" b="1" dirty="0">
                <a:solidFill>
                  <a:srgbClr val="C00000"/>
                </a:solidFill>
                <a:latin typeface="Palatino" pitchFamily="34" charset="0"/>
                <a:ea typeface="Palatino" pitchFamily="34" charset="-122"/>
                <a:cs typeface="Palatino" pitchFamily="34" charset="-120"/>
              </a:rPr>
              <a:t>−137.22</a:t>
            </a:r>
            <a:endParaRPr lang="en-US" sz="2600" dirty="0"/>
          </a:p>
        </p:txBody>
      </p:sp>
      <p:sp>
        <p:nvSpPr>
          <p:cNvPr id="11" name="Text 9"/>
          <p:cNvSpPr/>
          <p:nvPr/>
        </p:nvSpPr>
        <p:spPr>
          <a:xfrm>
            <a:off x="5852160" y="2258568"/>
            <a:ext cx="1371600" cy="658368"/>
          </a:xfrm>
          <a:prstGeom prst="rect">
            <a:avLst/>
          </a:prstGeom>
          <a:noFill/>
          <a:ln/>
        </p:spPr>
        <p:txBody>
          <a:bodyPr wrap="square" lIns="0" tIns="0" rIns="0" bIns="0" rtlCol="0" anchor="ctr"/>
          <a:lstStyle/>
          <a:p>
            <a:pPr marL="0" indent="0" algn="r">
              <a:buNone/>
            </a:pPr>
            <a:r>
              <a:rPr lang="en-US" sz="2600" b="1" dirty="0">
                <a:solidFill>
                  <a:srgbClr val="C00000"/>
                </a:solidFill>
                <a:latin typeface="Palatino" pitchFamily="34" charset="0"/>
                <a:ea typeface="Palatino" pitchFamily="34" charset="-122"/>
                <a:cs typeface="Palatino" pitchFamily="34" charset="-120"/>
              </a:rPr>
              <a:t>0.00</a:t>
            </a:r>
            <a:endParaRPr lang="en-US" sz="2600" dirty="0"/>
          </a:p>
        </p:txBody>
      </p:sp>
      <p:sp>
        <p:nvSpPr>
          <p:cNvPr id="12" name="Text 10"/>
          <p:cNvSpPr/>
          <p:nvPr/>
        </p:nvSpPr>
        <p:spPr>
          <a:xfrm>
            <a:off x="7498080" y="2258568"/>
            <a:ext cx="3840480" cy="658368"/>
          </a:xfrm>
          <a:prstGeom prst="rect">
            <a:avLst/>
          </a:prstGeom>
          <a:noFill/>
          <a:ln/>
        </p:spPr>
        <p:txBody>
          <a:bodyPr wrap="square" lIns="0" tIns="0" rIns="0" bIns="0" rtlCol="0" anchor="ctr"/>
          <a:lstStyle/>
          <a:p>
            <a:pPr marL="0" indent="0" algn="l">
              <a:buNone/>
            </a:pPr>
            <a:r>
              <a:rPr lang="en-US" sz="2600" b="1" dirty="0">
                <a:solidFill>
                  <a:srgbClr val="C00000"/>
                </a:solidFill>
                <a:latin typeface="Palatino" pitchFamily="34" charset="0"/>
                <a:ea typeface="Palatino" pitchFamily="34" charset="-122"/>
                <a:cs typeface="Palatino" pitchFamily="34" charset="-120"/>
              </a:rPr>
              <a:t>no — fails runs</a:t>
            </a:r>
            <a:endParaRPr lang="en-US" sz="2600" dirty="0"/>
          </a:p>
        </p:txBody>
      </p:sp>
      <p:sp>
        <p:nvSpPr>
          <p:cNvPr id="13" name="Text 11"/>
          <p:cNvSpPr/>
          <p:nvPr/>
        </p:nvSpPr>
        <p:spPr>
          <a:xfrm>
            <a:off x="841248" y="2916936"/>
            <a:ext cx="3657600" cy="658368"/>
          </a:xfrm>
          <a:prstGeom prst="rect">
            <a:avLst/>
          </a:prstGeom>
          <a:noFill/>
          <a:ln/>
        </p:spPr>
        <p:txBody>
          <a:bodyPr wrap="square" lIns="0" tIns="0" rIns="0" bIns="0" rtlCol="0" anchor="ctr"/>
          <a:lstStyle/>
          <a:p>
            <a:pPr marL="0" indent="0" algn="l">
              <a:buNone/>
            </a:pPr>
            <a:r>
              <a:rPr lang="en-US" sz="2600" b="1" dirty="0">
                <a:solidFill>
                  <a:srgbClr val="000000"/>
                </a:solidFill>
                <a:latin typeface="Palatino" pitchFamily="34" charset="0"/>
                <a:ea typeface="Palatino" pitchFamily="34" charset="-122"/>
                <a:cs typeface="Palatino" pitchFamily="34" charset="-120"/>
              </a:rPr>
              <a:t>Random walk</a:t>
            </a:r>
            <a:endParaRPr lang="en-US" sz="2600" dirty="0"/>
          </a:p>
        </p:txBody>
      </p:sp>
      <p:sp>
        <p:nvSpPr>
          <p:cNvPr id="14" name="Text 12"/>
          <p:cNvSpPr/>
          <p:nvPr/>
        </p:nvSpPr>
        <p:spPr>
          <a:xfrm>
            <a:off x="4297680" y="2916936"/>
            <a:ext cx="1371600" cy="658368"/>
          </a:xfrm>
          <a:prstGeom prst="rect">
            <a:avLst/>
          </a:prstGeom>
          <a:noFill/>
          <a:ln/>
        </p:spPr>
        <p:txBody>
          <a:bodyPr wrap="square" lIns="0" tIns="0" rIns="0" bIns="0" rtlCol="0" anchor="ctr"/>
          <a:lstStyle/>
          <a:p>
            <a:pPr marL="0" indent="0" algn="r">
              <a:buNone/>
            </a:pPr>
            <a:r>
              <a:rPr lang="en-US" sz="2600" b="1" dirty="0">
                <a:solidFill>
                  <a:srgbClr val="000000"/>
                </a:solidFill>
                <a:latin typeface="Palatino" pitchFamily="34" charset="0"/>
                <a:ea typeface="Palatino" pitchFamily="34" charset="-122"/>
                <a:cs typeface="Palatino" pitchFamily="34" charset="-120"/>
              </a:rPr>
              <a:t>−137.10</a:t>
            </a:r>
            <a:endParaRPr lang="en-US" sz="2600" dirty="0"/>
          </a:p>
        </p:txBody>
      </p:sp>
      <p:sp>
        <p:nvSpPr>
          <p:cNvPr id="15" name="Text 13"/>
          <p:cNvSpPr/>
          <p:nvPr/>
        </p:nvSpPr>
        <p:spPr>
          <a:xfrm>
            <a:off x="5852160" y="2916936"/>
            <a:ext cx="1371600" cy="658368"/>
          </a:xfrm>
          <a:prstGeom prst="rect">
            <a:avLst/>
          </a:prstGeom>
          <a:noFill/>
          <a:ln/>
        </p:spPr>
        <p:txBody>
          <a:bodyPr wrap="square" lIns="0" tIns="0" rIns="0" bIns="0" rtlCol="0" anchor="ctr"/>
          <a:lstStyle/>
          <a:p>
            <a:pPr marL="0" indent="0" algn="r">
              <a:buNone/>
            </a:pPr>
            <a:r>
              <a:rPr lang="en-US" sz="2600" b="1" dirty="0">
                <a:solidFill>
                  <a:srgbClr val="000000"/>
                </a:solidFill>
                <a:latin typeface="Palatino" pitchFamily="34" charset="0"/>
                <a:ea typeface="Palatino" pitchFamily="34" charset="-122"/>
                <a:cs typeface="Palatino" pitchFamily="34" charset="-120"/>
              </a:rPr>
              <a:t>0.12</a:t>
            </a:r>
            <a:endParaRPr lang="en-US" sz="2600" dirty="0"/>
          </a:p>
        </p:txBody>
      </p:sp>
      <p:sp>
        <p:nvSpPr>
          <p:cNvPr id="16" name="Text 14"/>
          <p:cNvSpPr/>
          <p:nvPr/>
        </p:nvSpPr>
        <p:spPr>
          <a:xfrm>
            <a:off x="7498080" y="2916936"/>
            <a:ext cx="3840480" cy="658368"/>
          </a:xfrm>
          <a:prstGeom prst="rect">
            <a:avLst/>
          </a:prstGeom>
          <a:noFill/>
          <a:ln/>
        </p:spPr>
        <p:txBody>
          <a:bodyPr wrap="square" lIns="0" tIns="0" rIns="0" bIns="0" rtlCol="0" anchor="ctr"/>
          <a:lstStyle/>
          <a:p>
            <a:pPr marL="0" indent="0" algn="l">
              <a:buNone/>
            </a:pPr>
            <a:r>
              <a:rPr lang="en-US" sz="2600" b="1" dirty="0">
                <a:solidFill>
                  <a:srgbClr val="000000"/>
                </a:solidFill>
                <a:latin typeface="Palatino" pitchFamily="34" charset="0"/>
                <a:ea typeface="Palatino" pitchFamily="34" charset="-122"/>
                <a:cs typeface="Palatino" pitchFamily="34" charset="-120"/>
              </a:rPr>
              <a:t>yes — passes all</a:t>
            </a:r>
            <a:endParaRPr lang="en-US" sz="2600" dirty="0"/>
          </a:p>
        </p:txBody>
      </p:sp>
      <p:sp>
        <p:nvSpPr>
          <p:cNvPr id="17" name="Text 15"/>
          <p:cNvSpPr/>
          <p:nvPr/>
        </p:nvSpPr>
        <p:spPr>
          <a:xfrm>
            <a:off x="841248" y="3575304"/>
            <a:ext cx="3657600" cy="658368"/>
          </a:xfrm>
          <a:prstGeom prst="rect">
            <a:avLst/>
          </a:prstGeom>
          <a:noFill/>
          <a:ln/>
        </p:spPr>
        <p:txBody>
          <a:bodyPr wrap="square" lIns="0" tIns="0" rIns="0" bIns="0" rtlCol="0" anchor="ctr"/>
          <a:lstStyle/>
          <a:p>
            <a:pPr marL="0" indent="0" algn="l">
              <a:buNone/>
            </a:pPr>
            <a:r>
              <a:rPr lang="en-US" sz="2600" dirty="0">
                <a:solidFill>
                  <a:srgbClr val="000000"/>
                </a:solidFill>
                <a:latin typeface="Palatino" pitchFamily="34" charset="0"/>
                <a:ea typeface="Palatino" pitchFamily="34" charset="-122"/>
                <a:cs typeface="Palatino" pitchFamily="34" charset="-120"/>
              </a:rPr>
              <a:t>Stasis</a:t>
            </a:r>
            <a:endParaRPr lang="en-US" sz="2600" dirty="0"/>
          </a:p>
        </p:txBody>
      </p:sp>
      <p:sp>
        <p:nvSpPr>
          <p:cNvPr id="18" name="Text 16"/>
          <p:cNvSpPr/>
          <p:nvPr/>
        </p:nvSpPr>
        <p:spPr>
          <a:xfrm>
            <a:off x="4297680" y="3575304"/>
            <a:ext cx="137160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−134.36</a:t>
            </a:r>
            <a:endParaRPr lang="en-US" sz="2600" dirty="0"/>
          </a:p>
        </p:txBody>
      </p:sp>
      <p:sp>
        <p:nvSpPr>
          <p:cNvPr id="19" name="Text 17"/>
          <p:cNvSpPr/>
          <p:nvPr/>
        </p:nvSpPr>
        <p:spPr>
          <a:xfrm>
            <a:off x="5852160" y="3575304"/>
            <a:ext cx="1371600" cy="658368"/>
          </a:xfrm>
          <a:prstGeom prst="rect">
            <a:avLst/>
          </a:prstGeom>
          <a:noFill/>
          <a:ln/>
        </p:spPr>
        <p:txBody>
          <a:bodyPr wrap="square" lIns="0" tIns="0" rIns="0" bIns="0" rtlCol="0" anchor="ctr"/>
          <a:lstStyle/>
          <a:p>
            <a:pPr marL="0" indent="0" algn="r">
              <a:buNone/>
            </a:pPr>
            <a:r>
              <a:rPr lang="en-US" sz="2600" dirty="0">
                <a:solidFill>
                  <a:srgbClr val="000000"/>
                </a:solidFill>
                <a:latin typeface="Palatino" pitchFamily="34" charset="0"/>
                <a:ea typeface="Palatino" pitchFamily="34" charset="-122"/>
                <a:cs typeface="Palatino" pitchFamily="34" charset="-120"/>
              </a:rPr>
              <a:t>2.86</a:t>
            </a:r>
            <a:endParaRPr lang="en-US" sz="2600" dirty="0"/>
          </a:p>
        </p:txBody>
      </p:sp>
      <p:sp>
        <p:nvSpPr>
          <p:cNvPr id="20" name="Text 18"/>
          <p:cNvSpPr/>
          <p:nvPr/>
        </p:nvSpPr>
        <p:spPr>
          <a:xfrm>
            <a:off x="7498080" y="3575304"/>
            <a:ext cx="3840480" cy="658368"/>
          </a:xfrm>
          <a:prstGeom prst="rect">
            <a:avLst/>
          </a:prstGeom>
          <a:noFill/>
          <a:ln/>
        </p:spPr>
        <p:txBody>
          <a:bodyPr wrap="square" lIns="0" tIns="0" rIns="0" bIns="0" rtlCol="0" anchor="ctr"/>
          <a:lstStyle/>
          <a:p>
            <a:pPr marL="0" indent="0" algn="l">
              <a:buNone/>
            </a:pPr>
            <a:r>
              <a:rPr lang="en-US" sz="2600" dirty="0">
                <a:solidFill>
                  <a:srgbClr val="000000"/>
                </a:solidFill>
                <a:latin typeface="Palatino" pitchFamily="34" charset="0"/>
                <a:ea typeface="Palatino" pitchFamily="34" charset="-122"/>
                <a:cs typeface="Palatino" pitchFamily="34" charset="-120"/>
              </a:rPr>
              <a:t>—</a:t>
            </a:r>
            <a:endParaRPr lang="en-US" sz="2600" dirty="0"/>
          </a:p>
        </p:txBody>
      </p:sp>
      <p:sp>
        <p:nvSpPr>
          <p:cNvPr id="21" name="Text 19"/>
          <p:cNvSpPr/>
          <p:nvPr/>
        </p:nvSpPr>
        <p:spPr>
          <a:xfrm>
            <a:off x="566928" y="4343400"/>
            <a:ext cx="10881360" cy="1188720"/>
          </a:xfrm>
          <a:prstGeom prst="rect">
            <a:avLst/>
          </a:prstGeom>
          <a:noFill/>
          <a:ln/>
        </p:spPr>
        <p:txBody>
          <a:bodyPr wrap="square" lIns="0" tIns="0" rIns="0" bIns="0" rtlCol="0" anchor="t"/>
          <a:lstStyle/>
          <a:p>
            <a:pPr marL="0" indent="0">
              <a:lnSpc>
                <a:spcPts val="3300"/>
              </a:lnSpc>
              <a:buNone/>
            </a:pPr>
            <a:r>
              <a:rPr lang="en-US" sz="2400" dirty="0">
                <a:solidFill>
                  <a:srgbClr val="000000"/>
                </a:solidFill>
                <a:latin typeface="Palatino" pitchFamily="34" charset="0"/>
                <a:ea typeface="Palatino" pitchFamily="34" charset="-122"/>
                <a:cs typeface="Palatino" pitchFamily="34" charset="-120"/>
              </a:rPr>
              <a:t>0.12 AICc units separate the top two — in relative terms they are indistinguishable. In absolute terms the difference is decisive.</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01168"/>
            <a:ext cx="11055096" cy="777240"/>
          </a:xfrm>
          <a:prstGeom prst="rect">
            <a:avLst/>
          </a:prstGeom>
          <a:noFill/>
          <a:ln/>
        </p:spPr>
        <p:txBody>
          <a:bodyPr wrap="square" lIns="0" tIns="0" rIns="0" bIns="0" rtlCol="0" anchor="t"/>
          <a:lstStyle/>
          <a:p>
            <a:pPr marL="0" indent="0">
              <a:buNone/>
            </a:pPr>
            <a:r>
              <a:rPr lang="en-US" sz="3200" dirty="0">
                <a:solidFill>
                  <a:srgbClr val="000000"/>
                </a:solidFill>
                <a:latin typeface="Palatino" pitchFamily="34" charset="0"/>
                <a:ea typeface="Palatino" pitchFamily="34" charset="-122"/>
                <a:cs typeface="Palatino" pitchFamily="34" charset="-120"/>
              </a:rPr>
              <a:t>Take home</a:t>
            </a:r>
            <a:endParaRPr lang="en-US" sz="3200" dirty="0"/>
          </a:p>
        </p:txBody>
      </p:sp>
      <p:sp>
        <p:nvSpPr>
          <p:cNvPr id="3" name="Text 1"/>
          <p:cNvSpPr/>
          <p:nvPr/>
        </p:nvSpPr>
        <p:spPr>
          <a:xfrm>
            <a:off x="841248" y="1417320"/>
            <a:ext cx="10607040" cy="4023360"/>
          </a:xfrm>
          <a:prstGeom prst="rect">
            <a:avLst/>
          </a:prstGeom>
          <a:noFill/>
          <a:ln/>
        </p:spPr>
        <p:txBody>
          <a:bodyPr wrap="square" lIns="0" tIns="0" rIns="0" bIns="0" rtlCol="0" anchor="t"/>
          <a:lstStyle/>
          <a:p>
            <a:pPr marL="342900" indent="-342900">
              <a:spcAft>
                <a:spcPts val="2000"/>
              </a:spcAft>
              <a:buSzPct val="100000"/>
              <a:buFont typeface="+mj-lt"/>
              <a:buAutoNum type="arabicPeriod"/>
            </a:pPr>
            <a:r>
              <a:rPr lang="en-US" sz="2500" dirty="0">
                <a:solidFill>
                  <a:srgbClr val="000000"/>
                </a:solidFill>
                <a:latin typeface="Palatino" pitchFamily="34" charset="0"/>
                <a:ea typeface="Palatino" pitchFamily="34" charset="-122"/>
                <a:cs typeface="Palatino" pitchFamily="34" charset="-120"/>
              </a:rPr>
              <a:t>Model selection ranks. Model adequacy validates. Do both.</a:t>
            </a:r>
            <a:endParaRPr lang="en-US" sz="2500" dirty="0"/>
          </a:p>
          <a:p>
            <a:pPr marL="342900" indent="-342900">
              <a:spcAft>
                <a:spcPts val="2000"/>
              </a:spcAft>
              <a:buSzPct val="100000"/>
              <a:buFont typeface="+mj-lt"/>
              <a:buAutoNum type="arabicPeriod"/>
            </a:pPr>
            <a:r>
              <a:rPr lang="en-US" sz="2500" dirty="0">
                <a:solidFill>
                  <a:srgbClr val="000000"/>
                </a:solidFill>
                <a:latin typeface="Palatino" pitchFamily="34" charset="0"/>
                <a:ea typeface="Palatino" pitchFamily="34" charset="-122"/>
                <a:cs typeface="Palatino" pitchFamily="34" charset="-120"/>
              </a:rPr>
              <a:t>AIC always hands you a winner, even when every candidate is poor.</a:t>
            </a:r>
            <a:endParaRPr lang="en-US" sz="2500" dirty="0"/>
          </a:p>
          <a:p>
            <a:pPr marL="342900" indent="-342900">
              <a:spcAft>
                <a:spcPts val="2000"/>
              </a:spcAft>
              <a:buSzPct val="100000"/>
              <a:buFont typeface="+mj-lt"/>
              <a:buAutoNum type="arabicPeriod"/>
            </a:pPr>
            <a:r>
              <a:rPr lang="en-US" sz="2500" dirty="0">
                <a:solidFill>
                  <a:srgbClr val="000000"/>
                </a:solidFill>
                <a:latin typeface="Palatino" pitchFamily="34" charset="0"/>
                <a:ea typeface="Palatino" pitchFamily="34" charset="-122"/>
                <a:cs typeface="Palatino" pitchFamily="34" charset="-120"/>
              </a:rPr>
              <a:t>Adequacy asks one question, and answers it by simulation.</a:t>
            </a:r>
            <a:endParaRPr lang="en-US" sz="2500" dirty="0"/>
          </a:p>
          <a:p>
            <a:pPr marL="342900" indent="-342900">
              <a:spcAft>
                <a:spcPts val="2000"/>
              </a:spcAft>
              <a:buSzPct val="100000"/>
              <a:buFont typeface="+mj-lt"/>
              <a:buAutoNum type="arabicPeriod"/>
            </a:pPr>
            <a:r>
              <a:rPr lang="en-US" sz="2500" dirty="0">
                <a:solidFill>
                  <a:srgbClr val="000000"/>
                </a:solidFill>
                <a:latin typeface="Palatino" pitchFamily="34" charset="0"/>
                <a:ea typeface="Palatino" pitchFamily="34" charset="-122"/>
                <a:cs typeface="Palatino" pitchFamily="34" charset="-120"/>
              </a:rPr>
              <a:t>Rates, ω and other parameters mean something only if the model is adequate.</a:t>
            </a:r>
            <a:endParaRPr lang="en-US" sz="2500" dirty="0"/>
          </a:p>
          <a:p>
            <a:pPr marL="342900" indent="-342900">
              <a:spcAft>
                <a:spcPts val="2000"/>
              </a:spcAft>
              <a:buSzPct val="100000"/>
              <a:buFont typeface="+mj-lt"/>
              <a:buAutoNum type="arabicPeriod"/>
            </a:pPr>
            <a:r>
              <a:rPr lang="en-US" sz="2500" dirty="0">
                <a:solidFill>
                  <a:srgbClr val="000000"/>
                </a:solidFill>
                <a:latin typeface="Palatino" pitchFamily="34" charset="0"/>
                <a:ea typeface="Palatino" pitchFamily="34" charset="-122"/>
                <a:cs typeface="Palatino" pitchFamily="34" charset="-120"/>
              </a:rPr>
              <a:t>It is not all-or-nothing: a failed test tells you which assumption the data violate.</a:t>
            </a:r>
            <a:endParaRPr lang="en-US" sz="2500" dirty="0"/>
          </a:p>
        </p:txBody>
      </p:sp>
      <p:sp>
        <p:nvSpPr>
          <p:cNvPr id="4" name="Text 2"/>
          <p:cNvSpPr/>
          <p:nvPr/>
        </p:nvSpPr>
        <p:spPr>
          <a:xfrm>
            <a:off x="566928" y="5715000"/>
            <a:ext cx="10881360" cy="914400"/>
          </a:xfrm>
          <a:prstGeom prst="rect">
            <a:avLst/>
          </a:prstGeom>
          <a:noFill/>
          <a:ln/>
        </p:spPr>
        <p:txBody>
          <a:bodyPr wrap="square" lIns="0" tIns="0" rIns="0" bIns="0" rtlCol="0" anchor="t"/>
          <a:lstStyle/>
          <a:p>
            <a:pPr marL="0" indent="0">
              <a:lnSpc>
                <a:spcPts val="1600"/>
              </a:lnSpc>
              <a:buNone/>
            </a:pPr>
            <a:r>
              <a:rPr lang="en-US" sz="1250" dirty="0">
                <a:solidFill>
                  <a:srgbClr val="555555"/>
                </a:solidFill>
                <a:latin typeface="Palatino" pitchFamily="34" charset="0"/>
                <a:ea typeface="Palatino" pitchFamily="34" charset="-122"/>
                <a:cs typeface="Palatino" pitchFamily="34" charset="-120"/>
              </a:rPr>
              <a:t>Voje, K. L. (2018) Assessing adequacy of models of phyletic evolution in the fossil record. Methods in Ecology and Evolution.</a:t>
            </a:r>
            <a:endParaRPr lang="en-US" sz="1250" dirty="0"/>
          </a:p>
          <a:p>
            <a:pPr marL="0" indent="0">
              <a:lnSpc>
                <a:spcPts val="1600"/>
              </a:lnSpc>
              <a:buNone/>
            </a:pPr>
            <a:r>
              <a:rPr lang="en-US" sz="1250" dirty="0">
                <a:solidFill>
                  <a:srgbClr val="555555"/>
                </a:solidFill>
                <a:latin typeface="Palatino" pitchFamily="34" charset="0"/>
                <a:ea typeface="Palatino" pitchFamily="34" charset="-122"/>
                <a:cs typeface="Palatino" pitchFamily="34" charset="-120"/>
              </a:rPr>
              <a:t>Voje, K. L., Starrfelt, J. &amp; Liow, L. H. (2018) Model adequacy and microevolutionary explanations for stasis in the fossil record. The American Naturalist 191, 509–523.</a:t>
            </a:r>
            <a:endParaRPr lang="en-US" sz="1250" dirty="0"/>
          </a:p>
          <a:p>
            <a:pPr marL="0" indent="0">
              <a:lnSpc>
                <a:spcPts val="1600"/>
              </a:lnSpc>
              <a:buNone/>
            </a:pPr>
            <a:r>
              <a:rPr lang="en-US" sz="1250" dirty="0">
                <a:solidFill>
                  <a:srgbClr val="555555"/>
                </a:solidFill>
                <a:latin typeface="Palatino" pitchFamily="34" charset="0"/>
                <a:ea typeface="Palatino" pitchFamily="34" charset="-122"/>
                <a:cs typeface="Palatino" pitchFamily="34" charset="-120"/>
              </a:rPr>
              <a:t>R package adePEM:  github.com/klvoje/adePEM</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1766</Words>
  <Application>Microsoft Macintosh PowerPoint</Application>
  <PresentationFormat>Widescreen</PresentationFormat>
  <Paragraphs>157</Paragraphs>
  <Slides>16</Slides>
  <Notes>16</Notes>
  <HiddenSlides>0</HiddenSlides>
  <MMClips>0</MMClips>
  <ScaleCrop>false</ScaleCrop>
  <HeadingPairs>
    <vt:vector size="6" baseType="variant">
      <vt:variant>
        <vt:lpstr>Brukte skrifter</vt:lpstr>
      </vt:variant>
      <vt:variant>
        <vt:i4>2</vt:i4>
      </vt:variant>
      <vt:variant>
        <vt:lpstr>Tema</vt:lpstr>
      </vt:variant>
      <vt:variant>
        <vt:i4>1</vt:i4>
      </vt:variant>
      <vt:variant>
        <vt:lpstr>Lysbildetitler</vt:lpstr>
      </vt:variant>
      <vt:variant>
        <vt:i4>16</vt:i4>
      </vt:variant>
    </vt:vector>
  </HeadingPairs>
  <TitlesOfParts>
    <vt:vector size="19" baseType="lpstr">
      <vt:lpstr>Arial</vt:lpstr>
      <vt:lpstr>Palatino</vt:lpstr>
      <vt:lpstr>Office Theme</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adequacy</dc:title>
  <dc:subject>PptxGenJS Presentation</dc:subject>
  <dc:creator>Kjetil Lysne Voje</dc:creator>
  <cp:lastModifiedBy>Kjetil Lysne Voje</cp:lastModifiedBy>
  <cp:revision>2</cp:revision>
  <dcterms:created xsi:type="dcterms:W3CDTF">2026-08-25T08:10:19Z</dcterms:created>
  <dcterms:modified xsi:type="dcterms:W3CDTF">2026-08-25T08:15:41Z</dcterms:modified>
</cp:coreProperties>
</file>