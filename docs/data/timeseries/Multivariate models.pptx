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613" r:id="rId2"/>
    <p:sldId id="1386" r:id="rId3"/>
    <p:sldId id="1421" r:id="rId4"/>
    <p:sldId id="1423" r:id="rId5"/>
    <p:sldId id="1415" r:id="rId6"/>
    <p:sldId id="1417" r:id="rId7"/>
    <p:sldId id="1387" r:id="rId8"/>
    <p:sldId id="1418" r:id="rId9"/>
    <p:sldId id="1412" r:id="rId10"/>
    <p:sldId id="1419" r:id="rId11"/>
    <p:sldId id="1601" r:id="rId12"/>
    <p:sldId id="1602" r:id="rId13"/>
    <p:sldId id="1603" r:id="rId14"/>
    <p:sldId id="1604" r:id="rId15"/>
    <p:sldId id="1605" r:id="rId16"/>
    <p:sldId id="1614" r:id="rId1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3"/>
  </p:normalViewPr>
  <p:slideViewPr>
    <p:cSldViewPr snapToGrid="0">
      <p:cViewPr varScale="1">
        <p:scale>
          <a:sx n="95" d="100"/>
          <a:sy n="95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572742-1418-F8AF-BD90-5874C34E6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19D1EC4A-E759-F9DC-EBF5-CA9A4F895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76088CA-A42D-66A0-461A-7CA29DA0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21FCC4A-583F-10B4-0019-F3B5C78B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9FDFA3F-87DE-1714-F901-586F1B46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318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8FEE4F5-D62F-E14B-02F5-7AB16AB8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CA18171-DB49-66C9-80C7-23E77E04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FF39550-574C-40DE-6886-05219A69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F7B0AA9-2C30-F59B-2AE3-2A789FF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B2057A7-732E-A36B-E789-F5B6A008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7014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0A854EB-5C2A-11A3-4701-AA25F0D51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4B980A6-059E-43BC-15DA-F8EA6297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94FC2FF-FD0E-A5EF-D414-F0DF398E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DFA8E24-8E41-E68B-8417-D2D12162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B2F4638-9B07-7346-1486-E4326AEA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0945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7686489-0A38-6B18-E44F-1306CDC26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926D9D0-C472-AF49-A994-96BFE862B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5AA1FE2F-262F-438B-15FA-A7529EBD0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1A1E1E0-7317-23DD-F29D-8E609D82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82EE78A1-FAB4-67A6-BA3E-38212A02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8AE9128-F0BB-87C3-1E2C-441C0648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033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EEC0A1-5C0F-C0C3-72F6-1E69C092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2D85030-A7F1-3F67-3438-2825689F5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3019C8F-E422-80C3-32D2-00304169D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3F78E4C4-C17C-1E52-42A1-735F5DBEE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9BA373D7-0094-061D-0394-3C0624A05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B4378FAE-7C60-5292-7AD2-64267594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B5BC290-A436-208F-84B3-D2EFC046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DACB792D-7D43-FFDE-3EFA-8F4C68B2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025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AF567D-31FF-BCD8-EE9C-9BFCE00A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96771D5-E556-0039-98C8-2918E119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CA8846DD-538C-53AF-2B17-9CB75578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2D6A27F-4741-DB38-C2F2-D1B9D0EE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295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0BDEDE0B-E4E0-1D9D-D963-CEDC9879B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E838C3E4-BB8C-2DE4-CAE4-CA396DA8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03247622-1007-1FD7-CC18-866980C4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4793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1329CC-3554-28B9-D92E-B01EF1BD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377088C-0D97-6CC1-5A79-ACDB8C6C0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973F703-C1DB-C1E3-78BA-C86F34762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C366359-FC0F-8FE9-489D-AF39FADE0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8F0DBA8-5200-A655-A338-1FAECEBB6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061B220-5415-FFB7-D8D3-5B40FB78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8107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483293-A1B5-35C7-855B-AEB181FE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123D5D53-3F9A-00E2-6811-C23F5A8AB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FCBEFBC-14D6-CAD3-70E2-4EF9788E8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A61A22B-FD5C-C6BE-CE9E-2771BE6C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89BA3584-C8A8-F01B-2BC1-6AAD1C9B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7C7728B4-441C-2A6E-C70B-F42B8359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872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E9B49D5-63BA-3050-3BEA-93989297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89290E5-0D01-F978-F052-8BFFD00FD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0A981EA-CC2A-685E-060F-73DC2643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E3FE263-90E8-4689-07DB-4E3285FE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870F593-93AF-E6EA-45F0-37A3BCB6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7260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EA70EE94-4ED5-0411-7AA6-0A4CF3021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460E29B0-72BC-99E3-D403-F1567A198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3A7BEC-4C89-25E9-1314-8FEDCCDA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48E7484-DCA0-AF6A-3C65-ADF01696A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AF370F3-4916-006D-7893-FEF116FB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4085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B61F59E1-897E-FB79-00B0-B2206ACA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E2E57D8-7B75-F7ED-1A50-FE634F7C8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AFF0069-8F25-1DD2-C973-136F7E86B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7554B-AC93-174A-87DA-3D6A178D0B66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428565D-AE6F-63E2-4752-CD3FA70AF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57639BE-196A-172E-0348-D33EBB8A3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799A9-E107-D54B-AA45-E886F7BFF66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413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C0AF-03BE-0947-E2A8-1D0A2C4B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B604598E-1F1A-CE96-1510-510DBCB6352A}"/>
              </a:ext>
            </a:extLst>
          </p:cNvPr>
          <p:cNvSpPr txBox="1">
            <a:spLocks/>
          </p:cNvSpPr>
          <p:nvPr/>
        </p:nvSpPr>
        <p:spPr>
          <a:xfrm>
            <a:off x="411126" y="1041400"/>
            <a:ext cx="1156310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sz="8000" dirty="0" err="1">
                <a:latin typeface="Palatino" pitchFamily="2" charset="77"/>
                <a:ea typeface="Palatino" pitchFamily="2" charset="77"/>
              </a:rPr>
              <a:t>Multivariate</a:t>
            </a:r>
            <a:r>
              <a:rPr lang="nb-NO" sz="80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8000" dirty="0" err="1">
                <a:latin typeface="Palatino" pitchFamily="2" charset="77"/>
                <a:ea typeface="Palatino" pitchFamily="2" charset="77"/>
              </a:rPr>
              <a:t>models</a:t>
            </a:r>
            <a:endParaRPr lang="nb-NO" sz="80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0610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DF8DBD-1FA2-F7BC-367F-C1D2DA2159A3}"/>
              </a:ext>
            </a:extLst>
          </p:cNvPr>
          <p:cNvSpPr txBox="1"/>
          <p:nvPr/>
        </p:nvSpPr>
        <p:spPr>
          <a:xfrm>
            <a:off x="0" y="-435866"/>
            <a:ext cx="1219199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0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endParaRPr lang="en-US" sz="26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r>
              <a:rPr lang="en-US" sz="3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Multivariate Ornstein-</a:t>
            </a:r>
            <a:r>
              <a:rPr lang="en-US" sz="38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US" sz="3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models 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(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Bartoszek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et al. 2012; 2024; Reitan et al. 2012;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Clavel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et al. 2015; Voje 2023) </a:t>
            </a:r>
          </a:p>
        </p:txBody>
      </p:sp>
    </p:spTree>
    <p:extLst>
      <p:ext uri="{BB962C8B-B14F-4D97-AF65-F5344CB8AC3E}">
        <p14:creationId xmlns:p14="http://schemas.microsoft.com/office/powerpoint/2010/main" val="189285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4589-1BA4-B6D0-519A-8D147917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91F32-B2B1-60FD-A62F-A36A6D39A439}"/>
              </a:ext>
            </a:extLst>
          </p:cNvPr>
          <p:cNvSpPr txBox="1"/>
          <p:nvPr/>
        </p:nvSpPr>
        <p:spPr>
          <a:xfrm>
            <a:off x="0" y="-435866"/>
            <a:ext cx="1219199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0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endParaRPr lang="en-US" sz="26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r>
              <a:rPr lang="en-US" sz="3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Multivariate Ornstein-</a:t>
            </a:r>
            <a:r>
              <a:rPr lang="en-US" sz="38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US" sz="3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models 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(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Bartoszek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et al. 2012; 2024; Reitan et al. 2012;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Clavel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et al. 2015; Voje 2023) </a:t>
            </a:r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0BFC8E00-04D4-8932-389E-F07CF413A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49" y="2004594"/>
            <a:ext cx="60579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13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7EE0B-6259-3F4B-2437-D3D3D0D7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A72EB-A0EA-F6E0-C3ED-63982495B786}"/>
              </a:ext>
            </a:extLst>
          </p:cNvPr>
          <p:cNvSpPr txBox="1"/>
          <p:nvPr/>
        </p:nvSpPr>
        <p:spPr>
          <a:xfrm>
            <a:off x="0" y="-435866"/>
            <a:ext cx="1219199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0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endParaRPr lang="en-US" sz="26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r>
              <a:rPr lang="en-US" sz="3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Multivariate Ornstein-</a:t>
            </a:r>
            <a:r>
              <a:rPr lang="en-US" sz="38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US" sz="3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models 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  <a:p>
            <a:pPr algn="ctr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(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Bartoszek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et al. 2012; 2024; Reitan et al. 2012; </a:t>
            </a:r>
            <a:r>
              <a:rPr lang="en-US"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Clavel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et al. 2015; Voje 2023) </a:t>
            </a:r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3137693E-02F4-05D2-6C3B-C194A194D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49" y="2004594"/>
            <a:ext cx="6057900" cy="1016000"/>
          </a:xfrm>
          <a:prstGeom prst="rect">
            <a:avLst/>
          </a:prstGeom>
        </p:spPr>
      </p:pic>
      <p:pic>
        <p:nvPicPr>
          <p:cNvPr id="3" name="Bilde 2">
            <a:extLst>
              <a:ext uri="{FF2B5EF4-FFF2-40B4-BE49-F238E27FC236}">
                <a16:creationId xmlns:a16="http://schemas.microsoft.com/office/drawing/2014/main" id="{9488E534-8662-2F27-F74C-FF47004A9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381" y="3253358"/>
            <a:ext cx="5907238" cy="1168098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33C1AF39-CF1C-6B8B-A05A-952EE94BB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1" y="4626510"/>
            <a:ext cx="11524310" cy="149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42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ADA2-8AD5-AFBE-54BB-171BCA26F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83784743-A3DC-A0AC-BA51-524FE1C03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241300"/>
            <a:ext cx="6057900" cy="1016000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A098547D-B4A5-7025-6C17-B2E2C2D76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04" y="1838999"/>
            <a:ext cx="4546600" cy="4553981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2E7234FA-E7EF-4F10-3E8B-1BC9A5E74C94}"/>
              </a:ext>
            </a:extLst>
          </p:cNvPr>
          <p:cNvSpPr/>
          <p:nvPr/>
        </p:nvSpPr>
        <p:spPr>
          <a:xfrm>
            <a:off x="4419600" y="406400"/>
            <a:ext cx="419100" cy="5334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3" name="Rett linje 2">
            <a:extLst>
              <a:ext uri="{FF2B5EF4-FFF2-40B4-BE49-F238E27FC236}">
                <a16:creationId xmlns:a16="http://schemas.microsoft.com/office/drawing/2014/main" id="{70CD9BD0-BEAB-AAAE-8401-60D408622E96}"/>
              </a:ext>
            </a:extLst>
          </p:cNvPr>
          <p:cNvCxnSpPr/>
          <p:nvPr/>
        </p:nvCxnSpPr>
        <p:spPr>
          <a:xfrm>
            <a:off x="6134100" y="1257300"/>
            <a:ext cx="0" cy="513568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92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44BD-574E-A837-A3F7-E379F355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2241660A-EE17-1337-3AA0-510AF7DD0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241300"/>
            <a:ext cx="6057900" cy="1016000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33FBC7F3-EB80-3259-BD9C-6D59FD3F1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04" y="1838999"/>
            <a:ext cx="4546600" cy="4553981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61DED8B0-8773-4A17-41F2-945923C8D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673" y="1875790"/>
            <a:ext cx="4546600" cy="2087799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A134A668-7864-0DDB-8A95-118E729C22A8}"/>
              </a:ext>
            </a:extLst>
          </p:cNvPr>
          <p:cNvSpPr/>
          <p:nvPr/>
        </p:nvSpPr>
        <p:spPr>
          <a:xfrm>
            <a:off x="7531100" y="406400"/>
            <a:ext cx="419100" cy="5334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3" name="Rett linje 2">
            <a:extLst>
              <a:ext uri="{FF2B5EF4-FFF2-40B4-BE49-F238E27FC236}">
                <a16:creationId xmlns:a16="http://schemas.microsoft.com/office/drawing/2014/main" id="{D8FBE903-05D0-D515-A156-2C6011D9680C}"/>
              </a:ext>
            </a:extLst>
          </p:cNvPr>
          <p:cNvCxnSpPr/>
          <p:nvPr/>
        </p:nvCxnSpPr>
        <p:spPr>
          <a:xfrm>
            <a:off x="6134100" y="1257300"/>
            <a:ext cx="0" cy="513568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651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09C833-BB83-B6E7-41C3-9886B2779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39" y="1545449"/>
            <a:ext cx="7978722" cy="4654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F08DA-4944-CBF0-51F5-F54001C58C70}"/>
              </a:ext>
            </a:extLst>
          </p:cNvPr>
          <p:cNvSpPr txBox="1"/>
          <p:nvPr/>
        </p:nvSpPr>
        <p:spPr>
          <a:xfrm>
            <a:off x="165100" y="625475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Two traits evolving independently and uncorrelated</a:t>
            </a:r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8F0500C2-8E6B-B156-3097-4F541D3F01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407"/>
          <a:stretch/>
        </p:blipFill>
        <p:spPr>
          <a:xfrm>
            <a:off x="203200" y="317500"/>
            <a:ext cx="1308100" cy="1016000"/>
          </a:xfrm>
          <a:prstGeom prst="rect">
            <a:avLst/>
          </a:prstGeom>
        </p:spPr>
      </p:pic>
      <p:pic>
        <p:nvPicPr>
          <p:cNvPr id="3" name="Bilde 2">
            <a:extLst>
              <a:ext uri="{FF2B5EF4-FFF2-40B4-BE49-F238E27FC236}">
                <a16:creationId xmlns:a16="http://schemas.microsoft.com/office/drawing/2014/main" id="{3320E3E7-B440-09D6-BADD-D5B6A7D928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7" r="50670" b="-337"/>
          <a:stretch/>
        </p:blipFill>
        <p:spPr>
          <a:xfrm>
            <a:off x="9607532" y="49250"/>
            <a:ext cx="2242827" cy="2087799"/>
          </a:xfrm>
          <a:prstGeom prst="rect">
            <a:avLst/>
          </a:prstGeom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2A754429-4D4B-A0D4-B300-F27A35C42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49"/>
          <a:stretch/>
        </p:blipFill>
        <p:spPr>
          <a:xfrm>
            <a:off x="1574800" y="334447"/>
            <a:ext cx="1541773" cy="1016000"/>
          </a:xfrm>
          <a:prstGeom prst="rect">
            <a:avLst/>
          </a:prstGeom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BB957211-E1A3-3E29-542F-9B9C1898D257}"/>
              </a:ext>
            </a:extLst>
          </p:cNvPr>
          <p:cNvSpPr/>
          <p:nvPr/>
        </p:nvSpPr>
        <p:spPr>
          <a:xfrm>
            <a:off x="3733800" y="-114300"/>
            <a:ext cx="571500" cy="51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FBF9312-EAD4-ED96-77C2-117D63607BD0}"/>
              </a:ext>
            </a:extLst>
          </p:cNvPr>
          <p:cNvSpPr/>
          <p:nvPr/>
        </p:nvSpPr>
        <p:spPr>
          <a:xfrm>
            <a:off x="9512300" y="-144875"/>
            <a:ext cx="571500" cy="51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B1D67CCF-A0ED-3C08-70AE-2B583AFE9666}"/>
              </a:ext>
            </a:extLst>
          </p:cNvPr>
          <p:cNvSpPr txBox="1"/>
          <p:nvPr/>
        </p:nvSpPr>
        <p:spPr>
          <a:xfrm>
            <a:off x="8857121" y="952252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i="1" dirty="0">
                <a:latin typeface="Helvetica" pitchFamily="2" charset="0"/>
              </a:rPr>
              <a:t>R = </a:t>
            </a:r>
          </a:p>
        </p:txBody>
      </p:sp>
    </p:spTree>
    <p:extLst>
      <p:ext uri="{BB962C8B-B14F-4D97-AF65-F5344CB8AC3E}">
        <p14:creationId xmlns:p14="http://schemas.microsoft.com/office/powerpoint/2010/main" val="322735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463D-53BA-5ABA-852A-6BA35CA1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965833-12BC-5822-EB87-3DE045FBBDBA}"/>
              </a:ext>
            </a:extLst>
          </p:cNvPr>
          <p:cNvSpPr txBox="1"/>
          <p:nvPr/>
        </p:nvSpPr>
        <p:spPr>
          <a:xfrm>
            <a:off x="165100" y="625475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Two traits showing correlated evolution </a:t>
            </a:r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736F7FBC-2B3B-A9D9-E96A-10769438C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407"/>
          <a:stretch/>
        </p:blipFill>
        <p:spPr>
          <a:xfrm>
            <a:off x="203200" y="317500"/>
            <a:ext cx="1308100" cy="1016000"/>
          </a:xfrm>
          <a:prstGeom prst="rect">
            <a:avLst/>
          </a:prstGeom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90F75757-35C3-A2D8-31CF-4B621A5DF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549"/>
          <a:stretch/>
        </p:blipFill>
        <p:spPr>
          <a:xfrm>
            <a:off x="1574800" y="334447"/>
            <a:ext cx="1541773" cy="1016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CFC21C-CB63-9AB2-A939-54278B3A6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7438" y="1600496"/>
            <a:ext cx="7978724" cy="4654256"/>
          </a:xfr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0CC7D442-C76E-2538-CDE5-5E8BD577C6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86"/>
          <a:stretch/>
        </p:blipFill>
        <p:spPr>
          <a:xfrm>
            <a:off x="9326873" y="0"/>
            <a:ext cx="2387600" cy="2087799"/>
          </a:xfrm>
          <a:prstGeom prst="rect">
            <a:avLst/>
          </a:prstGeom>
        </p:spPr>
      </p:pic>
      <p:sp>
        <p:nvSpPr>
          <p:cNvPr id="11" name="Rektangel 10">
            <a:extLst>
              <a:ext uri="{FF2B5EF4-FFF2-40B4-BE49-F238E27FC236}">
                <a16:creationId xmlns:a16="http://schemas.microsoft.com/office/drawing/2014/main" id="{7CEEA72D-554E-2DA2-BBA5-A757BBE0F2CD}"/>
              </a:ext>
            </a:extLst>
          </p:cNvPr>
          <p:cNvSpPr/>
          <p:nvPr/>
        </p:nvSpPr>
        <p:spPr>
          <a:xfrm>
            <a:off x="9512300" y="-144875"/>
            <a:ext cx="571500" cy="51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DC76844F-3407-28C0-2C1B-C7605054A4A3}"/>
              </a:ext>
            </a:extLst>
          </p:cNvPr>
          <p:cNvSpPr txBox="1"/>
          <p:nvPr/>
        </p:nvSpPr>
        <p:spPr>
          <a:xfrm>
            <a:off x="8857121" y="952252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i="1" dirty="0">
                <a:latin typeface="Helvetica" pitchFamily="2" charset="0"/>
              </a:rPr>
              <a:t>R = </a:t>
            </a:r>
          </a:p>
        </p:txBody>
      </p:sp>
    </p:spTree>
    <p:extLst>
      <p:ext uri="{BB962C8B-B14F-4D97-AF65-F5344CB8AC3E}">
        <p14:creationId xmlns:p14="http://schemas.microsoft.com/office/powerpoint/2010/main" val="3473292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58EF7F-2F40-4C69-37C3-A4FD12B5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39" y="1463198"/>
            <a:ext cx="7978722" cy="4654255"/>
          </a:xfrm>
          <a:prstGeom prst="rect">
            <a:avLst/>
          </a:prstGeom>
        </p:spPr>
      </p:pic>
      <p:pic>
        <p:nvPicPr>
          <p:cNvPr id="2" name="Bilde 1">
            <a:extLst>
              <a:ext uri="{FF2B5EF4-FFF2-40B4-BE49-F238E27FC236}">
                <a16:creationId xmlns:a16="http://schemas.microsoft.com/office/drawing/2014/main" id="{186A3312-AB8C-F52F-C1AF-9617827FA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407"/>
          <a:stretch/>
        </p:blipFill>
        <p:spPr>
          <a:xfrm>
            <a:off x="203200" y="317500"/>
            <a:ext cx="1308100" cy="1016000"/>
          </a:xfrm>
          <a:prstGeom prst="rect">
            <a:avLst/>
          </a:prstGeom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B20871D4-6F4F-4DD6-766A-04BA5C4FA7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86"/>
          <a:stretch/>
        </p:blipFill>
        <p:spPr>
          <a:xfrm>
            <a:off x="9720573" y="0"/>
            <a:ext cx="2387600" cy="2087799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F6AC2847-F9AA-90E4-030E-75240D76D811}"/>
              </a:ext>
            </a:extLst>
          </p:cNvPr>
          <p:cNvSpPr txBox="1"/>
          <p:nvPr/>
        </p:nvSpPr>
        <p:spPr>
          <a:xfrm>
            <a:off x="9250821" y="952252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i="1" dirty="0">
                <a:latin typeface="Helvetica" pitchFamily="2" charset="0"/>
              </a:rPr>
              <a:t>R = 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19FE37CF-6B18-5873-18A8-AF76EB0CD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30" y="431552"/>
            <a:ext cx="6057900" cy="1016000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FEE606D7-F124-8809-EF0E-0A625AA09A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7139" b="57004"/>
          <a:stretch/>
        </p:blipFill>
        <p:spPr>
          <a:xfrm>
            <a:off x="7176553" y="-78385"/>
            <a:ext cx="1948681" cy="1957986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9C42A9CC-DA44-4194-BD7B-DC441D3D266C}"/>
              </a:ext>
            </a:extLst>
          </p:cNvPr>
          <p:cNvSpPr txBox="1"/>
          <p:nvPr/>
        </p:nvSpPr>
        <p:spPr>
          <a:xfrm>
            <a:off x="0" y="5799953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Two traits adapting independently towards separate optima, showing correlated evolution in the non-adaptive part of the trait dynamics. 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8B99E293-D10B-86D3-8292-DD31836E19EC}"/>
              </a:ext>
            </a:extLst>
          </p:cNvPr>
          <p:cNvSpPr txBox="1"/>
          <p:nvPr/>
        </p:nvSpPr>
        <p:spPr>
          <a:xfrm>
            <a:off x="6494444" y="952252"/>
            <a:ext cx="812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i="1" dirty="0">
                <a:latin typeface="Helvetica" pitchFamily="2" charset="0"/>
              </a:rPr>
              <a:t>A = 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1F50E878-3BE4-495F-5B02-89E0A939A368}"/>
              </a:ext>
            </a:extLst>
          </p:cNvPr>
          <p:cNvSpPr/>
          <p:nvPr/>
        </p:nvSpPr>
        <p:spPr>
          <a:xfrm>
            <a:off x="7188200" y="-52985"/>
            <a:ext cx="512602" cy="408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9ED2723B-2F51-F7AC-1D03-4BA29E086631}"/>
              </a:ext>
            </a:extLst>
          </p:cNvPr>
          <p:cNvSpPr/>
          <p:nvPr/>
        </p:nvSpPr>
        <p:spPr>
          <a:xfrm>
            <a:off x="9885739" y="-29182"/>
            <a:ext cx="512602" cy="408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64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8B87-0DA1-32E2-799F-0C9B5DD7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DC1997-E8FD-5783-6505-6D855C41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39" y="1463198"/>
            <a:ext cx="7978722" cy="4654255"/>
          </a:xfrm>
          <a:prstGeom prst="rect">
            <a:avLst/>
          </a:prstGeom>
        </p:spPr>
      </p:pic>
      <p:pic>
        <p:nvPicPr>
          <p:cNvPr id="2" name="Bilde 1">
            <a:extLst>
              <a:ext uri="{FF2B5EF4-FFF2-40B4-BE49-F238E27FC236}">
                <a16:creationId xmlns:a16="http://schemas.microsoft.com/office/drawing/2014/main" id="{E2FBFFBB-AEC9-9589-94D6-CC4017C52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407"/>
          <a:stretch/>
        </p:blipFill>
        <p:spPr>
          <a:xfrm>
            <a:off x="203200" y="317500"/>
            <a:ext cx="1308100" cy="1016000"/>
          </a:xfrm>
          <a:prstGeom prst="rect">
            <a:avLst/>
          </a:prstGeom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90CBE669-F2CD-B3A0-3DED-D5992609C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86"/>
          <a:stretch/>
        </p:blipFill>
        <p:spPr>
          <a:xfrm>
            <a:off x="9720573" y="0"/>
            <a:ext cx="2387600" cy="2087799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0B11E616-3068-1661-49B1-DA627C0B63C4}"/>
              </a:ext>
            </a:extLst>
          </p:cNvPr>
          <p:cNvSpPr txBox="1"/>
          <p:nvPr/>
        </p:nvSpPr>
        <p:spPr>
          <a:xfrm>
            <a:off x="9250821" y="952252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i="1" dirty="0">
                <a:latin typeface="Helvetica" pitchFamily="2" charset="0"/>
              </a:rPr>
              <a:t>R = 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EEC545EC-15EA-7781-725B-3C2678766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30" y="431552"/>
            <a:ext cx="6057900" cy="1016000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D54DB693-DD0C-9FE8-6CE9-371BF56D48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139" t="-1721" b="58725"/>
          <a:stretch/>
        </p:blipFill>
        <p:spPr>
          <a:xfrm>
            <a:off x="7074953" y="-91085"/>
            <a:ext cx="1948681" cy="1957986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C9F69971-9150-DD82-E522-B3ADD74DCCC4}"/>
              </a:ext>
            </a:extLst>
          </p:cNvPr>
          <p:cNvSpPr txBox="1"/>
          <p:nvPr/>
        </p:nvSpPr>
        <p:spPr>
          <a:xfrm>
            <a:off x="0" y="5799953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One trait affecting the optimum of the other trait, while no correlated evolution in the non-adaptive part of the trait dynamics. 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11C4AEFD-35BF-3B97-07D2-BFAAADF31CBB}"/>
              </a:ext>
            </a:extLst>
          </p:cNvPr>
          <p:cNvSpPr txBox="1"/>
          <p:nvPr/>
        </p:nvSpPr>
        <p:spPr>
          <a:xfrm>
            <a:off x="6494444" y="952252"/>
            <a:ext cx="812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i="1" dirty="0">
                <a:latin typeface="Helvetica" pitchFamily="2" charset="0"/>
              </a:rPr>
              <a:t>A = 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928D9620-4242-6925-445F-B11CE2BC82FE}"/>
              </a:ext>
            </a:extLst>
          </p:cNvPr>
          <p:cNvSpPr/>
          <p:nvPr/>
        </p:nvSpPr>
        <p:spPr>
          <a:xfrm>
            <a:off x="6807200" y="-52985"/>
            <a:ext cx="512602" cy="408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3D992E86-57B1-95AB-F515-222553FFCA1B}"/>
              </a:ext>
            </a:extLst>
          </p:cNvPr>
          <p:cNvSpPr/>
          <p:nvPr/>
        </p:nvSpPr>
        <p:spPr>
          <a:xfrm>
            <a:off x="9847639" y="-29182"/>
            <a:ext cx="512602" cy="408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188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6E4877-B893-4846-8023-1806D5F1F96A}"/>
              </a:ext>
            </a:extLst>
          </p:cNvPr>
          <p:cNvCxnSpPr/>
          <p:nvPr/>
        </p:nvCxnSpPr>
        <p:spPr>
          <a:xfrm>
            <a:off x="1677988" y="4656693"/>
            <a:ext cx="609441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F82076-7A14-3271-7987-723DE48FEB0A}"/>
              </a:ext>
            </a:extLst>
          </p:cNvPr>
          <p:cNvCxnSpPr/>
          <p:nvPr/>
        </p:nvCxnSpPr>
        <p:spPr>
          <a:xfrm rot="5400000" flipH="1" flipV="1">
            <a:off x="-500340" y="2481541"/>
            <a:ext cx="435506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10">
            <a:extLst>
              <a:ext uri="{FF2B5EF4-FFF2-40B4-BE49-F238E27FC236}">
                <a16:creationId xmlns:a16="http://schemas.microsoft.com/office/drawing/2014/main" id="{25E41E99-560E-173F-2461-1EE7332B2760}"/>
              </a:ext>
            </a:extLst>
          </p:cNvPr>
          <p:cNvSpPr>
            <a:spLocks noChangeAspect="1"/>
          </p:cNvSpPr>
          <p:nvPr/>
        </p:nvSpPr>
        <p:spPr>
          <a:xfrm>
            <a:off x="5791199" y="18288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6130BE9B-4A4F-F16C-6371-256304B96C34}"/>
              </a:ext>
            </a:extLst>
          </p:cNvPr>
          <p:cNvSpPr>
            <a:spLocks noChangeAspect="1"/>
          </p:cNvSpPr>
          <p:nvPr/>
        </p:nvSpPr>
        <p:spPr>
          <a:xfrm>
            <a:off x="5054599" y="23317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306A4481-4114-4A06-3918-C2AEEF5C8A6A}"/>
              </a:ext>
            </a:extLst>
          </p:cNvPr>
          <p:cNvSpPr>
            <a:spLocks noChangeAspect="1"/>
          </p:cNvSpPr>
          <p:nvPr/>
        </p:nvSpPr>
        <p:spPr>
          <a:xfrm>
            <a:off x="4343399" y="28194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88A8ED2C-23C4-FB01-3AF2-266E7B284857}"/>
              </a:ext>
            </a:extLst>
          </p:cNvPr>
          <p:cNvSpPr>
            <a:spLocks noChangeAspect="1"/>
          </p:cNvSpPr>
          <p:nvPr/>
        </p:nvSpPr>
        <p:spPr>
          <a:xfrm>
            <a:off x="3568699" y="33604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0FE26F3D-CB93-5414-7D85-D6D2E342CA94}"/>
              </a:ext>
            </a:extLst>
          </p:cNvPr>
          <p:cNvSpPr txBox="1"/>
          <p:nvPr/>
        </p:nvSpPr>
        <p:spPr>
          <a:xfrm rot="16200000">
            <a:off x="-774859" y="2268083"/>
            <a:ext cx="43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Neck</a:t>
            </a:r>
            <a:r>
              <a:rPr lang="nb-NO" sz="2200" dirty="0">
                <a:latin typeface="Palatino" pitchFamily="2" charset="77"/>
                <a:ea typeface="Palatino" pitchFamily="2" charset="77"/>
                <a:cs typeface="Gill Sans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length</a:t>
            </a:r>
            <a:endParaRPr lang="nb-NO" sz="2200" dirty="0">
              <a:latin typeface="Palatino" pitchFamily="2" charset="77"/>
              <a:ea typeface="Palatino" pitchFamily="2" charset="77"/>
              <a:cs typeface="Gill Sans"/>
            </a:endParaRP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93A9AC28-CF67-B57B-A042-E03209018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98129" y="5638800"/>
            <a:ext cx="89073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8">
            <a:extLst>
              <a:ext uri="{FF2B5EF4-FFF2-40B4-BE49-F238E27FC236}">
                <a16:creationId xmlns:a16="http://schemas.microsoft.com/office/drawing/2014/main" id="{BD30938A-0624-332A-08CC-944884313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flipH="1">
            <a:off x="685800" y="5773706"/>
            <a:ext cx="245638" cy="68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20">
            <a:extLst>
              <a:ext uri="{FF2B5EF4-FFF2-40B4-BE49-F238E27FC236}">
                <a16:creationId xmlns:a16="http://schemas.microsoft.com/office/drawing/2014/main" id="{986C207B-867A-9F49-7B6A-AA151B973FFE}"/>
              </a:ext>
            </a:extLst>
          </p:cNvPr>
          <p:cNvSpPr txBox="1"/>
          <p:nvPr/>
        </p:nvSpPr>
        <p:spPr>
          <a:xfrm>
            <a:off x="1676399" y="4736069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>
                <a:latin typeface="Palatino" pitchFamily="2" charset="77"/>
                <a:ea typeface="Palatino" pitchFamily="2" charset="77"/>
              </a:rPr>
              <a:t>     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Height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of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trees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67A86A51-DFAA-F941-5DE5-EC75ADF6033E}"/>
              </a:ext>
            </a:extLst>
          </p:cNvPr>
          <p:cNvCxnSpPr/>
          <p:nvPr/>
        </p:nvCxnSpPr>
        <p:spPr>
          <a:xfrm flipV="1">
            <a:off x="2514599" y="1173203"/>
            <a:ext cx="4361917" cy="301779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9">
            <a:extLst>
              <a:ext uri="{FF2B5EF4-FFF2-40B4-BE49-F238E27FC236}">
                <a16:creationId xmlns:a16="http://schemas.microsoft.com/office/drawing/2014/main" id="{9A425F49-D333-01DC-29BD-72EE288F234F}"/>
              </a:ext>
            </a:extLst>
          </p:cNvPr>
          <p:cNvSpPr txBox="1"/>
          <p:nvPr/>
        </p:nvSpPr>
        <p:spPr>
          <a:xfrm>
            <a:off x="6876516" y="304800"/>
            <a:ext cx="257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>
                <a:latin typeface="Palatino" pitchFamily="2" charset="77"/>
                <a:ea typeface="Palatino" pitchFamily="2" charset="77"/>
              </a:rPr>
              <a:t>Optimal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7F72D7E2-2008-A5D9-7172-0E11DB7E9771}"/>
              </a:ext>
            </a:extLst>
          </p:cNvPr>
          <p:cNvCxnSpPr/>
          <p:nvPr/>
        </p:nvCxnSpPr>
        <p:spPr>
          <a:xfrm rot="5400000">
            <a:off x="6871740" y="718057"/>
            <a:ext cx="411203" cy="2862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026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B816BD-A5CD-36F8-18FC-3D257EF77FB6}"/>
              </a:ext>
            </a:extLst>
          </p:cNvPr>
          <p:cNvCxnSpPr/>
          <p:nvPr/>
        </p:nvCxnSpPr>
        <p:spPr>
          <a:xfrm>
            <a:off x="1677988" y="4656693"/>
            <a:ext cx="609441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E0F61E-60C8-A0D2-1145-0C7585272372}"/>
              </a:ext>
            </a:extLst>
          </p:cNvPr>
          <p:cNvCxnSpPr/>
          <p:nvPr/>
        </p:nvCxnSpPr>
        <p:spPr>
          <a:xfrm rot="5400000" flipH="1" flipV="1">
            <a:off x="-500340" y="2481541"/>
            <a:ext cx="435506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10">
            <a:extLst>
              <a:ext uri="{FF2B5EF4-FFF2-40B4-BE49-F238E27FC236}">
                <a16:creationId xmlns:a16="http://schemas.microsoft.com/office/drawing/2014/main" id="{4AA317B4-DF94-2235-2C66-4B31E2E66B4D}"/>
              </a:ext>
            </a:extLst>
          </p:cNvPr>
          <p:cNvSpPr>
            <a:spLocks noChangeAspect="1"/>
          </p:cNvSpPr>
          <p:nvPr/>
        </p:nvSpPr>
        <p:spPr>
          <a:xfrm>
            <a:off x="6662420" y="18288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E34DA103-A085-21F0-329D-0DFD60D23E58}"/>
              </a:ext>
            </a:extLst>
          </p:cNvPr>
          <p:cNvSpPr>
            <a:spLocks noChangeAspect="1"/>
          </p:cNvSpPr>
          <p:nvPr/>
        </p:nvSpPr>
        <p:spPr>
          <a:xfrm>
            <a:off x="4038600" y="23622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42B0602D-F0A5-4974-968D-D820CA32C74D}"/>
              </a:ext>
            </a:extLst>
          </p:cNvPr>
          <p:cNvSpPr>
            <a:spLocks noChangeAspect="1"/>
          </p:cNvSpPr>
          <p:nvPr/>
        </p:nvSpPr>
        <p:spPr>
          <a:xfrm>
            <a:off x="5074920" y="28194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1435C2FA-1E0C-D74E-8787-836CC4282042}"/>
              </a:ext>
            </a:extLst>
          </p:cNvPr>
          <p:cNvSpPr>
            <a:spLocks noChangeAspect="1"/>
          </p:cNvSpPr>
          <p:nvPr/>
        </p:nvSpPr>
        <p:spPr>
          <a:xfrm>
            <a:off x="2590800" y="33604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Straight Connector 17">
            <a:extLst>
              <a:ext uri="{FF2B5EF4-FFF2-40B4-BE49-F238E27FC236}">
                <a16:creationId xmlns:a16="http://schemas.microsoft.com/office/drawing/2014/main" id="{3B412258-36DF-248B-9441-1BB4928861AE}"/>
              </a:ext>
            </a:extLst>
          </p:cNvPr>
          <p:cNvCxnSpPr/>
          <p:nvPr/>
        </p:nvCxnSpPr>
        <p:spPr>
          <a:xfrm flipH="1">
            <a:off x="2654300" y="3390901"/>
            <a:ext cx="1044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824AE9BC-093D-8481-A8B9-E15F931145D9}"/>
              </a:ext>
            </a:extLst>
          </p:cNvPr>
          <p:cNvCxnSpPr/>
          <p:nvPr/>
        </p:nvCxnSpPr>
        <p:spPr>
          <a:xfrm rot="10800000">
            <a:off x="4406901" y="2881392"/>
            <a:ext cx="64769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0">
            <a:extLst>
              <a:ext uri="{FF2B5EF4-FFF2-40B4-BE49-F238E27FC236}">
                <a16:creationId xmlns:a16="http://schemas.microsoft.com/office/drawing/2014/main" id="{1035C9EB-C68F-F397-5B64-3B56741EE377}"/>
              </a:ext>
            </a:extLst>
          </p:cNvPr>
          <p:cNvCxnSpPr/>
          <p:nvPr/>
        </p:nvCxnSpPr>
        <p:spPr>
          <a:xfrm flipH="1">
            <a:off x="4133400" y="2387601"/>
            <a:ext cx="972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1">
            <a:extLst>
              <a:ext uri="{FF2B5EF4-FFF2-40B4-BE49-F238E27FC236}">
                <a16:creationId xmlns:a16="http://schemas.microsoft.com/office/drawing/2014/main" id="{B586CC75-707C-C3DF-4DF3-4FCCE30C9FA0}"/>
              </a:ext>
            </a:extLst>
          </p:cNvPr>
          <p:cNvCxnSpPr/>
          <p:nvPr/>
        </p:nvCxnSpPr>
        <p:spPr>
          <a:xfrm rot="10800000">
            <a:off x="5897881" y="1890713"/>
            <a:ext cx="80771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D9FFA0A1-5AC6-724D-59EA-4E74E1731913}"/>
              </a:ext>
            </a:extLst>
          </p:cNvPr>
          <p:cNvCxnSpPr/>
          <p:nvPr/>
        </p:nvCxnSpPr>
        <p:spPr>
          <a:xfrm rot="5400000">
            <a:off x="6871740" y="718057"/>
            <a:ext cx="411203" cy="2862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2">
            <a:extLst>
              <a:ext uri="{FF2B5EF4-FFF2-40B4-BE49-F238E27FC236}">
                <a16:creationId xmlns:a16="http://schemas.microsoft.com/office/drawing/2014/main" id="{87E74530-391E-4B3A-3D0C-CE2C560D2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flipH="1">
            <a:off x="685800" y="5773706"/>
            <a:ext cx="245638" cy="68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25">
            <a:extLst>
              <a:ext uri="{FF2B5EF4-FFF2-40B4-BE49-F238E27FC236}">
                <a16:creationId xmlns:a16="http://schemas.microsoft.com/office/drawing/2014/main" id="{AA7EA7AA-8B7F-2BCA-A262-975311CA2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0236" y="4953000"/>
            <a:ext cx="886293" cy="1588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Connector 19">
            <a:extLst>
              <a:ext uri="{FF2B5EF4-FFF2-40B4-BE49-F238E27FC236}">
                <a16:creationId xmlns:a16="http://schemas.microsoft.com/office/drawing/2014/main" id="{4280312A-2512-BD89-5AEA-65A9954FF506}"/>
              </a:ext>
            </a:extLst>
          </p:cNvPr>
          <p:cNvCxnSpPr/>
          <p:nvPr/>
        </p:nvCxnSpPr>
        <p:spPr>
          <a:xfrm flipV="1">
            <a:off x="2514599" y="1173203"/>
            <a:ext cx="4361917" cy="301779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14">
            <a:extLst>
              <a:ext uri="{FF2B5EF4-FFF2-40B4-BE49-F238E27FC236}">
                <a16:creationId xmlns:a16="http://schemas.microsoft.com/office/drawing/2014/main" id="{2D008F59-23A1-70A2-6D0F-EF5B24FDC743}"/>
              </a:ext>
            </a:extLst>
          </p:cNvPr>
          <p:cNvSpPr txBox="1"/>
          <p:nvPr/>
        </p:nvSpPr>
        <p:spPr>
          <a:xfrm rot="16200000">
            <a:off x="-774859" y="2268083"/>
            <a:ext cx="43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Neck</a:t>
            </a:r>
            <a:r>
              <a:rPr lang="nb-NO" sz="2200" dirty="0">
                <a:latin typeface="Palatino" pitchFamily="2" charset="77"/>
                <a:ea typeface="Palatino" pitchFamily="2" charset="77"/>
                <a:cs typeface="Gill Sans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length</a:t>
            </a:r>
            <a:endParaRPr lang="nb-NO" sz="2200" dirty="0">
              <a:latin typeface="Palatino" pitchFamily="2" charset="77"/>
              <a:ea typeface="Palatino" pitchFamily="2" charset="77"/>
              <a:cs typeface="Gill Sans"/>
            </a:endParaRP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26140F7-4A05-5E52-5B94-F56B9BE154D9}"/>
              </a:ext>
            </a:extLst>
          </p:cNvPr>
          <p:cNvSpPr txBox="1"/>
          <p:nvPr/>
        </p:nvSpPr>
        <p:spPr>
          <a:xfrm>
            <a:off x="1676399" y="4736069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>
                <a:latin typeface="Palatino" pitchFamily="2" charset="77"/>
                <a:ea typeface="Palatino" pitchFamily="2" charset="77"/>
              </a:rPr>
              <a:t>     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Height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of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trees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31672E13-BE4F-FD9C-550B-5F58FAB3901E}"/>
              </a:ext>
            </a:extLst>
          </p:cNvPr>
          <p:cNvSpPr txBox="1"/>
          <p:nvPr/>
        </p:nvSpPr>
        <p:spPr>
          <a:xfrm>
            <a:off x="6876516" y="304800"/>
            <a:ext cx="257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>
                <a:latin typeface="Palatino" pitchFamily="2" charset="77"/>
                <a:ea typeface="Palatino" pitchFamily="2" charset="77"/>
              </a:rPr>
              <a:t>Optimal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610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FACEF-F2AF-2A71-6CF7-3404EEC4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3">
            <a:extLst>
              <a:ext uri="{FF2B5EF4-FFF2-40B4-BE49-F238E27FC236}">
                <a16:creationId xmlns:a16="http://schemas.microsoft.com/office/drawing/2014/main" id="{924116DB-EBAE-3AAC-A5C5-B2C3FEB9337B}"/>
              </a:ext>
            </a:extLst>
          </p:cNvPr>
          <p:cNvCxnSpPr/>
          <p:nvPr/>
        </p:nvCxnSpPr>
        <p:spPr>
          <a:xfrm>
            <a:off x="1677988" y="4656693"/>
            <a:ext cx="609441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4">
            <a:extLst>
              <a:ext uri="{FF2B5EF4-FFF2-40B4-BE49-F238E27FC236}">
                <a16:creationId xmlns:a16="http://schemas.microsoft.com/office/drawing/2014/main" id="{45C1F0BB-D3D1-EBC9-9956-DA2DFC915223}"/>
              </a:ext>
            </a:extLst>
          </p:cNvPr>
          <p:cNvCxnSpPr/>
          <p:nvPr/>
        </p:nvCxnSpPr>
        <p:spPr>
          <a:xfrm rot="5400000" flipH="1" flipV="1">
            <a:off x="-500340" y="2481541"/>
            <a:ext cx="435506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10">
            <a:extLst>
              <a:ext uri="{FF2B5EF4-FFF2-40B4-BE49-F238E27FC236}">
                <a16:creationId xmlns:a16="http://schemas.microsoft.com/office/drawing/2014/main" id="{14CAD48A-FF11-8C98-0BD9-2397387C0667}"/>
              </a:ext>
            </a:extLst>
          </p:cNvPr>
          <p:cNvSpPr>
            <a:spLocks noChangeAspect="1"/>
          </p:cNvSpPr>
          <p:nvPr/>
        </p:nvSpPr>
        <p:spPr>
          <a:xfrm>
            <a:off x="6662420" y="1231900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4A178132-27FA-0D9D-1A65-45BCC3A72EC2}"/>
              </a:ext>
            </a:extLst>
          </p:cNvPr>
          <p:cNvSpPr>
            <a:spLocks noChangeAspect="1"/>
          </p:cNvSpPr>
          <p:nvPr/>
        </p:nvSpPr>
        <p:spPr>
          <a:xfrm>
            <a:off x="4038600" y="3042920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614C7638-B747-9A52-DCC8-9ADFA1886566}"/>
              </a:ext>
            </a:extLst>
          </p:cNvPr>
          <p:cNvSpPr>
            <a:spLocks noChangeAspect="1"/>
          </p:cNvSpPr>
          <p:nvPr/>
        </p:nvSpPr>
        <p:spPr>
          <a:xfrm>
            <a:off x="5074920" y="2336800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9970DB36-666D-72AF-5043-1CB13555A964}"/>
              </a:ext>
            </a:extLst>
          </p:cNvPr>
          <p:cNvSpPr>
            <a:spLocks noChangeAspect="1"/>
          </p:cNvSpPr>
          <p:nvPr/>
        </p:nvSpPr>
        <p:spPr>
          <a:xfrm>
            <a:off x="2590800" y="4046220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FE7C30D1-0B1C-B810-4554-E96364333D16}"/>
              </a:ext>
            </a:extLst>
          </p:cNvPr>
          <p:cNvCxnSpPr/>
          <p:nvPr/>
        </p:nvCxnSpPr>
        <p:spPr>
          <a:xfrm flipH="1">
            <a:off x="2654300" y="3390901"/>
            <a:ext cx="1044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43E37A77-40C5-13EE-1B49-D05DDA03C2A3}"/>
              </a:ext>
            </a:extLst>
          </p:cNvPr>
          <p:cNvCxnSpPr/>
          <p:nvPr/>
        </p:nvCxnSpPr>
        <p:spPr>
          <a:xfrm rot="10800000">
            <a:off x="4406901" y="2881392"/>
            <a:ext cx="64769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0">
            <a:extLst>
              <a:ext uri="{FF2B5EF4-FFF2-40B4-BE49-F238E27FC236}">
                <a16:creationId xmlns:a16="http://schemas.microsoft.com/office/drawing/2014/main" id="{6D06E5CE-2BB5-C57E-3D2B-EC2D20E386FC}"/>
              </a:ext>
            </a:extLst>
          </p:cNvPr>
          <p:cNvCxnSpPr/>
          <p:nvPr/>
        </p:nvCxnSpPr>
        <p:spPr>
          <a:xfrm flipH="1">
            <a:off x="4133400" y="2387601"/>
            <a:ext cx="972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1">
            <a:extLst>
              <a:ext uri="{FF2B5EF4-FFF2-40B4-BE49-F238E27FC236}">
                <a16:creationId xmlns:a16="http://schemas.microsoft.com/office/drawing/2014/main" id="{D99D5AAF-8762-5834-3728-BB5C34AEB23C}"/>
              </a:ext>
            </a:extLst>
          </p:cNvPr>
          <p:cNvCxnSpPr/>
          <p:nvPr/>
        </p:nvCxnSpPr>
        <p:spPr>
          <a:xfrm rot="10800000">
            <a:off x="5897881" y="1890713"/>
            <a:ext cx="80771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4">
            <a:extLst>
              <a:ext uri="{FF2B5EF4-FFF2-40B4-BE49-F238E27FC236}">
                <a16:creationId xmlns:a16="http://schemas.microsoft.com/office/drawing/2014/main" id="{D7072E1B-264C-508B-41B9-28C497AD9D4E}"/>
              </a:ext>
            </a:extLst>
          </p:cNvPr>
          <p:cNvCxnSpPr>
            <a:endCxn id="7" idx="0"/>
          </p:cNvCxnSpPr>
          <p:nvPr/>
        </p:nvCxnSpPr>
        <p:spPr>
          <a:xfrm rot="16200000" flipH="1">
            <a:off x="2316005" y="3718084"/>
            <a:ext cx="655319" cy="95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6">
            <a:extLst>
              <a:ext uri="{FF2B5EF4-FFF2-40B4-BE49-F238E27FC236}">
                <a16:creationId xmlns:a16="http://schemas.microsoft.com/office/drawing/2014/main" id="{3DDE4295-1068-B623-B3D7-431142DEB40E}"/>
              </a:ext>
            </a:extLst>
          </p:cNvPr>
          <p:cNvCxnSpPr>
            <a:endCxn id="5" idx="0"/>
          </p:cNvCxnSpPr>
          <p:nvPr/>
        </p:nvCxnSpPr>
        <p:spPr>
          <a:xfrm rot="16200000" flipH="1">
            <a:off x="3794760" y="2745739"/>
            <a:ext cx="591819" cy="254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27">
            <a:extLst>
              <a:ext uri="{FF2B5EF4-FFF2-40B4-BE49-F238E27FC236}">
                <a16:creationId xmlns:a16="http://schemas.microsoft.com/office/drawing/2014/main" id="{45ABB175-713F-66AF-9645-3CA1E7FF7561}"/>
              </a:ext>
            </a:extLst>
          </p:cNvPr>
          <p:cNvCxnSpPr>
            <a:stCxn id="6" idx="4"/>
          </p:cNvCxnSpPr>
          <p:nvPr/>
        </p:nvCxnSpPr>
        <p:spPr>
          <a:xfrm rot="16200000" flipH="1">
            <a:off x="4896326" y="2675414"/>
            <a:ext cx="464821" cy="95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28">
            <a:extLst>
              <a:ext uri="{FF2B5EF4-FFF2-40B4-BE49-F238E27FC236}">
                <a16:creationId xmlns:a16="http://schemas.microsoft.com/office/drawing/2014/main" id="{B0014C71-A477-6DA8-3357-30F95618E3C7}"/>
              </a:ext>
            </a:extLst>
          </p:cNvPr>
          <p:cNvCxnSpPr>
            <a:stCxn id="4" idx="4"/>
          </p:cNvCxnSpPr>
          <p:nvPr/>
        </p:nvCxnSpPr>
        <p:spPr>
          <a:xfrm rot="5400000">
            <a:off x="6426676" y="1615916"/>
            <a:ext cx="566421" cy="1174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5">
            <a:extLst>
              <a:ext uri="{FF2B5EF4-FFF2-40B4-BE49-F238E27FC236}">
                <a16:creationId xmlns:a16="http://schemas.microsoft.com/office/drawing/2014/main" id="{C645DB1F-B5A0-5E73-FD1B-96B44DD07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>
            <a:fillRect/>
          </a:stretch>
        </p:blipFill>
        <p:spPr bwMode="auto">
          <a:xfrm flipH="1">
            <a:off x="2012529" y="4764570"/>
            <a:ext cx="609600" cy="169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29">
            <a:extLst>
              <a:ext uri="{FF2B5EF4-FFF2-40B4-BE49-F238E27FC236}">
                <a16:creationId xmlns:a16="http://schemas.microsoft.com/office/drawing/2014/main" id="{6DF92DDC-9705-1C31-E077-38E7776B4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/>
          <a:stretch>
            <a:fillRect/>
          </a:stretch>
        </p:blipFill>
        <p:spPr bwMode="auto">
          <a:xfrm flipH="1">
            <a:off x="685800" y="5773706"/>
            <a:ext cx="245638" cy="68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33">
            <a:extLst>
              <a:ext uri="{FF2B5EF4-FFF2-40B4-BE49-F238E27FC236}">
                <a16:creationId xmlns:a16="http://schemas.microsoft.com/office/drawing/2014/main" id="{9A317DDD-AB32-4531-DCFE-319D20D51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0236" y="4953000"/>
            <a:ext cx="886293" cy="1588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39">
            <a:extLst>
              <a:ext uri="{FF2B5EF4-FFF2-40B4-BE49-F238E27FC236}">
                <a16:creationId xmlns:a16="http://schemas.microsoft.com/office/drawing/2014/main" id="{4FD4EDDE-D2CA-75B9-1191-10111F7CA8E1}"/>
              </a:ext>
            </a:extLst>
          </p:cNvPr>
          <p:cNvCxnSpPr/>
          <p:nvPr/>
        </p:nvCxnSpPr>
        <p:spPr>
          <a:xfrm flipV="1">
            <a:off x="2514599" y="1173203"/>
            <a:ext cx="4361917" cy="301779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41">
            <a:extLst>
              <a:ext uri="{FF2B5EF4-FFF2-40B4-BE49-F238E27FC236}">
                <a16:creationId xmlns:a16="http://schemas.microsoft.com/office/drawing/2014/main" id="{E951845E-94C4-7F08-465A-8222579469AC}"/>
              </a:ext>
            </a:extLst>
          </p:cNvPr>
          <p:cNvCxnSpPr/>
          <p:nvPr/>
        </p:nvCxnSpPr>
        <p:spPr>
          <a:xfrm rot="5400000">
            <a:off x="6871740" y="718057"/>
            <a:ext cx="411203" cy="2862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14">
            <a:extLst>
              <a:ext uri="{FF2B5EF4-FFF2-40B4-BE49-F238E27FC236}">
                <a16:creationId xmlns:a16="http://schemas.microsoft.com/office/drawing/2014/main" id="{439BBE2E-0397-9EAA-94BD-6A70CC6872EC}"/>
              </a:ext>
            </a:extLst>
          </p:cNvPr>
          <p:cNvSpPr txBox="1"/>
          <p:nvPr/>
        </p:nvSpPr>
        <p:spPr>
          <a:xfrm rot="16200000">
            <a:off x="-774859" y="2268083"/>
            <a:ext cx="43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Neck</a:t>
            </a:r>
            <a:r>
              <a:rPr lang="nb-NO" sz="2200" dirty="0">
                <a:latin typeface="Palatino" pitchFamily="2" charset="77"/>
                <a:ea typeface="Palatino" pitchFamily="2" charset="77"/>
                <a:cs typeface="Gill Sans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length</a:t>
            </a:r>
            <a:endParaRPr lang="nb-NO" sz="2200" dirty="0">
              <a:latin typeface="Palatino" pitchFamily="2" charset="77"/>
              <a:ea typeface="Palatino" pitchFamily="2" charset="77"/>
              <a:cs typeface="Gill Sans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D7D133AE-F171-6127-51C8-900EBF50B0CD}"/>
              </a:ext>
            </a:extLst>
          </p:cNvPr>
          <p:cNvSpPr txBox="1"/>
          <p:nvPr/>
        </p:nvSpPr>
        <p:spPr>
          <a:xfrm>
            <a:off x="1676399" y="4736069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>
                <a:latin typeface="Palatino" pitchFamily="2" charset="77"/>
                <a:ea typeface="Palatino" pitchFamily="2" charset="77"/>
              </a:rPr>
              <a:t>     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Height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of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trees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6BACF701-529E-DD1A-339C-25A567227562}"/>
              </a:ext>
            </a:extLst>
          </p:cNvPr>
          <p:cNvSpPr txBox="1"/>
          <p:nvPr/>
        </p:nvSpPr>
        <p:spPr>
          <a:xfrm>
            <a:off x="6876516" y="304800"/>
            <a:ext cx="257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>
                <a:latin typeface="Palatino" pitchFamily="2" charset="77"/>
                <a:ea typeface="Palatino" pitchFamily="2" charset="77"/>
              </a:rPr>
              <a:t>Optimal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87257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BF57-A8F7-217A-1A9D-1E1373E5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3">
            <a:extLst>
              <a:ext uri="{FF2B5EF4-FFF2-40B4-BE49-F238E27FC236}">
                <a16:creationId xmlns:a16="http://schemas.microsoft.com/office/drawing/2014/main" id="{FA4D54D3-777E-2891-0163-37EBC847E066}"/>
              </a:ext>
            </a:extLst>
          </p:cNvPr>
          <p:cNvCxnSpPr/>
          <p:nvPr/>
        </p:nvCxnSpPr>
        <p:spPr>
          <a:xfrm>
            <a:off x="1677988" y="4656693"/>
            <a:ext cx="609441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4">
            <a:extLst>
              <a:ext uri="{FF2B5EF4-FFF2-40B4-BE49-F238E27FC236}">
                <a16:creationId xmlns:a16="http://schemas.microsoft.com/office/drawing/2014/main" id="{85623F2D-23C8-7046-5962-E531B0281E5E}"/>
              </a:ext>
            </a:extLst>
          </p:cNvPr>
          <p:cNvCxnSpPr/>
          <p:nvPr/>
        </p:nvCxnSpPr>
        <p:spPr>
          <a:xfrm rot="5400000" flipH="1" flipV="1">
            <a:off x="-500340" y="2481541"/>
            <a:ext cx="435506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10">
            <a:extLst>
              <a:ext uri="{FF2B5EF4-FFF2-40B4-BE49-F238E27FC236}">
                <a16:creationId xmlns:a16="http://schemas.microsoft.com/office/drawing/2014/main" id="{5FEDB9D3-EFF7-5AEE-918D-21DBB6964611}"/>
              </a:ext>
            </a:extLst>
          </p:cNvPr>
          <p:cNvSpPr>
            <a:spLocks noChangeAspect="1"/>
          </p:cNvSpPr>
          <p:nvPr/>
        </p:nvSpPr>
        <p:spPr>
          <a:xfrm>
            <a:off x="6662420" y="16764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65A496FC-2021-9643-0297-F2813AB05AD8}"/>
              </a:ext>
            </a:extLst>
          </p:cNvPr>
          <p:cNvSpPr>
            <a:spLocks noChangeAspect="1"/>
          </p:cNvSpPr>
          <p:nvPr/>
        </p:nvSpPr>
        <p:spPr>
          <a:xfrm>
            <a:off x="4038600" y="27127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DB4E49A1-8211-6400-18AD-CA9C0196A5B8}"/>
              </a:ext>
            </a:extLst>
          </p:cNvPr>
          <p:cNvSpPr>
            <a:spLocks noChangeAspect="1"/>
          </p:cNvSpPr>
          <p:nvPr/>
        </p:nvSpPr>
        <p:spPr>
          <a:xfrm>
            <a:off x="5074920" y="26670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46684FF9-0B29-D306-E4A3-A2DD843FA122}"/>
              </a:ext>
            </a:extLst>
          </p:cNvPr>
          <p:cNvSpPr>
            <a:spLocks noChangeAspect="1"/>
          </p:cNvSpPr>
          <p:nvPr/>
        </p:nvSpPr>
        <p:spPr>
          <a:xfrm>
            <a:off x="2590800" y="35509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F8C6EDBE-02F8-9F0C-5277-22BA5454677D}"/>
              </a:ext>
            </a:extLst>
          </p:cNvPr>
          <p:cNvCxnSpPr/>
          <p:nvPr/>
        </p:nvCxnSpPr>
        <p:spPr>
          <a:xfrm flipH="1">
            <a:off x="2654300" y="3390901"/>
            <a:ext cx="1044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2B3A3032-FBEA-5263-A40E-1DBECD767875}"/>
              </a:ext>
            </a:extLst>
          </p:cNvPr>
          <p:cNvCxnSpPr/>
          <p:nvPr/>
        </p:nvCxnSpPr>
        <p:spPr>
          <a:xfrm rot="10800000">
            <a:off x="4406901" y="2881392"/>
            <a:ext cx="64769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0">
            <a:extLst>
              <a:ext uri="{FF2B5EF4-FFF2-40B4-BE49-F238E27FC236}">
                <a16:creationId xmlns:a16="http://schemas.microsoft.com/office/drawing/2014/main" id="{3FF15AAE-362F-5256-DB09-A99D95D9DBA9}"/>
              </a:ext>
            </a:extLst>
          </p:cNvPr>
          <p:cNvCxnSpPr/>
          <p:nvPr/>
        </p:nvCxnSpPr>
        <p:spPr>
          <a:xfrm flipH="1">
            <a:off x="4133400" y="2387601"/>
            <a:ext cx="972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1">
            <a:extLst>
              <a:ext uri="{FF2B5EF4-FFF2-40B4-BE49-F238E27FC236}">
                <a16:creationId xmlns:a16="http://schemas.microsoft.com/office/drawing/2014/main" id="{BAED5F81-22AD-8FCD-58AA-8D20CDB3C99E}"/>
              </a:ext>
            </a:extLst>
          </p:cNvPr>
          <p:cNvCxnSpPr/>
          <p:nvPr/>
        </p:nvCxnSpPr>
        <p:spPr>
          <a:xfrm rot="10800000">
            <a:off x="5897881" y="1890713"/>
            <a:ext cx="80771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4">
            <a:extLst>
              <a:ext uri="{FF2B5EF4-FFF2-40B4-BE49-F238E27FC236}">
                <a16:creationId xmlns:a16="http://schemas.microsoft.com/office/drawing/2014/main" id="{8BF26981-3205-5259-0080-8AC38418C2E9}"/>
              </a:ext>
            </a:extLst>
          </p:cNvPr>
          <p:cNvCxnSpPr/>
          <p:nvPr/>
        </p:nvCxnSpPr>
        <p:spPr>
          <a:xfrm rot="5400000">
            <a:off x="2528491" y="3504010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6">
            <a:extLst>
              <a:ext uri="{FF2B5EF4-FFF2-40B4-BE49-F238E27FC236}">
                <a16:creationId xmlns:a16="http://schemas.microsoft.com/office/drawing/2014/main" id="{0250EFBE-75F9-6013-710F-358E4C9DD825}"/>
              </a:ext>
            </a:extLst>
          </p:cNvPr>
          <p:cNvCxnSpPr/>
          <p:nvPr/>
        </p:nvCxnSpPr>
        <p:spPr>
          <a:xfrm rot="5400000">
            <a:off x="3974702" y="2564210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27">
            <a:extLst>
              <a:ext uri="{FF2B5EF4-FFF2-40B4-BE49-F238E27FC236}">
                <a16:creationId xmlns:a16="http://schemas.microsoft.com/office/drawing/2014/main" id="{431C304F-82D8-0013-8C1F-369E92E63BCC}"/>
              </a:ext>
            </a:extLst>
          </p:cNvPr>
          <p:cNvCxnSpPr/>
          <p:nvPr/>
        </p:nvCxnSpPr>
        <p:spPr>
          <a:xfrm rot="5400000">
            <a:off x="5016103" y="2793604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28">
            <a:extLst>
              <a:ext uri="{FF2B5EF4-FFF2-40B4-BE49-F238E27FC236}">
                <a16:creationId xmlns:a16="http://schemas.microsoft.com/office/drawing/2014/main" id="{3FC97C75-34D4-58FE-7111-41D732AB84F4}"/>
              </a:ext>
            </a:extLst>
          </p:cNvPr>
          <p:cNvCxnSpPr/>
          <p:nvPr/>
        </p:nvCxnSpPr>
        <p:spPr>
          <a:xfrm rot="5400000">
            <a:off x="6590903" y="1790304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3">
            <a:extLst>
              <a:ext uri="{FF2B5EF4-FFF2-40B4-BE49-F238E27FC236}">
                <a16:creationId xmlns:a16="http://schemas.microsoft.com/office/drawing/2014/main" id="{D102568C-A7CD-1322-332F-5D8A08252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flipH="1">
            <a:off x="1326729" y="5486400"/>
            <a:ext cx="349260" cy="968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25">
            <a:extLst>
              <a:ext uri="{FF2B5EF4-FFF2-40B4-BE49-F238E27FC236}">
                <a16:creationId xmlns:a16="http://schemas.microsoft.com/office/drawing/2014/main" id="{CD6757FC-BCBB-79F2-9575-45D7AABBA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/>
          <a:stretch>
            <a:fillRect/>
          </a:stretch>
        </p:blipFill>
        <p:spPr bwMode="auto">
          <a:xfrm flipH="1">
            <a:off x="2012529" y="4764570"/>
            <a:ext cx="609600" cy="169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9">
            <a:extLst>
              <a:ext uri="{FF2B5EF4-FFF2-40B4-BE49-F238E27FC236}">
                <a16:creationId xmlns:a16="http://schemas.microsoft.com/office/drawing/2014/main" id="{93DBD92D-D7BD-0E2C-8B2D-11D9046EE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/>
          <a:stretch>
            <a:fillRect/>
          </a:stretch>
        </p:blipFill>
        <p:spPr bwMode="auto">
          <a:xfrm flipH="1">
            <a:off x="685800" y="5773706"/>
            <a:ext cx="245638" cy="68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33">
            <a:extLst>
              <a:ext uri="{FF2B5EF4-FFF2-40B4-BE49-F238E27FC236}">
                <a16:creationId xmlns:a16="http://schemas.microsoft.com/office/drawing/2014/main" id="{0E1A1D91-C003-77D4-38BE-CAB69175F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0236" y="4953000"/>
            <a:ext cx="886293" cy="1588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0" name="Straight Connector 34">
            <a:extLst>
              <a:ext uri="{FF2B5EF4-FFF2-40B4-BE49-F238E27FC236}">
                <a16:creationId xmlns:a16="http://schemas.microsoft.com/office/drawing/2014/main" id="{401170AB-A425-89CD-63BB-61038032CEE4}"/>
              </a:ext>
            </a:extLst>
          </p:cNvPr>
          <p:cNvCxnSpPr/>
          <p:nvPr/>
        </p:nvCxnSpPr>
        <p:spPr>
          <a:xfrm flipV="1">
            <a:off x="2514599" y="1173203"/>
            <a:ext cx="4361917" cy="301779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36">
            <a:extLst>
              <a:ext uri="{FF2B5EF4-FFF2-40B4-BE49-F238E27FC236}">
                <a16:creationId xmlns:a16="http://schemas.microsoft.com/office/drawing/2014/main" id="{452FFB45-D5F6-FA31-6167-F98836825063}"/>
              </a:ext>
            </a:extLst>
          </p:cNvPr>
          <p:cNvCxnSpPr/>
          <p:nvPr/>
        </p:nvCxnSpPr>
        <p:spPr>
          <a:xfrm rot="5400000">
            <a:off x="6871740" y="718057"/>
            <a:ext cx="411203" cy="2862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14">
            <a:extLst>
              <a:ext uri="{FF2B5EF4-FFF2-40B4-BE49-F238E27FC236}">
                <a16:creationId xmlns:a16="http://schemas.microsoft.com/office/drawing/2014/main" id="{67EBF51F-8896-CF4F-9EA3-9DECDB2EB913}"/>
              </a:ext>
            </a:extLst>
          </p:cNvPr>
          <p:cNvSpPr txBox="1"/>
          <p:nvPr/>
        </p:nvSpPr>
        <p:spPr>
          <a:xfrm rot="16200000">
            <a:off x="-774859" y="2268083"/>
            <a:ext cx="43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Neck</a:t>
            </a:r>
            <a:r>
              <a:rPr lang="nb-NO" sz="2200" dirty="0">
                <a:latin typeface="Palatino" pitchFamily="2" charset="77"/>
                <a:ea typeface="Palatino" pitchFamily="2" charset="77"/>
                <a:cs typeface="Gill Sans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length</a:t>
            </a:r>
            <a:endParaRPr lang="nb-NO" sz="2200" dirty="0">
              <a:latin typeface="Palatino" pitchFamily="2" charset="77"/>
              <a:ea typeface="Palatino" pitchFamily="2" charset="77"/>
              <a:cs typeface="Gill Sans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6A6A60D6-6DC5-1D73-46D2-97C6AFC56DBB}"/>
              </a:ext>
            </a:extLst>
          </p:cNvPr>
          <p:cNvSpPr txBox="1"/>
          <p:nvPr/>
        </p:nvSpPr>
        <p:spPr>
          <a:xfrm>
            <a:off x="1676399" y="4736069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>
                <a:latin typeface="Palatino" pitchFamily="2" charset="77"/>
                <a:ea typeface="Palatino" pitchFamily="2" charset="77"/>
              </a:rPr>
              <a:t>     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Height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of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trees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8427075D-A873-C9D0-61A2-26B378B0AAB2}"/>
              </a:ext>
            </a:extLst>
          </p:cNvPr>
          <p:cNvSpPr txBox="1"/>
          <p:nvPr/>
        </p:nvSpPr>
        <p:spPr>
          <a:xfrm>
            <a:off x="6876516" y="304800"/>
            <a:ext cx="257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>
                <a:latin typeface="Palatino" pitchFamily="2" charset="77"/>
                <a:ea typeface="Palatino" pitchFamily="2" charset="77"/>
              </a:rPr>
              <a:t>Optimal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5076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0D52-FE68-8350-BFBE-7AAD7086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6">
            <a:extLst>
              <a:ext uri="{FF2B5EF4-FFF2-40B4-BE49-F238E27FC236}">
                <a16:creationId xmlns:a16="http://schemas.microsoft.com/office/drawing/2014/main" id="{2450C735-5EA5-ED17-0B2A-8457424EF439}"/>
              </a:ext>
            </a:extLst>
          </p:cNvPr>
          <p:cNvCxnSpPr/>
          <p:nvPr/>
        </p:nvCxnSpPr>
        <p:spPr>
          <a:xfrm flipV="1">
            <a:off x="2514599" y="1295401"/>
            <a:ext cx="4191000" cy="28956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3">
            <a:extLst>
              <a:ext uri="{FF2B5EF4-FFF2-40B4-BE49-F238E27FC236}">
                <a16:creationId xmlns:a16="http://schemas.microsoft.com/office/drawing/2014/main" id="{62A1F66A-D497-41FD-571D-0E0C5AC01269}"/>
              </a:ext>
            </a:extLst>
          </p:cNvPr>
          <p:cNvCxnSpPr/>
          <p:nvPr/>
        </p:nvCxnSpPr>
        <p:spPr>
          <a:xfrm>
            <a:off x="1677988" y="4656693"/>
            <a:ext cx="609441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C00D3BD3-DD60-F73D-C66F-D534D030407A}"/>
              </a:ext>
            </a:extLst>
          </p:cNvPr>
          <p:cNvCxnSpPr/>
          <p:nvPr/>
        </p:nvCxnSpPr>
        <p:spPr>
          <a:xfrm rot="5400000" flipH="1" flipV="1">
            <a:off x="-500340" y="2481541"/>
            <a:ext cx="435506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10">
            <a:extLst>
              <a:ext uri="{FF2B5EF4-FFF2-40B4-BE49-F238E27FC236}">
                <a16:creationId xmlns:a16="http://schemas.microsoft.com/office/drawing/2014/main" id="{E10794C7-5ABE-DF33-35CE-0046CD5455F3}"/>
              </a:ext>
            </a:extLst>
          </p:cNvPr>
          <p:cNvSpPr>
            <a:spLocks noChangeAspect="1"/>
          </p:cNvSpPr>
          <p:nvPr/>
        </p:nvSpPr>
        <p:spPr>
          <a:xfrm>
            <a:off x="6662420" y="16764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238243C1-629C-8661-C78F-471F66F0D0DC}"/>
              </a:ext>
            </a:extLst>
          </p:cNvPr>
          <p:cNvSpPr>
            <a:spLocks noChangeAspect="1"/>
          </p:cNvSpPr>
          <p:nvPr/>
        </p:nvSpPr>
        <p:spPr>
          <a:xfrm>
            <a:off x="4038600" y="27127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1BE1666A-F36F-A1C2-CB2B-9729870C6078}"/>
              </a:ext>
            </a:extLst>
          </p:cNvPr>
          <p:cNvSpPr>
            <a:spLocks noChangeAspect="1"/>
          </p:cNvSpPr>
          <p:nvPr/>
        </p:nvSpPr>
        <p:spPr>
          <a:xfrm>
            <a:off x="5074920" y="26670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19F30DA4-27B8-914A-A320-A7CF3C6E313C}"/>
              </a:ext>
            </a:extLst>
          </p:cNvPr>
          <p:cNvSpPr>
            <a:spLocks noChangeAspect="1"/>
          </p:cNvSpPr>
          <p:nvPr/>
        </p:nvSpPr>
        <p:spPr>
          <a:xfrm>
            <a:off x="2590800" y="35509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96C14AE2-257C-3155-0D3D-DCD8F16AE736}"/>
              </a:ext>
            </a:extLst>
          </p:cNvPr>
          <p:cNvCxnSpPr/>
          <p:nvPr/>
        </p:nvCxnSpPr>
        <p:spPr>
          <a:xfrm flipH="1">
            <a:off x="2654300" y="3390901"/>
            <a:ext cx="1044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F75BD099-BD80-12F3-7940-EF8E9F4C9347}"/>
              </a:ext>
            </a:extLst>
          </p:cNvPr>
          <p:cNvCxnSpPr/>
          <p:nvPr/>
        </p:nvCxnSpPr>
        <p:spPr>
          <a:xfrm rot="10800000">
            <a:off x="4406901" y="2881392"/>
            <a:ext cx="64769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0">
            <a:extLst>
              <a:ext uri="{FF2B5EF4-FFF2-40B4-BE49-F238E27FC236}">
                <a16:creationId xmlns:a16="http://schemas.microsoft.com/office/drawing/2014/main" id="{6B664EC5-7375-6959-75C6-8995BE6EB355}"/>
              </a:ext>
            </a:extLst>
          </p:cNvPr>
          <p:cNvCxnSpPr/>
          <p:nvPr/>
        </p:nvCxnSpPr>
        <p:spPr>
          <a:xfrm flipH="1">
            <a:off x="4133400" y="2387601"/>
            <a:ext cx="972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BEAD97E-5D54-51D2-3121-D32D11D2424E}"/>
              </a:ext>
            </a:extLst>
          </p:cNvPr>
          <p:cNvCxnSpPr/>
          <p:nvPr/>
        </p:nvCxnSpPr>
        <p:spPr>
          <a:xfrm rot="10800000">
            <a:off x="5897881" y="1890713"/>
            <a:ext cx="80771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2">
            <a:extLst>
              <a:ext uri="{FF2B5EF4-FFF2-40B4-BE49-F238E27FC236}">
                <a16:creationId xmlns:a16="http://schemas.microsoft.com/office/drawing/2014/main" id="{4AEB9545-3E4C-7C76-20B3-3B7F3C96857A}"/>
              </a:ext>
            </a:extLst>
          </p:cNvPr>
          <p:cNvCxnSpPr/>
          <p:nvPr/>
        </p:nvCxnSpPr>
        <p:spPr>
          <a:xfrm flipV="1">
            <a:off x="2286000" y="1808481"/>
            <a:ext cx="4876798" cy="17424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24">
            <a:extLst>
              <a:ext uri="{FF2B5EF4-FFF2-40B4-BE49-F238E27FC236}">
                <a16:creationId xmlns:a16="http://schemas.microsoft.com/office/drawing/2014/main" id="{F6F1BB6C-1B0D-7F6E-083E-2EF9651E057A}"/>
              </a:ext>
            </a:extLst>
          </p:cNvPr>
          <p:cNvCxnSpPr/>
          <p:nvPr/>
        </p:nvCxnSpPr>
        <p:spPr>
          <a:xfrm rot="5400000">
            <a:off x="2528491" y="3504010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25">
            <a:extLst>
              <a:ext uri="{FF2B5EF4-FFF2-40B4-BE49-F238E27FC236}">
                <a16:creationId xmlns:a16="http://schemas.microsoft.com/office/drawing/2014/main" id="{008D233F-61B4-9ADC-FC46-17F04C5B4140}"/>
              </a:ext>
            </a:extLst>
          </p:cNvPr>
          <p:cNvCxnSpPr/>
          <p:nvPr/>
        </p:nvCxnSpPr>
        <p:spPr>
          <a:xfrm rot="5400000">
            <a:off x="3974702" y="2564210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26">
            <a:extLst>
              <a:ext uri="{FF2B5EF4-FFF2-40B4-BE49-F238E27FC236}">
                <a16:creationId xmlns:a16="http://schemas.microsoft.com/office/drawing/2014/main" id="{85F55858-7260-D7D4-3462-FD7FE0E293CD}"/>
              </a:ext>
            </a:extLst>
          </p:cNvPr>
          <p:cNvCxnSpPr/>
          <p:nvPr/>
        </p:nvCxnSpPr>
        <p:spPr>
          <a:xfrm rot="5400000">
            <a:off x="5016103" y="2793604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7">
            <a:extLst>
              <a:ext uri="{FF2B5EF4-FFF2-40B4-BE49-F238E27FC236}">
                <a16:creationId xmlns:a16="http://schemas.microsoft.com/office/drawing/2014/main" id="{2EC68384-9839-C7A2-23FC-A9A6E9A911B2}"/>
              </a:ext>
            </a:extLst>
          </p:cNvPr>
          <p:cNvCxnSpPr/>
          <p:nvPr/>
        </p:nvCxnSpPr>
        <p:spPr>
          <a:xfrm rot="5400000">
            <a:off x="6590903" y="1790304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28">
            <a:extLst>
              <a:ext uri="{FF2B5EF4-FFF2-40B4-BE49-F238E27FC236}">
                <a16:creationId xmlns:a16="http://schemas.microsoft.com/office/drawing/2014/main" id="{AA0D3AC5-832D-465F-4A3C-A794AF1E755E}"/>
              </a:ext>
            </a:extLst>
          </p:cNvPr>
          <p:cNvSpPr txBox="1"/>
          <p:nvPr/>
        </p:nvSpPr>
        <p:spPr>
          <a:xfrm>
            <a:off x="6629400" y="2373869"/>
            <a:ext cx="31740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 err="1">
                <a:latin typeface="Palatino" pitchFamily="2" charset="77"/>
                <a:ea typeface="Palatino" pitchFamily="2" charset="77"/>
              </a:rPr>
              <a:t>Evolutionary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cxnSp>
        <p:nvCxnSpPr>
          <p:cNvPr id="19" name="Straight Arrow Connector 29">
            <a:extLst>
              <a:ext uri="{FF2B5EF4-FFF2-40B4-BE49-F238E27FC236}">
                <a16:creationId xmlns:a16="http://schemas.microsoft.com/office/drawing/2014/main" id="{D22DAB79-0B87-C341-4028-487D2EDD3AF3}"/>
              </a:ext>
            </a:extLst>
          </p:cNvPr>
          <p:cNvCxnSpPr/>
          <p:nvPr/>
        </p:nvCxnSpPr>
        <p:spPr>
          <a:xfrm rot="16200000" flipV="1">
            <a:off x="6921500" y="2146303"/>
            <a:ext cx="330199" cy="15239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31">
            <a:extLst>
              <a:ext uri="{FF2B5EF4-FFF2-40B4-BE49-F238E27FC236}">
                <a16:creationId xmlns:a16="http://schemas.microsoft.com/office/drawing/2014/main" id="{2DF0DBD6-06B9-BAE9-46B4-FF38CD89F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flipH="1">
            <a:off x="1326729" y="5486400"/>
            <a:ext cx="349260" cy="968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2">
            <a:extLst>
              <a:ext uri="{FF2B5EF4-FFF2-40B4-BE49-F238E27FC236}">
                <a16:creationId xmlns:a16="http://schemas.microsoft.com/office/drawing/2014/main" id="{54CA7A25-16C1-9C9D-C119-DAE65E38F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/>
          <a:stretch>
            <a:fillRect/>
          </a:stretch>
        </p:blipFill>
        <p:spPr bwMode="auto">
          <a:xfrm flipH="1">
            <a:off x="2012529" y="4764570"/>
            <a:ext cx="609600" cy="169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33">
            <a:extLst>
              <a:ext uri="{FF2B5EF4-FFF2-40B4-BE49-F238E27FC236}">
                <a16:creationId xmlns:a16="http://schemas.microsoft.com/office/drawing/2014/main" id="{7DD8B509-95A3-DD4F-8C80-EFC635281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/>
          <a:stretch>
            <a:fillRect/>
          </a:stretch>
        </p:blipFill>
        <p:spPr bwMode="auto">
          <a:xfrm flipH="1">
            <a:off x="685800" y="5773706"/>
            <a:ext cx="245638" cy="68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34">
            <a:extLst>
              <a:ext uri="{FF2B5EF4-FFF2-40B4-BE49-F238E27FC236}">
                <a16:creationId xmlns:a16="http://schemas.microsoft.com/office/drawing/2014/main" id="{317E096A-A285-9D09-BE38-3BCDF4332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0236" y="4953000"/>
            <a:ext cx="886293" cy="1588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Straight Arrow Connector 38">
            <a:extLst>
              <a:ext uri="{FF2B5EF4-FFF2-40B4-BE49-F238E27FC236}">
                <a16:creationId xmlns:a16="http://schemas.microsoft.com/office/drawing/2014/main" id="{D823C28E-FE5C-1F13-1DF6-7E667136F2BC}"/>
              </a:ext>
            </a:extLst>
          </p:cNvPr>
          <p:cNvCxnSpPr/>
          <p:nvPr/>
        </p:nvCxnSpPr>
        <p:spPr>
          <a:xfrm rot="5400000">
            <a:off x="6871740" y="718057"/>
            <a:ext cx="411203" cy="2862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9">
            <a:extLst>
              <a:ext uri="{FF2B5EF4-FFF2-40B4-BE49-F238E27FC236}">
                <a16:creationId xmlns:a16="http://schemas.microsoft.com/office/drawing/2014/main" id="{D1A56E92-AEF1-4218-0BAB-02FF8C6B91B3}"/>
              </a:ext>
            </a:extLst>
          </p:cNvPr>
          <p:cNvCxnSpPr/>
          <p:nvPr/>
        </p:nvCxnSpPr>
        <p:spPr>
          <a:xfrm flipV="1">
            <a:off x="2514599" y="1173203"/>
            <a:ext cx="4361917" cy="301779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14">
            <a:extLst>
              <a:ext uri="{FF2B5EF4-FFF2-40B4-BE49-F238E27FC236}">
                <a16:creationId xmlns:a16="http://schemas.microsoft.com/office/drawing/2014/main" id="{79E76A58-E415-962F-FD20-3996465FE846}"/>
              </a:ext>
            </a:extLst>
          </p:cNvPr>
          <p:cNvSpPr txBox="1"/>
          <p:nvPr/>
        </p:nvSpPr>
        <p:spPr>
          <a:xfrm rot="16200000">
            <a:off x="-774859" y="2268083"/>
            <a:ext cx="43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Neck</a:t>
            </a:r>
            <a:r>
              <a:rPr lang="nb-NO" sz="2200" dirty="0">
                <a:latin typeface="Palatino" pitchFamily="2" charset="77"/>
                <a:ea typeface="Palatino" pitchFamily="2" charset="77"/>
                <a:cs typeface="Gill Sans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length</a:t>
            </a:r>
            <a:endParaRPr lang="nb-NO" sz="2200" dirty="0">
              <a:latin typeface="Palatino" pitchFamily="2" charset="77"/>
              <a:ea typeface="Palatino" pitchFamily="2" charset="77"/>
              <a:cs typeface="Gill Sans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E8533AB5-D9FF-2BE1-5E32-745C4A7AA002}"/>
              </a:ext>
            </a:extLst>
          </p:cNvPr>
          <p:cNvSpPr txBox="1"/>
          <p:nvPr/>
        </p:nvSpPr>
        <p:spPr>
          <a:xfrm>
            <a:off x="1676399" y="4736069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>
                <a:latin typeface="Palatino" pitchFamily="2" charset="77"/>
                <a:ea typeface="Palatino" pitchFamily="2" charset="77"/>
              </a:rPr>
              <a:t>     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Height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of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trees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6D6E7E9F-9A90-C200-D9E5-9DFE5F2C9E65}"/>
              </a:ext>
            </a:extLst>
          </p:cNvPr>
          <p:cNvSpPr txBox="1"/>
          <p:nvPr/>
        </p:nvSpPr>
        <p:spPr>
          <a:xfrm>
            <a:off x="6876516" y="304800"/>
            <a:ext cx="257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>
                <a:latin typeface="Palatino" pitchFamily="2" charset="77"/>
                <a:ea typeface="Palatino" pitchFamily="2" charset="77"/>
              </a:rPr>
              <a:t>Optimal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5641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5467-433C-88F1-BEBA-BC6447A93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6">
            <a:extLst>
              <a:ext uri="{FF2B5EF4-FFF2-40B4-BE49-F238E27FC236}">
                <a16:creationId xmlns:a16="http://schemas.microsoft.com/office/drawing/2014/main" id="{1775533F-806F-4404-74DF-4BEDCE4F3CB8}"/>
              </a:ext>
            </a:extLst>
          </p:cNvPr>
          <p:cNvCxnSpPr/>
          <p:nvPr/>
        </p:nvCxnSpPr>
        <p:spPr>
          <a:xfrm flipV="1">
            <a:off x="2514599" y="1295401"/>
            <a:ext cx="4191000" cy="289560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3">
            <a:extLst>
              <a:ext uri="{FF2B5EF4-FFF2-40B4-BE49-F238E27FC236}">
                <a16:creationId xmlns:a16="http://schemas.microsoft.com/office/drawing/2014/main" id="{7DE3C903-9669-EEB1-151D-D3CD810AB48A}"/>
              </a:ext>
            </a:extLst>
          </p:cNvPr>
          <p:cNvCxnSpPr/>
          <p:nvPr/>
        </p:nvCxnSpPr>
        <p:spPr>
          <a:xfrm>
            <a:off x="1677988" y="4656693"/>
            <a:ext cx="609441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98CAE3E2-D106-3A5C-5E3F-488B58B01AEE}"/>
              </a:ext>
            </a:extLst>
          </p:cNvPr>
          <p:cNvCxnSpPr/>
          <p:nvPr/>
        </p:nvCxnSpPr>
        <p:spPr>
          <a:xfrm rot="5400000" flipH="1" flipV="1">
            <a:off x="-500340" y="2481541"/>
            <a:ext cx="435506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10">
            <a:extLst>
              <a:ext uri="{FF2B5EF4-FFF2-40B4-BE49-F238E27FC236}">
                <a16:creationId xmlns:a16="http://schemas.microsoft.com/office/drawing/2014/main" id="{B8E68FBB-C05B-6E50-25A6-D7EBCCB7FB3E}"/>
              </a:ext>
            </a:extLst>
          </p:cNvPr>
          <p:cNvSpPr>
            <a:spLocks noChangeAspect="1"/>
          </p:cNvSpPr>
          <p:nvPr/>
        </p:nvSpPr>
        <p:spPr>
          <a:xfrm>
            <a:off x="6662420" y="16764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6839A6EC-CB8C-174F-6732-89E2C6F5F073}"/>
              </a:ext>
            </a:extLst>
          </p:cNvPr>
          <p:cNvSpPr>
            <a:spLocks noChangeAspect="1"/>
          </p:cNvSpPr>
          <p:nvPr/>
        </p:nvSpPr>
        <p:spPr>
          <a:xfrm>
            <a:off x="4038600" y="27127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A3FEE0BA-8049-17C6-96E7-49E0AC19C324}"/>
              </a:ext>
            </a:extLst>
          </p:cNvPr>
          <p:cNvSpPr>
            <a:spLocks noChangeAspect="1"/>
          </p:cNvSpPr>
          <p:nvPr/>
        </p:nvSpPr>
        <p:spPr>
          <a:xfrm>
            <a:off x="5074920" y="266700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65D8A4F9-3925-91EB-EEB1-E51815ED1210}"/>
              </a:ext>
            </a:extLst>
          </p:cNvPr>
          <p:cNvSpPr>
            <a:spLocks noChangeAspect="1"/>
          </p:cNvSpPr>
          <p:nvPr/>
        </p:nvSpPr>
        <p:spPr>
          <a:xfrm>
            <a:off x="2590800" y="3550921"/>
            <a:ext cx="106680" cy="1066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DE966899-DBC9-3D4A-BF7A-62426BF1EEAE}"/>
              </a:ext>
            </a:extLst>
          </p:cNvPr>
          <p:cNvCxnSpPr/>
          <p:nvPr/>
        </p:nvCxnSpPr>
        <p:spPr>
          <a:xfrm flipH="1">
            <a:off x="2654300" y="3390901"/>
            <a:ext cx="1044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DA3AF41E-B3D6-1F61-7086-07175F0E16C2}"/>
              </a:ext>
            </a:extLst>
          </p:cNvPr>
          <p:cNvCxnSpPr/>
          <p:nvPr/>
        </p:nvCxnSpPr>
        <p:spPr>
          <a:xfrm rot="10800000">
            <a:off x="4406901" y="2881392"/>
            <a:ext cx="64769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0">
            <a:extLst>
              <a:ext uri="{FF2B5EF4-FFF2-40B4-BE49-F238E27FC236}">
                <a16:creationId xmlns:a16="http://schemas.microsoft.com/office/drawing/2014/main" id="{586A8661-ACD1-1608-1278-528A17559FED}"/>
              </a:ext>
            </a:extLst>
          </p:cNvPr>
          <p:cNvCxnSpPr/>
          <p:nvPr/>
        </p:nvCxnSpPr>
        <p:spPr>
          <a:xfrm flipH="1">
            <a:off x="4133400" y="2387601"/>
            <a:ext cx="972000" cy="2389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1F7EA4A-834F-3D33-6E8B-D45C71616265}"/>
              </a:ext>
            </a:extLst>
          </p:cNvPr>
          <p:cNvCxnSpPr/>
          <p:nvPr/>
        </p:nvCxnSpPr>
        <p:spPr>
          <a:xfrm rot="10800000">
            <a:off x="5897881" y="1890713"/>
            <a:ext cx="807719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2">
            <a:extLst>
              <a:ext uri="{FF2B5EF4-FFF2-40B4-BE49-F238E27FC236}">
                <a16:creationId xmlns:a16="http://schemas.microsoft.com/office/drawing/2014/main" id="{A83629F1-2B1F-C7C1-9467-D57D2E364CE6}"/>
              </a:ext>
            </a:extLst>
          </p:cNvPr>
          <p:cNvCxnSpPr/>
          <p:nvPr/>
        </p:nvCxnSpPr>
        <p:spPr>
          <a:xfrm flipV="1">
            <a:off x="2286000" y="1808481"/>
            <a:ext cx="4876798" cy="17424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24">
            <a:extLst>
              <a:ext uri="{FF2B5EF4-FFF2-40B4-BE49-F238E27FC236}">
                <a16:creationId xmlns:a16="http://schemas.microsoft.com/office/drawing/2014/main" id="{1832B214-D4E5-490F-78AD-1CBAF16764FA}"/>
              </a:ext>
            </a:extLst>
          </p:cNvPr>
          <p:cNvCxnSpPr/>
          <p:nvPr/>
        </p:nvCxnSpPr>
        <p:spPr>
          <a:xfrm rot="5400000">
            <a:off x="2528491" y="3504010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25">
            <a:extLst>
              <a:ext uri="{FF2B5EF4-FFF2-40B4-BE49-F238E27FC236}">
                <a16:creationId xmlns:a16="http://schemas.microsoft.com/office/drawing/2014/main" id="{3AC8CF0F-DC79-ADF6-AB4D-5D8C850A8E58}"/>
              </a:ext>
            </a:extLst>
          </p:cNvPr>
          <p:cNvCxnSpPr/>
          <p:nvPr/>
        </p:nvCxnSpPr>
        <p:spPr>
          <a:xfrm rot="5400000">
            <a:off x="3974702" y="2564210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26">
            <a:extLst>
              <a:ext uri="{FF2B5EF4-FFF2-40B4-BE49-F238E27FC236}">
                <a16:creationId xmlns:a16="http://schemas.microsoft.com/office/drawing/2014/main" id="{B9C2BB83-972C-A316-D858-0374BCD95FBB}"/>
              </a:ext>
            </a:extLst>
          </p:cNvPr>
          <p:cNvCxnSpPr/>
          <p:nvPr/>
        </p:nvCxnSpPr>
        <p:spPr>
          <a:xfrm rot="5400000">
            <a:off x="5016103" y="2793604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7">
            <a:extLst>
              <a:ext uri="{FF2B5EF4-FFF2-40B4-BE49-F238E27FC236}">
                <a16:creationId xmlns:a16="http://schemas.microsoft.com/office/drawing/2014/main" id="{38BBA6C3-A8FD-1A43-8072-9EABD8BB2366}"/>
              </a:ext>
            </a:extLst>
          </p:cNvPr>
          <p:cNvCxnSpPr/>
          <p:nvPr/>
        </p:nvCxnSpPr>
        <p:spPr>
          <a:xfrm rot="5400000">
            <a:off x="6590903" y="1790304"/>
            <a:ext cx="227806" cy="158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28">
            <a:extLst>
              <a:ext uri="{FF2B5EF4-FFF2-40B4-BE49-F238E27FC236}">
                <a16:creationId xmlns:a16="http://schemas.microsoft.com/office/drawing/2014/main" id="{E2394175-E516-4021-8F6D-DDBB04D7C3CE}"/>
              </a:ext>
            </a:extLst>
          </p:cNvPr>
          <p:cNvSpPr txBox="1"/>
          <p:nvPr/>
        </p:nvSpPr>
        <p:spPr>
          <a:xfrm>
            <a:off x="6629400" y="2373869"/>
            <a:ext cx="31740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 err="1">
                <a:latin typeface="Palatino" pitchFamily="2" charset="77"/>
                <a:ea typeface="Palatino" pitchFamily="2" charset="77"/>
              </a:rPr>
              <a:t>Evolutionary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cxnSp>
        <p:nvCxnSpPr>
          <p:cNvPr id="19" name="Straight Arrow Connector 29">
            <a:extLst>
              <a:ext uri="{FF2B5EF4-FFF2-40B4-BE49-F238E27FC236}">
                <a16:creationId xmlns:a16="http://schemas.microsoft.com/office/drawing/2014/main" id="{7AA31FC6-648A-047D-AAA6-C200EFB7011E}"/>
              </a:ext>
            </a:extLst>
          </p:cNvPr>
          <p:cNvCxnSpPr/>
          <p:nvPr/>
        </p:nvCxnSpPr>
        <p:spPr>
          <a:xfrm rot="16200000" flipV="1">
            <a:off x="6921500" y="2146303"/>
            <a:ext cx="330199" cy="15239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31">
            <a:extLst>
              <a:ext uri="{FF2B5EF4-FFF2-40B4-BE49-F238E27FC236}">
                <a16:creationId xmlns:a16="http://schemas.microsoft.com/office/drawing/2014/main" id="{699E348C-50F4-717C-45CC-2E11F940E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flipH="1">
            <a:off x="1326729" y="5486400"/>
            <a:ext cx="349260" cy="968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2">
            <a:extLst>
              <a:ext uri="{FF2B5EF4-FFF2-40B4-BE49-F238E27FC236}">
                <a16:creationId xmlns:a16="http://schemas.microsoft.com/office/drawing/2014/main" id="{9E2EE2FB-B2FA-2030-0F11-CC68E4B5D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/>
          <a:stretch>
            <a:fillRect/>
          </a:stretch>
        </p:blipFill>
        <p:spPr bwMode="auto">
          <a:xfrm flipH="1">
            <a:off x="2012529" y="4764570"/>
            <a:ext cx="609600" cy="169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33">
            <a:extLst>
              <a:ext uri="{FF2B5EF4-FFF2-40B4-BE49-F238E27FC236}">
                <a16:creationId xmlns:a16="http://schemas.microsoft.com/office/drawing/2014/main" id="{974B2427-70A7-D4E9-4BAB-01ED042E5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/>
          <a:stretch>
            <a:fillRect/>
          </a:stretch>
        </p:blipFill>
        <p:spPr bwMode="auto">
          <a:xfrm flipH="1">
            <a:off x="685800" y="5773706"/>
            <a:ext cx="245638" cy="681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34">
            <a:extLst>
              <a:ext uri="{FF2B5EF4-FFF2-40B4-BE49-F238E27FC236}">
                <a16:creationId xmlns:a16="http://schemas.microsoft.com/office/drawing/2014/main" id="{80066CF6-E6C4-31F4-AE21-E4739CE28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0236" y="4953000"/>
            <a:ext cx="886293" cy="1588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Straight Arrow Connector 38">
            <a:extLst>
              <a:ext uri="{FF2B5EF4-FFF2-40B4-BE49-F238E27FC236}">
                <a16:creationId xmlns:a16="http://schemas.microsoft.com/office/drawing/2014/main" id="{EF914B74-CCF3-2E1D-DE12-81C1C2A3FE65}"/>
              </a:ext>
            </a:extLst>
          </p:cNvPr>
          <p:cNvCxnSpPr/>
          <p:nvPr/>
        </p:nvCxnSpPr>
        <p:spPr>
          <a:xfrm rot="5400000">
            <a:off x="6871740" y="718057"/>
            <a:ext cx="411203" cy="2862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9">
            <a:extLst>
              <a:ext uri="{FF2B5EF4-FFF2-40B4-BE49-F238E27FC236}">
                <a16:creationId xmlns:a16="http://schemas.microsoft.com/office/drawing/2014/main" id="{01CFDCA9-F9FA-C764-3F74-C3286682C5A0}"/>
              </a:ext>
            </a:extLst>
          </p:cNvPr>
          <p:cNvCxnSpPr/>
          <p:nvPr/>
        </p:nvCxnSpPr>
        <p:spPr>
          <a:xfrm flipV="1">
            <a:off x="2514599" y="1173203"/>
            <a:ext cx="4361917" cy="301779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14">
            <a:extLst>
              <a:ext uri="{FF2B5EF4-FFF2-40B4-BE49-F238E27FC236}">
                <a16:creationId xmlns:a16="http://schemas.microsoft.com/office/drawing/2014/main" id="{5965D85D-389B-C4E6-5C48-71DAE5814844}"/>
              </a:ext>
            </a:extLst>
          </p:cNvPr>
          <p:cNvSpPr txBox="1"/>
          <p:nvPr/>
        </p:nvSpPr>
        <p:spPr>
          <a:xfrm rot="16200000">
            <a:off x="-774859" y="2268083"/>
            <a:ext cx="435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Neck</a:t>
            </a:r>
            <a:r>
              <a:rPr lang="nb-NO" sz="2200" dirty="0">
                <a:latin typeface="Palatino" pitchFamily="2" charset="77"/>
                <a:ea typeface="Palatino" pitchFamily="2" charset="77"/>
                <a:cs typeface="Gill Sans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  <a:cs typeface="Gill Sans"/>
              </a:rPr>
              <a:t>length</a:t>
            </a:r>
            <a:endParaRPr lang="nb-NO" sz="2200" dirty="0">
              <a:latin typeface="Palatino" pitchFamily="2" charset="77"/>
              <a:ea typeface="Palatino" pitchFamily="2" charset="77"/>
              <a:cs typeface="Gill Sans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FCA9E44A-82BF-919C-D56C-BBD430BE77F1}"/>
              </a:ext>
            </a:extLst>
          </p:cNvPr>
          <p:cNvSpPr txBox="1"/>
          <p:nvPr/>
        </p:nvSpPr>
        <p:spPr>
          <a:xfrm>
            <a:off x="1676399" y="4736069"/>
            <a:ext cx="609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200" dirty="0">
                <a:latin typeface="Palatino" pitchFamily="2" charset="77"/>
                <a:ea typeface="Palatino" pitchFamily="2" charset="77"/>
              </a:rPr>
              <a:t>     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Height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of</a:t>
            </a:r>
            <a:r>
              <a:rPr lang="nb-NO" sz="22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trees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6EF4B0B2-8328-5FBF-2156-574807FB3197}"/>
              </a:ext>
            </a:extLst>
          </p:cNvPr>
          <p:cNvSpPr txBox="1"/>
          <p:nvPr/>
        </p:nvSpPr>
        <p:spPr>
          <a:xfrm>
            <a:off x="6876516" y="304800"/>
            <a:ext cx="25712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200" dirty="0">
                <a:latin typeface="Palatino" pitchFamily="2" charset="77"/>
                <a:ea typeface="Palatino" pitchFamily="2" charset="77"/>
              </a:rPr>
              <a:t>Optimal </a:t>
            </a:r>
            <a:r>
              <a:rPr lang="nb-NO" sz="2200" dirty="0" err="1">
                <a:latin typeface="Palatino" pitchFamily="2" charset="77"/>
                <a:ea typeface="Palatino" pitchFamily="2" charset="77"/>
              </a:rPr>
              <a:t>regression</a:t>
            </a:r>
            <a:endParaRPr lang="nb-NO" sz="2200" dirty="0"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24" name="Bilde 23">
            <a:extLst>
              <a:ext uri="{FF2B5EF4-FFF2-40B4-BE49-F238E27FC236}">
                <a16:creationId xmlns:a16="http://schemas.microsoft.com/office/drawing/2014/main" id="{65CC492D-79E4-7117-3A16-F993C4DF40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139" t="-1721" b="58725"/>
          <a:stretch/>
        </p:blipFill>
        <p:spPr>
          <a:xfrm>
            <a:off x="9906000" y="-67274"/>
            <a:ext cx="1948681" cy="1957986"/>
          </a:xfrm>
          <a:prstGeom prst="rect">
            <a:avLst/>
          </a:prstGeom>
        </p:spPr>
      </p:pic>
      <p:sp>
        <p:nvSpPr>
          <p:cNvPr id="27" name="Rektangel 26">
            <a:extLst>
              <a:ext uri="{FF2B5EF4-FFF2-40B4-BE49-F238E27FC236}">
                <a16:creationId xmlns:a16="http://schemas.microsoft.com/office/drawing/2014/main" id="{AA82EA4E-4574-5AE2-B795-A087DDD4838B}"/>
              </a:ext>
            </a:extLst>
          </p:cNvPr>
          <p:cNvSpPr/>
          <p:nvPr/>
        </p:nvSpPr>
        <p:spPr>
          <a:xfrm>
            <a:off x="9694164" y="44678"/>
            <a:ext cx="541029" cy="520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84084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201</Words>
  <Application>Microsoft Macintosh PowerPoint</Application>
  <PresentationFormat>Widescreen</PresentationFormat>
  <Paragraphs>46</Paragraphs>
  <Slides>16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</vt:lpstr>
      <vt:lpstr>Palatino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Kjetil Lysne Voje</dc:creator>
  <cp:lastModifiedBy>Kjetil Lysne Voje</cp:lastModifiedBy>
  <cp:revision>2</cp:revision>
  <dcterms:created xsi:type="dcterms:W3CDTF">2026-08-25T08:30:49Z</dcterms:created>
  <dcterms:modified xsi:type="dcterms:W3CDTF">2026-08-31T09:08:22Z</dcterms:modified>
</cp:coreProperties>
</file>