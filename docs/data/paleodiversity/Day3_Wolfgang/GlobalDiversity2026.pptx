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0" r:id="rId1"/>
  </p:sldMasterIdLst>
  <p:notesMasterIdLst>
    <p:notesMasterId r:id="rId68"/>
  </p:notesMasterIdLst>
  <p:sldIdLst>
    <p:sldId id="258" r:id="rId2"/>
    <p:sldId id="261" r:id="rId3"/>
    <p:sldId id="257" r:id="rId4"/>
    <p:sldId id="331" r:id="rId5"/>
    <p:sldId id="301" r:id="rId6"/>
    <p:sldId id="302" r:id="rId7"/>
    <p:sldId id="303" r:id="rId8"/>
    <p:sldId id="346" r:id="rId9"/>
    <p:sldId id="304" r:id="rId10"/>
    <p:sldId id="305" r:id="rId11"/>
    <p:sldId id="306" r:id="rId12"/>
    <p:sldId id="347" r:id="rId13"/>
    <p:sldId id="316" r:id="rId14"/>
    <p:sldId id="315" r:id="rId15"/>
    <p:sldId id="317" r:id="rId16"/>
    <p:sldId id="275" r:id="rId17"/>
    <p:sldId id="276" r:id="rId18"/>
    <p:sldId id="350" r:id="rId19"/>
    <p:sldId id="354" r:id="rId20"/>
    <p:sldId id="355" r:id="rId21"/>
    <p:sldId id="356" r:id="rId22"/>
    <p:sldId id="330" r:id="rId23"/>
    <p:sldId id="357" r:id="rId24"/>
    <p:sldId id="351" r:id="rId25"/>
    <p:sldId id="358" r:id="rId26"/>
    <p:sldId id="359" r:id="rId27"/>
    <p:sldId id="353" r:id="rId28"/>
    <p:sldId id="352" r:id="rId29"/>
    <p:sldId id="374" r:id="rId30"/>
    <p:sldId id="373" r:id="rId31"/>
    <p:sldId id="372" r:id="rId32"/>
    <p:sldId id="369" r:id="rId33"/>
    <p:sldId id="283" r:id="rId34"/>
    <p:sldId id="370" r:id="rId35"/>
    <p:sldId id="371" r:id="rId36"/>
    <p:sldId id="260" r:id="rId37"/>
    <p:sldId id="368" r:id="rId38"/>
    <p:sldId id="360" r:id="rId39"/>
    <p:sldId id="336" r:id="rId40"/>
    <p:sldId id="337" r:id="rId41"/>
    <p:sldId id="338" r:id="rId42"/>
    <p:sldId id="339" r:id="rId43"/>
    <p:sldId id="361" r:id="rId44"/>
    <p:sldId id="481" r:id="rId45"/>
    <p:sldId id="348" r:id="rId46"/>
    <p:sldId id="375" r:id="rId47"/>
    <p:sldId id="376" r:id="rId48"/>
    <p:sldId id="362" r:id="rId49"/>
    <p:sldId id="342" r:id="rId50"/>
    <p:sldId id="344" r:id="rId51"/>
    <p:sldId id="343" r:id="rId52"/>
    <p:sldId id="345" r:id="rId53"/>
    <p:sldId id="259" r:id="rId54"/>
    <p:sldId id="363" r:id="rId55"/>
    <p:sldId id="309" r:id="rId56"/>
    <p:sldId id="307" r:id="rId57"/>
    <p:sldId id="349" r:id="rId58"/>
    <p:sldId id="312" r:id="rId59"/>
    <p:sldId id="310" r:id="rId60"/>
    <p:sldId id="313" r:id="rId61"/>
    <p:sldId id="314" r:id="rId62"/>
    <p:sldId id="364" r:id="rId63"/>
    <p:sldId id="365" r:id="rId64"/>
    <p:sldId id="366" r:id="rId65"/>
    <p:sldId id="367" r:id="rId66"/>
    <p:sldId id="482" r:id="rId6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F60"/>
    <a:srgbClr val="33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08"/>
    <p:restoredTop sz="94672"/>
  </p:normalViewPr>
  <p:slideViewPr>
    <p:cSldViewPr snapToGrid="0">
      <p:cViewPr varScale="1">
        <p:scale>
          <a:sx n="144" d="100"/>
          <a:sy n="144" d="100"/>
        </p:scale>
        <p:origin x="10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C0D26B-E896-41E6-9C93-E2441A195CAE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8D386B-76BE-4DF6-A9D7-B969F6929F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320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Global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gamma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D8D386B-76BE-4DF6-A9D7-B969F6929FF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2354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50A562E-67CD-4CF9-85AB-69FDFF5D7BCC}" type="slidenum">
              <a:rPr lang="de-DE" altLang="de-DE"/>
              <a:pPr eaLnBrk="1" hangingPunct="1">
                <a:spcBef>
                  <a:spcPct val="0"/>
                </a:spcBef>
              </a:pPr>
              <a:t>2</a:t>
            </a:fld>
            <a:endParaRPr lang="de-DE" altLang="de-D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69623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59C0CA9-2312-44CD-AFAE-EF0A023E2190}" type="slidenum">
              <a:rPr lang="de-DE" altLang="de-DE" smtClean="0"/>
              <a:pPr>
                <a:spcBef>
                  <a:spcPct val="0"/>
                </a:spcBef>
              </a:pPr>
              <a:t>3</a:t>
            </a:fld>
            <a:endParaRPr lang="de-DE" altLang="de-DE"/>
          </a:p>
        </p:txBody>
      </p:sp>
      <p:sp>
        <p:nvSpPr>
          <p:cNvPr id="583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AA89C120-ECB5-4061-9F2F-9150A8F09DF8}" type="slidenum">
              <a:rPr lang="de-DE" altLang="de-DE" smtClean="0"/>
              <a:pPr>
                <a:spcBef>
                  <a:spcPct val="0"/>
                </a:spcBef>
              </a:pPr>
              <a:t>5</a:t>
            </a:fld>
            <a:endParaRPr lang="de-DE" altLang="de-DE"/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7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E30898E-3F2A-4200-8760-366D19F1926F}" type="slidenum">
              <a:rPr lang="de-DE" altLang="de-DE" smtClean="0"/>
              <a:pPr>
                <a:spcBef>
                  <a:spcPct val="0"/>
                </a:spcBef>
              </a:pPr>
              <a:t>6</a:t>
            </a:fld>
            <a:endParaRPr lang="de-DE" altLang="de-DE"/>
          </a:p>
        </p:txBody>
      </p:sp>
      <p:sp>
        <p:nvSpPr>
          <p:cNvPr id="9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8606479-DE08-41BA-A830-27C6ADA2C91A}" type="slidenum">
              <a:rPr lang="de-DE" altLang="de-DE" smtClean="0"/>
              <a:pPr>
                <a:spcBef>
                  <a:spcPct val="0"/>
                </a:spcBef>
              </a:pPr>
              <a:t>7</a:t>
            </a:fld>
            <a:endParaRPr lang="de-DE" altLang="de-DE"/>
          </a:p>
        </p:txBody>
      </p:sp>
      <p:sp>
        <p:nvSpPr>
          <p:cNvPr id="133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31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346FD08-39E0-4FC8-87C7-7679F393AF3C}" type="slidenum">
              <a:rPr lang="de-DE" altLang="de-DE" smtClean="0"/>
              <a:pPr>
                <a:spcBef>
                  <a:spcPct val="0"/>
                </a:spcBef>
              </a:pPr>
              <a:t>8</a:t>
            </a:fld>
            <a:endParaRPr lang="de-DE" altLang="de-D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6260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E19660D-9697-465E-AFEB-010953F714AB}" type="slidenum">
              <a:rPr lang="de-DE" altLang="de-DE" smtClean="0"/>
              <a:pPr>
                <a:spcBef>
                  <a:spcPct val="0"/>
                </a:spcBef>
              </a:pPr>
              <a:t>9</a:t>
            </a:fld>
            <a:endParaRPr lang="de-DE" altLang="de-DE"/>
          </a:p>
        </p:txBody>
      </p:sp>
      <p:sp>
        <p:nvSpPr>
          <p:cNvPr id="15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AAC6883-9CE9-45C1-BBC3-3E6D7C17D83E}" type="slidenum">
              <a:rPr lang="de-DE" altLang="de-DE" smtClean="0"/>
              <a:pPr>
                <a:spcBef>
                  <a:spcPct val="0"/>
                </a:spcBef>
              </a:pPr>
              <a:t>10</a:t>
            </a:fld>
            <a:endParaRPr lang="de-DE" altLang="de-D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4B0046C7-3FE8-4E9C-AD1C-4C83EF5A98DB}" type="slidenum">
              <a:rPr lang="de-DE" altLang="de-DE" smtClean="0"/>
              <a:pPr>
                <a:spcBef>
                  <a:spcPct val="0"/>
                </a:spcBef>
              </a:pPr>
              <a:t>11</a:t>
            </a:fld>
            <a:endParaRPr lang="de-DE" altLang="de-D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4D178C07-8AAF-4FBD-8BE6-A0A82FCBAB87}" type="slidenum">
              <a:rPr lang="de-DE" altLang="de-DE" smtClean="0"/>
              <a:pPr>
                <a:spcBef>
                  <a:spcPct val="0"/>
                </a:spcBef>
              </a:pPr>
              <a:t>12</a:t>
            </a:fld>
            <a:endParaRPr lang="de-DE" altLang="de-D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izenplatzhalt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de-DE" b="1">
                <a:latin typeface="Arial" panose="020B0604020202020204" pitchFamily="34" charset="0"/>
              </a:rPr>
              <a:t>One consequence of incomplete sampling</a:t>
            </a:r>
            <a:endParaRPr lang="en-US" altLang="de-DE">
              <a:latin typeface="Arial" panose="020B0604020202020204" pitchFamily="34" charset="0"/>
            </a:endParaRPr>
          </a:p>
        </p:txBody>
      </p:sp>
      <p:sp>
        <p:nvSpPr>
          <p:cNvPr id="23556" name="Foliennummernplatzhalt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D146C269-F951-40C0-AF1C-5C80B901E1D2}" type="slidenum">
              <a:rPr lang="de-DE" altLang="de-DE" smtClean="0"/>
              <a:pPr/>
              <a:t>14</a:t>
            </a:fld>
            <a:endParaRPr lang="de-DE" altLang="de-DE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CC8F4A4-45D4-4D51-9D2E-7ED978861A86}" type="slidenum">
              <a:rPr lang="de-DE" altLang="de-DE" smtClean="0"/>
              <a:pPr>
                <a:spcBef>
                  <a:spcPct val="0"/>
                </a:spcBef>
              </a:pPr>
              <a:t>16</a:t>
            </a:fld>
            <a:endParaRPr lang="de-DE" altLang="de-D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B210C0A-4622-418D-8369-A09A3E082A29}" type="slidenum">
              <a:rPr lang="de-DE" altLang="de-DE" smtClean="0"/>
              <a:pPr>
                <a:spcBef>
                  <a:spcPct val="0"/>
                </a:spcBef>
              </a:pPr>
              <a:t>17</a:t>
            </a:fld>
            <a:endParaRPr lang="de-DE" altLang="de-D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r>
              <a:rPr lang="en-US" altLang="de-DE" dirty="0">
                <a:latin typeface="Arial" panose="020B0604020202020204" pitchFamily="34" charset="0"/>
              </a:rPr>
              <a:t>But we mean rate per geological interval, so all good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97973CF-481A-4517-8A2F-BDFF3173869F}" type="slidenum">
              <a:rPr lang="de-DE" altLang="de-DE" smtClean="0"/>
              <a:pPr>
                <a:spcBef>
                  <a:spcPct val="0"/>
                </a:spcBef>
              </a:pPr>
              <a:t>18</a:t>
            </a:fld>
            <a:endParaRPr lang="de-DE" altLang="de-D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68610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33E322B-7B7E-490F-91C4-2BB3BA75A969}" type="slidenum">
              <a:rPr lang="de-DE" altLang="de-DE"/>
              <a:pPr/>
              <a:t>21</a:t>
            </a:fld>
            <a:endParaRPr lang="de-DE" altLang="de-DE"/>
          </a:p>
        </p:txBody>
      </p:sp>
      <p:sp>
        <p:nvSpPr>
          <p:cNvPr id="747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5514542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There’s a lot to deal with. We can learn</a:t>
            </a:r>
            <a:r>
              <a:rPr lang="en-US" baseline="0" dirty="0"/>
              <a:t> everything. But become familiar with concepts.</a:t>
            </a:r>
          </a:p>
          <a:p>
            <a:r>
              <a:rPr lang="en-US" baseline="0" dirty="0"/>
              <a:t>Stress but relax.</a:t>
            </a:r>
          </a:p>
          <a:p>
            <a:r>
              <a:rPr lang="en-US" baseline="0" dirty="0"/>
              <a:t>Important to speak the same language because </a:t>
            </a:r>
            <a:r>
              <a:rPr lang="en-US" baseline="0" dirty="0" err="1"/>
              <a:t>interdiscplinarity</a:t>
            </a:r>
            <a:r>
              <a:rPr lang="en-US" baseline="0" dirty="0"/>
              <a:t> is key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A32A09-A8F9-4844-A50B-996B9FD8E092}" type="slidenum">
              <a:rPr lang="de-DE" smtClean="0"/>
              <a:pPr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77545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DD7A035-1278-4BAA-9B63-D071AD2BB640}" type="slidenum">
              <a:rPr lang="de-DE" altLang="de-DE" smtClean="0"/>
              <a:pPr>
                <a:spcBef>
                  <a:spcPct val="0"/>
                </a:spcBef>
              </a:pPr>
              <a:t>24</a:t>
            </a:fld>
            <a:endParaRPr lang="de-DE" altLang="de-D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02420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A803C9F1-E118-4CBC-B4F6-599EBBF300F8}" type="slidenum">
              <a:rPr lang="de-DE" altLang="de-DE" smtClean="0"/>
              <a:pPr>
                <a:spcBef>
                  <a:spcPct val="0"/>
                </a:spcBef>
              </a:pPr>
              <a:t>25</a:t>
            </a:fld>
            <a:endParaRPr lang="de-DE" altLang="de-DE"/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90838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6F7E40C-F705-4BB4-82E6-56FAF98EC01E}" type="slidenum">
              <a:rPr lang="de-DE" altLang="de-DE" smtClean="0"/>
              <a:pPr>
                <a:spcBef>
                  <a:spcPct val="0"/>
                </a:spcBef>
              </a:pPr>
              <a:t>26</a:t>
            </a:fld>
            <a:endParaRPr lang="de-DE" altLang="de-DE"/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37920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59C0CA9-2312-44CD-AFAE-EF0A023E2190}" type="slidenum">
              <a:rPr lang="de-DE" altLang="de-DE" smtClean="0"/>
              <a:pPr>
                <a:spcBef>
                  <a:spcPct val="0"/>
                </a:spcBef>
              </a:pPr>
              <a:t>32</a:t>
            </a:fld>
            <a:endParaRPr lang="de-DE" altLang="de-DE"/>
          </a:p>
        </p:txBody>
      </p:sp>
      <p:sp>
        <p:nvSpPr>
          <p:cNvPr id="583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5373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5A9AC60-F0E2-4815-93B2-AC5DF4BE75A7}" type="slidenum">
              <a:rPr lang="de-DE" altLang="de-DE" smtClean="0"/>
              <a:pPr>
                <a:spcBef>
                  <a:spcPct val="0"/>
                </a:spcBef>
              </a:pPr>
              <a:t>33</a:t>
            </a:fld>
            <a:endParaRPr lang="de-DE" altLang="de-DE"/>
          </a:p>
        </p:txBody>
      </p:sp>
      <p:sp>
        <p:nvSpPr>
          <p:cNvPr id="727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D696E7E-B550-4511-B7CB-88851264DC03}" type="slidenum">
              <a:rPr lang="de-DE" altLang="de-DE" smtClean="0"/>
              <a:pPr>
                <a:spcBef>
                  <a:spcPct val="0"/>
                </a:spcBef>
              </a:pPr>
              <a:t>34</a:t>
            </a:fld>
            <a:endParaRPr lang="de-DE" altLang="de-DE"/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ADA2111-D57E-4B84-B265-7A11A9EFEB48}" type="slidenum">
              <a:rPr lang="de-DE" altLang="de-DE" smtClean="0"/>
              <a:pPr>
                <a:spcBef>
                  <a:spcPct val="0"/>
                </a:spcBef>
              </a:pPr>
              <a:t>35</a:t>
            </a:fld>
            <a:endParaRPr lang="de-DE" altLang="de-DE"/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7665A1D-2EAC-4FA2-A34F-C2E1ABAAAFC3}" type="slidenum">
              <a:rPr lang="de-DE" altLang="de-DE" smtClean="0"/>
              <a:pPr>
                <a:spcBef>
                  <a:spcPct val="0"/>
                </a:spcBef>
              </a:pPr>
              <a:t>36</a:t>
            </a:fld>
            <a:endParaRPr lang="de-DE" altLang="de-DE"/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de-DE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656E0DC-4BF8-4DB3-B200-AA07A835086D}" type="slidenum">
              <a:rPr lang="en-US" altLang="en-US" smtClean="0"/>
              <a:pPr>
                <a:spcBef>
                  <a:spcPct val="0"/>
                </a:spcBef>
              </a:pPr>
              <a:t>39</a:t>
            </a:fld>
            <a:endParaRPr lang="en-US" altLang="en-US"/>
          </a:p>
        </p:txBody>
      </p:sp>
      <p:sp>
        <p:nvSpPr>
          <p:cNvPr id="102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de-DE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4562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72CBC97-549F-440E-B254-3533F511FFB9}" type="slidenum">
              <a:rPr lang="en-US" altLang="en-US" smtClean="0"/>
              <a:pPr>
                <a:spcBef>
                  <a:spcPct val="0"/>
                </a:spcBef>
              </a:pPr>
              <a:t>40</a:t>
            </a:fld>
            <a:endParaRPr lang="en-US" alt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noFill/>
        </p:spPr>
        <p:txBody>
          <a:bodyPr/>
          <a:lstStyle/>
          <a:p>
            <a:pPr eaLnBrk="1" hangingPunct="1"/>
            <a:endParaRPr lang="de-DE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48523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E857EA1-1364-4030-AA06-CD58A73F1407}" type="slidenum">
              <a:rPr lang="en-US" altLang="en-US" smtClean="0"/>
              <a:pPr>
                <a:spcBef>
                  <a:spcPct val="0"/>
                </a:spcBef>
              </a:pPr>
              <a:t>41</a:t>
            </a:fld>
            <a:endParaRPr lang="en-US" altLang="en-US"/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de-DE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364781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4615DC08-E61A-4EE4-93B2-D5A1C6E8F955}" type="slidenum">
              <a:rPr lang="en-US" altLang="en-US" smtClean="0"/>
              <a:pPr>
                <a:spcBef>
                  <a:spcPct val="0"/>
                </a:spcBef>
              </a:pPr>
              <a:t>42</a:t>
            </a:fld>
            <a:endParaRPr lang="en-US" altLang="en-US"/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de-DE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57070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Pure crab is not the right answer</a:t>
            </a:r>
          </a:p>
          <a:p>
            <a:r>
              <a:rPr lang="en-US" dirty="0"/>
              <a:t>Stratigraphic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F8E27E-BBDB-48AB-BCEE-C6C9146241A7}" type="slidenum">
              <a:rPr lang="de-DE" altLang="en-US" smtClean="0"/>
              <a:pPr>
                <a:defRPr/>
              </a:pPr>
              <a:t>44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4421548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5BE9E2F-BC3C-4D0E-8ABC-5F49C8959F05}" type="slidenum">
              <a:rPr lang="en-US" altLang="de-DE"/>
              <a:pPr>
                <a:spcBef>
                  <a:spcPct val="0"/>
                </a:spcBef>
              </a:pPr>
              <a:t>45</a:t>
            </a:fld>
            <a:endParaRPr lang="en-US" altLang="de-D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8693980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56B9EFC-9CB5-4C8E-911A-004A279CEA69}" type="slidenum">
              <a:rPr lang="en-US" altLang="de-DE"/>
              <a:pPr>
                <a:spcBef>
                  <a:spcPct val="0"/>
                </a:spcBef>
              </a:pPr>
              <a:t>46</a:t>
            </a:fld>
            <a:endParaRPr lang="en-US" altLang="de-D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76779541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28BC374-0CD1-4EC0-86FF-8D07046B10AF}" type="slidenum">
              <a:rPr lang="en-US" altLang="de-DE"/>
              <a:pPr>
                <a:spcBef>
                  <a:spcPct val="0"/>
                </a:spcBef>
              </a:pPr>
              <a:t>47</a:t>
            </a:fld>
            <a:endParaRPr lang="en-US" altLang="de-D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67607723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F7BF004-2101-4232-BD18-78E3AF40AE55}" type="slidenum">
              <a:rPr lang="en-US" altLang="en-US" smtClean="0"/>
              <a:pPr>
                <a:spcBef>
                  <a:spcPct val="0"/>
                </a:spcBef>
              </a:pPr>
              <a:t>49</a:t>
            </a:fld>
            <a:endParaRPr lang="en-US" altLang="en-US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de-DE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348118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494B2AD8-D881-4E2F-8F91-8FBC63A45609}" type="slidenum">
              <a:rPr lang="en-US" altLang="en-US" smtClean="0"/>
              <a:pPr>
                <a:spcBef>
                  <a:spcPct val="0"/>
                </a:spcBef>
              </a:pPr>
              <a:t>54</a:t>
            </a:fld>
            <a:endParaRPr lang="en-US" altLang="en-US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de-DE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71286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23B2B2E-088A-4D9E-AA9C-54998F72707B}" type="slidenum">
              <a:rPr lang="en-US" altLang="en-US" smtClean="0"/>
              <a:pPr>
                <a:spcBef>
                  <a:spcPct val="0"/>
                </a:spcBef>
              </a:pPr>
              <a:t>55</a:t>
            </a:fld>
            <a:endParaRPr lang="en-US" altLang="en-US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de-DE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945882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BC44720-260B-4DB4-9389-73613B468EC1}" type="slidenum">
              <a:rPr lang="de-DE" altLang="en-US"/>
              <a:pPr/>
              <a:t>56</a:t>
            </a:fld>
            <a:endParaRPr lang="de-DE" altLang="en-US"/>
          </a:p>
        </p:txBody>
      </p:sp>
      <p:sp>
        <p:nvSpPr>
          <p:cNvPr id="399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78195" y="4713431"/>
            <a:ext cx="5441287" cy="4468710"/>
          </a:xfrm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6558404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5C337B0-ACD4-49B9-898D-5C62B166AB65}" type="slidenum">
              <a:rPr lang="en-US" altLang="en-US" smtClean="0"/>
              <a:pPr>
                <a:spcBef>
                  <a:spcPct val="0"/>
                </a:spcBef>
              </a:pPr>
              <a:t>59</a:t>
            </a:fld>
            <a:endParaRPr lang="en-US" altLang="en-US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de-DE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85863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5AEC3A7-AA46-4532-9A2D-B7DC39F68C9E}" type="slidenum">
              <a:rPr lang="en-US" altLang="en-US" smtClean="0"/>
              <a:pPr>
                <a:spcBef>
                  <a:spcPct val="0"/>
                </a:spcBef>
              </a:pPr>
              <a:t>61</a:t>
            </a:fld>
            <a:endParaRPr lang="en-US" altLang="en-US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de-DE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496556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29BE63B-52FB-43DE-9677-3A0F5BEBDDCF}" type="slidenum">
              <a:rPr lang="en-US" altLang="en-US" smtClean="0"/>
              <a:pPr>
                <a:spcBef>
                  <a:spcPct val="0"/>
                </a:spcBef>
              </a:pPr>
              <a:t>63</a:t>
            </a:fld>
            <a:endParaRPr lang="en-US" altLang="en-US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de-DE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8718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time series with colored variation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618080E-12EB-43A2-9A14-1244BB82B7A6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2915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6F3F-678B-4FC2-9CCC-B7DA610B1CD0}" type="slidenum">
              <a:rPr lang="en-US" altLang="en-US" smtClean="0"/>
              <a:pPr/>
              <a:t>‹Nr.›</a:t>
            </a:fld>
            <a:endParaRPr lang="en-US" altLang="en-US"/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305D9234-B246-4F5F-A681-8429559FA6E2}"/>
              </a:ext>
            </a:extLst>
          </p:cNvPr>
          <p:cNvSpPr/>
          <p:nvPr userDrawn="1"/>
        </p:nvSpPr>
        <p:spPr>
          <a:xfrm>
            <a:off x="0" y="6466432"/>
            <a:ext cx="12192000" cy="391886"/>
          </a:xfrm>
          <a:prstGeom prst="rect">
            <a:avLst/>
          </a:prstGeom>
          <a:solidFill>
            <a:srgbClr val="005F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87A340FE-902B-4AFE-B24C-055A9D8BA0B6}"/>
              </a:ext>
            </a:extLst>
          </p:cNvPr>
          <p:cNvSpPr txBox="1"/>
          <p:nvPr userDrawn="1"/>
        </p:nvSpPr>
        <p:spPr>
          <a:xfrm>
            <a:off x="93618" y="6521251"/>
            <a:ext cx="72462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chemeClr val="bg2">
                    <a:lumMod val="40000"/>
                    <a:lumOff val="60000"/>
                  </a:schemeClr>
                </a:solidFill>
              </a:rPr>
              <a:t>Analytical Paleobiology </a:t>
            </a:r>
            <a:r>
              <a:rPr lang="en-GB" sz="1200">
                <a:solidFill>
                  <a:schemeClr val="bg2">
                    <a:lumMod val="40000"/>
                    <a:lumOff val="60000"/>
                  </a:schemeClr>
                </a:solidFill>
              </a:rPr>
              <a:t>Workshop 2026, </a:t>
            </a:r>
            <a:r>
              <a:rPr lang="en-GB" sz="1200" dirty="0">
                <a:solidFill>
                  <a:schemeClr val="bg2">
                    <a:lumMod val="40000"/>
                    <a:lumOff val="60000"/>
                  </a:schemeClr>
                </a:solidFill>
              </a:rPr>
              <a:t>Erlangen, Germany  |    Wolfgang Kiessling </a:t>
            </a:r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DE12E4D3-6853-44E2-BC46-A6CEEFC7F68C}"/>
              </a:ext>
            </a:extLst>
          </p:cNvPr>
          <p:cNvSpPr/>
          <p:nvPr userDrawn="1"/>
        </p:nvSpPr>
        <p:spPr>
          <a:xfrm>
            <a:off x="0" y="10"/>
            <a:ext cx="12192000" cy="365125"/>
          </a:xfrm>
          <a:prstGeom prst="rect">
            <a:avLst/>
          </a:prstGeom>
          <a:solidFill>
            <a:srgbClr val="005F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</p:spTree>
    <p:extLst>
      <p:ext uri="{BB962C8B-B14F-4D97-AF65-F5344CB8AC3E}">
        <p14:creationId xmlns:p14="http://schemas.microsoft.com/office/powerpoint/2010/main" val="496697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A907ACF-6631-8503-3AB0-370672453107}"/>
              </a:ext>
            </a:extLst>
          </p:cNvPr>
          <p:cNvSpPr/>
          <p:nvPr userDrawn="1"/>
        </p:nvSpPr>
        <p:spPr>
          <a:xfrm>
            <a:off x="0" y="6466432"/>
            <a:ext cx="12192000" cy="391886"/>
          </a:xfrm>
          <a:prstGeom prst="rect">
            <a:avLst/>
          </a:prstGeom>
          <a:solidFill>
            <a:srgbClr val="005F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7EBA2E-3DD5-9EEF-65FC-1274B057E9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379715"/>
            <a:ext cx="9144000" cy="1690764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EAB867-8071-3A07-90C3-B0446D90E1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227869"/>
            <a:ext cx="9144000" cy="492535"/>
          </a:xfrm>
          <a:ln>
            <a:solidFill>
              <a:schemeClr val="bg1">
                <a:lumMod val="65000"/>
              </a:schemeClr>
            </a:solidFill>
          </a:ln>
        </p:spPr>
        <p:txBody>
          <a:bodyPr/>
          <a:lstStyle>
            <a:lvl1pPr marL="0" indent="0" algn="ctr">
              <a:buNone/>
              <a:defRPr sz="240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GB" dirty="0"/>
              <a:t>Instructor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35EDC9-CBE9-6C7D-C5EE-552F87BD0B02}"/>
              </a:ext>
            </a:extLst>
          </p:cNvPr>
          <p:cNvCxnSpPr>
            <a:cxnSpLocks/>
          </p:cNvCxnSpPr>
          <p:nvPr userDrawn="1"/>
        </p:nvCxnSpPr>
        <p:spPr>
          <a:xfrm>
            <a:off x="1524007" y="3138576"/>
            <a:ext cx="4375759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C67B2FA-4770-AC75-34E8-98A02A7BC7A4}"/>
              </a:ext>
            </a:extLst>
          </p:cNvPr>
          <p:cNvCxnSpPr>
            <a:cxnSpLocks/>
          </p:cNvCxnSpPr>
          <p:nvPr userDrawn="1"/>
        </p:nvCxnSpPr>
        <p:spPr>
          <a:xfrm>
            <a:off x="6292247" y="3138576"/>
            <a:ext cx="4375759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BAB29DA-33A6-D3C6-EFA2-CD5276295A2D}"/>
              </a:ext>
            </a:extLst>
          </p:cNvPr>
          <p:cNvSpPr/>
          <p:nvPr userDrawn="1"/>
        </p:nvSpPr>
        <p:spPr>
          <a:xfrm>
            <a:off x="6045902" y="3092548"/>
            <a:ext cx="100209" cy="100209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6F1CC-A9EE-F7C1-9769-C1842DA14AA8}"/>
              </a:ext>
            </a:extLst>
          </p:cNvPr>
          <p:cNvSpPr txBox="1"/>
          <p:nvPr userDrawn="1"/>
        </p:nvSpPr>
        <p:spPr>
          <a:xfrm>
            <a:off x="93617" y="6521251"/>
            <a:ext cx="6466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chemeClr val="bg2">
                    <a:lumMod val="40000"/>
                    <a:lumOff val="60000"/>
                  </a:schemeClr>
                </a:solidFill>
              </a:rPr>
              <a:t>Analytical Paleobiology Workshop 2026, Erlangen, Germany  |   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5404C7-6801-8C64-40D6-7E8E47C52FBE}"/>
              </a:ext>
            </a:extLst>
          </p:cNvPr>
          <p:cNvSpPr/>
          <p:nvPr userDrawn="1"/>
        </p:nvSpPr>
        <p:spPr>
          <a:xfrm>
            <a:off x="0" y="0"/>
            <a:ext cx="12192000" cy="1202500"/>
          </a:xfrm>
          <a:prstGeom prst="rect">
            <a:avLst/>
          </a:prstGeom>
          <a:solidFill>
            <a:srgbClr val="005F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pic>
        <p:nvPicPr>
          <p:cNvPr id="16" name="Picture 4" descr="Mit frischem Schwung und neuem Markenauftritt ins Wintersemester |  Friedrich-Alexander-Universität Erlangen-Nürnberg">
            <a:extLst>
              <a:ext uri="{FF2B5EF4-FFF2-40B4-BE49-F238E27FC236}">
                <a16:creationId xmlns:a16="http://schemas.microsoft.com/office/drawing/2014/main" id="{F26D803E-5397-ECDC-8661-03817304EEF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4711" y="5570989"/>
            <a:ext cx="3465697" cy="691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1BF0F1B4-6CF0-547A-BE44-1C17E116580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3971327"/>
            <a:ext cx="9144000" cy="492535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67" indent="0">
              <a:buNone/>
              <a:defRPr/>
            </a:lvl2pPr>
            <a:lvl3pPr marL="914332" indent="0">
              <a:buNone/>
              <a:defRPr/>
            </a:lvl3pPr>
            <a:lvl4pPr marL="1371498" indent="0">
              <a:buNone/>
              <a:defRPr/>
            </a:lvl4pPr>
            <a:lvl5pPr marL="1828664" indent="0">
              <a:buNone/>
              <a:defRPr/>
            </a:lvl5pPr>
          </a:lstStyle>
          <a:p>
            <a:pPr lvl="0"/>
            <a:r>
              <a:rPr lang="en-GB" dirty="0"/>
              <a:t>Institution</a:t>
            </a:r>
          </a:p>
        </p:txBody>
      </p:sp>
      <p:sp>
        <p:nvSpPr>
          <p:cNvPr id="36" name="Text Placeholder 34">
            <a:extLst>
              <a:ext uri="{FF2B5EF4-FFF2-40B4-BE49-F238E27FC236}">
                <a16:creationId xmlns:a16="http://schemas.microsoft.com/office/drawing/2014/main" id="{991261BE-2F20-6EE1-D74E-306B6837D7E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59264" y="4659711"/>
            <a:ext cx="3273469" cy="492535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67" indent="0">
              <a:buNone/>
              <a:defRPr/>
            </a:lvl2pPr>
            <a:lvl3pPr marL="914332" indent="0">
              <a:buNone/>
              <a:defRPr/>
            </a:lvl3pPr>
            <a:lvl4pPr marL="1371498" indent="0">
              <a:buNone/>
              <a:defRPr/>
            </a:lvl4pPr>
            <a:lvl5pPr marL="1828664" indent="0">
              <a:buNone/>
              <a:defRPr/>
            </a:lvl5pPr>
          </a:lstStyle>
          <a:p>
            <a:pPr lvl="0"/>
            <a:r>
              <a:rPr lang="en-GB" dirty="0"/>
              <a:t>Date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5FF1D53B-1A7F-42E0-659B-9D801FD1161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95108" y="6521251"/>
            <a:ext cx="2428875" cy="24980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en-GB" dirty="0"/>
              <a:t>Wolfgang Kiessling</a:t>
            </a:r>
          </a:p>
        </p:txBody>
      </p:sp>
      <p:pic>
        <p:nvPicPr>
          <p:cNvPr id="4" name="Grafik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098" y="5570989"/>
            <a:ext cx="739926" cy="808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204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86E08-1A9E-D679-65EC-6DA0CA322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C1C6A-7621-00CC-0F38-03C9AA42C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E2BFA5-C3A4-7023-35DF-4D2F8A084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DDEA0-037E-4F4F-A79F-C3FA81445B52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D5CEE3-6596-2F80-0232-72AE1CBB0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995136-641E-2BFF-6BEA-62F2E5850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FF56D-03BC-854B-83B0-122A4EA85082}" type="slidenum">
              <a:rPr lang="en-GB" smtClean="0"/>
              <a:t>‹Nr.›</a:t>
            </a:fld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EAF351-DF3A-7E8B-855B-84F92ACC0FFF}"/>
              </a:ext>
            </a:extLst>
          </p:cNvPr>
          <p:cNvSpPr/>
          <p:nvPr userDrawn="1"/>
        </p:nvSpPr>
        <p:spPr>
          <a:xfrm>
            <a:off x="0" y="6466432"/>
            <a:ext cx="12192000" cy="391886"/>
          </a:xfrm>
          <a:prstGeom prst="rect">
            <a:avLst/>
          </a:prstGeom>
          <a:solidFill>
            <a:srgbClr val="005F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7B2972-8BE1-6DEA-7D43-197A54AE973B}"/>
              </a:ext>
            </a:extLst>
          </p:cNvPr>
          <p:cNvSpPr txBox="1"/>
          <p:nvPr userDrawn="1"/>
        </p:nvSpPr>
        <p:spPr>
          <a:xfrm>
            <a:off x="93618" y="6521251"/>
            <a:ext cx="72462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chemeClr val="bg2">
                    <a:lumMod val="40000"/>
                    <a:lumOff val="60000"/>
                  </a:schemeClr>
                </a:solidFill>
              </a:rPr>
              <a:t>Analytical Paleobiology Workshop 2026, Erlangen, Germany  |    Wolfgang Kiessling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A42AEF-E494-4050-B971-404EFD6ACCCC}"/>
              </a:ext>
            </a:extLst>
          </p:cNvPr>
          <p:cNvSpPr/>
          <p:nvPr userDrawn="1"/>
        </p:nvSpPr>
        <p:spPr>
          <a:xfrm>
            <a:off x="0" y="10"/>
            <a:ext cx="12192000" cy="365125"/>
          </a:xfrm>
          <a:prstGeom prst="rect">
            <a:avLst/>
          </a:prstGeom>
          <a:solidFill>
            <a:srgbClr val="005F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</p:spTree>
    <p:extLst>
      <p:ext uri="{BB962C8B-B14F-4D97-AF65-F5344CB8AC3E}">
        <p14:creationId xmlns:p14="http://schemas.microsoft.com/office/powerpoint/2010/main" val="3387105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122238"/>
            <a:ext cx="10058400" cy="1295400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abellenplatzhalter 2"/>
          <p:cNvSpPr>
            <a:spLocks noGrp="1"/>
          </p:cNvSpPr>
          <p:nvPr>
            <p:ph type="tbl" idx="1"/>
          </p:nvPr>
        </p:nvSpPr>
        <p:spPr>
          <a:xfrm>
            <a:off x="609600" y="1719263"/>
            <a:ext cx="10972800" cy="4411662"/>
          </a:xfrm>
        </p:spPr>
        <p:txBody>
          <a:bodyPr/>
          <a:lstStyle/>
          <a:p>
            <a:pPr lvl="0"/>
            <a:endParaRPr lang="de-DE" noProof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85A0D0-B4CD-4B30-AF4C-2958AFF85B7E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76486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4639933-4837-4F6F-92D4-5789CC958F1A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10FBB7E5-2375-4C7F-B699-B60B943C3AA6}"/>
              </a:ext>
            </a:extLst>
          </p:cNvPr>
          <p:cNvSpPr/>
          <p:nvPr userDrawn="1"/>
        </p:nvSpPr>
        <p:spPr>
          <a:xfrm>
            <a:off x="0" y="6466432"/>
            <a:ext cx="12192000" cy="391886"/>
          </a:xfrm>
          <a:prstGeom prst="rect">
            <a:avLst/>
          </a:prstGeom>
          <a:solidFill>
            <a:srgbClr val="005F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0DCFDFDE-B350-4D66-A0C3-84DCA0DE5BB9}"/>
              </a:ext>
            </a:extLst>
          </p:cNvPr>
          <p:cNvSpPr txBox="1"/>
          <p:nvPr userDrawn="1"/>
        </p:nvSpPr>
        <p:spPr>
          <a:xfrm>
            <a:off x="93618" y="6521251"/>
            <a:ext cx="72462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chemeClr val="bg2">
                    <a:lumMod val="40000"/>
                    <a:lumOff val="60000"/>
                  </a:schemeClr>
                </a:solidFill>
              </a:rPr>
              <a:t>Analytical Paleobiology Workshop 2026, Erlangen, Germany  |    Wolfgang Kiessling 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01E12FF3-E4C1-47D8-875F-39D1E99271C8}"/>
              </a:ext>
            </a:extLst>
          </p:cNvPr>
          <p:cNvSpPr/>
          <p:nvPr userDrawn="1"/>
        </p:nvSpPr>
        <p:spPr>
          <a:xfrm>
            <a:off x="0" y="10"/>
            <a:ext cx="12192000" cy="365125"/>
          </a:xfrm>
          <a:prstGeom prst="rect">
            <a:avLst/>
          </a:prstGeom>
          <a:solidFill>
            <a:srgbClr val="005F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</p:spTree>
    <p:extLst>
      <p:ext uri="{BB962C8B-B14F-4D97-AF65-F5344CB8AC3E}">
        <p14:creationId xmlns:p14="http://schemas.microsoft.com/office/powerpoint/2010/main" val="3364788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665B7E-57A3-44CB-87EA-98CD4877BB57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04AF9D85-7D66-4357-963B-A8FCE06292D6}"/>
              </a:ext>
            </a:extLst>
          </p:cNvPr>
          <p:cNvSpPr/>
          <p:nvPr userDrawn="1"/>
        </p:nvSpPr>
        <p:spPr>
          <a:xfrm>
            <a:off x="0" y="6466432"/>
            <a:ext cx="12192000" cy="391886"/>
          </a:xfrm>
          <a:prstGeom prst="rect">
            <a:avLst/>
          </a:prstGeom>
          <a:solidFill>
            <a:srgbClr val="005F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9FE0D7C9-271A-4936-AA64-0430105A4E5F}"/>
              </a:ext>
            </a:extLst>
          </p:cNvPr>
          <p:cNvSpPr txBox="1"/>
          <p:nvPr userDrawn="1"/>
        </p:nvSpPr>
        <p:spPr>
          <a:xfrm>
            <a:off x="93618" y="6521251"/>
            <a:ext cx="72462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chemeClr val="bg2">
                    <a:lumMod val="40000"/>
                    <a:lumOff val="60000"/>
                  </a:schemeClr>
                </a:solidFill>
              </a:rPr>
              <a:t>Analytical Paleobiology Workshop 2026, Erlangen, Germany  |    Wolfgang Kiessling </a:t>
            </a:r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A2F4E47F-2118-4C4E-A11C-D54E76C91AC6}"/>
              </a:ext>
            </a:extLst>
          </p:cNvPr>
          <p:cNvSpPr/>
          <p:nvPr userDrawn="1"/>
        </p:nvSpPr>
        <p:spPr>
          <a:xfrm>
            <a:off x="0" y="10"/>
            <a:ext cx="12192000" cy="365125"/>
          </a:xfrm>
          <a:prstGeom prst="rect">
            <a:avLst/>
          </a:prstGeom>
          <a:solidFill>
            <a:srgbClr val="005F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</p:spTree>
    <p:extLst>
      <p:ext uri="{BB962C8B-B14F-4D97-AF65-F5344CB8AC3E}">
        <p14:creationId xmlns:p14="http://schemas.microsoft.com/office/powerpoint/2010/main" val="2984503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el und vier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sz="quarter"/>
          </p:nvPr>
        </p:nvSpPr>
        <p:spPr>
          <a:xfrm>
            <a:off x="609600" y="122238"/>
            <a:ext cx="10058400" cy="1295400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609600" y="1719264"/>
            <a:ext cx="5384800" cy="2128837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quarter" idx="2"/>
          </p:nvPr>
        </p:nvSpPr>
        <p:spPr>
          <a:xfrm>
            <a:off x="6197600" y="1719264"/>
            <a:ext cx="5384800" cy="2128837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3"/>
          </p:nvPr>
        </p:nvSpPr>
        <p:spPr>
          <a:xfrm>
            <a:off x="609600" y="4000501"/>
            <a:ext cx="5384800" cy="2130425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7600" y="4000501"/>
            <a:ext cx="5384800" cy="2130425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2687EC9-73C7-499F-9F07-2A08BDC887AA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17515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s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3"/>
          </p:nvPr>
        </p:nvSpPr>
        <p:spPr>
          <a:xfrm>
            <a:off x="746898" y="848497"/>
            <a:ext cx="11120516" cy="557121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540000" indent="-540000">
              <a:defRPr/>
            </a:lvl1pPr>
            <a:lvl2pPr marL="1080000" indent="-540000">
              <a:buFontTx/>
              <a:buNone/>
              <a:defRPr/>
            </a:lvl2pPr>
            <a:lvl3pPr marL="1620000" indent="-540000">
              <a:buFontTx/>
              <a:buNone/>
              <a:defRPr/>
            </a:lvl3pPr>
            <a:lvl4pPr>
              <a:buFontTx/>
              <a:buNone/>
              <a:defRPr/>
            </a:lvl4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1430846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sseite mit eigenem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3"/>
          </p:nvPr>
        </p:nvSpPr>
        <p:spPr>
          <a:xfrm>
            <a:off x="748799" y="849600"/>
            <a:ext cx="11121600" cy="55728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540000" indent="-540000">
              <a:defRPr/>
            </a:lvl1pPr>
            <a:lvl2pPr marL="1080000" indent="-540000">
              <a:buFontTx/>
              <a:buNone/>
              <a:defRPr/>
            </a:lvl2pPr>
            <a:lvl3pPr marL="1620000" indent="-540000">
              <a:buFontTx/>
              <a:buNone/>
              <a:defRPr/>
            </a:lvl3pPr>
            <a:lvl4pPr>
              <a:buFontTx/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4"/>
            <a:endParaRPr lang="de-DE" dirty="0"/>
          </a:p>
        </p:txBody>
      </p:sp>
      <p:sp>
        <p:nvSpPr>
          <p:cNvPr id="15" name="Foliennummernplatzhalter 1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759437E-DD65-47AE-A718-65B9481C0A9E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537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DDEA0-037E-4F4F-A79F-C3FA81445B52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7FF56D-03BC-854B-83B0-122A4EA8508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5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wm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w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wmf"/><Relationship Id="rId3" Type="http://schemas.openxmlformats.org/officeDocument/2006/relationships/oleObject" Target="../embeddings/oleObject2.bin"/><Relationship Id="rId7" Type="http://schemas.openxmlformats.org/officeDocument/2006/relationships/oleObject" Target="../embeddings/oleObject4.bin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w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28.wmf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paleobiodb.org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8.wmf"/><Relationship Id="rId7" Type="http://schemas.openxmlformats.org/officeDocument/2006/relationships/image" Target="../media/image20.wm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wmf"/><Relationship Id="rId5" Type="http://schemas.openxmlformats.org/officeDocument/2006/relationships/oleObject" Target="../embeddings/oleObject5.bin"/><Relationship Id="rId4" Type="http://schemas.openxmlformats.org/officeDocument/2006/relationships/image" Target="../media/image39.jpe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://www.paleobiodb.org/navigator/" TargetMode="Externa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paleobiodb.org/classic/displayDownloadGenerator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://cran.r-project.org/web/packages/paleobioDB/paleobioDB.pdf" TargetMode="External"/><Relationship Id="rId2" Type="http://schemas.openxmlformats.org/officeDocument/2006/relationships/hyperlink" Target="https://www.paleobiodb.org/data1.2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hyperlink" Target="https://cran.r-project.org/web/packages/chronosphere/index.html" TargetMode="Externa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7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5DB75-754B-F110-CC5B-FE716D3B8A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Global diversity patterns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C891C8-F0EB-0094-89AD-A7D5AF5051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Wolfgang Kiessling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FA50A3-8210-4CFE-0AFE-D64FF0A632A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Paleobiology, FAU Erlangen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6A0CBCE-D0E5-2AA7-F095-EBE12D584D9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19 August 2026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A8A8538-ABD6-5486-C697-44CE672F97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81002" y="6535999"/>
            <a:ext cx="1821656" cy="249805"/>
          </a:xfrm>
        </p:spPr>
        <p:txBody>
          <a:bodyPr/>
          <a:lstStyle/>
          <a:p>
            <a:r>
              <a:rPr lang="en-GB" dirty="0"/>
              <a:t>Wolfgang Kiessling</a:t>
            </a:r>
          </a:p>
        </p:txBody>
      </p:sp>
      <p:pic>
        <p:nvPicPr>
          <p:cNvPr id="12" name="Grafik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067" y="5643041"/>
            <a:ext cx="1519082" cy="711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060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de-DE" sz="3600" dirty="0"/>
              <a:t>Global Diversity Patterns</a:t>
            </a:r>
            <a:endParaRPr lang="en-US" altLang="de-DE" dirty="0"/>
          </a:p>
        </p:txBody>
      </p:sp>
      <p:sp>
        <p:nvSpPr>
          <p:cNvPr id="4099" name="Rectangle 3"/>
          <p:cNvSpPr>
            <a:spLocks noGrp="1" noChangeArrowheads="1"/>
          </p:cNvSpPr>
          <p:nvPr>
            <p:ph idx="1"/>
          </p:nvPr>
        </p:nvSpPr>
        <p:spPr>
          <a:xfrm>
            <a:off x="795779" y="1690688"/>
            <a:ext cx="6349738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</a:pPr>
            <a:r>
              <a:rPr lang="en-US" altLang="de-DE" sz="2800" dirty="0"/>
              <a:t>First Estimates (Phillips, 1860)</a:t>
            </a:r>
          </a:p>
          <a:p>
            <a:pPr>
              <a:lnSpc>
                <a:spcPct val="80000"/>
              </a:lnSpc>
            </a:pPr>
            <a:r>
              <a:rPr lang="en-US" altLang="de-DE" sz="2800" dirty="0"/>
              <a:t>Early Quantification of species richness based on number of publications in the Zoological Record (Valentine, Raup)</a:t>
            </a:r>
          </a:p>
          <a:p>
            <a:pPr>
              <a:lnSpc>
                <a:spcPct val="80000"/>
              </a:lnSpc>
            </a:pPr>
            <a:r>
              <a:rPr lang="en-US" altLang="de-DE" sz="2800" dirty="0"/>
              <a:t>Compilation of ranges on marine orders (Sepkoski, 1978)</a:t>
            </a:r>
          </a:p>
          <a:p>
            <a:pPr>
              <a:lnSpc>
                <a:spcPct val="80000"/>
              </a:lnSpc>
            </a:pPr>
            <a:r>
              <a:rPr lang="en-US" altLang="de-DE" sz="2800" dirty="0"/>
              <a:t>Marine families (Sepkoski, 1982, 1992)</a:t>
            </a:r>
          </a:p>
          <a:p>
            <a:pPr>
              <a:lnSpc>
                <a:spcPct val="80000"/>
              </a:lnSpc>
            </a:pPr>
            <a:r>
              <a:rPr lang="en-US" altLang="de-DE" sz="2800" dirty="0"/>
              <a:t>Marine and terrestrial families (Benton ed.,1993)</a:t>
            </a:r>
          </a:p>
          <a:p>
            <a:pPr>
              <a:lnSpc>
                <a:spcPct val="80000"/>
              </a:lnSpc>
            </a:pPr>
            <a:r>
              <a:rPr lang="en-US" altLang="de-DE" sz="2800" dirty="0"/>
              <a:t>Marine genera (Sepkoski, 2002)</a:t>
            </a:r>
          </a:p>
          <a:p>
            <a:pPr>
              <a:lnSpc>
                <a:spcPct val="80000"/>
              </a:lnSpc>
            </a:pPr>
            <a:r>
              <a:rPr lang="en-US" altLang="de-DE" sz="2800" dirty="0"/>
              <a:t>The Paleobiology Database (since 2000)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9FAE7E72-6D65-4B7F-A607-A1B7AF93CE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221" b="4208"/>
          <a:stretch>
            <a:fillRect/>
          </a:stretch>
        </p:blipFill>
        <p:spPr bwMode="auto">
          <a:xfrm>
            <a:off x="8277974" y="1027906"/>
            <a:ext cx="3281422" cy="5081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10840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9785" y="972780"/>
            <a:ext cx="7505700" cy="532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7347" name="Rectangle 3"/>
          <p:cNvSpPr>
            <a:spLocks noGrp="1" noChangeArrowheads="1"/>
          </p:cNvSpPr>
          <p:nvPr>
            <p:ph type="title"/>
          </p:nvPr>
        </p:nvSpPr>
        <p:spPr>
          <a:xfrm>
            <a:off x="1228165" y="148572"/>
            <a:ext cx="7772400" cy="1143000"/>
          </a:xfrm>
          <a:noFill/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de-DE" dirty="0"/>
              <a:t>The Three Great Evolutionary Faunas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1108639-D84E-4AA4-89CD-0AAA0B464966}"/>
              </a:ext>
            </a:extLst>
          </p:cNvPr>
          <p:cNvSpPr txBox="1"/>
          <p:nvPr/>
        </p:nvSpPr>
        <p:spPr>
          <a:xfrm>
            <a:off x="9152964" y="6145305"/>
            <a:ext cx="2350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Sepkoski (1981, Paleobiology)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58557"/>
          </a:xfrm>
        </p:spPr>
        <p:txBody>
          <a:bodyPr/>
          <a:lstStyle/>
          <a:p>
            <a:r>
              <a:rPr lang="en-US" altLang="de-DE" dirty="0"/>
              <a:t>Genus level</a:t>
            </a:r>
          </a:p>
        </p:txBody>
      </p:sp>
      <p:sp>
        <p:nvSpPr>
          <p:cNvPr id="75779" name="Textfeld 4"/>
          <p:cNvSpPr txBox="1">
            <a:spLocks noChangeArrowheads="1"/>
          </p:cNvSpPr>
          <p:nvPr/>
        </p:nvSpPr>
        <p:spPr bwMode="auto">
          <a:xfrm>
            <a:off x="9717833" y="6185098"/>
            <a:ext cx="242406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 sz="1400" dirty="0"/>
              <a:t>Sepkoski (1997, J. </a:t>
            </a:r>
            <a:r>
              <a:rPr lang="en-US" altLang="de-DE" sz="1400" dirty="0" err="1"/>
              <a:t>Paleont</a:t>
            </a:r>
            <a:r>
              <a:rPr lang="en-US" altLang="de-DE" sz="1400" dirty="0"/>
              <a:t>.)</a:t>
            </a:r>
          </a:p>
        </p:txBody>
      </p:sp>
      <p:pic>
        <p:nvPicPr>
          <p:cNvPr id="75780" name="Grafik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3908" y="1223682"/>
            <a:ext cx="7328739" cy="5045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de-DE"/>
              <a:t>Diversity Through Time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1825625"/>
            <a:ext cx="5209599" cy="4351338"/>
          </a:xfrm>
        </p:spPr>
        <p:txBody>
          <a:bodyPr/>
          <a:lstStyle/>
          <a:p>
            <a:pPr eaLnBrk="1" hangingPunct="1"/>
            <a:r>
              <a:rPr lang="en-US" altLang="de-DE" dirty="0"/>
              <a:t>Time series of biodiversity</a:t>
            </a:r>
          </a:p>
          <a:p>
            <a:pPr eaLnBrk="1" hangingPunct="1"/>
            <a:r>
              <a:rPr lang="en-US" altLang="de-DE" dirty="0"/>
              <a:t>Questions</a:t>
            </a:r>
          </a:p>
          <a:p>
            <a:pPr lvl="1" eaLnBrk="1" hangingPunct="1"/>
            <a:r>
              <a:rPr lang="en-US" altLang="de-DE" dirty="0"/>
              <a:t>How did biodiversity evolve in a region or globally?</a:t>
            </a:r>
          </a:p>
          <a:p>
            <a:pPr lvl="1" eaLnBrk="1" hangingPunct="1"/>
            <a:r>
              <a:rPr lang="en-US" altLang="de-DE" dirty="0"/>
              <a:t>Evolutionary principles</a:t>
            </a:r>
          </a:p>
          <a:p>
            <a:pPr lvl="2" eaLnBrk="1" hangingPunct="1"/>
            <a:r>
              <a:rPr lang="en-US" altLang="de-DE" dirty="0"/>
              <a:t>Are there global thresholds to biodiversity?</a:t>
            </a:r>
          </a:p>
          <a:p>
            <a:pPr lvl="1" eaLnBrk="1" hangingPunct="1"/>
            <a:r>
              <a:rPr lang="en-US" altLang="de-DE" dirty="0"/>
              <a:t>What controlled diversity changes?</a:t>
            </a:r>
          </a:p>
          <a:p>
            <a:pPr lvl="2" eaLnBrk="1" hangingPunct="1"/>
            <a:r>
              <a:rPr lang="en-US" altLang="de-DE" dirty="0"/>
              <a:t>Climate, biologic interactions, genetic factors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1717" y="1303338"/>
            <a:ext cx="5824538" cy="4873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</a:extLst>
        </p:spPr>
      </p:pic>
      <p:sp>
        <p:nvSpPr>
          <p:cNvPr id="2" name="Rechteck 1"/>
          <p:cNvSpPr/>
          <p:nvPr/>
        </p:nvSpPr>
        <p:spPr>
          <a:xfrm>
            <a:off x="9896640" y="6217197"/>
            <a:ext cx="23839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1400" dirty="0">
                <a:latin typeface="sans-serif" charset="0"/>
              </a:rPr>
              <a:t>Alroy et al. (2008, Science) 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122238"/>
            <a:ext cx="7543800" cy="1219200"/>
          </a:xfrm>
        </p:spPr>
        <p:txBody>
          <a:bodyPr/>
          <a:lstStyle/>
          <a:p>
            <a:pPr eaLnBrk="1" hangingPunct="1"/>
            <a:r>
              <a:rPr lang="en-US" altLang="de-DE"/>
              <a:t>Methods of Measuring Diversity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03462" y="1570156"/>
            <a:ext cx="8726680" cy="4441809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de-DE" sz="2500" dirty="0"/>
              <a:t>Usually above species level (genera and families)</a:t>
            </a:r>
          </a:p>
          <a:p>
            <a:pPr lvl="1" eaLnBrk="1" hangingPunct="1"/>
            <a:r>
              <a:rPr lang="en-US" altLang="de-DE" dirty="0"/>
              <a:t>Stratigraphic ranges of species usually too short for temporal resolution (e.g., geological stages)</a:t>
            </a:r>
          </a:p>
          <a:p>
            <a:pPr lvl="1" eaLnBrk="1" hangingPunct="1"/>
            <a:r>
              <a:rPr lang="en-US" altLang="de-DE" dirty="0"/>
              <a:t>Monographic effect: Many if not most species usually described in just one publication and area</a:t>
            </a:r>
          </a:p>
          <a:p>
            <a:pPr eaLnBrk="1" hangingPunct="1"/>
            <a:r>
              <a:rPr lang="en-US" altLang="de-DE" sz="2500" dirty="0"/>
              <a:t>Count only sampled taxa</a:t>
            </a:r>
          </a:p>
          <a:p>
            <a:pPr lvl="1" eaLnBrk="1" hangingPunct="1"/>
            <a:r>
              <a:rPr lang="en-US" altLang="de-DE" dirty="0"/>
              <a:t>Reasonable but what about Lazarus taxa?</a:t>
            </a:r>
          </a:p>
          <a:p>
            <a:pPr lvl="1" eaLnBrk="1" hangingPunct="1"/>
            <a:r>
              <a:rPr lang="en-US" altLang="de-DE" dirty="0"/>
              <a:t>Not possible when only ranges are available</a:t>
            </a:r>
          </a:p>
          <a:p>
            <a:pPr lvl="1" eaLnBrk="1" hangingPunct="1"/>
            <a:r>
              <a:rPr lang="en-US" altLang="de-DE" dirty="0"/>
              <a:t>Silent on dynamics</a:t>
            </a:r>
          </a:p>
          <a:p>
            <a:pPr eaLnBrk="1" hangingPunct="1"/>
            <a:r>
              <a:rPr lang="en-US" altLang="de-DE" sz="2500" dirty="0"/>
              <a:t>Infer diversity from ranges</a:t>
            </a:r>
          </a:p>
          <a:p>
            <a:pPr lvl="1" eaLnBrk="1" hangingPunct="1"/>
            <a:r>
              <a:rPr lang="en-US" altLang="de-DE" dirty="0"/>
              <a:t>Data are only present as FAD-LAD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076450" y="433389"/>
            <a:ext cx="8229600" cy="835025"/>
          </a:xfrm>
        </p:spPr>
        <p:txBody>
          <a:bodyPr/>
          <a:lstStyle/>
          <a:p>
            <a:pPr eaLnBrk="1" hangingPunct="1"/>
            <a:r>
              <a:rPr lang="en-US" altLang="de-DE"/>
              <a:t>Structure of compendia</a:t>
            </a:r>
          </a:p>
        </p:txBody>
      </p:sp>
      <p:graphicFrame>
        <p:nvGraphicFramePr>
          <p:cNvPr id="176131" name="Group 3"/>
          <p:cNvGraphicFramePr>
            <a:graphicFrameLocks noGrp="1"/>
          </p:cNvGraphicFramePr>
          <p:nvPr>
            <p:ph idx="1"/>
          </p:nvPr>
        </p:nvGraphicFramePr>
        <p:xfrm>
          <a:off x="1981200" y="2251076"/>
          <a:ext cx="8686800" cy="3662365"/>
        </p:xfrm>
        <a:graphic>
          <a:graphicData uri="http://schemas.openxmlformats.org/drawingml/2006/table">
            <a:tbl>
              <a:tblPr/>
              <a:tblGrid>
                <a:gridCol w="182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4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28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49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7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378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3225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Genus</a:t>
                      </a:r>
                    </a:p>
                  </a:txBody>
                  <a:tcPr anchor="b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Ori-P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Ori-Stg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Ext-P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Ext-Stg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Reference</a:t>
                      </a:r>
                    </a:p>
                  </a:txBody>
                  <a:tcPr anchor="b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0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Acropora</a:t>
                      </a:r>
                      <a:endParaRPr kumimoji="0" lang="en-US" sz="2000" b="0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T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(Eo-l)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-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R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*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08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Actinacis</a:t>
                      </a:r>
                      <a:endParaRPr kumimoji="0" lang="en-US" sz="2000" b="0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K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(Ceno-l)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-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T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(Mi-l-l)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(2)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Actinaraea</a:t>
                      </a:r>
                      <a:endParaRPr kumimoji="0" lang="en-US" sz="2000" b="0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J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(Sine)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-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K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(Apti)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(819,821,825,919)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Actinastraea</a:t>
                      </a:r>
                      <a:endParaRPr kumimoji="0" lang="en-US" sz="2000" b="0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Tr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(Ladi-u)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-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K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(Maes)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(817)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05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Ancliffia</a:t>
                      </a:r>
                    </a:p>
                  </a:txBody>
                  <a:tcPr anchor="b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J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(Bath)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Anodontia</a:t>
                      </a:r>
                    </a:p>
                  </a:txBody>
                  <a:tcPr anchor="b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T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(Than)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-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R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*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(705)</a:t>
                      </a:r>
                    </a:p>
                  </a:txBody>
                  <a:tcPr anchor="b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05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348" name="Text Box 64"/>
          <p:cNvSpPr txBox="1">
            <a:spLocks noChangeArrowheads="1"/>
          </p:cNvSpPr>
          <p:nvPr/>
        </p:nvSpPr>
        <p:spPr bwMode="auto">
          <a:xfrm>
            <a:off x="2343150" y="6032500"/>
            <a:ext cx="735330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de-DE" sz="1800"/>
              <a:t>Corals and bivalves from Sepkoski‘s compendium of marine animal genera (2002)</a:t>
            </a:r>
          </a:p>
        </p:txBody>
      </p:sp>
      <p:pic>
        <p:nvPicPr>
          <p:cNvPr id="12349" name="Grafik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3925" y="1"/>
            <a:ext cx="2165350" cy="2130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9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9736" y="1124745"/>
            <a:ext cx="4914900" cy="4132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Rechteck 1"/>
          <p:cNvSpPr/>
          <p:nvPr/>
        </p:nvSpPr>
        <p:spPr>
          <a:xfrm>
            <a:off x="2927648" y="5661249"/>
            <a:ext cx="691276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latin typeface="Segoe UI" panose="020B0502040204020203" pitchFamily="34" charset="0"/>
              </a:rPr>
              <a:t>Foote, M., 2000: Origination and extinction components of taxonomic diversity: general problems. </a:t>
            </a:r>
            <a:r>
              <a:rPr lang="en-US" sz="1600" i="1" dirty="0">
                <a:latin typeface="Segoe UI" panose="020B0502040204020203" pitchFamily="34" charset="0"/>
              </a:rPr>
              <a:t>Paleobiology, </a:t>
            </a:r>
            <a:r>
              <a:rPr lang="en-US" sz="1600" b="1" i="1" dirty="0">
                <a:latin typeface="Segoe UI" panose="020B0502040204020203" pitchFamily="34" charset="0"/>
              </a:rPr>
              <a:t>26 (supplement), 74-102.</a:t>
            </a:r>
          </a:p>
        </p:txBody>
      </p:sp>
    </p:spTree>
    <p:extLst>
      <p:ext uri="{BB962C8B-B14F-4D97-AF65-F5344CB8AC3E}">
        <p14:creationId xmlns:p14="http://schemas.microsoft.com/office/powerpoint/2010/main" val="179597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122238"/>
            <a:ext cx="8091488" cy="1295400"/>
          </a:xfrm>
        </p:spPr>
        <p:txBody>
          <a:bodyPr/>
          <a:lstStyle/>
          <a:p>
            <a:pPr eaLnBrk="1" hangingPunct="1"/>
            <a:r>
              <a:rPr lang="en-US" altLang="de-DE"/>
              <a:t>Measuring Diversity Through Time</a:t>
            </a:r>
          </a:p>
        </p:txBody>
      </p:sp>
      <p:sp>
        <p:nvSpPr>
          <p:cNvPr id="14339" name="Line 3"/>
          <p:cNvSpPr>
            <a:spLocks noChangeShapeType="1"/>
          </p:cNvSpPr>
          <p:nvPr/>
        </p:nvSpPr>
        <p:spPr bwMode="auto">
          <a:xfrm>
            <a:off x="2667000" y="2514600"/>
            <a:ext cx="502920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0" name="Line 4"/>
          <p:cNvSpPr>
            <a:spLocks noChangeShapeType="1"/>
          </p:cNvSpPr>
          <p:nvPr/>
        </p:nvSpPr>
        <p:spPr bwMode="auto">
          <a:xfrm>
            <a:off x="2667000" y="3048000"/>
            <a:ext cx="289560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1" name="Line 5"/>
          <p:cNvSpPr>
            <a:spLocks noChangeShapeType="1"/>
          </p:cNvSpPr>
          <p:nvPr/>
        </p:nvSpPr>
        <p:spPr bwMode="auto">
          <a:xfrm>
            <a:off x="4511676" y="4114800"/>
            <a:ext cx="115252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2" name="Line 6"/>
          <p:cNvSpPr>
            <a:spLocks noChangeShapeType="1"/>
          </p:cNvSpPr>
          <p:nvPr/>
        </p:nvSpPr>
        <p:spPr bwMode="auto">
          <a:xfrm>
            <a:off x="4114800" y="3581400"/>
            <a:ext cx="358140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3" name="Line 7"/>
          <p:cNvSpPr>
            <a:spLocks noChangeShapeType="1"/>
          </p:cNvSpPr>
          <p:nvPr/>
        </p:nvSpPr>
        <p:spPr bwMode="auto">
          <a:xfrm>
            <a:off x="3962400" y="2057400"/>
            <a:ext cx="0" cy="3276600"/>
          </a:xfrm>
          <a:prstGeom prst="line">
            <a:avLst/>
          </a:prstGeom>
          <a:noFill/>
          <a:ln w="381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4" name="Line 8"/>
          <p:cNvSpPr>
            <a:spLocks noChangeShapeType="1"/>
          </p:cNvSpPr>
          <p:nvPr/>
        </p:nvSpPr>
        <p:spPr bwMode="auto">
          <a:xfrm>
            <a:off x="6019800" y="2057400"/>
            <a:ext cx="0" cy="3276600"/>
          </a:xfrm>
          <a:prstGeom prst="line">
            <a:avLst/>
          </a:prstGeom>
          <a:noFill/>
          <a:ln w="381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5" name="Line 9"/>
          <p:cNvSpPr>
            <a:spLocks noChangeShapeType="1"/>
          </p:cNvSpPr>
          <p:nvPr/>
        </p:nvSpPr>
        <p:spPr bwMode="auto">
          <a:xfrm>
            <a:off x="2667000" y="4648200"/>
            <a:ext cx="121920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6" name="Line 10"/>
          <p:cNvSpPr>
            <a:spLocks noChangeShapeType="1"/>
          </p:cNvSpPr>
          <p:nvPr/>
        </p:nvSpPr>
        <p:spPr bwMode="auto">
          <a:xfrm>
            <a:off x="6781800" y="4648200"/>
            <a:ext cx="91440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7" name="Line 11"/>
          <p:cNvSpPr>
            <a:spLocks noChangeShapeType="1"/>
          </p:cNvSpPr>
          <p:nvPr/>
        </p:nvSpPr>
        <p:spPr bwMode="auto">
          <a:xfrm>
            <a:off x="3962400" y="4648200"/>
            <a:ext cx="2819400" cy="0"/>
          </a:xfrm>
          <a:prstGeom prst="line">
            <a:avLst/>
          </a:prstGeom>
          <a:noFill/>
          <a:ln w="5715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8" name="Text Box 12"/>
          <p:cNvSpPr txBox="1">
            <a:spLocks noChangeArrowheads="1"/>
          </p:cNvSpPr>
          <p:nvPr/>
        </p:nvSpPr>
        <p:spPr bwMode="auto">
          <a:xfrm>
            <a:off x="2117726" y="2279650"/>
            <a:ext cx="404813" cy="420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A</a:t>
            </a:r>
          </a:p>
        </p:txBody>
      </p:sp>
      <p:sp>
        <p:nvSpPr>
          <p:cNvPr id="14349" name="Text Box 13"/>
          <p:cNvSpPr txBox="1">
            <a:spLocks noChangeArrowheads="1"/>
          </p:cNvSpPr>
          <p:nvPr/>
        </p:nvSpPr>
        <p:spPr bwMode="auto">
          <a:xfrm>
            <a:off x="2117725" y="2819400"/>
            <a:ext cx="387350" cy="420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14350" name="Text Box 14"/>
          <p:cNvSpPr txBox="1">
            <a:spLocks noChangeArrowheads="1"/>
          </p:cNvSpPr>
          <p:nvPr/>
        </p:nvSpPr>
        <p:spPr bwMode="auto">
          <a:xfrm>
            <a:off x="2117725" y="3389314"/>
            <a:ext cx="387350" cy="420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14351" name="Text Box 15"/>
          <p:cNvSpPr txBox="1">
            <a:spLocks noChangeArrowheads="1"/>
          </p:cNvSpPr>
          <p:nvPr/>
        </p:nvSpPr>
        <p:spPr bwMode="auto">
          <a:xfrm>
            <a:off x="2117726" y="3922714"/>
            <a:ext cx="404813" cy="420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14352" name="Text Box 16"/>
          <p:cNvSpPr txBox="1">
            <a:spLocks noChangeArrowheads="1"/>
          </p:cNvSpPr>
          <p:nvPr/>
        </p:nvSpPr>
        <p:spPr bwMode="auto">
          <a:xfrm>
            <a:off x="2117725" y="4456114"/>
            <a:ext cx="369888" cy="420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4353" name="Text Box 17"/>
          <p:cNvSpPr txBox="1">
            <a:spLocks noChangeArrowheads="1"/>
          </p:cNvSpPr>
          <p:nvPr/>
        </p:nvSpPr>
        <p:spPr bwMode="auto">
          <a:xfrm>
            <a:off x="7832726" y="2279650"/>
            <a:ext cx="2239963" cy="420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Through ranging</a:t>
            </a:r>
          </a:p>
        </p:txBody>
      </p:sp>
      <p:sp>
        <p:nvSpPr>
          <p:cNvPr id="14354" name="Text Box 18"/>
          <p:cNvSpPr txBox="1">
            <a:spLocks noChangeArrowheads="1"/>
          </p:cNvSpPr>
          <p:nvPr/>
        </p:nvSpPr>
        <p:spPr bwMode="auto">
          <a:xfrm>
            <a:off x="7832725" y="2819400"/>
            <a:ext cx="1062038" cy="420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Extinct</a:t>
            </a:r>
          </a:p>
        </p:txBody>
      </p:sp>
      <p:sp>
        <p:nvSpPr>
          <p:cNvPr id="14355" name="Text Box 19"/>
          <p:cNvSpPr txBox="1">
            <a:spLocks noChangeArrowheads="1"/>
          </p:cNvSpPr>
          <p:nvPr/>
        </p:nvSpPr>
        <p:spPr bwMode="auto">
          <a:xfrm>
            <a:off x="7832725" y="3352800"/>
            <a:ext cx="1587500" cy="420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Originating</a:t>
            </a:r>
          </a:p>
        </p:txBody>
      </p:sp>
      <p:sp>
        <p:nvSpPr>
          <p:cNvPr id="14356" name="Text Box 20"/>
          <p:cNvSpPr txBox="1">
            <a:spLocks noChangeArrowheads="1"/>
          </p:cNvSpPr>
          <p:nvPr/>
        </p:nvSpPr>
        <p:spPr bwMode="auto">
          <a:xfrm>
            <a:off x="7832726" y="3886200"/>
            <a:ext cx="1350963" cy="420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Singleton</a:t>
            </a:r>
          </a:p>
        </p:txBody>
      </p:sp>
      <p:sp>
        <p:nvSpPr>
          <p:cNvPr id="14357" name="Text Box 21"/>
          <p:cNvSpPr txBox="1">
            <a:spLocks noChangeArrowheads="1"/>
          </p:cNvSpPr>
          <p:nvPr/>
        </p:nvSpPr>
        <p:spPr bwMode="auto">
          <a:xfrm>
            <a:off x="7832726" y="4419600"/>
            <a:ext cx="2239963" cy="420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Through ranging</a:t>
            </a:r>
          </a:p>
        </p:txBody>
      </p:sp>
      <p:sp>
        <p:nvSpPr>
          <p:cNvPr id="14358" name="AutoShape 22"/>
          <p:cNvSpPr>
            <a:spLocks noChangeArrowheads="1"/>
          </p:cNvSpPr>
          <p:nvPr/>
        </p:nvSpPr>
        <p:spPr bwMode="auto">
          <a:xfrm>
            <a:off x="4648200" y="5334000"/>
            <a:ext cx="762000" cy="1066800"/>
          </a:xfrm>
          <a:prstGeom prst="upArrow">
            <a:avLst>
              <a:gd name="adj1" fmla="val 50000"/>
              <a:gd name="adj2" fmla="val 35000"/>
            </a:avLst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de-DE"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de-DE"/>
              <a:t>Measuring Diversity</a:t>
            </a:r>
          </a:p>
        </p:txBody>
      </p:sp>
      <p:sp>
        <p:nvSpPr>
          <p:cNvPr id="16387" name="Line 3"/>
          <p:cNvSpPr>
            <a:spLocks noChangeShapeType="1"/>
          </p:cNvSpPr>
          <p:nvPr/>
        </p:nvSpPr>
        <p:spPr bwMode="auto">
          <a:xfrm>
            <a:off x="2667000" y="2232025"/>
            <a:ext cx="502920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88" name="Line 4"/>
          <p:cNvSpPr>
            <a:spLocks noChangeShapeType="1"/>
          </p:cNvSpPr>
          <p:nvPr/>
        </p:nvSpPr>
        <p:spPr bwMode="auto">
          <a:xfrm>
            <a:off x="2667001" y="2765425"/>
            <a:ext cx="184467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89" name="Line 5"/>
          <p:cNvSpPr>
            <a:spLocks noChangeShapeType="1"/>
          </p:cNvSpPr>
          <p:nvPr/>
        </p:nvSpPr>
        <p:spPr bwMode="auto">
          <a:xfrm>
            <a:off x="5303839" y="3832225"/>
            <a:ext cx="287337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0" name="Line 6"/>
          <p:cNvSpPr>
            <a:spLocks noChangeShapeType="1"/>
          </p:cNvSpPr>
          <p:nvPr/>
        </p:nvSpPr>
        <p:spPr bwMode="auto">
          <a:xfrm>
            <a:off x="5375276" y="3298825"/>
            <a:ext cx="232092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1" name="Line 7"/>
          <p:cNvSpPr>
            <a:spLocks noChangeShapeType="1"/>
          </p:cNvSpPr>
          <p:nvPr/>
        </p:nvSpPr>
        <p:spPr bwMode="auto">
          <a:xfrm>
            <a:off x="3962400" y="1774825"/>
            <a:ext cx="0" cy="3276600"/>
          </a:xfrm>
          <a:prstGeom prst="line">
            <a:avLst/>
          </a:prstGeom>
          <a:noFill/>
          <a:ln w="381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2" name="Line 8"/>
          <p:cNvSpPr>
            <a:spLocks noChangeShapeType="1"/>
          </p:cNvSpPr>
          <p:nvPr/>
        </p:nvSpPr>
        <p:spPr bwMode="auto">
          <a:xfrm>
            <a:off x="6019800" y="1774825"/>
            <a:ext cx="0" cy="3276600"/>
          </a:xfrm>
          <a:prstGeom prst="line">
            <a:avLst/>
          </a:prstGeom>
          <a:noFill/>
          <a:ln w="381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3" name="Line 9"/>
          <p:cNvSpPr>
            <a:spLocks noChangeShapeType="1"/>
          </p:cNvSpPr>
          <p:nvPr/>
        </p:nvSpPr>
        <p:spPr bwMode="auto">
          <a:xfrm>
            <a:off x="2667000" y="4365625"/>
            <a:ext cx="121920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4" name="Line 10"/>
          <p:cNvSpPr>
            <a:spLocks noChangeShapeType="1"/>
          </p:cNvSpPr>
          <p:nvPr/>
        </p:nvSpPr>
        <p:spPr bwMode="auto">
          <a:xfrm>
            <a:off x="6781800" y="4365625"/>
            <a:ext cx="91440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5" name="Line 11"/>
          <p:cNvSpPr>
            <a:spLocks noChangeShapeType="1"/>
          </p:cNvSpPr>
          <p:nvPr/>
        </p:nvSpPr>
        <p:spPr bwMode="auto">
          <a:xfrm>
            <a:off x="3962400" y="4365625"/>
            <a:ext cx="2819400" cy="0"/>
          </a:xfrm>
          <a:prstGeom prst="line">
            <a:avLst/>
          </a:prstGeom>
          <a:noFill/>
          <a:ln w="5715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6" name="Text Box 12"/>
          <p:cNvSpPr txBox="1">
            <a:spLocks noChangeArrowheads="1"/>
          </p:cNvSpPr>
          <p:nvPr/>
        </p:nvSpPr>
        <p:spPr bwMode="auto">
          <a:xfrm>
            <a:off x="2117726" y="1997075"/>
            <a:ext cx="404813" cy="420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A</a:t>
            </a:r>
          </a:p>
        </p:txBody>
      </p:sp>
      <p:sp>
        <p:nvSpPr>
          <p:cNvPr id="16397" name="Text Box 13"/>
          <p:cNvSpPr txBox="1">
            <a:spLocks noChangeArrowheads="1"/>
          </p:cNvSpPr>
          <p:nvPr/>
        </p:nvSpPr>
        <p:spPr bwMode="auto">
          <a:xfrm>
            <a:off x="2117725" y="2536825"/>
            <a:ext cx="387350" cy="420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16398" name="Text Box 14"/>
          <p:cNvSpPr txBox="1">
            <a:spLocks noChangeArrowheads="1"/>
          </p:cNvSpPr>
          <p:nvPr/>
        </p:nvSpPr>
        <p:spPr bwMode="auto">
          <a:xfrm>
            <a:off x="2117725" y="3106739"/>
            <a:ext cx="387350" cy="420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16399" name="Text Box 15"/>
          <p:cNvSpPr txBox="1">
            <a:spLocks noChangeArrowheads="1"/>
          </p:cNvSpPr>
          <p:nvPr/>
        </p:nvSpPr>
        <p:spPr bwMode="auto">
          <a:xfrm>
            <a:off x="2117726" y="3640139"/>
            <a:ext cx="404813" cy="420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16400" name="Text Box 16"/>
          <p:cNvSpPr txBox="1">
            <a:spLocks noChangeArrowheads="1"/>
          </p:cNvSpPr>
          <p:nvPr/>
        </p:nvSpPr>
        <p:spPr bwMode="auto">
          <a:xfrm>
            <a:off x="2117725" y="4173539"/>
            <a:ext cx="369888" cy="420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6401" name="Text Box 17"/>
          <p:cNvSpPr txBox="1">
            <a:spLocks noChangeArrowheads="1"/>
          </p:cNvSpPr>
          <p:nvPr/>
        </p:nvSpPr>
        <p:spPr bwMode="auto">
          <a:xfrm>
            <a:off x="7832726" y="1997075"/>
            <a:ext cx="2239963" cy="420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Through ranging</a:t>
            </a:r>
          </a:p>
        </p:txBody>
      </p:sp>
      <p:sp>
        <p:nvSpPr>
          <p:cNvPr id="16402" name="Text Box 18"/>
          <p:cNvSpPr txBox="1">
            <a:spLocks noChangeArrowheads="1"/>
          </p:cNvSpPr>
          <p:nvPr/>
        </p:nvSpPr>
        <p:spPr bwMode="auto">
          <a:xfrm>
            <a:off x="7832725" y="2536825"/>
            <a:ext cx="1062038" cy="420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Extinct</a:t>
            </a:r>
          </a:p>
        </p:txBody>
      </p:sp>
      <p:sp>
        <p:nvSpPr>
          <p:cNvPr id="16403" name="Text Box 19"/>
          <p:cNvSpPr txBox="1">
            <a:spLocks noChangeArrowheads="1"/>
          </p:cNvSpPr>
          <p:nvPr/>
        </p:nvSpPr>
        <p:spPr bwMode="auto">
          <a:xfrm>
            <a:off x="7832725" y="3070225"/>
            <a:ext cx="1587500" cy="420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Originating</a:t>
            </a:r>
          </a:p>
        </p:txBody>
      </p:sp>
      <p:sp>
        <p:nvSpPr>
          <p:cNvPr id="16404" name="Text Box 20"/>
          <p:cNvSpPr txBox="1">
            <a:spLocks noChangeArrowheads="1"/>
          </p:cNvSpPr>
          <p:nvPr/>
        </p:nvSpPr>
        <p:spPr bwMode="auto">
          <a:xfrm>
            <a:off x="7832726" y="3603625"/>
            <a:ext cx="1350963" cy="420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Singleton</a:t>
            </a:r>
          </a:p>
        </p:txBody>
      </p:sp>
      <p:sp>
        <p:nvSpPr>
          <p:cNvPr id="16405" name="Text Box 21"/>
          <p:cNvSpPr txBox="1">
            <a:spLocks noChangeArrowheads="1"/>
          </p:cNvSpPr>
          <p:nvPr/>
        </p:nvSpPr>
        <p:spPr bwMode="auto">
          <a:xfrm>
            <a:off x="7832726" y="4137025"/>
            <a:ext cx="2239963" cy="420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de-DE" sz="2400">
                <a:latin typeface="Times New Roman" panose="02020603050405020304" pitchFamily="18" charset="0"/>
              </a:rPr>
              <a:t>Through ranging</a:t>
            </a:r>
          </a:p>
        </p:txBody>
      </p:sp>
      <p:sp>
        <p:nvSpPr>
          <p:cNvPr id="16406" name="AutoShape 22"/>
          <p:cNvSpPr>
            <a:spLocks noChangeArrowheads="1"/>
          </p:cNvSpPr>
          <p:nvPr/>
        </p:nvSpPr>
        <p:spPr bwMode="auto">
          <a:xfrm>
            <a:off x="4656139" y="5084763"/>
            <a:ext cx="655637" cy="831850"/>
          </a:xfrm>
          <a:prstGeom prst="upArrow">
            <a:avLst>
              <a:gd name="adj1" fmla="val 50000"/>
              <a:gd name="adj2" fmla="val 31719"/>
            </a:avLst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de-DE" sz="1800"/>
          </a:p>
        </p:txBody>
      </p:sp>
      <p:sp>
        <p:nvSpPr>
          <p:cNvPr id="16407" name="Rectangle 23"/>
          <p:cNvSpPr>
            <a:spLocks noChangeArrowheads="1"/>
          </p:cNvSpPr>
          <p:nvPr/>
        </p:nvSpPr>
        <p:spPr bwMode="auto">
          <a:xfrm>
            <a:off x="2654300" y="2017713"/>
            <a:ext cx="349250" cy="34925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de-DE" sz="1800"/>
          </a:p>
        </p:txBody>
      </p:sp>
      <p:sp>
        <p:nvSpPr>
          <p:cNvPr id="16408" name="Rectangle 24"/>
          <p:cNvSpPr>
            <a:spLocks noChangeArrowheads="1"/>
          </p:cNvSpPr>
          <p:nvPr/>
        </p:nvSpPr>
        <p:spPr bwMode="auto">
          <a:xfrm>
            <a:off x="7389813" y="2017713"/>
            <a:ext cx="349250" cy="34925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de-DE" sz="1800"/>
          </a:p>
        </p:txBody>
      </p:sp>
      <p:sp>
        <p:nvSpPr>
          <p:cNvPr id="16409" name="Rectangle 25"/>
          <p:cNvSpPr>
            <a:spLocks noChangeArrowheads="1"/>
          </p:cNvSpPr>
          <p:nvPr/>
        </p:nvSpPr>
        <p:spPr bwMode="auto">
          <a:xfrm>
            <a:off x="5303838" y="3671888"/>
            <a:ext cx="349250" cy="34925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de-DE" sz="1800"/>
          </a:p>
        </p:txBody>
      </p:sp>
      <p:sp>
        <p:nvSpPr>
          <p:cNvPr id="16410" name="Rectangle 26"/>
          <p:cNvSpPr>
            <a:spLocks noChangeArrowheads="1"/>
          </p:cNvSpPr>
          <p:nvPr/>
        </p:nvSpPr>
        <p:spPr bwMode="auto">
          <a:xfrm>
            <a:off x="7402513" y="3133725"/>
            <a:ext cx="349250" cy="34925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de-DE" sz="1800"/>
          </a:p>
        </p:txBody>
      </p:sp>
      <p:sp>
        <p:nvSpPr>
          <p:cNvPr id="16411" name="Rectangle 27"/>
          <p:cNvSpPr>
            <a:spLocks noChangeArrowheads="1"/>
          </p:cNvSpPr>
          <p:nvPr/>
        </p:nvSpPr>
        <p:spPr bwMode="auto">
          <a:xfrm>
            <a:off x="5232400" y="3143250"/>
            <a:ext cx="349250" cy="34925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de-DE" sz="1800"/>
          </a:p>
        </p:txBody>
      </p:sp>
      <p:sp>
        <p:nvSpPr>
          <p:cNvPr id="16412" name="Rectangle 28"/>
          <p:cNvSpPr>
            <a:spLocks noChangeArrowheads="1"/>
          </p:cNvSpPr>
          <p:nvPr/>
        </p:nvSpPr>
        <p:spPr bwMode="auto">
          <a:xfrm>
            <a:off x="4367213" y="2582863"/>
            <a:ext cx="349250" cy="34925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de-DE" sz="1800"/>
          </a:p>
        </p:txBody>
      </p:sp>
      <p:sp>
        <p:nvSpPr>
          <p:cNvPr id="16413" name="Rectangle 29"/>
          <p:cNvSpPr>
            <a:spLocks noChangeArrowheads="1"/>
          </p:cNvSpPr>
          <p:nvPr/>
        </p:nvSpPr>
        <p:spPr bwMode="auto">
          <a:xfrm>
            <a:off x="2640013" y="2568575"/>
            <a:ext cx="349250" cy="34925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de-DE" sz="1800"/>
          </a:p>
        </p:txBody>
      </p:sp>
      <p:sp>
        <p:nvSpPr>
          <p:cNvPr id="16414" name="Rectangle 30"/>
          <p:cNvSpPr>
            <a:spLocks noChangeArrowheads="1"/>
          </p:cNvSpPr>
          <p:nvPr/>
        </p:nvSpPr>
        <p:spPr bwMode="auto">
          <a:xfrm>
            <a:off x="2640013" y="4195763"/>
            <a:ext cx="349250" cy="34925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de-DE" sz="1800"/>
          </a:p>
        </p:txBody>
      </p:sp>
      <p:sp>
        <p:nvSpPr>
          <p:cNvPr id="16415" name="Rectangle 31"/>
          <p:cNvSpPr>
            <a:spLocks noChangeArrowheads="1"/>
          </p:cNvSpPr>
          <p:nvPr/>
        </p:nvSpPr>
        <p:spPr bwMode="auto">
          <a:xfrm>
            <a:off x="7359650" y="4195763"/>
            <a:ext cx="349250" cy="34925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de-DE" sz="1800"/>
          </a:p>
        </p:txBody>
      </p:sp>
      <p:sp>
        <p:nvSpPr>
          <p:cNvPr id="16416" name="AutoShape 32"/>
          <p:cNvSpPr>
            <a:spLocks noChangeArrowheads="1"/>
          </p:cNvSpPr>
          <p:nvPr/>
        </p:nvSpPr>
        <p:spPr bwMode="auto">
          <a:xfrm>
            <a:off x="3648075" y="5084763"/>
            <a:ext cx="655638" cy="831850"/>
          </a:xfrm>
          <a:prstGeom prst="upArrow">
            <a:avLst>
              <a:gd name="adj1" fmla="val 50000"/>
              <a:gd name="adj2" fmla="val 31719"/>
            </a:avLst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de-DE" sz="1800"/>
          </a:p>
        </p:txBody>
      </p:sp>
      <p:sp>
        <p:nvSpPr>
          <p:cNvPr id="16417" name="Text Box 33"/>
          <p:cNvSpPr txBox="1">
            <a:spLocks noChangeArrowheads="1"/>
          </p:cNvSpPr>
          <p:nvPr/>
        </p:nvSpPr>
        <p:spPr bwMode="auto">
          <a:xfrm>
            <a:off x="3287714" y="6021388"/>
            <a:ext cx="1171575" cy="64135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de-DE" sz="1800"/>
              <a:t>Boundary crossers</a:t>
            </a:r>
          </a:p>
        </p:txBody>
      </p:sp>
      <p:sp>
        <p:nvSpPr>
          <p:cNvPr id="16418" name="Text Box 34"/>
          <p:cNvSpPr txBox="1">
            <a:spLocks noChangeArrowheads="1"/>
          </p:cNvSpPr>
          <p:nvPr/>
        </p:nvSpPr>
        <p:spPr bwMode="auto">
          <a:xfrm>
            <a:off x="4440239" y="6021388"/>
            <a:ext cx="1171575" cy="64135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de-DE" sz="1800"/>
              <a:t>Range through</a:t>
            </a:r>
          </a:p>
        </p:txBody>
      </p:sp>
      <p:sp>
        <p:nvSpPr>
          <p:cNvPr id="221219" name="Text Box 35"/>
          <p:cNvSpPr txBox="1">
            <a:spLocks noChangeArrowheads="1"/>
          </p:cNvSpPr>
          <p:nvPr/>
        </p:nvSpPr>
        <p:spPr bwMode="auto">
          <a:xfrm>
            <a:off x="6527800" y="5229225"/>
            <a:ext cx="3455988" cy="146685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de-DE" sz="1800"/>
              <a:t>Boundary crossers: 3</a:t>
            </a:r>
          </a:p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de-DE" sz="1800"/>
              <a:t>Range through: 5</a:t>
            </a:r>
          </a:p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de-DE" sz="1800"/>
              <a:t>Range through minus singletons: 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12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 sz="quarter"/>
          </p:nvPr>
        </p:nvSpPr>
        <p:spPr>
          <a:xfrm>
            <a:off x="1981200" y="122238"/>
            <a:ext cx="7931150" cy="952500"/>
          </a:xfrm>
        </p:spPr>
        <p:txBody>
          <a:bodyPr/>
          <a:lstStyle/>
          <a:p>
            <a:pPr eaLnBrk="1" hangingPunct="1"/>
            <a:r>
              <a:rPr lang="en-US" altLang="de-DE"/>
              <a:t>Measuring Diversity Through Time</a:t>
            </a:r>
          </a:p>
        </p:txBody>
      </p:sp>
      <p:graphicFrame>
        <p:nvGraphicFramePr>
          <p:cNvPr id="18435" name="Object 3"/>
          <p:cNvGraphicFramePr>
            <a:graphicFrameLocks noChangeAspect="1"/>
          </p:cNvGraphicFramePr>
          <p:nvPr/>
        </p:nvGraphicFramePr>
        <p:xfrm>
          <a:off x="2855913" y="1412876"/>
          <a:ext cx="5688012" cy="4048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orelDRAW" r:id="rId3" imgW="6348984" imgH="4236720" progId="CorelDRAW.Graphic.13">
                  <p:embed/>
                </p:oleObj>
              </mc:Choice>
              <mc:Fallback>
                <p:oleObj name="CorelDRAW" r:id="rId3" imgW="6348984" imgH="4236720" progId="CorelDRAW.Graphic.13">
                  <p:embed/>
                  <p:pic>
                    <p:nvPicPr>
                      <p:cNvPr id="1843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55913" y="1412876"/>
                        <a:ext cx="5688012" cy="4048125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2063751" y="5661026"/>
            <a:ext cx="734536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endParaRPr lang="en-US" altLang="de-DE" sz="1800"/>
          </a:p>
        </p:txBody>
      </p:sp>
      <p:sp>
        <p:nvSpPr>
          <p:cNvPr id="18437" name="Text Box 5"/>
          <p:cNvSpPr txBox="1">
            <a:spLocks noChangeArrowheads="1"/>
          </p:cNvSpPr>
          <p:nvPr/>
        </p:nvSpPr>
        <p:spPr bwMode="auto">
          <a:xfrm>
            <a:off x="2063750" y="5589588"/>
            <a:ext cx="806450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de-DE" sz="1800"/>
              <a:t>Draw Diversity Curves: SIB, range through, range through minus singletons, boundary crossers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/>
              <a:t>Problems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de-DE" sz="3200" dirty="0"/>
              <a:t>Counting bias</a:t>
            </a:r>
          </a:p>
          <a:p>
            <a:pPr lvl="1" eaLnBrk="1" hangingPunct="1"/>
            <a:r>
              <a:rPr lang="en-US" altLang="de-DE" sz="2800" dirty="0"/>
              <a:t>Edge effects</a:t>
            </a:r>
          </a:p>
          <a:p>
            <a:pPr lvl="1" eaLnBrk="1" hangingPunct="1"/>
            <a:r>
              <a:rPr lang="en-US" altLang="de-DE" sz="2800" dirty="0"/>
              <a:t>Pull of the Recent</a:t>
            </a:r>
          </a:p>
          <a:p>
            <a:pPr eaLnBrk="1" hangingPunct="1"/>
            <a:r>
              <a:rPr lang="en-US" altLang="de-DE" sz="3200" dirty="0"/>
              <a:t>Sampling bias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1" descr="Foote2000aFig7D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3870" y="1262048"/>
            <a:ext cx="7508875" cy="500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579" name="TextBox 2"/>
          <p:cNvSpPr txBox="1">
            <a:spLocks noChangeArrowheads="1"/>
          </p:cNvSpPr>
          <p:nvPr/>
        </p:nvSpPr>
        <p:spPr bwMode="auto">
          <a:xfrm>
            <a:off x="3858741" y="1589193"/>
            <a:ext cx="215956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 dirty="0"/>
              <a:t>Origination (dotted)</a:t>
            </a:r>
          </a:p>
        </p:txBody>
      </p:sp>
      <p:sp>
        <p:nvSpPr>
          <p:cNvPr id="24580" name="TextBox 3"/>
          <p:cNvSpPr txBox="1">
            <a:spLocks noChangeArrowheads="1"/>
          </p:cNvSpPr>
          <p:nvPr/>
        </p:nvSpPr>
        <p:spPr bwMode="auto">
          <a:xfrm>
            <a:off x="7405689" y="2673350"/>
            <a:ext cx="187743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/>
              <a:t>Extinction (solid)</a:t>
            </a:r>
          </a:p>
        </p:txBody>
      </p:sp>
      <p:sp>
        <p:nvSpPr>
          <p:cNvPr id="24581" name="TextBox 4"/>
          <p:cNvSpPr txBox="1">
            <a:spLocks noChangeArrowheads="1"/>
          </p:cNvSpPr>
          <p:nvPr/>
        </p:nvSpPr>
        <p:spPr bwMode="auto">
          <a:xfrm>
            <a:off x="8866907" y="6237312"/>
            <a:ext cx="150554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 dirty="0"/>
              <a:t>Foote (2000)</a:t>
            </a:r>
          </a:p>
        </p:txBody>
      </p:sp>
      <p:sp>
        <p:nvSpPr>
          <p:cNvPr id="24582" name="TextBox 5"/>
          <p:cNvSpPr txBox="1">
            <a:spLocks noChangeArrowheads="1"/>
          </p:cNvSpPr>
          <p:nvPr/>
        </p:nvSpPr>
        <p:spPr bwMode="auto">
          <a:xfrm>
            <a:off x="253067" y="106066"/>
            <a:ext cx="837120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 sz="2400" b="1" dirty="0"/>
              <a:t>One consequence of incomplete sampling: Edge effects</a:t>
            </a:r>
          </a:p>
        </p:txBody>
      </p:sp>
      <p:sp>
        <p:nvSpPr>
          <p:cNvPr id="24583" name="TextBox 6"/>
          <p:cNvSpPr txBox="1">
            <a:spLocks noChangeArrowheads="1"/>
          </p:cNvSpPr>
          <p:nvPr/>
        </p:nvSpPr>
        <p:spPr bwMode="auto">
          <a:xfrm>
            <a:off x="5850685" y="616797"/>
            <a:ext cx="5810250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 i="1" dirty="0">
                <a:solidFill>
                  <a:schemeClr val="bg1">
                    <a:lumMod val="50000"/>
                  </a:schemeClr>
                </a:solidFill>
              </a:rPr>
              <a:t>If we know (roughly) the mean taxon duration, then we</a:t>
            </a:r>
          </a:p>
          <a:p>
            <a:pPr eaLnBrk="1" hangingPunct="1"/>
            <a:r>
              <a:rPr lang="en-US" altLang="de-DE" i="1" dirty="0">
                <a:solidFill>
                  <a:schemeClr val="bg1">
                    <a:lumMod val="50000"/>
                  </a:schemeClr>
                </a:solidFill>
              </a:rPr>
              <a:t>know how far from the edge we need to go to avoid effects.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1" name="Picture 2" descr="Foote2000Fig6AB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692697"/>
            <a:ext cx="4394453" cy="5985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3" descr="Foote2000Fig6CD.jp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196752"/>
            <a:ext cx="4410912" cy="53405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533" name="TextBox 4"/>
          <p:cNvSpPr txBox="1">
            <a:spLocks noChangeArrowheads="1"/>
          </p:cNvSpPr>
          <p:nvPr/>
        </p:nvSpPr>
        <p:spPr bwMode="auto">
          <a:xfrm>
            <a:off x="3810000" y="6376989"/>
            <a:ext cx="45720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/>
              <a:t>Time (multiples of mean taxon duration)</a:t>
            </a:r>
            <a:r>
              <a:rPr lang="en-US" altLang="de-DE">
                <a:sym typeface="Wingdings" panose="05000000000000000000" pitchFamily="2" charset="2"/>
              </a:rPr>
              <a:t></a:t>
            </a:r>
            <a:endParaRPr lang="en-US" altLang="de-DE"/>
          </a:p>
        </p:txBody>
      </p:sp>
      <p:sp>
        <p:nvSpPr>
          <p:cNvPr id="22534" name="TextBox 6"/>
          <p:cNvSpPr txBox="1">
            <a:spLocks noChangeArrowheads="1"/>
          </p:cNvSpPr>
          <p:nvPr/>
        </p:nvSpPr>
        <p:spPr bwMode="auto">
          <a:xfrm>
            <a:off x="5978149" y="320675"/>
            <a:ext cx="5111191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 i="1" dirty="0">
                <a:solidFill>
                  <a:schemeClr val="bg1">
                    <a:lumMod val="50000"/>
                  </a:schemeClr>
                </a:solidFill>
              </a:rPr>
              <a:t>If we know (roughly) the mean taxon duration, then we know how far from the edge we need to go to avoid effects.</a:t>
            </a:r>
          </a:p>
        </p:txBody>
      </p:sp>
      <p:sp>
        <p:nvSpPr>
          <p:cNvPr id="22535" name="TextBox 7"/>
          <p:cNvSpPr txBox="1">
            <a:spLocks noChangeArrowheads="1"/>
          </p:cNvSpPr>
          <p:nvPr/>
        </p:nvSpPr>
        <p:spPr bwMode="auto">
          <a:xfrm>
            <a:off x="8869363" y="6488113"/>
            <a:ext cx="135966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 sz="1600" dirty="0"/>
              <a:t>Foote (2000)</a:t>
            </a:r>
          </a:p>
        </p:txBody>
      </p:sp>
      <p:sp>
        <p:nvSpPr>
          <p:cNvPr id="22530" name="TextBox 1"/>
          <p:cNvSpPr txBox="1">
            <a:spLocks noChangeArrowheads="1"/>
          </p:cNvSpPr>
          <p:nvPr/>
        </p:nvSpPr>
        <p:spPr bwMode="auto">
          <a:xfrm>
            <a:off x="616137" y="356907"/>
            <a:ext cx="201529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 sz="2400" b="1" dirty="0"/>
              <a:t>Edge effects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extBox 1"/>
          <p:cNvSpPr txBox="1">
            <a:spLocks noChangeArrowheads="1"/>
          </p:cNvSpPr>
          <p:nvPr/>
        </p:nvSpPr>
        <p:spPr bwMode="auto">
          <a:xfrm>
            <a:off x="1827026" y="463568"/>
            <a:ext cx="725936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 dirty="0"/>
              <a:t>Another kind of edge effect: (nearly) complete sampling in the Recent</a:t>
            </a:r>
          </a:p>
          <a:p>
            <a:pPr eaLnBrk="1" hangingPunct="1"/>
            <a:r>
              <a:rPr lang="en-US" altLang="de-DE" dirty="0"/>
              <a:t>(part of what Raup [1979] referred to as "</a:t>
            </a:r>
            <a:r>
              <a:rPr lang="en-US" altLang="de-DE" b="1" dirty="0"/>
              <a:t>The Pull of the Recent</a:t>
            </a:r>
            <a:r>
              <a:rPr lang="en-US" altLang="de-DE" dirty="0"/>
              <a:t>”</a:t>
            </a:r>
          </a:p>
        </p:txBody>
      </p:sp>
      <p:pic>
        <p:nvPicPr>
          <p:cNvPr id="27651" name="Picture 2" descr="Foote2000aFig8-9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504951"/>
            <a:ext cx="9144000" cy="2994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652" name="TextBox 3"/>
          <p:cNvSpPr txBox="1">
            <a:spLocks noChangeArrowheads="1"/>
          </p:cNvSpPr>
          <p:nvPr/>
        </p:nvSpPr>
        <p:spPr bwMode="auto">
          <a:xfrm>
            <a:off x="7299325" y="2071688"/>
            <a:ext cx="215956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/>
              <a:t>Origination (dotted)</a:t>
            </a:r>
          </a:p>
        </p:txBody>
      </p:sp>
      <p:sp>
        <p:nvSpPr>
          <p:cNvPr id="27653" name="TextBox 4"/>
          <p:cNvSpPr txBox="1">
            <a:spLocks noChangeArrowheads="1"/>
          </p:cNvSpPr>
          <p:nvPr/>
        </p:nvSpPr>
        <p:spPr bwMode="auto">
          <a:xfrm>
            <a:off x="8369301" y="2927350"/>
            <a:ext cx="187743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/>
              <a:t>Extinction (solid)</a:t>
            </a:r>
          </a:p>
        </p:txBody>
      </p:sp>
      <p:sp>
        <p:nvSpPr>
          <p:cNvPr id="6" name="TextBox 4"/>
          <p:cNvSpPr txBox="1">
            <a:spLocks noChangeArrowheads="1"/>
          </p:cNvSpPr>
          <p:nvPr/>
        </p:nvSpPr>
        <p:spPr bwMode="auto">
          <a:xfrm>
            <a:off x="9010343" y="6125253"/>
            <a:ext cx="150554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 dirty="0"/>
              <a:t>Foote (2000)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de-DE"/>
              <a:t>Diversity Dynamics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de-DE" dirty="0"/>
              <a:t>Rates of diversity change</a:t>
            </a:r>
          </a:p>
          <a:p>
            <a:pPr eaLnBrk="1" hangingPunct="1"/>
            <a:r>
              <a:rPr lang="en-US" altLang="de-DE" dirty="0"/>
              <a:t>Extinction rate</a:t>
            </a:r>
          </a:p>
          <a:p>
            <a:pPr eaLnBrk="1" hangingPunct="1"/>
            <a:r>
              <a:rPr lang="en-US" altLang="de-DE" dirty="0"/>
              <a:t>Origination rate</a:t>
            </a:r>
          </a:p>
          <a:p>
            <a:pPr eaLnBrk="1" hangingPunct="1"/>
            <a:r>
              <a:rPr lang="en-US" altLang="de-DE" dirty="0"/>
              <a:t>Turnover rate</a:t>
            </a:r>
          </a:p>
          <a:p>
            <a:pPr lvl="1" eaLnBrk="1" hangingPunct="1"/>
            <a:r>
              <a:rPr lang="en-US" altLang="de-DE" dirty="0"/>
              <a:t>Extinction + Origination</a:t>
            </a:r>
          </a:p>
          <a:p>
            <a:pPr eaLnBrk="1" hangingPunct="1"/>
            <a:r>
              <a:rPr lang="en-US" altLang="de-DE" dirty="0"/>
              <a:t>Diversification rate</a:t>
            </a:r>
          </a:p>
          <a:p>
            <a:pPr lvl="1" eaLnBrk="1" hangingPunct="1"/>
            <a:r>
              <a:rPr lang="en-US" altLang="de-DE" dirty="0"/>
              <a:t>Origination – Extinction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de-DE" dirty="0"/>
              <a:t>A note on rates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1825625"/>
            <a:ext cx="5543450" cy="435133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de-DE" dirty="0"/>
              <a:t>Rates are usually reported as: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de-DE" dirty="0"/>
              <a:t>Numbers (e.g. species per lineage-million years)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de-DE" dirty="0"/>
              <a:t>Percentages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de-DE" dirty="0"/>
              <a:t>Decay rates (Foote rates, two timer rates etc.)</a:t>
            </a:r>
          </a:p>
          <a:p>
            <a:r>
              <a:rPr lang="en-US" altLang="de-DE" dirty="0"/>
              <a:t>Problem</a:t>
            </a:r>
          </a:p>
          <a:p>
            <a:pPr lvl="1"/>
            <a:r>
              <a:rPr lang="en-US" altLang="de-DE" dirty="0"/>
              <a:t>“Rates” are often reported without time in the denominator</a:t>
            </a:r>
          </a:p>
          <a:p>
            <a:pPr lvl="1"/>
            <a:r>
              <a:rPr lang="en-US" altLang="de-DE" dirty="0"/>
              <a:t>This is (strictly speaking) </a:t>
            </a:r>
            <a:r>
              <a:rPr lang="en-US" altLang="de-DE" b="1" dirty="0"/>
              <a:t>not rates</a:t>
            </a:r>
          </a:p>
          <a:p>
            <a:pPr lvl="1" eaLnBrk="1" hangingPunct="1">
              <a:lnSpc>
                <a:spcPct val="90000"/>
              </a:lnSpc>
            </a:pPr>
            <a:endParaRPr lang="en-US" altLang="de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4B9470-7AF0-4F28-AA7C-49BABDC1F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6659" y="794830"/>
            <a:ext cx="4660900" cy="5199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Text Box 4">
            <a:extLst>
              <a:ext uri="{FF2B5EF4-FFF2-40B4-BE49-F238E27FC236}">
                <a16:creationId xmlns:a16="http://schemas.microsoft.com/office/drawing/2014/main" id="{52AB41A5-6427-4733-B584-D708E7A1CE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61646" y="6176963"/>
            <a:ext cx="1196975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de-DE" altLang="de-DE" sz="1400" dirty="0"/>
              <a:t>Foote (2005)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de-DE"/>
              <a:t>Rates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de-DE" sz="2500" dirty="0"/>
              <a:t>Problem with percentages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de-DE" dirty="0"/>
              <a:t>Usually bound between 0 and 1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de-DE" dirty="0"/>
              <a:t>Origination Rates can be &gt; 1 (with BC) but not extinction rates </a:t>
            </a:r>
            <a:r>
              <a:rPr lang="en-US" altLang="de-DE" dirty="0">
                <a:sym typeface="Wingdings" panose="05000000000000000000" pitchFamily="2" charset="2"/>
              </a:rPr>
              <a:t> asymmetric treatment</a:t>
            </a:r>
            <a:endParaRPr lang="en-US" altLang="de-DE" dirty="0"/>
          </a:p>
          <a:p>
            <a:pPr lvl="1" eaLnBrk="1" hangingPunct="1">
              <a:lnSpc>
                <a:spcPct val="80000"/>
              </a:lnSpc>
            </a:pPr>
            <a:r>
              <a:rPr lang="en-US" altLang="de-DE" dirty="0"/>
              <a:t>Problems with very high rates</a:t>
            </a:r>
          </a:p>
          <a:p>
            <a:pPr eaLnBrk="1" hangingPunct="1">
              <a:lnSpc>
                <a:spcPct val="80000"/>
              </a:lnSpc>
            </a:pPr>
            <a:r>
              <a:rPr lang="en-US" altLang="de-DE" sz="2500" dirty="0"/>
              <a:t>Foote Metrics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de-DE" dirty="0"/>
              <a:t>E = -ln [</a:t>
            </a:r>
            <a:r>
              <a:rPr lang="en-US" altLang="de-DE" dirty="0" err="1"/>
              <a:t>N</a:t>
            </a:r>
            <a:r>
              <a:rPr lang="en-US" altLang="de-DE" baseline="-25000" dirty="0" err="1"/>
              <a:t>bt</a:t>
            </a:r>
            <a:r>
              <a:rPr lang="en-US" altLang="de-DE" dirty="0"/>
              <a:t>/(</a:t>
            </a:r>
            <a:r>
              <a:rPr lang="en-US" altLang="de-DE" dirty="0" err="1"/>
              <a:t>N</a:t>
            </a:r>
            <a:r>
              <a:rPr lang="en-US" altLang="de-DE" baseline="-25000" dirty="0" err="1"/>
              <a:t>bL</a:t>
            </a:r>
            <a:r>
              <a:rPr lang="en-US" altLang="de-DE" dirty="0"/>
              <a:t> + </a:t>
            </a:r>
            <a:r>
              <a:rPr lang="en-US" altLang="de-DE" dirty="0" err="1"/>
              <a:t>N</a:t>
            </a:r>
            <a:r>
              <a:rPr lang="en-US" altLang="de-DE" baseline="-25000" dirty="0" err="1"/>
              <a:t>bt</a:t>
            </a:r>
            <a:r>
              <a:rPr lang="en-US" altLang="de-DE" dirty="0"/>
              <a:t>)] 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de-DE" dirty="0"/>
              <a:t>O = -ln [</a:t>
            </a:r>
            <a:r>
              <a:rPr lang="en-US" altLang="de-DE" dirty="0" err="1"/>
              <a:t>N</a:t>
            </a:r>
            <a:r>
              <a:rPr lang="en-US" altLang="de-DE" baseline="-25000" dirty="0" err="1"/>
              <a:t>bt</a:t>
            </a:r>
            <a:r>
              <a:rPr lang="en-US" altLang="de-DE" dirty="0"/>
              <a:t>/(</a:t>
            </a:r>
            <a:r>
              <a:rPr lang="en-US" altLang="de-DE" dirty="0" err="1"/>
              <a:t>N</a:t>
            </a:r>
            <a:r>
              <a:rPr lang="en-US" altLang="de-DE" baseline="-25000" dirty="0" err="1"/>
              <a:t>Ft</a:t>
            </a:r>
            <a:r>
              <a:rPr lang="en-US" altLang="de-DE" dirty="0"/>
              <a:t> + </a:t>
            </a:r>
            <a:r>
              <a:rPr lang="en-US" altLang="de-DE" dirty="0" err="1"/>
              <a:t>N</a:t>
            </a:r>
            <a:r>
              <a:rPr lang="en-US" altLang="de-DE" baseline="-25000" dirty="0" err="1"/>
              <a:t>bt</a:t>
            </a:r>
            <a:r>
              <a:rPr lang="en-US" altLang="de-DE" dirty="0"/>
              <a:t>)] 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de-DE" dirty="0" err="1"/>
              <a:t>N</a:t>
            </a:r>
            <a:r>
              <a:rPr lang="en-US" altLang="de-DE" baseline="-25000" dirty="0" err="1"/>
              <a:t>bt</a:t>
            </a:r>
            <a:r>
              <a:rPr lang="en-US" altLang="de-DE" baseline="-25000" dirty="0"/>
              <a:t> </a:t>
            </a:r>
            <a:r>
              <a:rPr lang="en-US" altLang="de-DE" dirty="0"/>
              <a:t>= Number of taxa known before and after an interval; </a:t>
            </a:r>
            <a:r>
              <a:rPr lang="en-US" altLang="de-DE" dirty="0" err="1"/>
              <a:t>N</a:t>
            </a:r>
            <a:r>
              <a:rPr lang="en-US" altLang="de-DE" baseline="-25000" dirty="0" err="1"/>
              <a:t>bL</a:t>
            </a:r>
            <a:r>
              <a:rPr lang="en-US" altLang="de-DE" dirty="0"/>
              <a:t> = Number of taxa ranging into an interval but not after; </a:t>
            </a:r>
            <a:r>
              <a:rPr lang="en-US" altLang="de-DE" dirty="0" err="1"/>
              <a:t>N</a:t>
            </a:r>
            <a:r>
              <a:rPr lang="en-US" altLang="de-DE" baseline="-25000" dirty="0" err="1"/>
              <a:t>Ft</a:t>
            </a:r>
            <a:r>
              <a:rPr lang="en-US" altLang="de-DE" dirty="0"/>
              <a:t> = Number of Taxa first known from an interval and after</a:t>
            </a:r>
          </a:p>
        </p:txBody>
      </p:sp>
      <p:sp>
        <p:nvSpPr>
          <p:cNvPr id="39940" name="Text Box 4"/>
          <p:cNvSpPr txBox="1">
            <a:spLocks noChangeArrowheads="1"/>
          </p:cNvSpPr>
          <p:nvPr/>
        </p:nvSpPr>
        <p:spPr bwMode="auto">
          <a:xfrm>
            <a:off x="2474914" y="6137275"/>
            <a:ext cx="1912937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de-DE" altLang="de-DE" sz="1600"/>
              <a:t>Foote (2000, 2003)</a:t>
            </a:r>
          </a:p>
        </p:txBody>
      </p:sp>
    </p:spTree>
    <p:extLst>
      <p:ext uri="{BB962C8B-B14F-4D97-AF65-F5344CB8AC3E}">
        <p14:creationId xmlns:p14="http://schemas.microsoft.com/office/powerpoint/2010/main" val="41141703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082" name="Picture 1" descr="rtrough1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3400" y="0"/>
            <a:ext cx="8089132" cy="6471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083" name="TextBox 2"/>
          <p:cNvSpPr txBox="1">
            <a:spLocks noChangeArrowheads="1"/>
          </p:cNvSpPr>
          <p:nvPr/>
        </p:nvSpPr>
        <p:spPr bwMode="auto">
          <a:xfrm>
            <a:off x="3519489" y="333375"/>
            <a:ext cx="573330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/>
              <a:t>Effect of short-lived decrease in sampling/preservation</a:t>
            </a:r>
          </a:p>
        </p:txBody>
      </p:sp>
    </p:spTree>
    <p:extLst>
      <p:ext uri="{BB962C8B-B14F-4D97-AF65-F5344CB8AC3E}">
        <p14:creationId xmlns:p14="http://schemas.microsoft.com/office/powerpoint/2010/main" val="20846907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106" name="Picture 1" descr="rtrough1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2190425" y="431800"/>
            <a:ext cx="8048625" cy="643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7107" name="TextBox 4"/>
          <p:cNvSpPr txBox="1">
            <a:spLocks noChangeArrowheads="1"/>
          </p:cNvSpPr>
          <p:nvPr/>
        </p:nvSpPr>
        <p:spPr bwMode="auto">
          <a:xfrm>
            <a:off x="5592764" y="6153150"/>
            <a:ext cx="97917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/>
              <a:t>Time </a:t>
            </a:r>
            <a:r>
              <a:rPr lang="en-US" altLang="de-DE">
                <a:sym typeface="Wingdings" panose="05000000000000000000" pitchFamily="2" charset="2"/>
              </a:rPr>
              <a:t></a:t>
            </a:r>
            <a:endParaRPr lang="en-US" altLang="de-DE"/>
          </a:p>
        </p:txBody>
      </p:sp>
      <p:sp>
        <p:nvSpPr>
          <p:cNvPr id="6" name="Rectangle 5"/>
          <p:cNvSpPr/>
          <p:nvPr/>
        </p:nvSpPr>
        <p:spPr>
          <a:xfrm>
            <a:off x="4718051" y="160338"/>
            <a:ext cx="2822575" cy="27146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47109" name="TextBox 6"/>
          <p:cNvSpPr txBox="1">
            <a:spLocks noChangeArrowheads="1"/>
          </p:cNvSpPr>
          <p:nvPr/>
        </p:nvSpPr>
        <p:spPr bwMode="auto">
          <a:xfrm>
            <a:off x="215856" y="371165"/>
            <a:ext cx="450219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 dirty="0"/>
              <a:t>Corresponding effect of sampling </a:t>
            </a:r>
            <a:r>
              <a:rPr lang="en-US" altLang="de-DE" i="1" dirty="0"/>
              <a:t>increase</a:t>
            </a:r>
          </a:p>
        </p:txBody>
      </p:sp>
    </p:spTree>
    <p:extLst>
      <p:ext uri="{BB962C8B-B14F-4D97-AF65-F5344CB8AC3E}">
        <p14:creationId xmlns:p14="http://schemas.microsoft.com/office/powerpoint/2010/main" val="14629300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2"/>
          <p:cNvSpPr>
            <a:spLocks noGrp="1" noChangeArrowheads="1"/>
          </p:cNvSpPr>
          <p:nvPr>
            <p:ph type="title"/>
          </p:nvPr>
        </p:nvSpPr>
        <p:spPr>
          <a:xfrm>
            <a:off x="2928821" y="425342"/>
            <a:ext cx="7772400" cy="621660"/>
          </a:xfrm>
        </p:spPr>
        <p:txBody>
          <a:bodyPr/>
          <a:lstStyle/>
          <a:p>
            <a:r>
              <a:rPr lang="en-US" altLang="de-DE" sz="3600" dirty="0"/>
              <a:t>The Signor-Lipps Effect</a:t>
            </a:r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1450" y="1132393"/>
            <a:ext cx="4679066" cy="525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084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/>
          <p:cNvSpPr>
            <a:spLocks noGrp="1"/>
          </p:cNvSpPr>
          <p:nvPr>
            <p:ph sz="quarter" idx="4294967295"/>
          </p:nvPr>
        </p:nvSpPr>
        <p:spPr>
          <a:xfrm>
            <a:off x="1069975" y="847725"/>
            <a:ext cx="11122025" cy="5572125"/>
          </a:xfrm>
        </p:spPr>
        <p:txBody>
          <a:bodyPr/>
          <a:lstStyle/>
          <a:p>
            <a:pPr marL="0" indent="0">
              <a:buNone/>
            </a:pPr>
            <a:r>
              <a:rPr lang="en-US" sz="3600" dirty="0"/>
              <a:t>The K-T (K-Pg) debate</a:t>
            </a:r>
            <a:endParaRPr lang="de-DE" sz="3600" dirty="0"/>
          </a:p>
        </p:txBody>
      </p:sp>
      <p:sp>
        <p:nvSpPr>
          <p:cNvPr id="3" name="Textfeld 2"/>
          <p:cNvSpPr txBox="1"/>
          <p:nvPr/>
        </p:nvSpPr>
        <p:spPr>
          <a:xfrm>
            <a:off x="637037" y="1461223"/>
            <a:ext cx="578483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1980	Publication of Impact Hypothesis by Alvarez et al. in Science </a:t>
            </a:r>
          </a:p>
          <a:p>
            <a:pPr marL="895350" indent="-895350" defTabSz="895350">
              <a:tabLst>
                <a:tab pos="895350" algn="l"/>
              </a:tabLst>
            </a:pPr>
            <a:r>
              <a:rPr lang="en-US" dirty="0"/>
              <a:t>1980-	Strong criticism by paleontologists arguing that the extinction was too gradual to comply with a sudden extinction</a:t>
            </a:r>
          </a:p>
          <a:p>
            <a:pPr marL="895350" indent="-895350" defTabSz="895350">
              <a:buAutoNum type="arabicPlain" startAt="1982"/>
              <a:tabLst>
                <a:tab pos="895350" algn="l"/>
              </a:tabLst>
            </a:pPr>
            <a:r>
              <a:rPr lang="en-US" dirty="0"/>
              <a:t>Publication of </a:t>
            </a:r>
            <a:r>
              <a:rPr lang="en-US" b="1" dirty="0"/>
              <a:t>Signor &amp; Lipps</a:t>
            </a:r>
            <a:r>
              <a:rPr lang="en-US" dirty="0"/>
              <a:t>: “Sampling bias, gradual extinction patterns, and catastrophes in the fossil record”</a:t>
            </a:r>
          </a:p>
          <a:p>
            <a:pPr defTabSz="895350">
              <a:tabLst>
                <a:tab pos="895350" algn="l"/>
              </a:tabLst>
            </a:pPr>
            <a:r>
              <a:rPr lang="en-US" dirty="0"/>
              <a:t>1986	Sloan et al. on the gradual extinction of dinosaurs</a:t>
            </a:r>
          </a:p>
          <a:p>
            <a:pPr marL="901700" indent="-901700" defTabSz="895350">
              <a:tabLst>
                <a:tab pos="895350" algn="l"/>
              </a:tabLst>
            </a:pPr>
            <a:r>
              <a:rPr lang="en-US" dirty="0"/>
              <a:t>1989	Strauss &amp; Sadler (1989): Confidence intervals on stratigraphic ranges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6960" y="1042294"/>
            <a:ext cx="4654644" cy="36358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feld 5"/>
          <p:cNvSpPr txBox="1"/>
          <p:nvPr/>
        </p:nvSpPr>
        <p:spPr>
          <a:xfrm>
            <a:off x="9195961" y="4877543"/>
            <a:ext cx="251953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Insufficient sampling results in artificial range truncations and thereby the appearance of a gradual extinction</a:t>
            </a:r>
          </a:p>
        </p:txBody>
      </p:sp>
    </p:spTree>
    <p:extLst>
      <p:ext uri="{BB962C8B-B14F-4D97-AF65-F5344CB8AC3E}">
        <p14:creationId xmlns:p14="http://schemas.microsoft.com/office/powerpoint/2010/main" val="37865407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30" name="Picture 1" descr="qspike1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3022" y="144440"/>
            <a:ext cx="8065378" cy="64523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8131" name="TextBox 2"/>
          <p:cNvSpPr txBox="1">
            <a:spLocks noChangeArrowheads="1"/>
          </p:cNvSpPr>
          <p:nvPr/>
        </p:nvSpPr>
        <p:spPr bwMode="auto">
          <a:xfrm>
            <a:off x="1738058" y="333375"/>
            <a:ext cx="91142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 sz="2400" dirty="0"/>
              <a:t>“Signor-Lipps effect” (backward-smearing of true extinction event)</a:t>
            </a:r>
          </a:p>
        </p:txBody>
      </p:sp>
    </p:spTree>
    <p:extLst>
      <p:ext uri="{BB962C8B-B14F-4D97-AF65-F5344CB8AC3E}">
        <p14:creationId xmlns:p14="http://schemas.microsoft.com/office/powerpoint/2010/main" val="37551695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de-DE"/>
              <a:t>Exercise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de-DE" sz="2600" dirty="0"/>
              <a:t>Given are 200 taxa ranging through an interval of time (</a:t>
            </a:r>
            <a:r>
              <a:rPr lang="en-US" altLang="de-DE" sz="2600" dirty="0" err="1"/>
              <a:t>N</a:t>
            </a:r>
            <a:r>
              <a:rPr lang="en-US" altLang="de-DE" sz="2600" baseline="-25000" dirty="0" err="1"/>
              <a:t>bt</a:t>
            </a:r>
            <a:r>
              <a:rPr lang="en-US" altLang="de-DE" sz="2600" dirty="0"/>
              <a:t>)</a:t>
            </a:r>
          </a:p>
          <a:p>
            <a:pPr eaLnBrk="1" hangingPunct="1">
              <a:lnSpc>
                <a:spcPct val="80000"/>
              </a:lnSpc>
            </a:pPr>
            <a:r>
              <a:rPr lang="en-US" altLang="de-DE" sz="2600" dirty="0"/>
              <a:t>The number of taxa going extinct with the interval varies from 50 to 800, originations range from 50 to 1500</a:t>
            </a:r>
          </a:p>
          <a:p>
            <a:pPr eaLnBrk="1" hangingPunct="1">
              <a:lnSpc>
                <a:spcPct val="80000"/>
              </a:lnSpc>
            </a:pPr>
            <a:r>
              <a:rPr lang="en-US" altLang="de-DE" sz="2600" dirty="0"/>
              <a:t>Calculate extinction, origination (turnover and diversification) rates based on percentages and Foote rates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de-DE" sz="2200" dirty="0"/>
              <a:t>How do the rates compare?</a:t>
            </a:r>
          </a:p>
          <a:p>
            <a:pPr eaLnBrk="1" hangingPunct="1">
              <a:lnSpc>
                <a:spcPct val="80000"/>
              </a:lnSpc>
            </a:pPr>
            <a:endParaRPr lang="en-US" altLang="de-DE" sz="2600" dirty="0"/>
          </a:p>
        </p:txBody>
      </p:sp>
      <p:sp>
        <p:nvSpPr>
          <p:cNvPr id="41988" name="Text Box 4"/>
          <p:cNvSpPr txBox="1">
            <a:spLocks noChangeArrowheads="1"/>
          </p:cNvSpPr>
          <p:nvPr/>
        </p:nvSpPr>
        <p:spPr bwMode="auto">
          <a:xfrm>
            <a:off x="2208214" y="5949950"/>
            <a:ext cx="640873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de-DE" sz="2400" b="1" dirty="0"/>
              <a:t>File: FooteMetrics.xlsx</a:t>
            </a:r>
          </a:p>
        </p:txBody>
      </p:sp>
    </p:spTree>
    <p:extLst>
      <p:ext uri="{BB962C8B-B14F-4D97-AF65-F5344CB8AC3E}">
        <p14:creationId xmlns:p14="http://schemas.microsoft.com/office/powerpoint/2010/main" val="21852157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4"/>
          <p:cNvSpPr>
            <a:spLocks noGrp="1" noChangeArrowheads="1"/>
          </p:cNvSpPr>
          <p:nvPr>
            <p:ph type="title"/>
          </p:nvPr>
        </p:nvSpPr>
        <p:spPr>
          <a:xfrm>
            <a:off x="1981200" y="122238"/>
            <a:ext cx="7543800" cy="1003300"/>
          </a:xfrm>
        </p:spPr>
        <p:txBody>
          <a:bodyPr/>
          <a:lstStyle/>
          <a:p>
            <a:pPr eaLnBrk="1" hangingPunct="1"/>
            <a:r>
              <a:rPr lang="en-US" altLang="de-DE" sz="3200"/>
              <a:t>Phanerozoic Marine Animal Diversity</a:t>
            </a:r>
          </a:p>
        </p:txBody>
      </p:sp>
      <p:pic>
        <p:nvPicPr>
          <p:cNvPr id="50179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1226" y="845517"/>
            <a:ext cx="6442958" cy="5615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0180" name="Text Box 6"/>
          <p:cNvSpPr txBox="1">
            <a:spLocks noChangeArrowheads="1"/>
          </p:cNvSpPr>
          <p:nvPr/>
        </p:nvSpPr>
        <p:spPr bwMode="auto">
          <a:xfrm>
            <a:off x="2634520" y="845517"/>
            <a:ext cx="39766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de-DE" sz="1800" dirty="0"/>
              <a:t>Exponential post-Paleozoic rise?</a:t>
            </a:r>
          </a:p>
        </p:txBody>
      </p:sp>
      <p:sp>
        <p:nvSpPr>
          <p:cNvPr id="50181" name="Text Box 7"/>
          <p:cNvSpPr txBox="1">
            <a:spLocks noChangeArrowheads="1"/>
          </p:cNvSpPr>
          <p:nvPr/>
        </p:nvSpPr>
        <p:spPr bwMode="auto">
          <a:xfrm>
            <a:off x="8637552" y="6199535"/>
            <a:ext cx="3457575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de-DE" sz="1400" dirty="0"/>
              <a:t>Data from Sepkoski (2002, Bull. Am. Pal.)</a:t>
            </a:r>
          </a:p>
        </p:txBody>
      </p:sp>
    </p:spTree>
    <p:extLst>
      <p:ext uri="{BB962C8B-B14F-4D97-AF65-F5344CB8AC3E}">
        <p14:creationId xmlns:p14="http://schemas.microsoft.com/office/powerpoint/2010/main" val="19700532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de-DE"/>
              <a:t>Analyzing Sepkoski‘s Compendium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de-DE" sz="2600" dirty="0" err="1"/>
              <a:t>Sepkoski</a:t>
            </a:r>
            <a:r>
              <a:rPr lang="en-US" altLang="de-DE" sz="2600" dirty="0"/>
              <a:t>, J.J., Jr. 2002. A compendium of fossil marine animal genera. – Bulletins of American Paleontology </a:t>
            </a:r>
            <a:r>
              <a:rPr lang="en-US" altLang="de-DE" sz="2600" b="1" dirty="0"/>
              <a:t>363</a:t>
            </a:r>
            <a:r>
              <a:rPr lang="en-US" altLang="de-DE" sz="2600" dirty="0"/>
              <a:t>: 1-563.</a:t>
            </a:r>
          </a:p>
          <a:p>
            <a:pPr eaLnBrk="1" hangingPunct="1">
              <a:lnSpc>
                <a:spcPct val="80000"/>
              </a:lnSpc>
            </a:pPr>
            <a:r>
              <a:rPr lang="en-US" altLang="de-DE" sz="2600" dirty="0"/>
              <a:t>Global diversity of marine animals (and protozoa) in 77 geological stages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de-DE" sz="2200" dirty="0"/>
              <a:t>Script </a:t>
            </a:r>
            <a:r>
              <a:rPr lang="en-US" altLang="de-DE" sz="2200" dirty="0" err="1"/>
              <a:t>Sepkoski.R</a:t>
            </a:r>
            <a:endParaRPr lang="en-US" altLang="de-DE" sz="2200" dirty="0"/>
          </a:p>
          <a:p>
            <a:pPr lvl="1" eaLnBrk="1" hangingPunct="1">
              <a:lnSpc>
                <a:spcPct val="80000"/>
              </a:lnSpc>
            </a:pPr>
            <a:r>
              <a:rPr lang="en-US" altLang="de-DE" sz="2200" dirty="0"/>
              <a:t>Range data in Gen_link2.csv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de-DE" sz="2200" dirty="0"/>
              <a:t>Stratigraphic data in Stage_sepk.csv</a:t>
            </a:r>
          </a:p>
          <a:p>
            <a:pPr eaLnBrk="1" hangingPunct="1">
              <a:lnSpc>
                <a:spcPct val="80000"/>
              </a:lnSpc>
            </a:pPr>
            <a:r>
              <a:rPr lang="en-US" altLang="de-DE" sz="2600" dirty="0"/>
              <a:t>Draw a diversity curve</a:t>
            </a:r>
          </a:p>
          <a:p>
            <a:pPr eaLnBrk="1" hangingPunct="1">
              <a:lnSpc>
                <a:spcPct val="80000"/>
              </a:lnSpc>
            </a:pPr>
            <a:r>
              <a:rPr lang="en-US" altLang="de-DE" sz="2600" dirty="0"/>
              <a:t>Compare results among counting methods (range-through with and without singletons, boundary crossers) </a:t>
            </a:r>
          </a:p>
          <a:p>
            <a:pPr eaLnBrk="1" hangingPunct="1">
              <a:lnSpc>
                <a:spcPct val="80000"/>
              </a:lnSpc>
            </a:pPr>
            <a:r>
              <a:rPr lang="en-US" altLang="de-DE" sz="2600" dirty="0"/>
              <a:t>Compare different taxa (corals and bivalves)</a:t>
            </a:r>
          </a:p>
        </p:txBody>
      </p:sp>
    </p:spTree>
    <p:extLst>
      <p:ext uri="{BB962C8B-B14F-4D97-AF65-F5344CB8AC3E}">
        <p14:creationId xmlns:p14="http://schemas.microsoft.com/office/powerpoint/2010/main" val="4091301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de-DE"/>
              <a:t>Sampling effects on diversity dynamics</a:t>
            </a:r>
          </a:p>
        </p:txBody>
      </p:sp>
      <p:sp>
        <p:nvSpPr>
          <p:cNvPr id="45059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de-DE" dirty="0"/>
              <a:t>Changes in sampling (aka preservation) may lead to effects that mimic evolutionary events</a:t>
            </a:r>
          </a:p>
          <a:p>
            <a:r>
              <a:rPr lang="en-US" altLang="de-DE" dirty="0"/>
              <a:t>Sampling needs to be considered (but couldn’t prior to the advent of the Paleobiology Database)</a:t>
            </a:r>
          </a:p>
        </p:txBody>
      </p:sp>
    </p:spTree>
    <p:extLst>
      <p:ext uri="{BB962C8B-B14F-4D97-AF65-F5344CB8AC3E}">
        <p14:creationId xmlns:p14="http://schemas.microsoft.com/office/powerpoint/2010/main" val="23534417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/>
          <p:cNvPicPr>
            <a:picLocks noChangeAspect="1"/>
          </p:cNvPicPr>
          <p:nvPr/>
        </p:nvPicPr>
        <p:blipFill rotWithShape="1">
          <a:blip r:embed="rId2"/>
          <a:srcRect r="16667" b="18520"/>
          <a:stretch/>
        </p:blipFill>
        <p:spPr>
          <a:xfrm>
            <a:off x="647651" y="1104048"/>
            <a:ext cx="7272808" cy="533339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DDF6BDB2-5A73-40E7-9B3A-5A64F2BDA9B4}"/>
              </a:ext>
            </a:extLst>
          </p:cNvPr>
          <p:cNvSpPr txBox="1"/>
          <p:nvPr/>
        </p:nvSpPr>
        <p:spPr>
          <a:xfrm>
            <a:off x="2459596" y="590917"/>
            <a:ext cx="6429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Raw Foote extinction rates across the Phanerozoic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9A8E201-A72F-4CE6-B541-6950ECF8F504}"/>
              </a:ext>
            </a:extLst>
          </p:cNvPr>
          <p:cNvSpPr txBox="1"/>
          <p:nvPr/>
        </p:nvSpPr>
        <p:spPr>
          <a:xfrm>
            <a:off x="7867212" y="1630724"/>
            <a:ext cx="3779801" cy="14773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Exercises: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Do a plot of origination rates for all taxa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Plot diversity of bivalves and brachiopods in one graph</a:t>
            </a:r>
          </a:p>
        </p:txBody>
      </p:sp>
    </p:spTree>
    <p:extLst>
      <p:ext uri="{BB962C8B-B14F-4D97-AF65-F5344CB8AC3E}">
        <p14:creationId xmlns:p14="http://schemas.microsoft.com/office/powerpoint/2010/main" val="22039308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4580037E-8E58-4123-8F05-96DB31791FD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0447" b="21658"/>
          <a:stretch/>
        </p:blipFill>
        <p:spPr>
          <a:xfrm>
            <a:off x="1437467" y="215390"/>
            <a:ext cx="8213848" cy="604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3271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A28F2D73-DCBC-4650-96E5-88C9D0DE99B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9970" b="20130"/>
          <a:stretch/>
        </p:blipFill>
        <p:spPr>
          <a:xfrm>
            <a:off x="1627248" y="724484"/>
            <a:ext cx="7249334" cy="5409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7043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A6175238-A898-4E5F-B731-C00DBF421DB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9208" b="20639"/>
          <a:stretch/>
        </p:blipFill>
        <p:spPr>
          <a:xfrm>
            <a:off x="1825656" y="465556"/>
            <a:ext cx="7318346" cy="5374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1466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9785" y="972780"/>
            <a:ext cx="7505700" cy="532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7347" name="Rectangle 3"/>
          <p:cNvSpPr>
            <a:spLocks noGrp="1" noChangeArrowheads="1"/>
          </p:cNvSpPr>
          <p:nvPr>
            <p:ph type="title"/>
          </p:nvPr>
        </p:nvSpPr>
        <p:spPr>
          <a:xfrm>
            <a:off x="1228165" y="148572"/>
            <a:ext cx="7772400" cy="1143000"/>
          </a:xfrm>
          <a:noFill/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de-DE" dirty="0"/>
              <a:t>The Three Great Evolutionary Faunas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1108639-D84E-4AA4-89CD-0AAA0B464966}"/>
              </a:ext>
            </a:extLst>
          </p:cNvPr>
          <p:cNvSpPr txBox="1"/>
          <p:nvPr/>
        </p:nvSpPr>
        <p:spPr>
          <a:xfrm>
            <a:off x="9152964" y="6145305"/>
            <a:ext cx="2350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Sepkoski (1981, Paleobiology)</a:t>
            </a:r>
          </a:p>
        </p:txBody>
      </p:sp>
    </p:spTree>
    <p:extLst>
      <p:ext uri="{BB962C8B-B14F-4D97-AF65-F5344CB8AC3E}">
        <p14:creationId xmlns:p14="http://schemas.microsoft.com/office/powerpoint/2010/main" val="36760973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06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4679" y="35340"/>
            <a:ext cx="4445000" cy="6553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1683" name="Text Box 3"/>
          <p:cNvSpPr txBox="1">
            <a:spLocks noChangeArrowheads="1"/>
          </p:cNvSpPr>
          <p:nvPr/>
        </p:nvSpPr>
        <p:spPr bwMode="auto">
          <a:xfrm>
            <a:off x="521943" y="580197"/>
            <a:ext cx="5472457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de-DE" sz="2400" dirty="0">
                <a:latin typeface="Times New Roman" panose="02020603050405020304" pitchFamily="18" charset="0"/>
              </a:rPr>
              <a:t>No a priori assumption on biological properties. Faunas only defined by common fate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de-DE" sz="2400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de-DE" sz="2400" dirty="0">
                <a:latin typeface="Times New Roman" panose="02020603050405020304" pitchFamily="18" charset="0"/>
              </a:rPr>
              <a:t>Competitive replacement or shared response to mass extinctions? </a:t>
            </a:r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id="{6A99308E-0015-4FC6-8941-FC76AA6E0659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11209683" y="3867012"/>
            <a:ext cx="15240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de-DE" sz="1600" dirty="0">
                <a:latin typeface="Times New Roman" panose="02020603050405020304" pitchFamily="18" charset="0"/>
              </a:rPr>
              <a:t>Sepkoski (1981)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/>
          <p:cNvSpPr>
            <a:spLocks noGrp="1" noChangeArrowheads="1"/>
          </p:cNvSpPr>
          <p:nvPr>
            <p:ph type="title"/>
          </p:nvPr>
        </p:nvSpPr>
        <p:spPr>
          <a:xfrm>
            <a:off x="588549" y="-37618"/>
            <a:ext cx="7239000" cy="1143001"/>
          </a:xfrm>
          <a:noFill/>
        </p:spPr>
        <p:txBody>
          <a:bodyPr/>
          <a:lstStyle/>
          <a:p>
            <a:pPr eaLnBrk="1" hangingPunct="1"/>
            <a:r>
              <a:rPr lang="en-US" altLang="de-DE" sz="3000" b="1" dirty="0"/>
              <a:t>Clade Diagrams</a:t>
            </a:r>
          </a:p>
        </p:txBody>
      </p:sp>
      <p:sp>
        <p:nvSpPr>
          <p:cNvPr id="67587" name="Text Box 3"/>
          <p:cNvSpPr txBox="1">
            <a:spLocks noChangeArrowheads="1"/>
          </p:cNvSpPr>
          <p:nvPr/>
        </p:nvSpPr>
        <p:spPr bwMode="auto">
          <a:xfrm>
            <a:off x="2958548" y="843861"/>
            <a:ext cx="678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de-DE" sz="2400">
              <a:latin typeface="Times New Roman" panose="02020603050405020304" pitchFamily="18" charset="0"/>
            </a:endParaRPr>
          </a:p>
        </p:txBody>
      </p:sp>
      <p:pic>
        <p:nvPicPr>
          <p:cNvPr id="67588" name="Picture 4" descr="Clade diagram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7241" y="1267792"/>
            <a:ext cx="7975600" cy="551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7589" name="Text Box 5"/>
          <p:cNvSpPr txBox="1">
            <a:spLocks noChangeArrowheads="1"/>
          </p:cNvSpPr>
          <p:nvPr/>
        </p:nvSpPr>
        <p:spPr bwMode="auto">
          <a:xfrm rot="-5400000">
            <a:off x="10891492" y="4180647"/>
            <a:ext cx="15240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de-DE" sz="1600" dirty="0">
                <a:latin typeface="Times New Roman" panose="02020603050405020304" pitchFamily="18" charset="0"/>
              </a:rPr>
              <a:t>Sepkoski (1981)</a:t>
            </a:r>
          </a:p>
        </p:txBody>
      </p:sp>
      <p:sp>
        <p:nvSpPr>
          <p:cNvPr id="67590" name="Text Box 6"/>
          <p:cNvSpPr txBox="1">
            <a:spLocks noChangeArrowheads="1"/>
          </p:cNvSpPr>
          <p:nvPr/>
        </p:nvSpPr>
        <p:spPr bwMode="auto">
          <a:xfrm>
            <a:off x="2351089" y="836613"/>
            <a:ext cx="727392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de-DE" sz="1800"/>
              <a:t>Number of families within classes through time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de-DE" dirty="0"/>
              <a:t>Factor Analysis</a:t>
            </a:r>
          </a:p>
        </p:txBody>
      </p:sp>
      <p:sp>
        <p:nvSpPr>
          <p:cNvPr id="696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89589" y="1847769"/>
            <a:ext cx="4762856" cy="4411662"/>
          </a:xfrm>
        </p:spPr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</a:pPr>
            <a:r>
              <a:rPr lang="en-US" altLang="de-DE" sz="2400" dirty="0"/>
              <a:t>Sepkoski (1981): Correlation of diversity patterns among clades</a:t>
            </a:r>
          </a:p>
          <a:p>
            <a:pPr eaLnBrk="1" hangingPunct="1">
              <a:lnSpc>
                <a:spcPct val="80000"/>
              </a:lnSpc>
            </a:pPr>
            <a:r>
              <a:rPr lang="en-US" altLang="de-DE" sz="2400" dirty="0"/>
              <a:t>Extraction of factors (latent variables) to explain as much of total variance as possible 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de-DE" sz="2000" dirty="0"/>
              <a:t>Three factors explain &gt; 90% of variance</a:t>
            </a:r>
          </a:p>
          <a:p>
            <a:pPr eaLnBrk="1" hangingPunct="1">
              <a:lnSpc>
                <a:spcPct val="80000"/>
              </a:lnSpc>
            </a:pPr>
            <a:r>
              <a:rPr lang="en-US" altLang="de-DE" sz="2400" dirty="0"/>
              <a:t>Cumulative diversity curves of families that share respective factor loadings give trajectories of the three great evolutionary faunas</a:t>
            </a:r>
          </a:p>
        </p:txBody>
      </p:sp>
      <p:pic>
        <p:nvPicPr>
          <p:cNvPr id="69636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1476" y="1268413"/>
            <a:ext cx="3705225" cy="541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de-DE"/>
              <a:t>Exercise</a:t>
            </a:r>
          </a:p>
        </p:txBody>
      </p:sp>
      <p:sp>
        <p:nvSpPr>
          <p:cNvPr id="73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de-DE" dirty="0"/>
              <a:t>Can the three great evolutionary faunas also be observed at the genus level?</a:t>
            </a:r>
          </a:p>
          <a:p>
            <a:pPr eaLnBrk="1" hangingPunct="1">
              <a:lnSpc>
                <a:spcPct val="90000"/>
              </a:lnSpc>
            </a:pPr>
            <a:r>
              <a:rPr lang="en-US" altLang="de-DE" dirty="0"/>
              <a:t>Principal components of genera in 15 important classes of marine animals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de-DE" dirty="0"/>
              <a:t>Factor loadings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de-DE" dirty="0"/>
              <a:t>Which classes belong to which evolutionary fauna?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de-DE" dirty="0"/>
              <a:t>Are there systematic differences in rates among the evolutionary faunas?</a:t>
            </a:r>
          </a:p>
        </p:txBody>
      </p:sp>
      <p:sp>
        <p:nvSpPr>
          <p:cNvPr id="73732" name="Text Box 4"/>
          <p:cNvSpPr txBox="1">
            <a:spLocks noChangeArrowheads="1"/>
          </p:cNvSpPr>
          <p:nvPr/>
        </p:nvSpPr>
        <p:spPr bwMode="auto">
          <a:xfrm>
            <a:off x="4164946" y="6040438"/>
            <a:ext cx="232634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de-DE" sz="1800" dirty="0" err="1"/>
              <a:t>ThreeFaunas_new.R</a:t>
            </a:r>
            <a:endParaRPr lang="en-US" altLang="de-DE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58557"/>
          </a:xfrm>
        </p:spPr>
        <p:txBody>
          <a:bodyPr/>
          <a:lstStyle/>
          <a:p>
            <a:r>
              <a:rPr lang="en-US" altLang="de-DE" dirty="0"/>
              <a:t>Sepkoski’s own analysis</a:t>
            </a:r>
          </a:p>
        </p:txBody>
      </p:sp>
      <p:sp>
        <p:nvSpPr>
          <p:cNvPr id="75779" name="Textfeld 4"/>
          <p:cNvSpPr txBox="1">
            <a:spLocks noChangeArrowheads="1"/>
          </p:cNvSpPr>
          <p:nvPr/>
        </p:nvSpPr>
        <p:spPr bwMode="auto">
          <a:xfrm>
            <a:off x="9717833" y="6185098"/>
            <a:ext cx="242406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 sz="1400" dirty="0"/>
              <a:t>Sepkoski (1997, J. </a:t>
            </a:r>
            <a:r>
              <a:rPr lang="en-US" altLang="de-DE" sz="1400" dirty="0" err="1"/>
              <a:t>Paleont</a:t>
            </a:r>
            <a:r>
              <a:rPr lang="en-US" altLang="de-DE" sz="1400" dirty="0"/>
              <a:t>.)</a:t>
            </a:r>
          </a:p>
        </p:txBody>
      </p:sp>
      <p:pic>
        <p:nvPicPr>
          <p:cNvPr id="75780" name="Grafik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3908" y="1223682"/>
            <a:ext cx="7328739" cy="5045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046421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standardization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The non-linear but always positive relationship between sampling and biodiversity imposes profound issues in reconstructing diversity dynamics</a:t>
            </a:r>
          </a:p>
          <a:p>
            <a:r>
              <a:rPr lang="en-US" sz="2400" dirty="0"/>
              <a:t>We’ve learned how to deal with this issue when comparing community-level data</a:t>
            </a:r>
          </a:p>
          <a:p>
            <a:pPr lvl="1"/>
            <a:r>
              <a:rPr lang="en-US" sz="2000" dirty="0"/>
              <a:t>Rarefaction (fixed quota)</a:t>
            </a:r>
          </a:p>
          <a:p>
            <a:pPr lvl="1"/>
            <a:r>
              <a:rPr lang="en-US" sz="2000" dirty="0"/>
              <a:t>Shareholder quorum subsampling (fixed coverage)</a:t>
            </a:r>
          </a:p>
          <a:p>
            <a:r>
              <a:rPr lang="en-US" sz="2400" dirty="0"/>
              <a:t>But how do we apply sampling standardization on biodiversity dynamics over time?</a:t>
            </a:r>
          </a:p>
          <a:p>
            <a:pPr lvl="1"/>
            <a:r>
              <a:rPr lang="en-US" sz="2000" dirty="0"/>
              <a:t>Combine subsampling with range analyses</a:t>
            </a:r>
          </a:p>
        </p:txBody>
      </p:sp>
    </p:spTree>
    <p:extLst>
      <p:ext uri="{BB962C8B-B14F-4D97-AF65-F5344CB8AC3E}">
        <p14:creationId xmlns:p14="http://schemas.microsoft.com/office/powerpoint/2010/main" val="42142888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224088" y="317501"/>
            <a:ext cx="7758112" cy="777875"/>
          </a:xfrm>
        </p:spPr>
        <p:txBody>
          <a:bodyPr/>
          <a:lstStyle/>
          <a:p>
            <a:pPr eaLnBrk="1" hangingPunct="1"/>
            <a:r>
              <a:rPr lang="en-US" altLang="en-US"/>
              <a:t>Subsampling</a:t>
            </a:r>
          </a:p>
        </p:txBody>
      </p:sp>
      <p:sp>
        <p:nvSpPr>
          <p:cNvPr id="9219" name="Text Box 3"/>
          <p:cNvSpPr txBox="1">
            <a:spLocks noChangeArrowheads="1"/>
          </p:cNvSpPr>
          <p:nvPr/>
        </p:nvSpPr>
        <p:spPr bwMode="auto">
          <a:xfrm>
            <a:off x="2424114" y="1125538"/>
            <a:ext cx="7102475" cy="7571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en-US" altLang="en-US" sz="2400" dirty="0">
                <a:latin typeface="+mn-lt"/>
              </a:rPr>
              <a:t>As before, but now within time series and drawing occurrences instead of specimens</a:t>
            </a:r>
          </a:p>
        </p:txBody>
      </p:sp>
      <p:graphicFrame>
        <p:nvGraphicFramePr>
          <p:cNvPr id="9220" name="Object 4"/>
          <p:cNvGraphicFramePr>
            <a:graphicFrameLocks noChangeAspect="1"/>
          </p:cNvGraphicFramePr>
          <p:nvPr/>
        </p:nvGraphicFramePr>
        <p:xfrm>
          <a:off x="5486401" y="1989138"/>
          <a:ext cx="2308225" cy="322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orelDRAW" r:id="rId3" imgW="2305050" imgH="3228975" progId="CorelDRAW.Graphic.9">
                  <p:embed/>
                </p:oleObj>
              </mc:Choice>
              <mc:Fallback>
                <p:oleObj name="CorelDRAW" r:id="rId3" imgW="2305050" imgH="3228975" progId="CorelDRAW.Graphic.9">
                  <p:embed/>
                  <p:pic>
                    <p:nvPicPr>
                      <p:cNvPr id="922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86401" y="1989138"/>
                        <a:ext cx="2308225" cy="322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1" name="Object 5"/>
          <p:cNvGraphicFramePr>
            <a:graphicFrameLocks noChangeAspect="1"/>
          </p:cNvGraphicFramePr>
          <p:nvPr/>
        </p:nvGraphicFramePr>
        <p:xfrm>
          <a:off x="8077201" y="1989139"/>
          <a:ext cx="2308225" cy="3197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orelDRAW" r:id="rId5" imgW="2305050" imgH="3200400" progId="CorelDRAW.Graphic.9">
                  <p:embed/>
                </p:oleObj>
              </mc:Choice>
              <mc:Fallback>
                <p:oleObj name="CorelDRAW" r:id="rId5" imgW="2305050" imgH="3200400" progId="CorelDRAW.Graphic.9">
                  <p:embed/>
                  <p:pic>
                    <p:nvPicPr>
                      <p:cNvPr id="922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77201" y="1989139"/>
                        <a:ext cx="2308225" cy="3197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6390" name="Group 6"/>
          <p:cNvGrpSpPr>
            <a:grpSpLocks/>
          </p:cNvGrpSpPr>
          <p:nvPr/>
        </p:nvGrpSpPr>
        <p:grpSpPr bwMode="auto">
          <a:xfrm>
            <a:off x="3359150" y="5265733"/>
            <a:ext cx="6153150" cy="425449"/>
            <a:chOff x="1248" y="3456"/>
            <a:chExt cx="3876" cy="268"/>
          </a:xfrm>
        </p:grpSpPr>
        <p:sp>
          <p:nvSpPr>
            <p:cNvPr id="9230" name="Text Box 7"/>
            <p:cNvSpPr txBox="1">
              <a:spLocks noChangeArrowheads="1"/>
            </p:cNvSpPr>
            <p:nvPr/>
          </p:nvSpPr>
          <p:spPr bwMode="auto">
            <a:xfrm>
              <a:off x="1248" y="3456"/>
              <a:ext cx="564" cy="2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anose="05000000000000000000" pitchFamily="2" charset="2"/>
                <a:buChar char="l"/>
                <a:defRPr sz="3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l"/>
                <a:defRPr sz="26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anose="05000000000000000000" pitchFamily="2" charset="2"/>
                <a:buChar char="l"/>
                <a:defRPr sz="23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2"/>
                </a:buClr>
                <a:buSzPct val="75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90000"/>
                </a:lnSpc>
                <a:buClrTx/>
                <a:buSzTx/>
                <a:buFontTx/>
                <a:buNone/>
              </a:pPr>
              <a:r>
                <a:rPr lang="en-US" altLang="en-US" sz="2400">
                  <a:latin typeface="+mn-lt"/>
                </a:rPr>
                <a:t>2 or 3</a:t>
              </a:r>
            </a:p>
          </p:txBody>
        </p:sp>
        <p:sp>
          <p:nvSpPr>
            <p:cNvPr id="9231" name="Text Box 8"/>
            <p:cNvSpPr txBox="1">
              <a:spLocks noChangeArrowheads="1"/>
            </p:cNvSpPr>
            <p:nvPr/>
          </p:nvSpPr>
          <p:spPr bwMode="auto">
            <a:xfrm>
              <a:off x="2880" y="3456"/>
              <a:ext cx="890" cy="26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anose="05000000000000000000" pitchFamily="2" charset="2"/>
                <a:buChar char="l"/>
                <a:defRPr sz="3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l"/>
                <a:defRPr sz="26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anose="05000000000000000000" pitchFamily="2" charset="2"/>
                <a:buChar char="l"/>
                <a:defRPr sz="23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2"/>
                </a:buClr>
                <a:buSzPct val="75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90000"/>
                </a:lnSpc>
                <a:buClrTx/>
                <a:buSzTx/>
                <a:buFontTx/>
                <a:buNone/>
              </a:pPr>
              <a:r>
                <a:rPr lang="en-US" altLang="en-US" sz="2400">
                  <a:latin typeface="+mn-lt"/>
                </a:rPr>
                <a:t>Perhaps 2</a:t>
              </a:r>
            </a:p>
          </p:txBody>
        </p:sp>
        <p:sp>
          <p:nvSpPr>
            <p:cNvPr id="9232" name="Text Box 9"/>
            <p:cNvSpPr txBox="1">
              <a:spLocks noChangeArrowheads="1"/>
            </p:cNvSpPr>
            <p:nvPr/>
          </p:nvSpPr>
          <p:spPr bwMode="auto">
            <a:xfrm>
              <a:off x="4512" y="3456"/>
              <a:ext cx="612" cy="2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anose="05000000000000000000" pitchFamily="2" charset="2"/>
                <a:buChar char="l"/>
                <a:defRPr sz="3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l"/>
                <a:defRPr sz="26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anose="05000000000000000000" pitchFamily="2" charset="2"/>
                <a:buChar char="l"/>
                <a:defRPr sz="23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2"/>
                </a:buClr>
                <a:buSzPct val="75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90000"/>
                </a:lnSpc>
                <a:buClrTx/>
                <a:buSzTx/>
                <a:buFontTx/>
                <a:buNone/>
              </a:pPr>
              <a:r>
                <a:rPr lang="en-US" altLang="en-US" sz="2400">
                  <a:latin typeface="+mn-lt"/>
                </a:rPr>
                <a:t>Sure 2</a:t>
              </a:r>
            </a:p>
          </p:txBody>
        </p:sp>
      </p:grpSp>
      <p:grpSp>
        <p:nvGrpSpPr>
          <p:cNvPr id="16394" name="Group 10"/>
          <p:cNvGrpSpPr>
            <a:grpSpLocks/>
          </p:cNvGrpSpPr>
          <p:nvPr/>
        </p:nvGrpSpPr>
        <p:grpSpPr bwMode="auto">
          <a:xfrm>
            <a:off x="1524000" y="5722932"/>
            <a:ext cx="7959725" cy="425449"/>
            <a:chOff x="0" y="3744"/>
            <a:chExt cx="5014" cy="268"/>
          </a:xfrm>
        </p:grpSpPr>
        <p:sp>
          <p:nvSpPr>
            <p:cNvPr id="9226" name="Text Box 11"/>
            <p:cNvSpPr txBox="1">
              <a:spLocks noChangeArrowheads="1"/>
            </p:cNvSpPr>
            <p:nvPr/>
          </p:nvSpPr>
          <p:spPr bwMode="auto">
            <a:xfrm>
              <a:off x="1344" y="3744"/>
              <a:ext cx="456" cy="26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anose="05000000000000000000" pitchFamily="2" charset="2"/>
                <a:buChar char="l"/>
                <a:defRPr sz="3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l"/>
                <a:defRPr sz="26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anose="05000000000000000000" pitchFamily="2" charset="2"/>
                <a:buChar char="l"/>
                <a:defRPr sz="23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2"/>
                </a:buClr>
                <a:buSzPct val="75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90000"/>
                </a:lnSpc>
                <a:buClrTx/>
                <a:buSzTx/>
                <a:buFontTx/>
                <a:buNone/>
              </a:pPr>
              <a:r>
                <a:rPr lang="en-US" altLang="en-US" sz="2400" dirty="0">
                  <a:latin typeface="+mn-lt"/>
                </a:rPr>
                <a:t>2.23</a:t>
              </a:r>
            </a:p>
          </p:txBody>
        </p:sp>
        <p:sp>
          <p:nvSpPr>
            <p:cNvPr id="9227" name="Text Box 12"/>
            <p:cNvSpPr txBox="1">
              <a:spLocks noChangeArrowheads="1"/>
            </p:cNvSpPr>
            <p:nvPr/>
          </p:nvSpPr>
          <p:spPr bwMode="auto">
            <a:xfrm>
              <a:off x="2880" y="3744"/>
              <a:ext cx="456" cy="26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anose="05000000000000000000" pitchFamily="2" charset="2"/>
                <a:buChar char="l"/>
                <a:defRPr sz="3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l"/>
                <a:defRPr sz="26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anose="05000000000000000000" pitchFamily="2" charset="2"/>
                <a:buChar char="l"/>
                <a:defRPr sz="23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2"/>
                </a:buClr>
                <a:buSzPct val="75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90000"/>
                </a:lnSpc>
                <a:buClrTx/>
                <a:buSzTx/>
                <a:buFontTx/>
                <a:buNone/>
              </a:pPr>
              <a:r>
                <a:rPr lang="en-US" altLang="en-US" sz="2400" dirty="0">
                  <a:latin typeface="+mn-lt"/>
                </a:rPr>
                <a:t>1.89</a:t>
              </a:r>
            </a:p>
          </p:txBody>
        </p:sp>
        <p:sp>
          <p:nvSpPr>
            <p:cNvPr id="9228" name="Text Box 13"/>
            <p:cNvSpPr txBox="1">
              <a:spLocks noChangeArrowheads="1"/>
            </p:cNvSpPr>
            <p:nvPr/>
          </p:nvSpPr>
          <p:spPr bwMode="auto">
            <a:xfrm>
              <a:off x="4800" y="3744"/>
              <a:ext cx="214" cy="26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anose="05000000000000000000" pitchFamily="2" charset="2"/>
                <a:buChar char="l"/>
                <a:defRPr sz="3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l"/>
                <a:defRPr sz="26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anose="05000000000000000000" pitchFamily="2" charset="2"/>
                <a:buChar char="l"/>
                <a:defRPr sz="23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2"/>
                </a:buClr>
                <a:buSzPct val="75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90000"/>
                </a:lnSpc>
                <a:buClrTx/>
                <a:buSzTx/>
                <a:buFontTx/>
                <a:buNone/>
              </a:pPr>
              <a:r>
                <a:rPr lang="en-US" altLang="en-US" sz="2400">
                  <a:latin typeface="+mn-lt"/>
                </a:rPr>
                <a:t>2</a:t>
              </a:r>
            </a:p>
          </p:txBody>
        </p:sp>
        <p:sp>
          <p:nvSpPr>
            <p:cNvPr id="9229" name="Text Box 14"/>
            <p:cNvSpPr txBox="1">
              <a:spLocks noChangeArrowheads="1"/>
            </p:cNvSpPr>
            <p:nvPr/>
          </p:nvSpPr>
          <p:spPr bwMode="auto">
            <a:xfrm>
              <a:off x="0" y="3744"/>
              <a:ext cx="1282" cy="2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anose="05000000000000000000" pitchFamily="2" charset="2"/>
                <a:buChar char="l"/>
                <a:defRPr sz="3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l"/>
                <a:defRPr sz="26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anose="05000000000000000000" pitchFamily="2" charset="2"/>
                <a:buChar char="l"/>
                <a:defRPr sz="23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2"/>
                </a:buClr>
                <a:buSzPct val="75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90000"/>
                </a:lnSpc>
                <a:buClrTx/>
                <a:buSzTx/>
                <a:buFontTx/>
                <a:buNone/>
              </a:pPr>
              <a:r>
                <a:rPr lang="en-US" altLang="en-US" sz="2400" dirty="0">
                  <a:latin typeface="+mn-lt"/>
                </a:rPr>
                <a:t>Rarefaction (3)</a:t>
              </a:r>
            </a:p>
          </p:txBody>
        </p:sp>
      </p:grpSp>
      <p:graphicFrame>
        <p:nvGraphicFramePr>
          <p:cNvPr id="9224" name="Object 15"/>
          <p:cNvGraphicFramePr>
            <a:graphicFrameLocks noChangeAspect="1"/>
          </p:cNvGraphicFramePr>
          <p:nvPr/>
        </p:nvGraphicFramePr>
        <p:xfrm>
          <a:off x="2971801" y="1912939"/>
          <a:ext cx="2308225" cy="3284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orelDRAW" r:id="rId7" imgW="2305050" imgH="3286125" progId="CorelDRAW.Graphic.9">
                  <p:embed/>
                </p:oleObj>
              </mc:Choice>
              <mc:Fallback>
                <p:oleObj name="CorelDRAW" r:id="rId7" imgW="2305050" imgH="3286125" progId="CorelDRAW.Graphic.9">
                  <p:embed/>
                  <p:pic>
                    <p:nvPicPr>
                      <p:cNvPr id="9224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71801" y="1912939"/>
                        <a:ext cx="2308225" cy="3284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5" name="Text Box 16"/>
          <p:cNvSpPr txBox="1">
            <a:spLocks noChangeArrowheads="1"/>
          </p:cNvSpPr>
          <p:nvPr/>
        </p:nvSpPr>
        <p:spPr bwMode="auto">
          <a:xfrm>
            <a:off x="2097264" y="6143619"/>
            <a:ext cx="821686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This approach sufficient for sampled-in-bin (SIB) diversity, but silent on turnover</a:t>
            </a:r>
          </a:p>
        </p:txBody>
      </p:sp>
    </p:spTree>
    <p:extLst>
      <p:ext uri="{BB962C8B-B14F-4D97-AF65-F5344CB8AC3E}">
        <p14:creationId xmlns:p14="http://schemas.microsoft.com/office/powerpoint/2010/main" val="1683097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72400" cy="914400"/>
          </a:xfrm>
        </p:spPr>
        <p:txBody>
          <a:bodyPr/>
          <a:lstStyle/>
          <a:p>
            <a:pPr eaLnBrk="1" hangingPunct="1"/>
            <a:r>
              <a:rPr lang="de-DE" altLang="en-US" dirty="0" err="1"/>
              <a:t>Diversity</a:t>
            </a:r>
            <a:r>
              <a:rPr lang="de-DE" altLang="en-US" dirty="0"/>
              <a:t> Over Time</a:t>
            </a:r>
            <a:endParaRPr lang="en-US" altLang="en-US" dirty="0"/>
          </a:p>
        </p:txBody>
      </p:sp>
      <p:sp>
        <p:nvSpPr>
          <p:cNvPr id="11267" name="Oval 3"/>
          <p:cNvSpPr>
            <a:spLocks noChangeArrowheads="1"/>
          </p:cNvSpPr>
          <p:nvPr/>
        </p:nvSpPr>
        <p:spPr bwMode="auto">
          <a:xfrm>
            <a:off x="2895600" y="2787650"/>
            <a:ext cx="457200" cy="457200"/>
          </a:xfrm>
          <a:prstGeom prst="ellipse">
            <a:avLst/>
          </a:prstGeom>
          <a:solidFill>
            <a:srgbClr val="FF33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68" name="Oval 4"/>
          <p:cNvSpPr>
            <a:spLocks noChangeArrowheads="1"/>
          </p:cNvSpPr>
          <p:nvPr/>
        </p:nvSpPr>
        <p:spPr bwMode="auto">
          <a:xfrm>
            <a:off x="3352800" y="2787650"/>
            <a:ext cx="457200" cy="457200"/>
          </a:xfrm>
          <a:prstGeom prst="ellipse">
            <a:avLst/>
          </a:prstGeom>
          <a:solidFill>
            <a:srgbClr val="FF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69" name="Oval 5"/>
          <p:cNvSpPr>
            <a:spLocks noChangeArrowheads="1"/>
          </p:cNvSpPr>
          <p:nvPr/>
        </p:nvSpPr>
        <p:spPr bwMode="auto">
          <a:xfrm>
            <a:off x="5638800" y="2787650"/>
            <a:ext cx="457200" cy="457200"/>
          </a:xfrm>
          <a:prstGeom prst="ellipse">
            <a:avLst/>
          </a:prstGeom>
          <a:solidFill>
            <a:srgbClr val="00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70" name="Oval 6"/>
          <p:cNvSpPr>
            <a:spLocks noChangeArrowheads="1"/>
          </p:cNvSpPr>
          <p:nvPr/>
        </p:nvSpPr>
        <p:spPr bwMode="auto">
          <a:xfrm>
            <a:off x="6096000" y="2787650"/>
            <a:ext cx="457200" cy="457200"/>
          </a:xfrm>
          <a:prstGeom prst="ellipse">
            <a:avLst/>
          </a:prstGeom>
          <a:solidFill>
            <a:srgbClr val="FF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71" name="Oval 7"/>
          <p:cNvSpPr>
            <a:spLocks noChangeArrowheads="1"/>
          </p:cNvSpPr>
          <p:nvPr/>
        </p:nvSpPr>
        <p:spPr bwMode="auto">
          <a:xfrm>
            <a:off x="8305800" y="2787650"/>
            <a:ext cx="457200" cy="457200"/>
          </a:xfrm>
          <a:prstGeom prst="ellipse">
            <a:avLst/>
          </a:prstGeom>
          <a:solidFill>
            <a:srgbClr val="FF33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72" name="Oval 8"/>
          <p:cNvSpPr>
            <a:spLocks noChangeArrowheads="1"/>
          </p:cNvSpPr>
          <p:nvPr/>
        </p:nvSpPr>
        <p:spPr bwMode="auto">
          <a:xfrm>
            <a:off x="8763000" y="2787650"/>
            <a:ext cx="457200" cy="457200"/>
          </a:xfrm>
          <a:prstGeom prst="ellipse">
            <a:avLst/>
          </a:prstGeom>
          <a:solidFill>
            <a:srgbClr val="FF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73" name="Oval 9"/>
          <p:cNvSpPr>
            <a:spLocks noChangeArrowheads="1"/>
          </p:cNvSpPr>
          <p:nvPr/>
        </p:nvSpPr>
        <p:spPr bwMode="auto">
          <a:xfrm>
            <a:off x="2895600" y="3930650"/>
            <a:ext cx="457200" cy="457200"/>
          </a:xfrm>
          <a:prstGeom prst="ellipse">
            <a:avLst/>
          </a:prstGeom>
          <a:solidFill>
            <a:srgbClr val="00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74" name="Oval 10"/>
          <p:cNvSpPr>
            <a:spLocks noChangeArrowheads="1"/>
          </p:cNvSpPr>
          <p:nvPr/>
        </p:nvSpPr>
        <p:spPr bwMode="auto">
          <a:xfrm>
            <a:off x="3352800" y="3930650"/>
            <a:ext cx="457200" cy="457200"/>
          </a:xfrm>
          <a:prstGeom prst="ellipse">
            <a:avLst/>
          </a:prstGeom>
          <a:solidFill>
            <a:srgbClr val="FF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75" name="Oval 11"/>
          <p:cNvSpPr>
            <a:spLocks noChangeArrowheads="1"/>
          </p:cNvSpPr>
          <p:nvPr/>
        </p:nvSpPr>
        <p:spPr bwMode="auto">
          <a:xfrm>
            <a:off x="5638800" y="3930650"/>
            <a:ext cx="457200" cy="457200"/>
          </a:xfrm>
          <a:prstGeom prst="ellipse">
            <a:avLst/>
          </a:prstGeom>
          <a:solidFill>
            <a:srgbClr val="FF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76" name="Oval 12"/>
          <p:cNvSpPr>
            <a:spLocks noChangeArrowheads="1"/>
          </p:cNvSpPr>
          <p:nvPr/>
        </p:nvSpPr>
        <p:spPr bwMode="auto">
          <a:xfrm>
            <a:off x="6096000" y="3930650"/>
            <a:ext cx="457200" cy="457200"/>
          </a:xfrm>
          <a:prstGeom prst="ellipse">
            <a:avLst/>
          </a:prstGeom>
          <a:solidFill>
            <a:srgbClr val="FF33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77" name="Oval 13"/>
          <p:cNvSpPr>
            <a:spLocks noChangeArrowheads="1"/>
          </p:cNvSpPr>
          <p:nvPr/>
        </p:nvSpPr>
        <p:spPr bwMode="auto">
          <a:xfrm>
            <a:off x="8305800" y="3930650"/>
            <a:ext cx="457200" cy="457200"/>
          </a:xfrm>
          <a:prstGeom prst="ellipse">
            <a:avLst/>
          </a:prstGeom>
          <a:solidFill>
            <a:srgbClr val="FF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78" name="Oval 14"/>
          <p:cNvSpPr>
            <a:spLocks noChangeArrowheads="1"/>
          </p:cNvSpPr>
          <p:nvPr/>
        </p:nvSpPr>
        <p:spPr bwMode="auto">
          <a:xfrm>
            <a:off x="8763000" y="3930650"/>
            <a:ext cx="457200" cy="457200"/>
          </a:xfrm>
          <a:prstGeom prst="ellipse">
            <a:avLst/>
          </a:prstGeom>
          <a:solidFill>
            <a:srgbClr val="FF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79" name="Oval 15"/>
          <p:cNvSpPr>
            <a:spLocks noChangeArrowheads="1"/>
          </p:cNvSpPr>
          <p:nvPr/>
        </p:nvSpPr>
        <p:spPr bwMode="auto">
          <a:xfrm>
            <a:off x="2895600" y="5073650"/>
            <a:ext cx="457200" cy="457200"/>
          </a:xfrm>
          <a:prstGeom prst="ellipse">
            <a:avLst/>
          </a:prstGeom>
          <a:solidFill>
            <a:srgbClr val="FF33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80" name="Oval 16"/>
          <p:cNvSpPr>
            <a:spLocks noChangeArrowheads="1"/>
          </p:cNvSpPr>
          <p:nvPr/>
        </p:nvSpPr>
        <p:spPr bwMode="auto">
          <a:xfrm>
            <a:off x="3352800" y="5073650"/>
            <a:ext cx="457200" cy="457200"/>
          </a:xfrm>
          <a:prstGeom prst="ellipse">
            <a:avLst/>
          </a:prstGeom>
          <a:solidFill>
            <a:srgbClr val="00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81" name="Oval 17"/>
          <p:cNvSpPr>
            <a:spLocks noChangeArrowheads="1"/>
          </p:cNvSpPr>
          <p:nvPr/>
        </p:nvSpPr>
        <p:spPr bwMode="auto">
          <a:xfrm>
            <a:off x="5638800" y="5073650"/>
            <a:ext cx="457200" cy="457200"/>
          </a:xfrm>
          <a:prstGeom prst="ellipse">
            <a:avLst/>
          </a:prstGeom>
          <a:solidFill>
            <a:srgbClr val="FF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82" name="Oval 18"/>
          <p:cNvSpPr>
            <a:spLocks noChangeArrowheads="1"/>
          </p:cNvSpPr>
          <p:nvPr/>
        </p:nvSpPr>
        <p:spPr bwMode="auto">
          <a:xfrm>
            <a:off x="6096000" y="5073650"/>
            <a:ext cx="457200" cy="457200"/>
          </a:xfrm>
          <a:prstGeom prst="ellipse">
            <a:avLst/>
          </a:prstGeom>
          <a:solidFill>
            <a:srgbClr val="00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83" name="Oval 19"/>
          <p:cNvSpPr>
            <a:spLocks noChangeArrowheads="1"/>
          </p:cNvSpPr>
          <p:nvPr/>
        </p:nvSpPr>
        <p:spPr bwMode="auto">
          <a:xfrm>
            <a:off x="8305800" y="5073650"/>
            <a:ext cx="457200" cy="457200"/>
          </a:xfrm>
          <a:prstGeom prst="ellipse">
            <a:avLst/>
          </a:prstGeom>
          <a:solidFill>
            <a:srgbClr val="FF33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84" name="Oval 20"/>
          <p:cNvSpPr>
            <a:spLocks noChangeArrowheads="1"/>
          </p:cNvSpPr>
          <p:nvPr/>
        </p:nvSpPr>
        <p:spPr bwMode="auto">
          <a:xfrm>
            <a:off x="8763000" y="5073650"/>
            <a:ext cx="457200" cy="457200"/>
          </a:xfrm>
          <a:prstGeom prst="ellipse">
            <a:avLst/>
          </a:prstGeom>
          <a:solidFill>
            <a:srgbClr val="FF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de-DE" altLang="en-US" sz="1800"/>
          </a:p>
        </p:txBody>
      </p:sp>
      <p:sp>
        <p:nvSpPr>
          <p:cNvPr id="11285" name="Text Box 21"/>
          <p:cNvSpPr txBox="1">
            <a:spLocks noChangeArrowheads="1"/>
          </p:cNvSpPr>
          <p:nvPr/>
        </p:nvSpPr>
        <p:spPr bwMode="auto">
          <a:xfrm>
            <a:off x="2438401" y="2420938"/>
            <a:ext cx="15986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de-DE" altLang="en-US" sz="2000" dirty="0">
                <a:latin typeface="Times New Roman" panose="02020603050405020304" pitchFamily="18" charset="0"/>
              </a:rPr>
              <a:t>S = 2, Ext = 0</a:t>
            </a:r>
            <a:endParaRPr lang="en-US" altLang="en-US" sz="2000" dirty="0">
              <a:latin typeface="Times New Roman" panose="02020603050405020304" pitchFamily="18" charset="0"/>
            </a:endParaRPr>
          </a:p>
        </p:txBody>
      </p:sp>
      <p:sp>
        <p:nvSpPr>
          <p:cNvPr id="11286" name="Text Box 22"/>
          <p:cNvSpPr txBox="1">
            <a:spLocks noChangeArrowheads="1"/>
          </p:cNvSpPr>
          <p:nvPr/>
        </p:nvSpPr>
        <p:spPr bwMode="auto">
          <a:xfrm>
            <a:off x="5295901" y="2420938"/>
            <a:ext cx="15986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de-DE" altLang="en-US" sz="2000">
                <a:latin typeface="Times New Roman" panose="02020603050405020304" pitchFamily="18" charset="0"/>
              </a:rPr>
              <a:t>S = 2, Ext = 0</a:t>
            </a:r>
            <a:endParaRPr lang="en-US" altLang="en-US" sz="2000">
              <a:latin typeface="Times New Roman" panose="02020603050405020304" pitchFamily="18" charset="0"/>
            </a:endParaRPr>
          </a:p>
        </p:txBody>
      </p:sp>
      <p:sp>
        <p:nvSpPr>
          <p:cNvPr id="11287" name="Text Box 23"/>
          <p:cNvSpPr txBox="1">
            <a:spLocks noChangeArrowheads="1"/>
          </p:cNvSpPr>
          <p:nvPr/>
        </p:nvSpPr>
        <p:spPr bwMode="auto">
          <a:xfrm>
            <a:off x="7848601" y="2420938"/>
            <a:ext cx="15986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de-DE" altLang="en-US" sz="2000" dirty="0">
                <a:latin typeface="Times New Roman" panose="02020603050405020304" pitchFamily="18" charset="0"/>
              </a:rPr>
              <a:t>S = 2, Ext = 2</a:t>
            </a:r>
            <a:endParaRPr lang="en-US" altLang="en-US" sz="2000" dirty="0">
              <a:latin typeface="Times New Roman" panose="02020603050405020304" pitchFamily="18" charset="0"/>
            </a:endParaRPr>
          </a:p>
        </p:txBody>
      </p:sp>
      <p:sp>
        <p:nvSpPr>
          <p:cNvPr id="11288" name="Text Box 24"/>
          <p:cNvSpPr txBox="1">
            <a:spLocks noChangeArrowheads="1"/>
          </p:cNvSpPr>
          <p:nvPr/>
        </p:nvSpPr>
        <p:spPr bwMode="auto">
          <a:xfrm>
            <a:off x="2438401" y="3549651"/>
            <a:ext cx="15986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de-DE" altLang="en-US" sz="2000" dirty="0">
                <a:latin typeface="Times New Roman" panose="02020603050405020304" pitchFamily="18" charset="0"/>
              </a:rPr>
              <a:t>S = 1, Ext = 0</a:t>
            </a:r>
            <a:endParaRPr lang="en-US" altLang="en-US" sz="2000" dirty="0">
              <a:latin typeface="Times New Roman" panose="02020603050405020304" pitchFamily="18" charset="0"/>
            </a:endParaRPr>
          </a:p>
        </p:txBody>
      </p:sp>
      <p:sp>
        <p:nvSpPr>
          <p:cNvPr id="11289" name="Text Box 25"/>
          <p:cNvSpPr txBox="1">
            <a:spLocks noChangeArrowheads="1"/>
          </p:cNvSpPr>
          <p:nvPr/>
        </p:nvSpPr>
        <p:spPr bwMode="auto">
          <a:xfrm>
            <a:off x="5295901" y="3549651"/>
            <a:ext cx="15986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de-DE" altLang="en-US" sz="2000">
                <a:latin typeface="Times New Roman" panose="02020603050405020304" pitchFamily="18" charset="0"/>
              </a:rPr>
              <a:t>S = 1, Ext = 0</a:t>
            </a:r>
            <a:endParaRPr lang="en-US" altLang="en-US" sz="2000">
              <a:latin typeface="Times New Roman" panose="02020603050405020304" pitchFamily="18" charset="0"/>
            </a:endParaRPr>
          </a:p>
        </p:txBody>
      </p:sp>
      <p:sp>
        <p:nvSpPr>
          <p:cNvPr id="11290" name="Text Box 26"/>
          <p:cNvSpPr txBox="1">
            <a:spLocks noChangeArrowheads="1"/>
          </p:cNvSpPr>
          <p:nvPr/>
        </p:nvSpPr>
        <p:spPr bwMode="auto">
          <a:xfrm>
            <a:off x="7848601" y="3549651"/>
            <a:ext cx="15986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de-DE" altLang="en-US" sz="2000">
                <a:latin typeface="Times New Roman" panose="02020603050405020304" pitchFamily="18" charset="0"/>
              </a:rPr>
              <a:t>S = 1, Ext = 1</a:t>
            </a:r>
            <a:endParaRPr lang="en-US" altLang="en-US" sz="2000">
              <a:latin typeface="Times New Roman" panose="02020603050405020304" pitchFamily="18" charset="0"/>
            </a:endParaRPr>
          </a:p>
        </p:txBody>
      </p:sp>
      <p:sp>
        <p:nvSpPr>
          <p:cNvPr id="11291" name="Text Box 27"/>
          <p:cNvSpPr txBox="1">
            <a:spLocks noChangeArrowheads="1"/>
          </p:cNvSpPr>
          <p:nvPr/>
        </p:nvSpPr>
        <p:spPr bwMode="auto">
          <a:xfrm>
            <a:off x="2438401" y="4692651"/>
            <a:ext cx="15986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de-DE" altLang="en-US" sz="2000">
                <a:latin typeface="Times New Roman" panose="02020603050405020304" pitchFamily="18" charset="0"/>
              </a:rPr>
              <a:t>S = 2, Ext = 0</a:t>
            </a:r>
            <a:endParaRPr lang="en-US" altLang="en-US" sz="2000">
              <a:latin typeface="Times New Roman" panose="02020603050405020304" pitchFamily="18" charset="0"/>
            </a:endParaRPr>
          </a:p>
        </p:txBody>
      </p:sp>
      <p:sp>
        <p:nvSpPr>
          <p:cNvPr id="11292" name="Text Box 28"/>
          <p:cNvSpPr txBox="1">
            <a:spLocks noChangeArrowheads="1"/>
          </p:cNvSpPr>
          <p:nvPr/>
        </p:nvSpPr>
        <p:spPr bwMode="auto">
          <a:xfrm>
            <a:off x="5295901" y="4692651"/>
            <a:ext cx="15986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de-DE" altLang="en-US" sz="2000">
                <a:latin typeface="Times New Roman" panose="02020603050405020304" pitchFamily="18" charset="0"/>
              </a:rPr>
              <a:t>S = 3, Ext = 1</a:t>
            </a:r>
            <a:endParaRPr lang="en-US" altLang="en-US" sz="2000">
              <a:latin typeface="Times New Roman" panose="02020603050405020304" pitchFamily="18" charset="0"/>
            </a:endParaRPr>
          </a:p>
        </p:txBody>
      </p:sp>
      <p:sp>
        <p:nvSpPr>
          <p:cNvPr id="11293" name="Text Box 29"/>
          <p:cNvSpPr txBox="1">
            <a:spLocks noChangeArrowheads="1"/>
          </p:cNvSpPr>
          <p:nvPr/>
        </p:nvSpPr>
        <p:spPr bwMode="auto">
          <a:xfrm>
            <a:off x="7848601" y="4692651"/>
            <a:ext cx="15986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SzTx/>
              <a:buFontTx/>
              <a:buNone/>
            </a:pPr>
            <a:r>
              <a:rPr lang="de-DE" altLang="en-US" sz="2000">
                <a:latin typeface="Times New Roman" panose="02020603050405020304" pitchFamily="18" charset="0"/>
              </a:rPr>
              <a:t>S = 2, Ext = 2</a:t>
            </a:r>
            <a:endParaRPr lang="en-US" altLang="en-US" sz="2000">
              <a:latin typeface="Times New Roman" panose="02020603050405020304" pitchFamily="18" charset="0"/>
            </a:endParaRPr>
          </a:p>
        </p:txBody>
      </p:sp>
      <p:grpSp>
        <p:nvGrpSpPr>
          <p:cNvPr id="3" name="Gruppieren 2"/>
          <p:cNvGrpSpPr/>
          <p:nvPr/>
        </p:nvGrpSpPr>
        <p:grpSpPr>
          <a:xfrm>
            <a:off x="2362200" y="5805489"/>
            <a:ext cx="8053388" cy="420687"/>
            <a:chOff x="838200" y="5805488"/>
            <a:chExt cx="8053388" cy="420687"/>
          </a:xfrm>
        </p:grpSpPr>
        <p:sp>
          <p:nvSpPr>
            <p:cNvPr id="11294" name="Text Box 30"/>
            <p:cNvSpPr txBox="1">
              <a:spLocks noChangeArrowheads="1"/>
            </p:cNvSpPr>
            <p:nvPr/>
          </p:nvSpPr>
          <p:spPr bwMode="auto">
            <a:xfrm>
              <a:off x="838200" y="5805488"/>
              <a:ext cx="2262188" cy="4206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anose="05000000000000000000" pitchFamily="2" charset="2"/>
                <a:buChar char="l"/>
                <a:defRPr sz="3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l"/>
                <a:defRPr sz="26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anose="05000000000000000000" pitchFamily="2" charset="2"/>
                <a:buChar char="l"/>
                <a:defRPr sz="23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2"/>
                </a:buClr>
                <a:buSzPct val="75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90000"/>
                </a:lnSpc>
                <a:buClrTx/>
                <a:buSzTx/>
                <a:buFontTx/>
                <a:buNone/>
              </a:pPr>
              <a:r>
                <a:rPr lang="de-DE" altLang="en-US" sz="2400" dirty="0">
                  <a:latin typeface="Times New Roman" panose="02020603050405020304" pitchFamily="18" charset="0"/>
                </a:rPr>
                <a:t>S = 1.67, Ext = 0</a:t>
              </a:r>
              <a:endParaRPr lang="en-US" altLang="en-US" sz="2400" dirty="0">
                <a:latin typeface="Times New Roman" panose="02020603050405020304" pitchFamily="18" charset="0"/>
              </a:endParaRPr>
            </a:p>
          </p:txBody>
        </p:sp>
        <p:sp>
          <p:nvSpPr>
            <p:cNvPr id="11295" name="Text Box 31"/>
            <p:cNvSpPr txBox="1">
              <a:spLocks noChangeArrowheads="1"/>
            </p:cNvSpPr>
            <p:nvPr/>
          </p:nvSpPr>
          <p:spPr bwMode="auto">
            <a:xfrm>
              <a:off x="3429000" y="5805488"/>
              <a:ext cx="2643188" cy="4206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anose="05000000000000000000" pitchFamily="2" charset="2"/>
                <a:buChar char="l"/>
                <a:defRPr sz="3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l"/>
                <a:defRPr sz="26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anose="05000000000000000000" pitchFamily="2" charset="2"/>
                <a:buChar char="l"/>
                <a:defRPr sz="23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2"/>
                </a:buClr>
                <a:buSzPct val="75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90000"/>
                </a:lnSpc>
                <a:buClrTx/>
                <a:buSzTx/>
                <a:buFontTx/>
                <a:buNone/>
              </a:pPr>
              <a:r>
                <a:rPr lang="de-DE" altLang="en-US" sz="2400">
                  <a:latin typeface="Times New Roman" panose="02020603050405020304" pitchFamily="18" charset="0"/>
                </a:rPr>
                <a:t>S = 1.67, Ext = 0.33</a:t>
              </a:r>
              <a:endParaRPr lang="en-US" alt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1296" name="Text Box 32"/>
            <p:cNvSpPr txBox="1">
              <a:spLocks noChangeArrowheads="1"/>
            </p:cNvSpPr>
            <p:nvPr/>
          </p:nvSpPr>
          <p:spPr bwMode="auto">
            <a:xfrm>
              <a:off x="6248400" y="5805488"/>
              <a:ext cx="2643188" cy="4206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anose="05000000000000000000" pitchFamily="2" charset="2"/>
                <a:buChar char="l"/>
                <a:defRPr sz="3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l"/>
                <a:defRPr sz="26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anose="05000000000000000000" pitchFamily="2" charset="2"/>
                <a:buChar char="l"/>
                <a:defRPr sz="23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2"/>
                </a:buClr>
                <a:buSzPct val="75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80000"/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90000"/>
                </a:lnSpc>
                <a:buClrTx/>
                <a:buSzTx/>
                <a:buFontTx/>
                <a:buNone/>
              </a:pPr>
              <a:r>
                <a:rPr lang="de-DE" altLang="en-US" sz="2400">
                  <a:latin typeface="Times New Roman" panose="02020603050405020304" pitchFamily="18" charset="0"/>
                </a:rPr>
                <a:t>S = 1.67, Ext = 1.67</a:t>
              </a:r>
              <a:endParaRPr lang="en-US" altLang="en-US" sz="2400">
                <a:latin typeface="Times New Roman" panose="02020603050405020304" pitchFamily="18" charset="0"/>
              </a:endParaRPr>
            </a:p>
          </p:txBody>
        </p:sp>
      </p:grpSp>
      <p:sp>
        <p:nvSpPr>
          <p:cNvPr id="11297" name="Text Box 33"/>
          <p:cNvSpPr txBox="1">
            <a:spLocks noChangeArrowheads="1"/>
          </p:cNvSpPr>
          <p:nvPr/>
        </p:nvSpPr>
        <p:spPr bwMode="auto">
          <a:xfrm>
            <a:off x="4624389" y="1826419"/>
            <a:ext cx="181331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Omit Singletons</a:t>
            </a:r>
          </a:p>
        </p:txBody>
      </p:sp>
      <p:sp>
        <p:nvSpPr>
          <p:cNvPr id="2" name="Textfeld 1"/>
          <p:cNvSpPr txBox="1"/>
          <p:nvPr/>
        </p:nvSpPr>
        <p:spPr>
          <a:xfrm>
            <a:off x="2424103" y="1334597"/>
            <a:ext cx="51224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Iterate subsampling and range-through analysis</a:t>
            </a:r>
          </a:p>
        </p:txBody>
      </p:sp>
    </p:spTree>
    <p:extLst>
      <p:ext uri="{BB962C8B-B14F-4D97-AF65-F5344CB8AC3E}">
        <p14:creationId xmlns:p14="http://schemas.microsoft.com/office/powerpoint/2010/main" val="2973543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Subsampling Methods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en-US" altLang="en-US" sz="2000" dirty="0"/>
              <a:t>Classical Rarefaction (CR)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sz="1700" dirty="0"/>
              <a:t>Pool all occurrence data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sz="1700" dirty="0"/>
              <a:t>Randomly draw data until quota is reached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US" sz="2000" dirty="0"/>
              <a:t>Occurrences </a:t>
            </a:r>
            <a:r>
              <a:rPr lang="en-US" altLang="en-US" sz="2000" dirty="0" err="1"/>
              <a:t>weigthed</a:t>
            </a:r>
            <a:r>
              <a:rPr lang="en-US" altLang="en-US" sz="2000" dirty="0"/>
              <a:t> by-list subsampling (OW)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sz="1700" dirty="0"/>
              <a:t>Pool occurrences by collections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sz="1700" dirty="0"/>
              <a:t>Randomly draw collections until quota of occurrences is reached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US" sz="2000" dirty="0"/>
              <a:t>Unweighted by-list subsampling (UW)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sz="1700" dirty="0"/>
              <a:t>Pool collections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sz="1700" dirty="0"/>
              <a:t>Randomly draw collections until quota of collections is reached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US" sz="2000" dirty="0"/>
              <a:t>Occurrences-</a:t>
            </a:r>
            <a:r>
              <a:rPr lang="en-US" altLang="en-US" sz="2000" dirty="0" err="1"/>
              <a:t>exponentiated</a:t>
            </a:r>
            <a:r>
              <a:rPr lang="en-US" altLang="en-US" sz="2000" dirty="0"/>
              <a:t> weighted by-list subsampling (</a:t>
            </a:r>
            <a:r>
              <a:rPr lang="en-US" altLang="en-US" sz="2000" dirty="0" err="1"/>
              <a:t>OexpW</a:t>
            </a:r>
            <a:r>
              <a:rPr lang="en-US" altLang="en-US" sz="2000" dirty="0"/>
              <a:t>)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sz="1700" dirty="0"/>
              <a:t>Pool occurrences by collections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sz="1700" dirty="0"/>
              <a:t>Randomly draw collections until weighted quota of exponentiated occurrences is reached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US" sz="2000" dirty="0"/>
              <a:t>Shareholder Quorum Method (SQ)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sz="1700" dirty="0"/>
              <a:t>Sampling until a particular proportion (quorum) of the rank-abundance distribution (coverage) has been sampled</a:t>
            </a:r>
          </a:p>
          <a:p>
            <a:pPr>
              <a:lnSpc>
                <a:spcPct val="80000"/>
              </a:lnSpc>
            </a:pPr>
            <a:r>
              <a:rPr lang="en-US" altLang="en-US" sz="2100" dirty="0"/>
              <a:t>The Squares Method (Alroy 2020)</a:t>
            </a:r>
          </a:p>
          <a:p>
            <a:pPr>
              <a:lnSpc>
                <a:spcPct val="80000"/>
              </a:lnSpc>
            </a:pPr>
            <a:endParaRPr lang="en-US" altLang="en-US" sz="210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1318E7C6-A412-48CC-906E-BEADFA912ABA}"/>
              </a:ext>
            </a:extLst>
          </p:cNvPr>
          <p:cNvSpPr txBox="1"/>
          <p:nvPr/>
        </p:nvSpPr>
        <p:spPr>
          <a:xfrm>
            <a:off x="8468139" y="1135270"/>
            <a:ext cx="3192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Implemented in </a:t>
            </a:r>
            <a:r>
              <a:rPr lang="en-US" dirty="0" err="1"/>
              <a:t>divDyn</a:t>
            </a:r>
            <a:r>
              <a:rPr lang="en-US" dirty="0"/>
              <a:t> package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490B2C5-CC79-48D7-AA57-54C7F2EB2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6090" y="1456011"/>
            <a:ext cx="1834946" cy="1834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207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Why so many methods?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Rarefaction assumes that differences in diversity are entirely driven by sampling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We might lose biological signal by attempting to sampling-standardize if we don’t consider evenness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000" dirty="0"/>
              <a:t>If evenness of communities is different, then rarefaction will mostly reflect these differences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000" dirty="0"/>
              <a:t>SQS considers differences in evenness and is preferable for SIB diversity estimates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Chose appropriate subsampling method for respective question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000" dirty="0"/>
              <a:t>Biodiversity through time: SQS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000" dirty="0"/>
              <a:t>Large scale beta diversity: UW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000" dirty="0"/>
              <a:t>Extinction and origination rate: CR, OW</a:t>
            </a:r>
          </a:p>
          <a:p>
            <a:pPr lvl="1" eaLnBrk="1" hangingPunct="1">
              <a:lnSpc>
                <a:spcPct val="90000"/>
              </a:lnSpc>
            </a:pPr>
            <a:endParaRPr lang="en-US" altLang="en-US" sz="2000" dirty="0"/>
          </a:p>
          <a:p>
            <a:pPr eaLnBrk="1" hangingPunct="1">
              <a:lnSpc>
                <a:spcPct val="90000"/>
              </a:lnSpc>
            </a:pPr>
            <a:endParaRPr lang="en-US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3206162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standardization is not the whole story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Counting methods count</a:t>
            </a:r>
          </a:p>
          <a:p>
            <a:r>
              <a:rPr lang="en-US" dirty="0"/>
              <a:t>All metrics other than SIB are affected by edge effects artificially inflating of deflating estimates</a:t>
            </a:r>
          </a:p>
          <a:p>
            <a:r>
              <a:rPr lang="en-US" dirty="0"/>
              <a:t>Looking at only bin-to-bin changes will remove edge effects from long-term ranges</a:t>
            </a:r>
          </a:p>
          <a:p>
            <a:pPr lvl="1"/>
            <a:r>
              <a:rPr lang="en-US" dirty="0"/>
              <a:t>The two-timer turnover rates</a:t>
            </a:r>
          </a:p>
          <a:p>
            <a:pPr lvl="1"/>
            <a:r>
              <a:rPr lang="en-US" dirty="0"/>
              <a:t>Computed by log-ratio of two-timers and three-timers but corrected for sampling completeness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2706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C000D7-850F-47F6-A9DB-82F2C0DFF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good is the fossil record?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E8A4607-6CDE-4683-982D-9A076D1C2A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4514" y="1757258"/>
            <a:ext cx="4782263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Fossils are unlikely accidents of the taphonomic cycle</a:t>
            </a:r>
          </a:p>
          <a:p>
            <a:r>
              <a:rPr lang="en-US" dirty="0"/>
              <a:t>The quality of the fossil record is linked to its completeness</a:t>
            </a:r>
          </a:p>
          <a:p>
            <a:pPr lvl="1"/>
            <a:r>
              <a:rPr lang="en-US" dirty="0"/>
              <a:t>Fossils are sampled in sedimentary layers</a:t>
            </a:r>
          </a:p>
          <a:p>
            <a:pPr lvl="1"/>
            <a:r>
              <a:rPr lang="en-US" dirty="0"/>
              <a:t>Not all layers contain fossils, fossil species are not continuously preserved</a:t>
            </a:r>
          </a:p>
          <a:p>
            <a:pPr lvl="1"/>
            <a:r>
              <a:rPr lang="en-US" dirty="0"/>
              <a:t>Some taxa are better preserved than others</a:t>
            </a:r>
          </a:p>
          <a:p>
            <a:r>
              <a:rPr lang="en-US" dirty="0"/>
              <a:t>How can we quantify completeness?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B6F92F0-A4B1-4892-85C0-2C5A1D2782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0776" y="1757257"/>
            <a:ext cx="4231107" cy="4231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318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de-DE" dirty="0"/>
              <a:t>Sampling Completeness Metrics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eaLnBrk="1" hangingPunct="1"/>
            <a:r>
              <a:rPr lang="en-US" altLang="de-DE" dirty="0"/>
              <a:t>Based on the simple equation: sampling events/sampling opportunities</a:t>
            </a:r>
          </a:p>
          <a:p>
            <a:pPr lvl="1" eaLnBrk="1" hangingPunct="1"/>
            <a:r>
              <a:rPr lang="en-US" altLang="de-DE" dirty="0"/>
              <a:t>Problem is definition of sampling opportunities</a:t>
            </a:r>
          </a:p>
          <a:p>
            <a:pPr eaLnBrk="1" hangingPunct="1"/>
            <a:r>
              <a:rPr lang="en-US" altLang="de-DE" dirty="0"/>
              <a:t>Suitable for stratigraphic and taxonomic completeness</a:t>
            </a:r>
          </a:p>
          <a:p>
            <a:pPr eaLnBrk="1" hangingPunct="1"/>
            <a:r>
              <a:rPr lang="en-US" altLang="de-DE" dirty="0"/>
              <a:t>Three basic methods</a:t>
            </a:r>
          </a:p>
          <a:p>
            <a:pPr lvl="1" eaLnBrk="1" hangingPunct="1"/>
            <a:r>
              <a:rPr lang="en-US" altLang="de-DE" dirty="0"/>
              <a:t>Simple completeness metric (SCM)</a:t>
            </a:r>
          </a:p>
          <a:p>
            <a:pPr lvl="1" eaLnBrk="1" hangingPunct="1"/>
            <a:r>
              <a:rPr lang="en-US" altLang="de-DE" dirty="0"/>
              <a:t>Sampling probability</a:t>
            </a:r>
          </a:p>
          <a:p>
            <a:pPr lvl="1" eaLnBrk="1" hangingPunct="1"/>
            <a:r>
              <a:rPr lang="en-US" altLang="de-DE" dirty="0"/>
              <a:t>Three-timer metric</a:t>
            </a:r>
          </a:p>
        </p:txBody>
      </p:sp>
    </p:spTree>
    <p:extLst>
      <p:ext uri="{BB962C8B-B14F-4D97-AF65-F5344CB8AC3E}">
        <p14:creationId xmlns:p14="http://schemas.microsoft.com/office/powerpoint/2010/main" val="22334623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de-DE"/>
              <a:t>Simple Metrics</a:t>
            </a:r>
          </a:p>
        </p:txBody>
      </p:sp>
      <p:sp>
        <p:nvSpPr>
          <p:cNvPr id="9219" name="Text Box 3"/>
          <p:cNvSpPr txBox="1">
            <a:spLocks noChangeArrowheads="1"/>
          </p:cNvSpPr>
          <p:nvPr/>
        </p:nvSpPr>
        <p:spPr bwMode="auto">
          <a:xfrm>
            <a:off x="2566988" y="1412876"/>
            <a:ext cx="7345362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de-DE" sz="2000"/>
              <a:t>Taxonomic and stratigraphic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de-DE" sz="2000"/>
          </a:p>
        </p:txBody>
      </p:sp>
      <p:pic>
        <p:nvPicPr>
          <p:cNvPr id="9220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751" y="2708275"/>
            <a:ext cx="8137525" cy="3494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149" name="Rectangle 5"/>
          <p:cNvSpPr>
            <a:spLocks noChangeArrowheads="1"/>
          </p:cNvSpPr>
          <p:nvPr/>
        </p:nvSpPr>
        <p:spPr bwMode="auto">
          <a:xfrm>
            <a:off x="5016501" y="2205038"/>
            <a:ext cx="5472113" cy="414876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de-DE" altLang="de-DE" sz="1800"/>
          </a:p>
        </p:txBody>
      </p:sp>
    </p:spTree>
    <p:extLst>
      <p:ext uri="{BB962C8B-B14F-4D97-AF65-F5344CB8AC3E}">
        <p14:creationId xmlns:p14="http://schemas.microsoft.com/office/powerpoint/2010/main" val="2410800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61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61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de-DE" sz="4000" dirty="0"/>
              <a:t>Sampling probability</a:t>
            </a:r>
          </a:p>
        </p:txBody>
      </p:sp>
      <p:pic>
        <p:nvPicPr>
          <p:cNvPr id="10243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751" y="2708275"/>
            <a:ext cx="8137525" cy="3494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244" name="Rectangle 5"/>
          <p:cNvSpPr>
            <a:spLocks noChangeArrowheads="1"/>
          </p:cNvSpPr>
          <p:nvPr/>
        </p:nvSpPr>
        <p:spPr bwMode="auto">
          <a:xfrm>
            <a:off x="5033593" y="1925638"/>
            <a:ext cx="5472113" cy="4464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de-DE" altLang="de-DE" sz="1800"/>
          </a:p>
        </p:txBody>
      </p:sp>
      <p:sp>
        <p:nvSpPr>
          <p:cNvPr id="10245" name="Textfeld 1"/>
          <p:cNvSpPr txBox="1">
            <a:spLocks noChangeArrowheads="1"/>
          </p:cNvSpPr>
          <p:nvPr/>
        </p:nvSpPr>
        <p:spPr bwMode="auto">
          <a:xfrm>
            <a:off x="2711450" y="1557338"/>
            <a:ext cx="27114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de-DE" sz="1800"/>
              <a:t>Do not count range ends</a:t>
            </a:r>
          </a:p>
        </p:txBody>
      </p:sp>
    </p:spTree>
    <p:extLst>
      <p:ext uri="{BB962C8B-B14F-4D97-AF65-F5344CB8AC3E}">
        <p14:creationId xmlns:p14="http://schemas.microsoft.com/office/powerpoint/2010/main" val="18701235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Three-timer completeness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Usually applied to stratigraphic completeness</a:t>
            </a:r>
          </a:p>
          <a:p>
            <a:r>
              <a:rPr lang="en-US" sz="2400" dirty="0"/>
              <a:t>Focus on one focal bin and consider the ratio of three timers and part timers</a:t>
            </a:r>
          </a:p>
          <a:p>
            <a:r>
              <a:rPr lang="en-US" sz="2400" dirty="0"/>
              <a:t>A three timer (</a:t>
            </a:r>
            <a:r>
              <a:rPr lang="en-US" altLang="en-US" sz="2400" i="1" baseline="30000" dirty="0"/>
              <a:t>3</a:t>
            </a:r>
            <a:r>
              <a:rPr lang="en-US" altLang="en-US" sz="2400" i="1" dirty="0"/>
              <a:t>t) </a:t>
            </a:r>
            <a:r>
              <a:rPr lang="en-US" sz="2400" dirty="0"/>
              <a:t>taxon is sampled in three consecutive time intervals</a:t>
            </a:r>
          </a:p>
          <a:p>
            <a:r>
              <a:rPr lang="en-US" sz="2400" dirty="0"/>
              <a:t>A part timer (</a:t>
            </a:r>
            <a:r>
              <a:rPr lang="en-US" altLang="en-US" sz="2400" i="1" baseline="30000" dirty="0" err="1"/>
              <a:t>p</a:t>
            </a:r>
            <a:r>
              <a:rPr lang="en-US" altLang="en-US" sz="2400" i="1" dirty="0" err="1"/>
              <a:t>t</a:t>
            </a:r>
            <a:r>
              <a:rPr lang="en-US" altLang="en-US" sz="2400" i="1" dirty="0"/>
              <a:t>) </a:t>
            </a:r>
            <a:r>
              <a:rPr lang="en-US" altLang="en-US" sz="2400" dirty="0"/>
              <a:t>taxon is sampled before and after the focal interval but not in it</a:t>
            </a:r>
            <a:endParaRPr lang="en-US" sz="2400" dirty="0"/>
          </a:p>
          <a:p>
            <a:r>
              <a:rPr lang="en-US" altLang="en-US" sz="2400" i="1" dirty="0" err="1"/>
              <a:t>P</a:t>
            </a:r>
            <a:r>
              <a:rPr lang="en-US" altLang="en-US" sz="2400" i="1" baseline="-25000" dirty="0" err="1"/>
              <a:t>s,i</a:t>
            </a:r>
            <a:r>
              <a:rPr lang="en-US" altLang="en-US" sz="2400" baseline="-25000" dirty="0"/>
              <a:t> </a:t>
            </a:r>
            <a:r>
              <a:rPr lang="en-US" altLang="en-US" sz="2400" dirty="0"/>
              <a:t>= </a:t>
            </a:r>
            <a:r>
              <a:rPr lang="en-US" altLang="en-US" sz="2400" i="1" baseline="30000" dirty="0"/>
              <a:t>3</a:t>
            </a:r>
            <a:r>
              <a:rPr lang="en-US" altLang="en-US" sz="2400" i="1" dirty="0"/>
              <a:t>t</a:t>
            </a:r>
            <a:r>
              <a:rPr lang="en-US" altLang="en-US" sz="2400" i="1" baseline="-25000" dirty="0"/>
              <a:t>i</a:t>
            </a:r>
            <a:r>
              <a:rPr lang="en-US" altLang="en-US" sz="2400" baseline="-25000" dirty="0"/>
              <a:t> </a:t>
            </a:r>
            <a:r>
              <a:rPr lang="en-US" altLang="en-US" sz="2400" dirty="0"/>
              <a:t>/(</a:t>
            </a:r>
            <a:r>
              <a:rPr lang="en-US" altLang="en-US" sz="2400" i="1" baseline="30000" dirty="0"/>
              <a:t>3</a:t>
            </a:r>
            <a:r>
              <a:rPr lang="en-US" altLang="en-US" sz="2400" i="1" dirty="0"/>
              <a:t>t</a:t>
            </a:r>
            <a:r>
              <a:rPr lang="en-US" altLang="en-US" sz="2400" i="1" baseline="-25000" dirty="0"/>
              <a:t>i</a:t>
            </a:r>
            <a:r>
              <a:rPr lang="en-US" altLang="en-US" sz="2400" dirty="0"/>
              <a:t>+</a:t>
            </a:r>
            <a:r>
              <a:rPr lang="en-US" altLang="en-US" sz="2400" i="1" baseline="30000" dirty="0"/>
              <a:t>p</a:t>
            </a:r>
            <a:r>
              <a:rPr lang="en-US" altLang="en-US" sz="2400" i="1" dirty="0"/>
              <a:t>t</a:t>
            </a:r>
            <a:r>
              <a:rPr lang="en-US" altLang="en-US" sz="2400" i="1" baseline="-25000" dirty="0"/>
              <a:t>i</a:t>
            </a:r>
            <a:r>
              <a:rPr lang="en-US" altLang="en-US" sz="2400" dirty="0"/>
              <a:t>)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34515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The three-timer approach</a:t>
            </a:r>
          </a:p>
        </p:txBody>
      </p:sp>
      <p:sp>
        <p:nvSpPr>
          <p:cNvPr id="45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/>
              <a:t>A two timer (</a:t>
            </a:r>
            <a:r>
              <a:rPr lang="en-US" altLang="en-US" i="1" baseline="30000" dirty="0"/>
              <a:t>2</a:t>
            </a:r>
            <a:r>
              <a:rPr lang="en-US" altLang="en-US" i="1" dirty="0"/>
              <a:t>t) </a:t>
            </a:r>
            <a:r>
              <a:rPr lang="en-US" altLang="en-US" dirty="0"/>
              <a:t>is sampled before and in the focal interval but not after</a:t>
            </a:r>
          </a:p>
          <a:p>
            <a:r>
              <a:rPr lang="en-US" altLang="en-US" dirty="0"/>
              <a:t>A three timer (</a:t>
            </a:r>
            <a:r>
              <a:rPr lang="en-US" altLang="en-US" i="1" baseline="30000" dirty="0"/>
              <a:t>3</a:t>
            </a:r>
            <a:r>
              <a:rPr lang="en-US" altLang="en-US" i="1" dirty="0"/>
              <a:t>t</a:t>
            </a:r>
            <a:r>
              <a:rPr lang="en-US" altLang="en-US" dirty="0"/>
              <a:t>) is sampled in three consecutive intervals</a:t>
            </a:r>
          </a:p>
          <a:p>
            <a:r>
              <a:rPr lang="en-US" altLang="en-US" dirty="0"/>
              <a:t>Extinction rate</a:t>
            </a:r>
          </a:p>
          <a:p>
            <a:pPr lvl="1"/>
            <a:r>
              <a:rPr lang="en-US" altLang="en-US" dirty="0" err="1"/>
              <a:t>μ</a:t>
            </a:r>
            <a:r>
              <a:rPr lang="en-US" altLang="en-US" i="1" baseline="-25000" dirty="0" err="1"/>
              <a:t>i</a:t>
            </a:r>
            <a:r>
              <a:rPr lang="en-US" altLang="en-US" i="1" dirty="0"/>
              <a:t> </a:t>
            </a:r>
            <a:r>
              <a:rPr lang="en-US" altLang="en-US" dirty="0"/>
              <a:t>= log (</a:t>
            </a:r>
            <a:r>
              <a:rPr lang="en-US" altLang="en-US" i="1" baseline="30000" dirty="0"/>
              <a:t>2</a:t>
            </a:r>
            <a:r>
              <a:rPr lang="en-US" altLang="en-US" i="1" dirty="0"/>
              <a:t>t</a:t>
            </a:r>
            <a:r>
              <a:rPr lang="en-US" altLang="en-US" i="1" baseline="-25000" dirty="0"/>
              <a:t>i</a:t>
            </a:r>
            <a:r>
              <a:rPr lang="en-US" altLang="en-US" dirty="0"/>
              <a:t>/</a:t>
            </a:r>
            <a:r>
              <a:rPr lang="en-US" altLang="en-US" i="1" baseline="30000" dirty="0"/>
              <a:t>3</a:t>
            </a:r>
            <a:r>
              <a:rPr lang="en-US" altLang="en-US" i="1" dirty="0"/>
              <a:t>t</a:t>
            </a:r>
            <a:r>
              <a:rPr lang="en-US" altLang="en-US" i="1" baseline="-25000" dirty="0"/>
              <a:t>i</a:t>
            </a:r>
            <a:r>
              <a:rPr lang="en-US" altLang="en-US" dirty="0"/>
              <a:t>)</a:t>
            </a:r>
          </a:p>
          <a:p>
            <a:r>
              <a:rPr lang="en-US" altLang="en-US" dirty="0"/>
              <a:t>Origination rate</a:t>
            </a:r>
          </a:p>
          <a:p>
            <a:pPr lvl="1"/>
            <a:r>
              <a:rPr lang="en-US" altLang="en-US" dirty="0" err="1"/>
              <a:t>λ</a:t>
            </a:r>
            <a:r>
              <a:rPr lang="en-US" altLang="en-US" i="1" baseline="-25000" dirty="0" err="1"/>
              <a:t>i</a:t>
            </a:r>
            <a:r>
              <a:rPr lang="en-US" altLang="en-US" i="1" dirty="0"/>
              <a:t> </a:t>
            </a:r>
            <a:r>
              <a:rPr lang="en-US" altLang="en-US" dirty="0"/>
              <a:t>= log (</a:t>
            </a:r>
            <a:r>
              <a:rPr lang="en-US" altLang="en-US" i="1" baseline="30000" dirty="0"/>
              <a:t>2</a:t>
            </a:r>
            <a:r>
              <a:rPr lang="en-US" altLang="en-US" i="1" dirty="0"/>
              <a:t>t</a:t>
            </a:r>
            <a:r>
              <a:rPr lang="en-US" altLang="en-US" i="1" baseline="-25000" dirty="0"/>
              <a:t>i+1</a:t>
            </a:r>
            <a:r>
              <a:rPr lang="en-US" altLang="en-US" dirty="0"/>
              <a:t>/</a:t>
            </a:r>
            <a:r>
              <a:rPr lang="en-US" altLang="en-US" i="1" baseline="30000" dirty="0"/>
              <a:t>3</a:t>
            </a:r>
            <a:r>
              <a:rPr lang="en-US" altLang="en-US" i="1" dirty="0"/>
              <a:t>t</a:t>
            </a:r>
            <a:r>
              <a:rPr lang="en-US" altLang="en-US" i="1" baseline="-25000" dirty="0"/>
              <a:t>i</a:t>
            </a:r>
            <a:r>
              <a:rPr lang="en-US" alt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839526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AD4C3DF0-390F-4D2C-9290-30AD8CD70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1802" y="1065770"/>
            <a:ext cx="5607242" cy="295433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5963F0AB-1AB2-4364-8CBD-35F7FE7BD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878" y="3429000"/>
            <a:ext cx="5539373" cy="2954332"/>
          </a:xfrm>
          <a:prstGeom prst="rect">
            <a:avLst/>
          </a:prstGeom>
        </p:spPr>
      </p:pic>
      <p:sp>
        <p:nvSpPr>
          <p:cNvPr id="47107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i="1" dirty="0"/>
              <a:t>Three timer completeness</a:t>
            </a:r>
          </a:p>
          <a:p>
            <a:pPr lvl="1"/>
            <a:r>
              <a:rPr lang="en-US" altLang="en-US" i="1" dirty="0" err="1"/>
              <a:t>P</a:t>
            </a:r>
            <a:r>
              <a:rPr lang="en-US" altLang="en-US" i="1" baseline="-25000" dirty="0" err="1"/>
              <a:t>s,i</a:t>
            </a:r>
            <a:r>
              <a:rPr lang="en-US" altLang="en-US" baseline="-25000" dirty="0"/>
              <a:t> </a:t>
            </a:r>
            <a:r>
              <a:rPr lang="en-US" altLang="en-US" dirty="0"/>
              <a:t>= </a:t>
            </a:r>
            <a:r>
              <a:rPr lang="en-US" altLang="en-US" i="1" baseline="30000" dirty="0"/>
              <a:t>3</a:t>
            </a:r>
            <a:r>
              <a:rPr lang="en-US" altLang="en-US" i="1" dirty="0"/>
              <a:t>t</a:t>
            </a:r>
            <a:r>
              <a:rPr lang="en-US" altLang="en-US" i="1" baseline="-25000" dirty="0"/>
              <a:t>i</a:t>
            </a:r>
            <a:r>
              <a:rPr lang="en-US" altLang="en-US" baseline="-25000" dirty="0"/>
              <a:t> </a:t>
            </a:r>
            <a:r>
              <a:rPr lang="en-US" altLang="en-US" dirty="0"/>
              <a:t>/(</a:t>
            </a:r>
            <a:r>
              <a:rPr lang="en-US" altLang="en-US" i="1" baseline="30000" dirty="0"/>
              <a:t>3</a:t>
            </a:r>
            <a:r>
              <a:rPr lang="en-US" altLang="en-US" i="1" dirty="0"/>
              <a:t>t</a:t>
            </a:r>
            <a:r>
              <a:rPr lang="en-US" altLang="en-US" i="1" baseline="-25000" dirty="0"/>
              <a:t>i</a:t>
            </a:r>
            <a:r>
              <a:rPr lang="en-US" altLang="en-US" dirty="0"/>
              <a:t>+</a:t>
            </a:r>
            <a:r>
              <a:rPr lang="en-US" altLang="en-US" i="1" baseline="30000" dirty="0"/>
              <a:t>p</a:t>
            </a:r>
            <a:r>
              <a:rPr lang="en-US" altLang="en-US" i="1" dirty="0"/>
              <a:t>t</a:t>
            </a:r>
            <a:r>
              <a:rPr lang="en-US" altLang="en-US" i="1" baseline="-25000" dirty="0"/>
              <a:t>i</a:t>
            </a:r>
            <a:r>
              <a:rPr lang="en-US" altLang="en-US" dirty="0"/>
              <a:t>) </a:t>
            </a:r>
          </a:p>
          <a:p>
            <a:r>
              <a:rPr lang="en-US" altLang="en-US" dirty="0"/>
              <a:t>Extinction rates</a:t>
            </a:r>
          </a:p>
          <a:p>
            <a:pPr lvl="1"/>
            <a:r>
              <a:rPr lang="en-US" altLang="en-US" dirty="0" err="1"/>
              <a:t>μ</a:t>
            </a:r>
            <a:r>
              <a:rPr lang="en-US" altLang="en-US" i="1" baseline="-25000" dirty="0" err="1"/>
              <a:t>i</a:t>
            </a:r>
            <a:r>
              <a:rPr lang="en-US" altLang="en-US" i="1" dirty="0"/>
              <a:t> </a:t>
            </a:r>
            <a:r>
              <a:rPr lang="en-US" altLang="en-US" dirty="0"/>
              <a:t>= log (</a:t>
            </a:r>
            <a:r>
              <a:rPr lang="en-US" altLang="en-US" i="1" baseline="30000" dirty="0"/>
              <a:t>2</a:t>
            </a:r>
            <a:r>
              <a:rPr lang="en-US" altLang="en-US" i="1" dirty="0"/>
              <a:t>t</a:t>
            </a:r>
            <a:r>
              <a:rPr lang="en-US" altLang="en-US" i="1" baseline="-25000" dirty="0"/>
              <a:t>i</a:t>
            </a:r>
            <a:r>
              <a:rPr lang="en-US" altLang="en-US" dirty="0"/>
              <a:t>/</a:t>
            </a:r>
            <a:r>
              <a:rPr lang="en-US" altLang="en-US" i="1" baseline="30000" dirty="0"/>
              <a:t>3</a:t>
            </a:r>
            <a:r>
              <a:rPr lang="en-US" altLang="en-US" i="1" dirty="0"/>
              <a:t>t</a:t>
            </a:r>
            <a:r>
              <a:rPr lang="en-US" altLang="en-US" i="1" baseline="-25000" dirty="0"/>
              <a:t>i</a:t>
            </a:r>
            <a:r>
              <a:rPr lang="en-US" altLang="en-US" dirty="0"/>
              <a:t>) + log (</a:t>
            </a:r>
            <a:r>
              <a:rPr lang="en-US" altLang="en-US" i="1" dirty="0"/>
              <a:t>P</a:t>
            </a:r>
            <a:r>
              <a:rPr lang="en-US" altLang="en-US" i="1" baseline="-25000" dirty="0"/>
              <a:t>s,i+1</a:t>
            </a:r>
            <a:r>
              <a:rPr lang="en-US" altLang="en-US" dirty="0"/>
              <a:t>)</a:t>
            </a:r>
          </a:p>
          <a:p>
            <a:r>
              <a:rPr lang="en-US" altLang="en-US" dirty="0"/>
              <a:t>Origination rates</a:t>
            </a:r>
          </a:p>
          <a:p>
            <a:pPr lvl="1"/>
            <a:r>
              <a:rPr lang="en-US" altLang="en-US" dirty="0" err="1"/>
              <a:t>λ</a:t>
            </a:r>
            <a:r>
              <a:rPr lang="en-US" altLang="en-US" i="1" baseline="-25000" dirty="0" err="1"/>
              <a:t>i</a:t>
            </a:r>
            <a:r>
              <a:rPr lang="en-US" altLang="en-US" i="1" dirty="0"/>
              <a:t> </a:t>
            </a:r>
            <a:r>
              <a:rPr lang="en-US" altLang="en-US" dirty="0"/>
              <a:t>= log (</a:t>
            </a:r>
            <a:r>
              <a:rPr lang="en-US" altLang="en-US" i="1" baseline="30000" dirty="0"/>
              <a:t>2</a:t>
            </a:r>
            <a:r>
              <a:rPr lang="en-US" altLang="en-US" i="1" dirty="0"/>
              <a:t>t</a:t>
            </a:r>
            <a:r>
              <a:rPr lang="en-US" altLang="en-US" i="1" baseline="-25000" dirty="0"/>
              <a:t>i+1</a:t>
            </a:r>
            <a:r>
              <a:rPr lang="en-US" altLang="en-US" dirty="0"/>
              <a:t>/</a:t>
            </a:r>
            <a:r>
              <a:rPr lang="en-US" altLang="en-US" i="1" baseline="30000" dirty="0"/>
              <a:t>3</a:t>
            </a:r>
            <a:r>
              <a:rPr lang="en-US" altLang="en-US" i="1" dirty="0"/>
              <a:t>t</a:t>
            </a:r>
            <a:r>
              <a:rPr lang="en-US" altLang="en-US" i="1" baseline="-25000" dirty="0"/>
              <a:t>i</a:t>
            </a:r>
            <a:r>
              <a:rPr lang="en-US" altLang="en-US" dirty="0"/>
              <a:t>) + log (</a:t>
            </a:r>
            <a:r>
              <a:rPr lang="en-US" altLang="en-US" i="1" dirty="0"/>
              <a:t>P</a:t>
            </a:r>
            <a:r>
              <a:rPr lang="en-US" altLang="en-US" i="1" baseline="-25000" dirty="0"/>
              <a:t>s,i-1</a:t>
            </a:r>
            <a:r>
              <a:rPr lang="en-US" altLang="en-US" dirty="0"/>
              <a:t>) </a:t>
            </a:r>
          </a:p>
          <a:p>
            <a:pPr lvl="1"/>
            <a:endParaRPr lang="en-US" alt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FC1EF8E-F176-409E-83BB-41D166A04941}"/>
              </a:ext>
            </a:extLst>
          </p:cNvPr>
          <p:cNvSpPr/>
          <p:nvPr/>
        </p:nvSpPr>
        <p:spPr>
          <a:xfrm>
            <a:off x="6224104" y="1065770"/>
            <a:ext cx="561009" cy="3522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0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Correcting observed rates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E34847E-8CE3-4FE3-B742-D41D5C628B93}"/>
              </a:ext>
            </a:extLst>
          </p:cNvPr>
          <p:cNvSpPr txBox="1"/>
          <p:nvPr/>
        </p:nvSpPr>
        <p:spPr>
          <a:xfrm rot="16200000">
            <a:off x="9957396" y="3626797"/>
            <a:ext cx="4023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Kiessling and Simpson (2011, Global Change Biology)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9E0C885-5E99-471B-8E6B-9FF98A7CF2CE}"/>
              </a:ext>
            </a:extLst>
          </p:cNvPr>
          <p:cNvSpPr txBox="1"/>
          <p:nvPr/>
        </p:nvSpPr>
        <p:spPr>
          <a:xfrm>
            <a:off x="8485642" y="1065770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Raw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2F66DB41-014D-4F94-94A0-F0911B43754F}"/>
              </a:ext>
            </a:extLst>
          </p:cNvPr>
          <p:cNvSpPr txBox="1"/>
          <p:nvPr/>
        </p:nvSpPr>
        <p:spPr>
          <a:xfrm>
            <a:off x="8555750" y="3294063"/>
            <a:ext cx="2259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Three-timer corrected</a:t>
            </a:r>
          </a:p>
        </p:txBody>
      </p:sp>
    </p:spTree>
    <p:extLst>
      <p:ext uri="{BB962C8B-B14F-4D97-AF65-F5344CB8AC3E}">
        <p14:creationId xmlns:p14="http://schemas.microsoft.com/office/powerpoint/2010/main" val="277828965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9437E-DD65-47AE-A718-65B9481C0A9E}" type="slidenum">
              <a:rPr lang="de-DE" smtClean="0"/>
              <a:pPr/>
              <a:t>51</a:t>
            </a:fld>
            <a:endParaRPr lang="de-DE" dirty="0"/>
          </a:p>
        </p:txBody>
      </p:sp>
      <p:sp>
        <p:nvSpPr>
          <p:cNvPr id="2" name="Inhaltsplatzhalter 1"/>
          <p:cNvSpPr>
            <a:spLocks noGrp="1"/>
          </p:cNvSpPr>
          <p:nvPr>
            <p:ph sz="quarter" idx="4294967295"/>
          </p:nvPr>
        </p:nvSpPr>
        <p:spPr>
          <a:xfrm>
            <a:off x="1071563" y="849313"/>
            <a:ext cx="11120437" cy="5573712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2"/>
                </a:solidFill>
              </a:rPr>
              <a:t>Three-timer turnover rates</a:t>
            </a:r>
          </a:p>
          <a:p>
            <a:pPr marL="457200" indent="-457200"/>
            <a:r>
              <a:rPr lang="en-US" sz="2400" dirty="0"/>
              <a:t>These and </a:t>
            </a:r>
            <a:r>
              <a:rPr lang="en-US" sz="2400" dirty="0" err="1"/>
              <a:t>derivates</a:t>
            </a:r>
            <a:r>
              <a:rPr lang="en-US" sz="2400" dirty="0"/>
              <a:t> (gap-filler equations) are the method of choice at Phanerozoic time scales and for large datasets</a:t>
            </a:r>
          </a:p>
          <a:p>
            <a:pPr marL="457200" indent="-457200"/>
            <a:r>
              <a:rPr lang="en-US" sz="2400" dirty="0"/>
              <a:t>Random sampling error is problem</a:t>
            </a:r>
          </a:p>
          <a:p>
            <a:pPr marL="457200" indent="-457200"/>
            <a:r>
              <a:rPr lang="en-US" sz="2400" dirty="0"/>
              <a:t>Extinction (E) in time interval </a:t>
            </a:r>
            <a:r>
              <a:rPr lang="en-US" sz="2400" dirty="0" err="1"/>
              <a:t>i</a:t>
            </a:r>
            <a:r>
              <a:rPr lang="en-US" sz="2400" dirty="0"/>
              <a:t> estimated only between two consecutive bins and corrected by preservation in the subsequent bin (P</a:t>
            </a:r>
            <a:r>
              <a:rPr lang="en-US" sz="2400" baseline="-25000" dirty="0"/>
              <a:t>i+1</a:t>
            </a:r>
            <a:r>
              <a:rPr lang="en-US" sz="2400" dirty="0"/>
              <a:t>)</a:t>
            </a:r>
          </a:p>
          <a:p>
            <a:pPr marL="457200" indent="-457200"/>
            <a:r>
              <a:rPr lang="en-US" sz="2400" dirty="0"/>
              <a:t>Two-timers, three-timers and part-timers are crucial to simultaneously estimate rates and preservation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173A059-DF23-4B6D-AB86-BE549E9E2CC5}"/>
              </a:ext>
            </a:extLst>
          </p:cNvPr>
          <p:cNvSpPr txBox="1"/>
          <p:nvPr/>
        </p:nvSpPr>
        <p:spPr>
          <a:xfrm>
            <a:off x="1868116" y="5510421"/>
            <a:ext cx="662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/>
              <a:t>PyRate</a:t>
            </a:r>
            <a:r>
              <a:rPr lang="en-US" sz="2400" dirty="0"/>
              <a:t> does a similar thing in a Bayesian framework (see lecture by Daniele Silvestro)</a:t>
            </a:r>
          </a:p>
        </p:txBody>
      </p:sp>
    </p:spTree>
    <p:extLst>
      <p:ext uri="{BB962C8B-B14F-4D97-AF65-F5344CB8AC3E}">
        <p14:creationId xmlns:p14="http://schemas.microsoft.com/office/powerpoint/2010/main" val="421282971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timers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759437E-DD65-47AE-A718-65B9481C0A9E}" type="slidenum">
              <a:rPr lang="de-DE" smtClean="0"/>
              <a:pPr/>
              <a:t>52</a:t>
            </a:fld>
            <a:endParaRPr lang="de-DE" dirty="0"/>
          </a:p>
        </p:txBody>
      </p:sp>
      <p:sp>
        <p:nvSpPr>
          <p:cNvPr id="6" name="Textfeld 5"/>
          <p:cNvSpPr txBox="1"/>
          <p:nvPr/>
        </p:nvSpPr>
        <p:spPr>
          <a:xfrm>
            <a:off x="7282870" y="983975"/>
            <a:ext cx="3385131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Example</a:t>
            </a:r>
          </a:p>
          <a:p>
            <a:r>
              <a:rPr lang="en-US" dirty="0"/>
              <a:t>Estimate of extinction rate in bin </a:t>
            </a:r>
            <a:r>
              <a:rPr lang="en-US" dirty="0" err="1"/>
              <a:t>i</a:t>
            </a:r>
            <a:r>
              <a:rPr lang="en-US" dirty="0"/>
              <a:t> (</a:t>
            </a:r>
            <a:r>
              <a:rPr lang="en-US" dirty="0" err="1"/>
              <a:t>E</a:t>
            </a:r>
            <a:r>
              <a:rPr lang="en-US" baseline="-25000" dirty="0" err="1"/>
              <a:t>i</a:t>
            </a:r>
            <a:r>
              <a:rPr lang="en-US" dirty="0"/>
              <a:t>)</a:t>
            </a:r>
          </a:p>
          <a:p>
            <a:r>
              <a:rPr lang="en-US" dirty="0"/>
              <a:t>Three-timers (3T): 3</a:t>
            </a:r>
          </a:p>
          <a:p>
            <a:r>
              <a:rPr lang="en-US" dirty="0"/>
              <a:t>Two-timers (2Tb): 2 + 3</a:t>
            </a:r>
          </a:p>
          <a:p>
            <a:r>
              <a:rPr lang="en-US" dirty="0" err="1"/>
              <a:t>E</a:t>
            </a:r>
            <a:r>
              <a:rPr lang="en-US" baseline="-25000" dirty="0" err="1"/>
              <a:t>i</a:t>
            </a:r>
            <a:r>
              <a:rPr lang="en-US" dirty="0"/>
              <a:t> = log(2Tb/3T) = ln(5/3) =  0.51</a:t>
            </a:r>
          </a:p>
          <a:p>
            <a:endParaRPr lang="en-US" dirty="0"/>
          </a:p>
          <a:p>
            <a:r>
              <a:rPr lang="en-US" dirty="0"/>
              <a:t>Preservation in next interval</a:t>
            </a:r>
          </a:p>
          <a:p>
            <a:r>
              <a:rPr lang="en-US" dirty="0"/>
              <a:t>P</a:t>
            </a:r>
            <a:r>
              <a:rPr lang="en-US" baseline="-25000" dirty="0"/>
              <a:t>i+1</a:t>
            </a:r>
            <a:r>
              <a:rPr lang="en-US" dirty="0"/>
              <a:t> = 3T</a:t>
            </a:r>
            <a:r>
              <a:rPr lang="en-US" baseline="-25000" dirty="0"/>
              <a:t>i+1</a:t>
            </a:r>
            <a:r>
              <a:rPr lang="en-US" dirty="0"/>
              <a:t>/(3T</a:t>
            </a:r>
            <a:r>
              <a:rPr lang="en-US" baseline="-25000" dirty="0"/>
              <a:t>i+1</a:t>
            </a:r>
            <a:r>
              <a:rPr lang="en-US" dirty="0"/>
              <a:t>+PT</a:t>
            </a:r>
            <a:r>
              <a:rPr lang="en-US" baseline="-25000" dirty="0"/>
              <a:t>i+1</a:t>
            </a:r>
            <a:r>
              <a:rPr lang="en-US" dirty="0"/>
              <a:t>) = 3/(3+2) = 0.6</a:t>
            </a:r>
          </a:p>
          <a:p>
            <a:endParaRPr lang="en-US" dirty="0"/>
          </a:p>
          <a:p>
            <a:r>
              <a:rPr lang="en-US" dirty="0"/>
              <a:t>Corrected extinction rate</a:t>
            </a:r>
          </a:p>
          <a:p>
            <a:r>
              <a:rPr lang="en-US" dirty="0" err="1"/>
              <a:t>Ec</a:t>
            </a:r>
            <a:r>
              <a:rPr lang="en-US" baseline="-25000" dirty="0" err="1"/>
              <a:t>i</a:t>
            </a:r>
            <a:r>
              <a:rPr lang="en-US" dirty="0"/>
              <a:t> = 0.51 + ln(0.6) = 0</a:t>
            </a:r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8" name="Gerade Verbindung mit Pfeil 7"/>
          <p:cNvCxnSpPr/>
          <p:nvPr/>
        </p:nvCxnSpPr>
        <p:spPr>
          <a:xfrm>
            <a:off x="3183836" y="6261652"/>
            <a:ext cx="2773017" cy="0"/>
          </a:xfrm>
          <a:prstGeom prst="straightConnector1">
            <a:avLst/>
          </a:prstGeom>
          <a:ln w="539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feld 8"/>
          <p:cNvSpPr txBox="1"/>
          <p:nvPr/>
        </p:nvSpPr>
        <p:spPr>
          <a:xfrm>
            <a:off x="4018723" y="6261652"/>
            <a:ext cx="649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6180584" y="6548557"/>
            <a:ext cx="25386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Partly based on Alroy (2010)</a:t>
            </a:r>
          </a:p>
        </p:txBody>
      </p:sp>
      <p:pic>
        <p:nvPicPr>
          <p:cNvPr id="11" name="Grafik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183" y="1391946"/>
            <a:ext cx="4880113" cy="4488108"/>
          </a:xfrm>
          <a:prstGeom prst="rect">
            <a:avLst/>
          </a:prstGeom>
        </p:spPr>
      </p:pic>
      <p:sp>
        <p:nvSpPr>
          <p:cNvPr id="12" name="Rechteck 11"/>
          <p:cNvSpPr/>
          <p:nvPr/>
        </p:nvSpPr>
        <p:spPr>
          <a:xfrm>
            <a:off x="5836575" y="5516376"/>
            <a:ext cx="147446" cy="1474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hteck 12"/>
          <p:cNvSpPr/>
          <p:nvPr/>
        </p:nvSpPr>
        <p:spPr>
          <a:xfrm>
            <a:off x="5836575" y="4624415"/>
            <a:ext cx="147446" cy="1474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hteck 13"/>
          <p:cNvSpPr/>
          <p:nvPr/>
        </p:nvSpPr>
        <p:spPr>
          <a:xfrm>
            <a:off x="5836575" y="4167446"/>
            <a:ext cx="147446" cy="1621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/>
          <p:cNvSpPr/>
          <p:nvPr/>
        </p:nvSpPr>
        <p:spPr>
          <a:xfrm>
            <a:off x="7282869" y="1844824"/>
            <a:ext cx="3385130" cy="32403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61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Occurrence data are key</a:t>
            </a:r>
          </a:p>
        </p:txBody>
      </p:sp>
      <p:sp>
        <p:nvSpPr>
          <p:cNvPr id="7171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Stratigraphical (and geographical) ranges not suitable for sampling standardization</a:t>
            </a:r>
          </a:p>
          <a:p>
            <a:r>
              <a:rPr lang="en-US" altLang="en-US" dirty="0"/>
              <a:t>Must know how much has been sampled from each interval</a:t>
            </a:r>
          </a:p>
          <a:p>
            <a:r>
              <a:rPr lang="en-US" altLang="en-US" dirty="0"/>
              <a:t>Data on actual occurrences need to be compiled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053456" y="466725"/>
            <a:ext cx="9157344" cy="1371600"/>
          </a:xfrm>
        </p:spPr>
        <p:txBody>
          <a:bodyPr>
            <a:normAutofit/>
          </a:bodyPr>
          <a:lstStyle/>
          <a:p>
            <a:pPr eaLnBrk="1" hangingPunct="1"/>
            <a:r>
              <a:rPr lang="en-GB" altLang="en-US" dirty="0"/>
              <a:t>The Paleobiology Database: A Core Infrastructure for the Biogeosciences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06989" y="2258522"/>
            <a:ext cx="5127625" cy="38862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GB" altLang="en-US" sz="2400" dirty="0"/>
              <a:t>Founded in 1998, funded by NSF (2000-2005, 2010-2015) and other sources</a:t>
            </a:r>
          </a:p>
          <a:p>
            <a:pPr eaLnBrk="1" hangingPunct="1">
              <a:lnSpc>
                <a:spcPct val="90000"/>
              </a:lnSpc>
            </a:pPr>
            <a:r>
              <a:rPr lang="en-GB" altLang="en-US" sz="2400" dirty="0"/>
              <a:t>Driven by a scientific question</a:t>
            </a:r>
          </a:p>
          <a:p>
            <a:pPr lvl="1" eaLnBrk="1" hangingPunct="1">
              <a:lnSpc>
                <a:spcPct val="90000"/>
              </a:lnSpc>
            </a:pPr>
            <a:r>
              <a:rPr lang="en-GB" altLang="en-US" sz="2000" dirty="0"/>
              <a:t>Was the rise of marine biodiversity in the last 200 myr as dramatic as suggested by compendia of stratigraphic ranges?</a:t>
            </a:r>
          </a:p>
          <a:p>
            <a:pPr lvl="1" eaLnBrk="1" hangingPunct="1">
              <a:lnSpc>
                <a:spcPct val="90000"/>
              </a:lnSpc>
            </a:pPr>
            <a:r>
              <a:rPr lang="en-GB" altLang="en-US" sz="2000" dirty="0"/>
              <a:t>Collect occurrence data, apply sampling standardization and use fossil data only</a:t>
            </a:r>
          </a:p>
        </p:txBody>
      </p:sp>
      <p:pic>
        <p:nvPicPr>
          <p:cNvPr id="17412" name="Picture 2" descr="http://paleobiodb.org/build/img/logo_clear_color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2905" y="2598819"/>
            <a:ext cx="2710966" cy="27109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414" name="Textfeld 6"/>
          <p:cNvSpPr txBox="1">
            <a:spLocks noChangeArrowheads="1"/>
          </p:cNvSpPr>
          <p:nvPr/>
        </p:nvSpPr>
        <p:spPr bwMode="auto">
          <a:xfrm>
            <a:off x="7208130" y="2058467"/>
            <a:ext cx="352051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b="1" dirty="0"/>
              <a:t>The Paleobiology Database</a:t>
            </a:r>
          </a:p>
        </p:txBody>
      </p:sp>
    </p:spTree>
    <p:extLst>
      <p:ext uri="{BB962C8B-B14F-4D97-AF65-F5344CB8AC3E}">
        <p14:creationId xmlns:p14="http://schemas.microsoft.com/office/powerpoint/2010/main" val="407002479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1686234" y="485330"/>
            <a:ext cx="5554663" cy="1081087"/>
          </a:xfrm>
          <a:solidFill>
            <a:schemeClr val="bg1"/>
          </a:solidFill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Paleobiology Database Endeavour 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580887" y="1971090"/>
            <a:ext cx="5697538" cy="4281488"/>
          </a:xfrm>
        </p:spPr>
        <p:txBody>
          <a:bodyPr/>
          <a:lstStyle/>
          <a:p>
            <a:pPr eaLnBrk="1" hangingPunct="1"/>
            <a:r>
              <a:rPr lang="en-US" altLang="en-US" dirty="0"/>
              <a:t>300 scientists from 150 institutions in 30 countries</a:t>
            </a:r>
          </a:p>
          <a:p>
            <a:pPr eaLnBrk="1" hangingPunct="1"/>
            <a:r>
              <a:rPr lang="en-US" altLang="en-US" dirty="0"/>
              <a:t>241,700 collections with 1,663,000 occurrences of 513,000 taxa</a:t>
            </a:r>
          </a:p>
          <a:p>
            <a:pPr eaLnBrk="1" hangingPunct="1"/>
            <a:r>
              <a:rPr lang="en-US" altLang="en-US" dirty="0"/>
              <a:t>20% of data from MfN/FAU</a:t>
            </a:r>
          </a:p>
          <a:p>
            <a:pPr eaLnBrk="1" hangingPunct="1"/>
            <a:r>
              <a:rPr lang="en-US" altLang="en-US" dirty="0">
                <a:hlinkClick r:id="rId3"/>
              </a:rPr>
              <a:t>https://paleobiodb.org</a:t>
            </a:r>
            <a:r>
              <a:rPr lang="en-US" altLang="en-US" dirty="0"/>
              <a:t> 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endParaRPr lang="en-US" altLang="en-US" dirty="0"/>
          </a:p>
          <a:p>
            <a:pPr eaLnBrk="1" hangingPunct="1">
              <a:lnSpc>
                <a:spcPct val="80000"/>
              </a:lnSpc>
            </a:pPr>
            <a:endParaRPr lang="en-US" altLang="en-US" dirty="0"/>
          </a:p>
        </p:txBody>
      </p:sp>
      <p:pic>
        <p:nvPicPr>
          <p:cNvPr id="21508" name="Picture 2" descr="http://paleobiodb.org/build/img/logo_clear_color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7288" y="765175"/>
            <a:ext cx="2663825" cy="266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4169478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>
          <a:xfrm>
            <a:off x="5965826" y="1387476"/>
            <a:ext cx="4841875" cy="5454651"/>
            <a:chOff x="4441825" y="1387475"/>
            <a:chExt cx="4841875" cy="5454651"/>
          </a:xfrm>
        </p:grpSpPr>
        <p:grpSp>
          <p:nvGrpSpPr>
            <p:cNvPr id="38914" name="Group 2"/>
            <p:cNvGrpSpPr>
              <a:grpSpLocks/>
            </p:cNvGrpSpPr>
            <p:nvPr/>
          </p:nvGrpSpPr>
          <p:grpSpPr bwMode="auto">
            <a:xfrm>
              <a:off x="4441825" y="1387475"/>
              <a:ext cx="4841875" cy="5454651"/>
              <a:chOff x="2798" y="874"/>
              <a:chExt cx="3050" cy="3436"/>
            </a:xfrm>
          </p:grpSpPr>
          <p:pic>
            <p:nvPicPr>
              <p:cNvPr id="38915" name="Picture 3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98" y="874"/>
                <a:ext cx="3050" cy="265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38916" name="Text Box 4"/>
              <p:cNvSpPr txBox="1">
                <a:spLocks noChangeArrowheads="1"/>
              </p:cNvSpPr>
              <p:nvPr/>
            </p:nvSpPr>
            <p:spPr bwMode="auto">
              <a:xfrm>
                <a:off x="3142" y="3412"/>
                <a:ext cx="386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altLang="en-US" dirty="0"/>
                  <a:t>New</a:t>
                </a:r>
              </a:p>
            </p:txBody>
          </p:sp>
          <p:sp>
            <p:nvSpPr>
              <p:cNvPr id="38917" name="Text Box 5"/>
              <p:cNvSpPr txBox="1">
                <a:spLocks noChangeArrowheads="1"/>
              </p:cNvSpPr>
              <p:nvPr/>
            </p:nvSpPr>
            <p:spPr bwMode="auto">
              <a:xfrm>
                <a:off x="3124" y="3722"/>
                <a:ext cx="2505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altLang="en-US"/>
                  <a:t>Logistic post-Triassic rise</a:t>
                </a:r>
              </a:p>
            </p:txBody>
          </p:sp>
          <p:sp>
            <p:nvSpPr>
              <p:cNvPr id="38918" name="Text Box 6"/>
              <p:cNvSpPr txBox="1">
                <a:spLocks noChangeArrowheads="1"/>
              </p:cNvSpPr>
              <p:nvPr/>
            </p:nvSpPr>
            <p:spPr bwMode="auto">
              <a:xfrm>
                <a:off x="3181" y="4116"/>
                <a:ext cx="1333" cy="19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altLang="en-US" sz="1400" dirty="0"/>
                  <a:t>Alroy et al. (2008, Science)</a:t>
                </a:r>
              </a:p>
            </p:txBody>
          </p:sp>
        </p:grpSp>
        <p:pic>
          <p:nvPicPr>
            <p:cNvPr id="14" name="Inhaltsplatzhalter 3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71933" y="3828637"/>
              <a:ext cx="1143046" cy="1041960"/>
            </a:xfrm>
            <a:prstGeom prst="rect">
              <a:avLst/>
            </a:prstGeom>
          </p:spPr>
        </p:pic>
      </p:grpSp>
      <p:sp>
        <p:nvSpPr>
          <p:cNvPr id="38919" name="Rectangle 7"/>
          <p:cNvSpPr>
            <a:spLocks noGrp="1" noChangeArrowheads="1"/>
          </p:cNvSpPr>
          <p:nvPr>
            <p:ph type="title"/>
          </p:nvPr>
        </p:nvSpPr>
        <p:spPr>
          <a:xfrm>
            <a:off x="2455864" y="765176"/>
            <a:ext cx="7158037" cy="576263"/>
          </a:xfrm>
        </p:spPr>
        <p:txBody>
          <a:bodyPr/>
          <a:lstStyle/>
          <a:p>
            <a:r>
              <a:rPr lang="de-DE" altLang="en-US" sz="3200" dirty="0"/>
              <a:t>Marine </a:t>
            </a:r>
            <a:r>
              <a:rPr lang="de-DE" altLang="en-US" sz="3200" dirty="0" err="1"/>
              <a:t>Biodiversity</a:t>
            </a:r>
            <a:r>
              <a:rPr lang="de-DE" altLang="en-US" sz="3200" dirty="0"/>
              <a:t> Through Time</a:t>
            </a:r>
          </a:p>
        </p:txBody>
      </p:sp>
      <p:sp>
        <p:nvSpPr>
          <p:cNvPr id="38920" name="Text Box 8"/>
          <p:cNvSpPr txBox="1">
            <a:spLocks noChangeArrowheads="1"/>
          </p:cNvSpPr>
          <p:nvPr/>
        </p:nvSpPr>
        <p:spPr bwMode="auto">
          <a:xfrm>
            <a:off x="1957389" y="5416550"/>
            <a:ext cx="51167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US" dirty="0"/>
              <a:t>Old</a:t>
            </a:r>
          </a:p>
        </p:txBody>
      </p:sp>
      <p:sp>
        <p:nvSpPr>
          <p:cNvPr id="38921" name="Text Box 9"/>
          <p:cNvSpPr txBox="1">
            <a:spLocks noChangeArrowheads="1"/>
          </p:cNvSpPr>
          <p:nvPr/>
        </p:nvSpPr>
        <p:spPr bwMode="auto">
          <a:xfrm>
            <a:off x="2066925" y="5908676"/>
            <a:ext cx="39766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dirty="0"/>
              <a:t>Exponential post-Paleozoic rise</a:t>
            </a:r>
          </a:p>
        </p:txBody>
      </p:sp>
      <p:sp>
        <p:nvSpPr>
          <p:cNvPr id="38922" name="Text Box 10"/>
          <p:cNvSpPr txBox="1">
            <a:spLocks noChangeArrowheads="1"/>
          </p:cNvSpPr>
          <p:nvPr/>
        </p:nvSpPr>
        <p:spPr bwMode="auto">
          <a:xfrm>
            <a:off x="2130426" y="6533850"/>
            <a:ext cx="314162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US" sz="1400" dirty="0"/>
              <a:t>Data from Sepkoski (2002, Bull. Am. Pal.)</a:t>
            </a:r>
          </a:p>
        </p:txBody>
      </p:sp>
      <p:graphicFrame>
        <p:nvGraphicFramePr>
          <p:cNvPr id="38923" name="Object 11"/>
          <p:cNvGraphicFramePr>
            <a:graphicFrameLocks noGrp="1" noChangeAspect="1"/>
          </p:cNvGraphicFramePr>
          <p:nvPr>
            <p:ph idx="1"/>
          </p:nvPr>
        </p:nvGraphicFramePr>
        <p:xfrm>
          <a:off x="8553450" y="1689100"/>
          <a:ext cx="2235200" cy="2673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orelDRAW" r:id="rId5" imgW="2795400" imgH="2705400" progId="CorelDRAW.Graphic.13">
                  <p:embed/>
                </p:oleObj>
              </mc:Choice>
              <mc:Fallback>
                <p:oleObj name="CorelDRAW" r:id="rId5" imgW="2795400" imgH="2705400" progId="CorelDRAW.Graphic.13">
                  <p:embed/>
                  <p:pic>
                    <p:nvPicPr>
                      <p:cNvPr id="38923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53450" y="1689100"/>
                        <a:ext cx="2235200" cy="2673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8924" name="Picture 1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371600"/>
            <a:ext cx="4852988" cy="422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8925" name="Picture 13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751" y="1916114"/>
            <a:ext cx="1584325" cy="154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64625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7944" y="726427"/>
            <a:ext cx="6964064" cy="57407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feld 3"/>
          <p:cNvSpPr txBox="1"/>
          <p:nvPr/>
        </p:nvSpPr>
        <p:spPr>
          <a:xfrm>
            <a:off x="7059872" y="1720347"/>
            <a:ext cx="1482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Sepkoski </a:t>
            </a:r>
            <a:r>
              <a:rPr lang="de-DE" dirty="0" err="1"/>
              <a:t>Curve</a:t>
            </a:r>
            <a:endParaRPr lang="de-DE" dirty="0"/>
          </a:p>
        </p:txBody>
      </p:sp>
      <p:sp>
        <p:nvSpPr>
          <p:cNvPr id="5" name="Textfeld 4"/>
          <p:cNvSpPr txBox="1"/>
          <p:nvPr/>
        </p:nvSpPr>
        <p:spPr>
          <a:xfrm>
            <a:off x="8509984" y="3974282"/>
            <a:ext cx="1261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PBDB </a:t>
            </a:r>
            <a:r>
              <a:rPr lang="de-DE" dirty="0" err="1"/>
              <a:t>Curve</a:t>
            </a:r>
            <a:endParaRPr lang="de-DE" dirty="0"/>
          </a:p>
        </p:txBody>
      </p:sp>
      <p:cxnSp>
        <p:nvCxnSpPr>
          <p:cNvPr id="6" name="Gerade Verbindung mit Pfeil 5"/>
          <p:cNvCxnSpPr>
            <a:stCxn id="5" idx="1"/>
          </p:cNvCxnSpPr>
          <p:nvPr/>
        </p:nvCxnSpPr>
        <p:spPr>
          <a:xfrm flipH="1" flipV="1">
            <a:off x="8302640" y="3974282"/>
            <a:ext cx="207344" cy="184666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/>
          <p:cNvCxnSpPr/>
          <p:nvPr/>
        </p:nvCxnSpPr>
        <p:spPr>
          <a:xfrm>
            <a:off x="8158624" y="2022571"/>
            <a:ext cx="504056" cy="144016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91525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Pull-of-the-Recent as the major cause of diversity rise</a:t>
            </a:r>
          </a:p>
        </p:txBody>
      </p:sp>
      <p:sp>
        <p:nvSpPr>
          <p:cNvPr id="8" name="Rechteck 7"/>
          <p:cNvSpPr/>
          <p:nvPr/>
        </p:nvSpPr>
        <p:spPr>
          <a:xfrm>
            <a:off x="9896640" y="6217197"/>
            <a:ext cx="23839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1400" dirty="0">
                <a:latin typeface="sans-serif" charset="0"/>
              </a:rPr>
              <a:t>Alroy et al. (2008, Science) 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168393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EBCBB0F-F7D7-4B8E-845C-CD49689DB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4067"/>
            <a:ext cx="12192000" cy="586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22568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The Structure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dirty="0"/>
              <a:t>Basic information is the occurrence of a particular taxon (species, genus or higher) in a particular collection (i.e. sample or outcrop …)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References linked to occurrences and collections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Geographic and geologic context stored with each collection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Taxa classified according to multiple opinions (synonymies, re-identifications)</a:t>
            </a:r>
          </a:p>
        </p:txBody>
      </p:sp>
    </p:spTree>
    <p:extLst>
      <p:ext uri="{BB962C8B-B14F-4D97-AF65-F5344CB8AC3E}">
        <p14:creationId xmlns:p14="http://schemas.microsoft.com/office/powerpoint/2010/main" val="282279080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en-US" sz="3200"/>
              <a:t>Navigator: </a:t>
            </a:r>
            <a:r>
              <a:rPr lang="de-DE" altLang="en-US" sz="3200">
                <a:hlinkClick r:id="rId2"/>
              </a:rPr>
              <a:t>http://www.paleobiodb.org/navigator/</a:t>
            </a:r>
            <a:r>
              <a:rPr lang="de-DE" altLang="en-US" sz="3200"/>
              <a:t> </a:t>
            </a:r>
          </a:p>
        </p:txBody>
      </p:sp>
      <p:sp>
        <p:nvSpPr>
          <p:cNvPr id="27651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altLang="en-US" dirty="0"/>
              <a:t>Easy </a:t>
            </a:r>
            <a:r>
              <a:rPr lang="de-DE" altLang="en-US" dirty="0" err="1"/>
              <a:t>to</a:t>
            </a:r>
            <a:r>
              <a:rPr lang="de-DE" altLang="en-US" dirty="0"/>
              <a:t> </a:t>
            </a:r>
            <a:r>
              <a:rPr lang="de-DE" altLang="en-US" dirty="0" err="1"/>
              <a:t>use</a:t>
            </a:r>
            <a:r>
              <a:rPr lang="de-DE" altLang="en-US" dirty="0"/>
              <a:t> </a:t>
            </a:r>
            <a:r>
              <a:rPr lang="de-DE" altLang="en-US" dirty="0" err="1"/>
              <a:t>system</a:t>
            </a:r>
            <a:r>
              <a:rPr lang="de-DE" altLang="en-US" dirty="0"/>
              <a:t> for </a:t>
            </a:r>
            <a:r>
              <a:rPr lang="de-DE" altLang="en-US" dirty="0" err="1"/>
              <a:t>exploring</a:t>
            </a:r>
            <a:r>
              <a:rPr lang="de-DE" altLang="en-US" dirty="0"/>
              <a:t> </a:t>
            </a:r>
            <a:r>
              <a:rPr lang="de-DE" altLang="en-US" dirty="0" err="1"/>
              <a:t>data</a:t>
            </a:r>
            <a:endParaRPr lang="de-DE" altLang="en-US" dirty="0"/>
          </a:p>
          <a:p>
            <a:pPr lvl="1"/>
            <a:r>
              <a:rPr lang="de-DE" altLang="en-US" dirty="0" err="1"/>
              <a:t>Pleistocene</a:t>
            </a:r>
            <a:r>
              <a:rPr lang="de-DE" altLang="en-US" dirty="0"/>
              <a:t> </a:t>
            </a:r>
            <a:r>
              <a:rPr lang="de-DE" altLang="en-US" dirty="0" err="1"/>
              <a:t>coral</a:t>
            </a:r>
            <a:r>
              <a:rPr lang="de-DE" altLang="en-US" dirty="0"/>
              <a:t> </a:t>
            </a:r>
            <a:r>
              <a:rPr lang="de-DE" altLang="en-US" dirty="0" err="1"/>
              <a:t>occurrences</a:t>
            </a:r>
            <a:r>
              <a:rPr lang="de-DE" altLang="en-US" dirty="0"/>
              <a:t> </a:t>
            </a:r>
            <a:r>
              <a:rPr lang="de-DE" altLang="en-US" dirty="0" err="1"/>
              <a:t>from</a:t>
            </a:r>
            <a:r>
              <a:rPr lang="de-DE" altLang="en-US" dirty="0"/>
              <a:t> </a:t>
            </a:r>
            <a:r>
              <a:rPr lang="de-DE" altLang="en-US" dirty="0" err="1"/>
              <a:t>the</a:t>
            </a:r>
            <a:r>
              <a:rPr lang="de-DE" altLang="en-US" dirty="0"/>
              <a:t> </a:t>
            </a:r>
            <a:r>
              <a:rPr lang="de-DE" altLang="en-US" dirty="0" err="1"/>
              <a:t>Red</a:t>
            </a:r>
            <a:r>
              <a:rPr lang="de-DE" altLang="en-US" dirty="0"/>
              <a:t> </a:t>
            </a:r>
            <a:r>
              <a:rPr lang="de-DE" altLang="en-US" dirty="0" err="1"/>
              <a:t>Sea</a:t>
            </a:r>
            <a:r>
              <a:rPr lang="de-DE" altLang="en-US" dirty="0"/>
              <a:t> </a:t>
            </a:r>
          </a:p>
        </p:txBody>
      </p:sp>
      <p:pic>
        <p:nvPicPr>
          <p:cNvPr id="2765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9561" y="2812985"/>
            <a:ext cx="4392612" cy="3594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1119793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Downloading Data (Paleobiodb)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en-US" dirty="0"/>
              <a:t>The most important step for further analyses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US" dirty="0"/>
              <a:t>Virtually all data in the PaleoDB are open access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US" dirty="0"/>
              <a:t>Downloads in csv format 	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US" dirty="0">
                <a:hlinkClick r:id="rId3"/>
              </a:rPr>
              <a:t>https://paleobiodb.org/classic/displayDownloadGenerator</a:t>
            </a:r>
            <a:r>
              <a:rPr lang="en-US" altLang="en-US" dirty="0"/>
              <a:t> 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dirty="0"/>
              <a:t>Need to select something, cannot download all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dirty="0"/>
              <a:t>Choose output options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dirty="0"/>
              <a:t>Do not include metadata in output to facilitate workflow</a:t>
            </a:r>
          </a:p>
          <a:p>
            <a:pPr eaLnBrk="1" hangingPunct="1">
              <a:lnSpc>
                <a:spcPct val="8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4021808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Quick Access Options</a:t>
            </a:r>
          </a:p>
        </p:txBody>
      </p:sp>
      <p:sp>
        <p:nvSpPr>
          <p:cNvPr id="37891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altLang="de-DE" dirty="0"/>
              <a:t>API</a:t>
            </a:r>
          </a:p>
          <a:p>
            <a:pPr lvl="1"/>
            <a:r>
              <a:rPr lang="de-DE" altLang="de-DE" dirty="0">
                <a:hlinkClick r:id="rId2"/>
              </a:rPr>
              <a:t>https://www.paleobiodb.org/data1.2/</a:t>
            </a:r>
            <a:endParaRPr lang="de-DE" altLang="de-DE" dirty="0"/>
          </a:p>
          <a:p>
            <a:pPr lvl="1"/>
            <a:r>
              <a:rPr lang="de-DE" altLang="de-DE" dirty="0"/>
              <a:t>R </a:t>
            </a:r>
            <a:r>
              <a:rPr lang="de-DE" altLang="de-DE" dirty="0" err="1"/>
              <a:t>interface</a:t>
            </a:r>
            <a:r>
              <a:rPr lang="de-DE" altLang="de-DE" dirty="0"/>
              <a:t> </a:t>
            </a:r>
            <a:r>
              <a:rPr lang="de-DE" altLang="de-DE" dirty="0" err="1"/>
              <a:t>documentation</a:t>
            </a:r>
            <a:endParaRPr lang="de-DE" altLang="de-DE" dirty="0"/>
          </a:p>
          <a:p>
            <a:pPr lvl="2"/>
            <a:r>
              <a:rPr lang="de-DE" altLang="de-DE" dirty="0">
                <a:hlinkClick r:id="rId3"/>
              </a:rPr>
              <a:t>http://cran.r-project.org/web/packages/paleobioDB/paleobioDB.pdf</a:t>
            </a:r>
            <a:endParaRPr lang="de-DE" altLang="de-DE" dirty="0"/>
          </a:p>
          <a:p>
            <a:r>
              <a:rPr lang="de-DE" altLang="de-DE" dirty="0"/>
              <a:t>Access </a:t>
            </a:r>
            <a:r>
              <a:rPr lang="de-DE" altLang="de-DE" dirty="0" err="1"/>
              <a:t>to</a:t>
            </a:r>
            <a:r>
              <a:rPr lang="de-DE" altLang="de-DE" dirty="0"/>
              <a:t> </a:t>
            </a:r>
            <a:r>
              <a:rPr lang="de-DE" altLang="de-DE" dirty="0" err="1"/>
              <a:t>entire</a:t>
            </a:r>
            <a:r>
              <a:rPr lang="de-DE" altLang="de-DE" dirty="0"/>
              <a:t> database </a:t>
            </a:r>
            <a:r>
              <a:rPr lang="de-DE" altLang="de-DE" dirty="0" err="1"/>
              <a:t>through</a:t>
            </a:r>
            <a:r>
              <a:rPr lang="de-DE" altLang="de-DE" dirty="0"/>
              <a:t> </a:t>
            </a:r>
            <a:r>
              <a:rPr lang="de-DE" altLang="de-DE" dirty="0" err="1"/>
              <a:t>chronosphere</a:t>
            </a:r>
            <a:r>
              <a:rPr lang="de-DE" altLang="de-DE" dirty="0"/>
              <a:t> </a:t>
            </a:r>
            <a:r>
              <a:rPr lang="de-DE" altLang="de-DE" dirty="0" err="1"/>
              <a:t>package</a:t>
            </a:r>
            <a:endParaRPr lang="de-DE" altLang="de-DE" dirty="0"/>
          </a:p>
          <a:p>
            <a:pPr lvl="1"/>
            <a:r>
              <a:rPr lang="de-DE" altLang="de-DE" dirty="0">
                <a:hlinkClick r:id="rId4"/>
              </a:rPr>
              <a:t>https://cran.r-project.org/web/packages/chronosphere/index.html</a:t>
            </a:r>
            <a:r>
              <a:rPr lang="de-DE" altLang="de-DE" dirty="0"/>
              <a:t> </a:t>
            </a:r>
          </a:p>
          <a:p>
            <a:pPr lvl="1"/>
            <a:endParaRPr lang="de-DE" altLang="de-DE" dirty="0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6800" y="4710264"/>
            <a:ext cx="1791493" cy="864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96610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Occurrence-Based Diversity Estimates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75350" y="1843562"/>
            <a:ext cx="8229600" cy="3633788"/>
          </a:xfrm>
        </p:spPr>
        <p:txBody>
          <a:bodyPr>
            <a:normAutofit fontScale="92500" lnSpcReduction="10000"/>
          </a:bodyPr>
          <a:lstStyle/>
          <a:p>
            <a:pPr eaLnBrk="1" hangingPunct="1"/>
            <a:r>
              <a:rPr lang="en-US" altLang="en-US" sz="3200" dirty="0"/>
              <a:t>The most difficult step is stratigraphic binning</a:t>
            </a:r>
          </a:p>
          <a:p>
            <a:pPr lvl="1" eaLnBrk="1" hangingPunct="1"/>
            <a:r>
              <a:rPr lang="en-US" altLang="en-US" sz="2800" dirty="0"/>
              <a:t>Occurrences must be binned into temporal increments such as stages or 10 </a:t>
            </a:r>
            <a:r>
              <a:rPr lang="en-US" altLang="en-US" sz="2800" dirty="0" err="1"/>
              <a:t>myr</a:t>
            </a:r>
            <a:r>
              <a:rPr lang="en-US" altLang="en-US" sz="2800" dirty="0"/>
              <a:t> intervals</a:t>
            </a:r>
          </a:p>
          <a:p>
            <a:pPr lvl="1" eaLnBrk="1" hangingPunct="1"/>
            <a:r>
              <a:rPr lang="en-US" altLang="en-US" sz="2800" dirty="0"/>
              <a:t>Needs an extra table where bins are defined</a:t>
            </a:r>
          </a:p>
          <a:p>
            <a:pPr lvl="1" eaLnBrk="1" hangingPunct="1"/>
            <a:r>
              <a:rPr lang="en-US" altLang="en-US" sz="2800" dirty="0"/>
              <a:t>Easiest is to use </a:t>
            </a:r>
            <a:r>
              <a:rPr lang="en-US" altLang="en-US" sz="2800" dirty="0" err="1"/>
              <a:t>max_ma</a:t>
            </a:r>
            <a:r>
              <a:rPr lang="en-US" altLang="en-US" sz="2800" dirty="0"/>
              <a:t> and </a:t>
            </a:r>
            <a:r>
              <a:rPr lang="en-US" altLang="en-US" sz="2800" dirty="0" err="1"/>
              <a:t>min_ma</a:t>
            </a:r>
            <a:r>
              <a:rPr lang="en-US" altLang="en-US" sz="2800" dirty="0"/>
              <a:t> estimate for each occurrence and see in which interval its mean falls</a:t>
            </a:r>
          </a:p>
          <a:p>
            <a:pPr eaLnBrk="1" hangingPunct="1"/>
            <a:r>
              <a:rPr lang="en-US" altLang="en-US" sz="3200" dirty="0"/>
              <a:t>This and all subsequent steps are implemented in package </a:t>
            </a:r>
            <a:r>
              <a:rPr lang="en-US" altLang="en-US" sz="3200" dirty="0" err="1"/>
              <a:t>divDyn</a:t>
            </a:r>
            <a:endParaRPr lang="en-US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93205297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DivDyn to facilitate work flow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482317" y="1783357"/>
            <a:ext cx="5626968" cy="4411662"/>
          </a:xfrm>
        </p:spPr>
        <p:txBody>
          <a:bodyPr/>
          <a:lstStyle/>
          <a:p>
            <a:r>
              <a:rPr lang="en-US" dirty="0"/>
              <a:t>Tools for stratigraphic binning (stage level and 10 </a:t>
            </a:r>
            <a:r>
              <a:rPr lang="en-US" dirty="0" err="1"/>
              <a:t>myr</a:t>
            </a:r>
            <a:r>
              <a:rPr lang="en-US" dirty="0"/>
              <a:t> level)</a:t>
            </a:r>
          </a:p>
          <a:p>
            <a:r>
              <a:rPr lang="en-US" dirty="0"/>
              <a:t>Tools for computing and drawing sampling-standardized diversity dynamics</a:t>
            </a:r>
          </a:p>
          <a:p>
            <a:r>
              <a:rPr lang="en-US" dirty="0"/>
              <a:t>Lots of other nice stuff for analytical paleobiology</a:t>
            </a:r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6200" y="1719263"/>
            <a:ext cx="2376264" cy="23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95419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599102" y="977400"/>
            <a:ext cx="7263067" cy="5187905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>
          <a:xfrm>
            <a:off x="977974" y="1193423"/>
            <a:ext cx="220533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Turnover rates:</a:t>
            </a:r>
          </a:p>
          <a:p>
            <a:endParaRPr lang="en-US" dirty="0"/>
          </a:p>
          <a:p>
            <a:r>
              <a:rPr lang="en-US" dirty="0"/>
              <a:t>Variation across combinations of raw and two subsampling methods and three counting methods</a:t>
            </a:r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1304" y="5085185"/>
            <a:ext cx="1458615" cy="145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87486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097DC5-416B-E4F7-EBC2-C69BCCD4B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exercise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6145B6A-1863-0401-4D8F-6F29A9CE5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Download all Late Permian to Middle Triassic genus occurrences from the PBDB and assess</a:t>
            </a:r>
          </a:p>
          <a:p>
            <a:pPr lvl="1"/>
            <a:r>
              <a:rPr lang="en-US" dirty="0"/>
              <a:t>Extinction percentage at the end of the Permian</a:t>
            </a:r>
          </a:p>
          <a:p>
            <a:pPr lvl="1"/>
            <a:r>
              <a:rPr lang="en-US" dirty="0"/>
              <a:t>Origination percentage at the beginning of the Triassic</a:t>
            </a:r>
          </a:p>
          <a:p>
            <a:pPr lvl="1"/>
            <a:r>
              <a:rPr lang="en-US" dirty="0"/>
              <a:t>Which phylum exhibits the lowest extinction toll?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221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2818</Words>
  <Application>Microsoft Office PowerPoint</Application>
  <PresentationFormat>Breitbild</PresentationFormat>
  <Paragraphs>463</Paragraphs>
  <Slides>66</Slides>
  <Notes>41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66</vt:i4>
      </vt:variant>
    </vt:vector>
  </HeadingPairs>
  <TitlesOfParts>
    <vt:vector size="75" baseType="lpstr">
      <vt:lpstr>Arial</vt:lpstr>
      <vt:lpstr>Calibri</vt:lpstr>
      <vt:lpstr>Calibri Light</vt:lpstr>
      <vt:lpstr>sans-serif</vt:lpstr>
      <vt:lpstr>Segoe UI</vt:lpstr>
      <vt:lpstr>Times New Roman</vt:lpstr>
      <vt:lpstr>Wingdings</vt:lpstr>
      <vt:lpstr>Office Theme</vt:lpstr>
      <vt:lpstr>CorelDRAW</vt:lpstr>
      <vt:lpstr>Global diversity patterns</vt:lpstr>
      <vt:lpstr>Global Diversity Patterns</vt:lpstr>
      <vt:lpstr>The Three Great Evolutionary Faunas</vt:lpstr>
      <vt:lpstr>Genus level</vt:lpstr>
      <vt:lpstr>Diversity Through Time</vt:lpstr>
      <vt:lpstr>Methods of Measuring Diversity</vt:lpstr>
      <vt:lpstr>Structure of compendia</vt:lpstr>
      <vt:lpstr>PowerPoint-Präsentation</vt:lpstr>
      <vt:lpstr>Measuring Diversity Through Time</vt:lpstr>
      <vt:lpstr>Measuring Diversity</vt:lpstr>
      <vt:lpstr>Measuring Diversity Through Time</vt:lpstr>
      <vt:lpstr>Problems</vt:lpstr>
      <vt:lpstr>PowerPoint-Präsentation</vt:lpstr>
      <vt:lpstr>PowerPoint-Präsentation</vt:lpstr>
      <vt:lpstr>PowerPoint-Präsentation</vt:lpstr>
      <vt:lpstr>Diversity Dynamics</vt:lpstr>
      <vt:lpstr>A note on rates</vt:lpstr>
      <vt:lpstr>Rates</vt:lpstr>
      <vt:lpstr>PowerPoint-Präsentation</vt:lpstr>
      <vt:lpstr>PowerPoint-Präsentation</vt:lpstr>
      <vt:lpstr>The Signor-Lipps Effect</vt:lpstr>
      <vt:lpstr>PowerPoint-Präsentation</vt:lpstr>
      <vt:lpstr>PowerPoint-Präsentation</vt:lpstr>
      <vt:lpstr>Exercise</vt:lpstr>
      <vt:lpstr>Phanerozoic Marine Animal Diversity</vt:lpstr>
      <vt:lpstr>Analyzing Sepkoski‘s Compendium</vt:lpstr>
      <vt:lpstr>Sampling effects on diversity dynamics</vt:lpstr>
      <vt:lpstr>PowerPoint-Präsentation</vt:lpstr>
      <vt:lpstr>PowerPoint-Präsentation</vt:lpstr>
      <vt:lpstr>PowerPoint-Präsentation</vt:lpstr>
      <vt:lpstr>PowerPoint-Präsentation</vt:lpstr>
      <vt:lpstr>The Three Great Evolutionary Faunas</vt:lpstr>
      <vt:lpstr>PowerPoint-Präsentation</vt:lpstr>
      <vt:lpstr>Clade Diagrams</vt:lpstr>
      <vt:lpstr>Factor Analysis</vt:lpstr>
      <vt:lpstr>Exercise</vt:lpstr>
      <vt:lpstr>Sepkoski’s own analysis</vt:lpstr>
      <vt:lpstr>Sampling standardization</vt:lpstr>
      <vt:lpstr>Subsampling</vt:lpstr>
      <vt:lpstr>Diversity Over Time</vt:lpstr>
      <vt:lpstr>Subsampling Methods</vt:lpstr>
      <vt:lpstr>Why so many methods?</vt:lpstr>
      <vt:lpstr>Sampling standardization is not the whole story</vt:lpstr>
      <vt:lpstr>How good is the fossil record?</vt:lpstr>
      <vt:lpstr>Sampling Completeness Metrics</vt:lpstr>
      <vt:lpstr>Simple Metrics</vt:lpstr>
      <vt:lpstr>Sampling probability</vt:lpstr>
      <vt:lpstr>Three-timer completeness</vt:lpstr>
      <vt:lpstr>The three-timer approach</vt:lpstr>
      <vt:lpstr>Correcting observed rates</vt:lpstr>
      <vt:lpstr>PowerPoint-Präsentation</vt:lpstr>
      <vt:lpstr>PowerPoint-Präsentation</vt:lpstr>
      <vt:lpstr>Occurrence data are key</vt:lpstr>
      <vt:lpstr>The Paleobiology Database: A Core Infrastructure for the Biogeosciences</vt:lpstr>
      <vt:lpstr>Paleobiology Database Endeavour </vt:lpstr>
      <vt:lpstr>Marine Biodiversity Through Time</vt:lpstr>
      <vt:lpstr>Pull-of-the-Recent as the major cause of diversity rise</vt:lpstr>
      <vt:lpstr>PowerPoint-Präsentation</vt:lpstr>
      <vt:lpstr>The Structure</vt:lpstr>
      <vt:lpstr>Navigator: http://www.paleobiodb.org/navigator/ </vt:lpstr>
      <vt:lpstr>Downloading Data (Paleobiodb)</vt:lpstr>
      <vt:lpstr>Quick Access Options</vt:lpstr>
      <vt:lpstr>Occurrence-Based Diversity Estimates</vt:lpstr>
      <vt:lpstr>DivDyn to facilitate work flow</vt:lpstr>
      <vt:lpstr>PowerPoint-Präsentation</vt:lpstr>
      <vt:lpstr>Final exercise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Emma Dunne (Geography, Earth and Environmental Sciences)</dc:creator>
  <cp:lastModifiedBy>Kießling, Wolfgang</cp:lastModifiedBy>
  <cp:revision>196</cp:revision>
  <dcterms:created xsi:type="dcterms:W3CDTF">2022-08-16T10:15:39Z</dcterms:created>
  <dcterms:modified xsi:type="dcterms:W3CDTF">2026-08-18T19:38:55Z</dcterms:modified>
</cp:coreProperties>
</file>