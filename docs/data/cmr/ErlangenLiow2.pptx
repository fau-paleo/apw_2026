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7"/>
  </p:notesMasterIdLst>
  <p:sldIdLst>
    <p:sldId id="543" r:id="rId2"/>
    <p:sldId id="268" r:id="rId3"/>
    <p:sldId id="269" r:id="rId4"/>
    <p:sldId id="270" r:id="rId5"/>
    <p:sldId id="271" r:id="rId6"/>
    <p:sldId id="272" r:id="rId7"/>
    <p:sldId id="273" r:id="rId8"/>
    <p:sldId id="275" r:id="rId9"/>
    <p:sldId id="328" r:id="rId10"/>
    <p:sldId id="276" r:id="rId11"/>
    <p:sldId id="290" r:id="rId12"/>
    <p:sldId id="291" r:id="rId13"/>
    <p:sldId id="292" r:id="rId14"/>
    <p:sldId id="293" r:id="rId15"/>
    <p:sldId id="294" r:id="rId16"/>
    <p:sldId id="295" r:id="rId17"/>
    <p:sldId id="300" r:id="rId18"/>
    <p:sldId id="298" r:id="rId19"/>
    <p:sldId id="299" r:id="rId20"/>
    <p:sldId id="331" r:id="rId21"/>
    <p:sldId id="332" r:id="rId22"/>
    <p:sldId id="277" r:id="rId23"/>
    <p:sldId id="316" r:id="rId24"/>
    <p:sldId id="333" r:id="rId25"/>
    <p:sldId id="329" r:id="rId26"/>
    <p:sldId id="334" r:id="rId27"/>
    <p:sldId id="336" r:id="rId28"/>
    <p:sldId id="319" r:id="rId29"/>
    <p:sldId id="263" r:id="rId30"/>
    <p:sldId id="260" r:id="rId31"/>
    <p:sldId id="262" r:id="rId32"/>
    <p:sldId id="297" r:id="rId33"/>
    <p:sldId id="304" r:id="rId34"/>
    <p:sldId id="536" r:id="rId35"/>
    <p:sldId id="517" r:id="rId36"/>
    <p:sldId id="515" r:id="rId37"/>
    <p:sldId id="520" r:id="rId38"/>
    <p:sldId id="521" r:id="rId39"/>
    <p:sldId id="522" r:id="rId40"/>
    <p:sldId id="523" r:id="rId41"/>
    <p:sldId id="527" r:id="rId42"/>
    <p:sldId id="524" r:id="rId43"/>
    <p:sldId id="539" r:id="rId44"/>
    <p:sldId id="526" r:id="rId45"/>
    <p:sldId id="318" r:id="rId46"/>
  </p:sldIdLst>
  <p:sldSz cx="12192000" cy="6858000"/>
  <p:notesSz cx="6858000" cy="9144000"/>
  <p:defaultTextStyle>
    <a:defPPr>
      <a:defRPr lang="en-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FA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0373"/>
    <p:restoredTop sz="80868"/>
  </p:normalViewPr>
  <p:slideViewPr>
    <p:cSldViewPr snapToGrid="0" snapToObjects="1">
      <p:cViewPr varScale="1">
        <p:scale>
          <a:sx n="87" d="100"/>
          <a:sy n="87" d="100"/>
        </p:scale>
        <p:origin x="200" y="5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O"/>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4AD4B33-3F42-7E43-89D3-BE8535AE73A7}" type="datetimeFigureOut">
              <a:rPr lang="en-NO" smtClean="0"/>
              <a:t>02/09/2026</a:t>
            </a:fld>
            <a:endParaRPr lang="en-NO"/>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O"/>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O"/>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O"/>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B9E5AAC-A109-3940-B021-2778AC43C4CC}" type="slidenum">
              <a:rPr lang="en-NO" smtClean="0"/>
              <a:t>‹#›</a:t>
            </a:fld>
            <a:endParaRPr lang="en-NO"/>
          </a:p>
        </p:txBody>
      </p:sp>
    </p:spTree>
    <p:extLst>
      <p:ext uri="{BB962C8B-B14F-4D97-AF65-F5344CB8AC3E}">
        <p14:creationId xmlns:p14="http://schemas.microsoft.com/office/powerpoint/2010/main" val="768919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E978F0-3449-4AB0-892E-AB3EBC289124}" type="slidenum">
              <a:rPr lang="nb-NO" smtClean="0"/>
              <a:t>1</a:t>
            </a:fld>
            <a:endParaRPr lang="nb-NO"/>
          </a:p>
        </p:txBody>
      </p:sp>
    </p:spTree>
    <p:extLst>
      <p:ext uri="{BB962C8B-B14F-4D97-AF65-F5344CB8AC3E}">
        <p14:creationId xmlns:p14="http://schemas.microsoft.com/office/powerpoint/2010/main" val="31202048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BF70BF1D-3FB0-43C9-AC62-6AC6B557C7BF}" type="slidenum">
              <a:rPr lang="nb-NO" smtClean="0"/>
              <a:pPr>
                <a:defRPr/>
              </a:pPr>
              <a:t>2</a:t>
            </a:fld>
            <a:endParaRPr lang="nb-NO"/>
          </a:p>
        </p:txBody>
      </p:sp>
      <p:sp>
        <p:nvSpPr>
          <p:cNvPr id="34819"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34820"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nb-NO"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FA61DCCF-472F-4C62-9039-023B59E2ED98}" type="slidenum">
              <a:rPr lang="nb-NO" smtClean="0"/>
              <a:pPr>
                <a:defRPr/>
              </a:pPr>
              <a:t>3</a:t>
            </a:fld>
            <a:endParaRPr lang="nb-NO"/>
          </a:p>
        </p:txBody>
      </p:sp>
      <p:sp>
        <p:nvSpPr>
          <p:cNvPr id="35843"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35844"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nb-NO"/>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CA501481-CDF5-473A-9E84-4E5791ED3439}" type="slidenum">
              <a:rPr lang="nb-NO" smtClean="0"/>
              <a:pPr>
                <a:defRPr/>
              </a:pPr>
              <a:t>4</a:t>
            </a:fld>
            <a:endParaRPr lang="nb-NO"/>
          </a:p>
        </p:txBody>
      </p:sp>
      <p:sp>
        <p:nvSpPr>
          <p:cNvPr id="36867"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36868"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nb-NO"/>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A98817E1-BDD1-469A-942D-CCAD5B25FC3E}" type="slidenum">
              <a:rPr lang="nb-NO" smtClean="0"/>
              <a:pPr>
                <a:defRPr/>
              </a:pPr>
              <a:t>5</a:t>
            </a:fld>
            <a:endParaRPr lang="nb-NO"/>
          </a:p>
        </p:txBody>
      </p:sp>
      <p:sp>
        <p:nvSpPr>
          <p:cNvPr id="37891"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37892"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nb-NO"/>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B1C3168F-56C2-4841-9EF9-FDDC9313C2A4}" type="slidenum">
              <a:rPr lang="nb-NO" smtClean="0"/>
              <a:pPr>
                <a:defRPr/>
              </a:pPr>
              <a:t>6</a:t>
            </a:fld>
            <a:endParaRPr lang="nb-NO"/>
          </a:p>
        </p:txBody>
      </p:sp>
      <p:sp>
        <p:nvSpPr>
          <p:cNvPr id="38915"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38916"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nb-NO"/>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FDEE7BEE-E96F-4F63-A037-80704518208E}" type="slidenum">
              <a:rPr lang="nb-NO" smtClean="0"/>
              <a:pPr>
                <a:defRPr/>
              </a:pPr>
              <a:t>7</a:t>
            </a:fld>
            <a:endParaRPr lang="nb-NO"/>
          </a:p>
        </p:txBody>
      </p:sp>
      <p:sp>
        <p:nvSpPr>
          <p:cNvPr id="39939"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39940"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nb-NO"/>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a:t>
            </a:r>
            <a:r>
              <a:rPr lang="en-GB" dirty="0" err="1"/>
              <a:t>www.phidot.org</a:t>
            </a:r>
            <a:r>
              <a:rPr lang="en-GB" dirty="0"/>
              <a:t>/software/mark/docs/book/pdf/chap1.pdf</a:t>
            </a:r>
          </a:p>
          <a:p>
            <a:endParaRPr lang="en-GB" dirty="0"/>
          </a:p>
          <a:p>
            <a:r>
              <a:rPr lang="en-GB" dirty="0"/>
              <a:t>Ind p that </a:t>
            </a:r>
            <a:r>
              <a:rPr lang="en-GB" dirty="0" err="1"/>
              <a:t>miaximuized</a:t>
            </a:r>
            <a:r>
              <a:rPr lang="en-GB" dirty="0"/>
              <a:t> </a:t>
            </a:r>
            <a:r>
              <a:rPr lang="en-GB" dirty="0" err="1"/>
              <a:t>likehood</a:t>
            </a:r>
            <a:endParaRPr lang="en-GB" dirty="0"/>
          </a:p>
          <a:p>
            <a:endParaRPr lang="en-GB" dirty="0"/>
          </a:p>
          <a:p>
            <a:endParaRPr lang="en-NO" dirty="0"/>
          </a:p>
        </p:txBody>
      </p:sp>
      <p:sp>
        <p:nvSpPr>
          <p:cNvPr id="4" name="Slide Number Placeholder 3"/>
          <p:cNvSpPr>
            <a:spLocks noGrp="1"/>
          </p:cNvSpPr>
          <p:nvPr>
            <p:ph type="sldNum" sz="quarter" idx="5"/>
          </p:nvPr>
        </p:nvSpPr>
        <p:spPr/>
        <p:txBody>
          <a:bodyPr/>
          <a:lstStyle/>
          <a:p>
            <a:fld id="{6B9E5AAC-A109-3940-B021-2778AC43C4CC}" type="slidenum">
              <a:rPr lang="en-NO" smtClean="0"/>
              <a:t>8</a:t>
            </a:fld>
            <a:endParaRPr lang="en-NO"/>
          </a:p>
        </p:txBody>
      </p:sp>
    </p:spTree>
    <p:extLst>
      <p:ext uri="{BB962C8B-B14F-4D97-AF65-F5344CB8AC3E}">
        <p14:creationId xmlns:p14="http://schemas.microsoft.com/office/powerpoint/2010/main" val="32621794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dirty="0">
                <a:solidFill>
                  <a:schemeClr val="tx1"/>
                </a:solidFill>
                <a:effectLst/>
                <a:latin typeface="+mn-lt"/>
                <a:ea typeface="+mn-ea"/>
                <a:cs typeface="+mn-cs"/>
              </a:rPr>
              <a:t>L(</a:t>
            </a:r>
            <a:r>
              <a:rPr lang="el-GR" sz="1200" b="0" i="0" u="none" strike="noStrike" kern="1200" dirty="0">
                <a:solidFill>
                  <a:schemeClr val="tx1"/>
                </a:solidFill>
                <a:effectLst/>
                <a:latin typeface="+mn-lt"/>
                <a:ea typeface="+mn-ea"/>
                <a:cs typeface="+mn-cs"/>
              </a:rPr>
              <a:t>θ∣</a:t>
            </a:r>
            <a:r>
              <a:rPr lang="en-GB" sz="1200" b="0" i="0" u="none" strike="noStrike" kern="1200" dirty="0">
                <a:solidFill>
                  <a:schemeClr val="tx1"/>
                </a:solidFill>
                <a:effectLst/>
                <a:latin typeface="+mn-lt"/>
                <a:ea typeface="+mn-ea"/>
                <a:cs typeface="+mn-cs"/>
              </a:rPr>
              <a:t>D)=P(D∣</a:t>
            </a:r>
            <a:r>
              <a:rPr lang="el-GR" sz="1200" b="0" i="0" u="none" strike="noStrike" kern="1200" dirty="0">
                <a:solidFill>
                  <a:schemeClr val="tx1"/>
                </a:solidFill>
                <a:effectLst/>
                <a:latin typeface="+mn-lt"/>
                <a:ea typeface="+mn-ea"/>
                <a:cs typeface="+mn-cs"/>
              </a:rPr>
              <a:t>θ)(1)</a:t>
            </a:r>
            <a:endParaRPr lang="el-GR" dirty="0"/>
          </a:p>
          <a:p>
            <a:r>
              <a:rPr lang="en-GB" sz="1200" b="0" i="0" u="none" strike="noStrike" kern="1200" dirty="0">
                <a:solidFill>
                  <a:schemeClr val="tx1"/>
                </a:solidFill>
                <a:effectLst/>
                <a:latin typeface="+mn-lt"/>
                <a:ea typeface="+mn-ea"/>
                <a:cs typeface="+mn-cs"/>
              </a:rPr>
              <a:t>At a glance, likelihood seems to equal probability—after all, that is what the equation (1) seems to suggest. But first, let’s clarify the fact that P(D∣</a:t>
            </a:r>
            <a:r>
              <a:rPr lang="el-GR" sz="1200" b="0" i="0" u="none" strike="noStrike" kern="1200" dirty="0">
                <a:solidFill>
                  <a:schemeClr val="tx1"/>
                </a:solidFill>
                <a:effectLst/>
                <a:latin typeface="+mn-lt"/>
                <a:ea typeface="+mn-ea"/>
                <a:cs typeface="+mn-cs"/>
              </a:rPr>
              <a:t>θ) </a:t>
            </a:r>
            <a:r>
              <a:rPr lang="en-GB" sz="1200" b="0" i="0" u="none" strike="noStrike" kern="1200" dirty="0">
                <a:solidFill>
                  <a:schemeClr val="tx1"/>
                </a:solidFill>
                <a:effectLst/>
                <a:latin typeface="+mn-lt"/>
                <a:ea typeface="+mn-ea"/>
                <a:cs typeface="+mn-cs"/>
              </a:rPr>
              <a:t>is probability density, not probability. Moreover, the interpretation of probability density in the context of likelihood is different from that which arises when we discuss probability; likelihood attempts to explain the fit of observed data by altering the distribution parameter. Probability, in contrast, primarily deals with the question of how probable the observed data is given some parameter </a:t>
            </a:r>
            <a:r>
              <a:rPr lang="el-GR" sz="1200" b="0" i="0" u="none" strike="noStrike" kern="1200" dirty="0">
                <a:solidFill>
                  <a:schemeClr val="tx1"/>
                </a:solidFill>
                <a:effectLst/>
                <a:latin typeface="+mn-lt"/>
                <a:ea typeface="+mn-ea"/>
                <a:cs typeface="+mn-cs"/>
              </a:rPr>
              <a:t>θ. </a:t>
            </a:r>
            <a:r>
              <a:rPr lang="en-GB" sz="1200" b="0" i="0" u="none" strike="noStrike" kern="1200" dirty="0">
                <a:solidFill>
                  <a:schemeClr val="tx1"/>
                </a:solidFill>
                <a:effectLst/>
                <a:latin typeface="+mn-lt"/>
                <a:ea typeface="+mn-ea"/>
                <a:cs typeface="+mn-cs"/>
              </a:rPr>
              <a:t>Likelihood and probability, therefore, seem to ask similar questions, but in fact they approach the same phenomenon from opposite angles, one with a focus on the parameter and the other on data.</a:t>
            </a:r>
          </a:p>
          <a:p>
            <a:r>
              <a:rPr lang="en-US" dirty="0"/>
              <a:t>https://</a:t>
            </a:r>
            <a:r>
              <a:rPr lang="en-US" dirty="0" err="1"/>
              <a:t>jaketae.github.io</a:t>
            </a:r>
            <a:r>
              <a:rPr lang="en-US" dirty="0"/>
              <a:t>/study/likelihood/</a:t>
            </a:r>
          </a:p>
        </p:txBody>
      </p:sp>
      <p:sp>
        <p:nvSpPr>
          <p:cNvPr id="4" name="Slide Number Placeholder 3"/>
          <p:cNvSpPr>
            <a:spLocks noGrp="1"/>
          </p:cNvSpPr>
          <p:nvPr>
            <p:ph type="sldNum" sz="quarter" idx="5"/>
          </p:nvPr>
        </p:nvSpPr>
        <p:spPr/>
        <p:txBody>
          <a:bodyPr/>
          <a:lstStyle/>
          <a:p>
            <a:fld id="{6B9E5AAC-A109-3940-B021-2778AC43C4CC}" type="slidenum">
              <a:rPr lang="en-NO" smtClean="0"/>
              <a:t>9</a:t>
            </a:fld>
            <a:endParaRPr lang="en-NO"/>
          </a:p>
        </p:txBody>
      </p:sp>
    </p:spTree>
    <p:extLst>
      <p:ext uri="{BB962C8B-B14F-4D97-AF65-F5344CB8AC3E}">
        <p14:creationId xmlns:p14="http://schemas.microsoft.com/office/powerpoint/2010/main" val="25488124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937EF910-1D7F-4080-808A-DC2506F08C17}" type="slidenum">
              <a:rPr lang="nb-NO" smtClean="0"/>
              <a:pPr>
                <a:defRPr/>
              </a:pPr>
              <a:t>10</a:t>
            </a:fld>
            <a:endParaRPr lang="nb-NO"/>
          </a:p>
        </p:txBody>
      </p:sp>
      <p:sp>
        <p:nvSpPr>
          <p:cNvPr id="40963"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40964"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nb-NO"/>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937EF910-1D7F-4080-808A-DC2506F08C17}" type="slidenum">
              <a:rPr lang="nb-NO" smtClean="0"/>
              <a:pPr>
                <a:defRPr/>
              </a:pPr>
              <a:t>11</a:t>
            </a:fld>
            <a:endParaRPr lang="nb-NO"/>
          </a:p>
        </p:txBody>
      </p:sp>
      <p:sp>
        <p:nvSpPr>
          <p:cNvPr id="40963"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40964"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nb-NO"/>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937EF910-1D7F-4080-808A-DC2506F08C17}" type="slidenum">
              <a:rPr lang="nb-NO" smtClean="0"/>
              <a:pPr>
                <a:defRPr/>
              </a:pPr>
              <a:t>12</a:t>
            </a:fld>
            <a:endParaRPr lang="nb-NO"/>
          </a:p>
        </p:txBody>
      </p:sp>
      <p:sp>
        <p:nvSpPr>
          <p:cNvPr id="40963"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40964"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nb-NO"/>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937EF910-1D7F-4080-808A-DC2506F08C17}" type="slidenum">
              <a:rPr lang="nb-NO" smtClean="0"/>
              <a:pPr>
                <a:defRPr/>
              </a:pPr>
              <a:t>13</a:t>
            </a:fld>
            <a:endParaRPr lang="nb-NO"/>
          </a:p>
        </p:txBody>
      </p:sp>
      <p:sp>
        <p:nvSpPr>
          <p:cNvPr id="40963"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40964"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nb-NO"/>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937EF910-1D7F-4080-808A-DC2506F08C17}" type="slidenum">
              <a:rPr lang="nb-NO" smtClean="0"/>
              <a:pPr>
                <a:defRPr/>
              </a:pPr>
              <a:t>14</a:t>
            </a:fld>
            <a:endParaRPr lang="nb-NO"/>
          </a:p>
        </p:txBody>
      </p:sp>
      <p:sp>
        <p:nvSpPr>
          <p:cNvPr id="40963"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40964"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nb-NO"/>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937EF910-1D7F-4080-808A-DC2506F08C17}" type="slidenum">
              <a:rPr lang="nb-NO" smtClean="0"/>
              <a:pPr>
                <a:defRPr/>
              </a:pPr>
              <a:t>15</a:t>
            </a:fld>
            <a:endParaRPr lang="nb-NO"/>
          </a:p>
        </p:txBody>
      </p:sp>
      <p:sp>
        <p:nvSpPr>
          <p:cNvPr id="40963"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40964"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nb-NO"/>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O" dirty="0"/>
          </a:p>
        </p:txBody>
      </p:sp>
      <p:sp>
        <p:nvSpPr>
          <p:cNvPr id="4" name="Slide Number Placeholder 3"/>
          <p:cNvSpPr>
            <a:spLocks noGrp="1"/>
          </p:cNvSpPr>
          <p:nvPr>
            <p:ph type="sldNum" sz="quarter" idx="5"/>
          </p:nvPr>
        </p:nvSpPr>
        <p:spPr/>
        <p:txBody>
          <a:bodyPr/>
          <a:lstStyle/>
          <a:p>
            <a:fld id="{6B9E5AAC-A109-3940-B021-2778AC43C4CC}" type="slidenum">
              <a:rPr lang="en-NO" smtClean="0"/>
              <a:t>16</a:t>
            </a:fld>
            <a:endParaRPr lang="en-NO"/>
          </a:p>
        </p:txBody>
      </p:sp>
    </p:spTree>
    <p:extLst>
      <p:ext uri="{BB962C8B-B14F-4D97-AF65-F5344CB8AC3E}">
        <p14:creationId xmlns:p14="http://schemas.microsoft.com/office/powerpoint/2010/main" val="267815289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B9E5AAC-A109-3940-B021-2778AC43C4CC}" type="slidenum">
              <a:rPr lang="en-NO" smtClean="0"/>
              <a:t>20</a:t>
            </a:fld>
            <a:endParaRPr lang="en-NO"/>
          </a:p>
        </p:txBody>
      </p:sp>
    </p:spTree>
    <p:extLst>
      <p:ext uri="{BB962C8B-B14F-4D97-AF65-F5344CB8AC3E}">
        <p14:creationId xmlns:p14="http://schemas.microsoft.com/office/powerpoint/2010/main" val="364040020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C5F735F8-21AD-4501-9133-38BAF3A87E63}" type="slidenum">
              <a:rPr lang="nb-NO" smtClean="0"/>
              <a:pPr>
                <a:defRPr/>
              </a:pPr>
              <a:t>22</a:t>
            </a:fld>
            <a:endParaRPr lang="nb-NO"/>
          </a:p>
        </p:txBody>
      </p:sp>
      <p:sp>
        <p:nvSpPr>
          <p:cNvPr id="41987"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41988"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nb-NO"/>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O" dirty="0"/>
          </a:p>
        </p:txBody>
      </p:sp>
      <p:sp>
        <p:nvSpPr>
          <p:cNvPr id="4" name="Slide Number Placeholder 3"/>
          <p:cNvSpPr>
            <a:spLocks noGrp="1"/>
          </p:cNvSpPr>
          <p:nvPr>
            <p:ph type="sldNum" sz="quarter" idx="5"/>
          </p:nvPr>
        </p:nvSpPr>
        <p:spPr/>
        <p:txBody>
          <a:bodyPr/>
          <a:lstStyle/>
          <a:p>
            <a:fld id="{6B9E5AAC-A109-3940-B021-2778AC43C4CC}" type="slidenum">
              <a:rPr lang="en-NO" smtClean="0"/>
              <a:t>23</a:t>
            </a:fld>
            <a:endParaRPr lang="en-NO"/>
          </a:p>
        </p:txBody>
      </p:sp>
    </p:spTree>
    <p:extLst>
      <p:ext uri="{BB962C8B-B14F-4D97-AF65-F5344CB8AC3E}">
        <p14:creationId xmlns:p14="http://schemas.microsoft.com/office/powerpoint/2010/main" val="423015789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9DF552-6ACA-DFCC-F621-4EA93F8BDF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EBFC82-0BAD-A92E-01D7-07F27C07DA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7B1A27-628E-B71F-CFA3-1EE6509B9FE9}"/>
              </a:ext>
            </a:extLst>
          </p:cNvPr>
          <p:cNvSpPr>
            <a:spLocks noGrp="1"/>
          </p:cNvSpPr>
          <p:nvPr>
            <p:ph type="body" idx="1"/>
          </p:nvPr>
        </p:nvSpPr>
        <p:spPr/>
        <p:txBody>
          <a:bodyPr/>
          <a:lstStyle/>
          <a:p>
            <a:r>
              <a:rPr lang="en-GB" dirty="0"/>
              <a:t>http://</a:t>
            </a:r>
            <a:r>
              <a:rPr lang="en-GB" dirty="0" err="1"/>
              <a:t>www.phidot.org</a:t>
            </a:r>
            <a:r>
              <a:rPr lang="en-GB" dirty="0"/>
              <a:t>/software/mark/docs/book/pdf/chap12.pdf</a:t>
            </a:r>
            <a:endParaRPr lang="en-NO" dirty="0"/>
          </a:p>
        </p:txBody>
      </p:sp>
      <p:sp>
        <p:nvSpPr>
          <p:cNvPr id="4" name="Slide Number Placeholder 3">
            <a:extLst>
              <a:ext uri="{FF2B5EF4-FFF2-40B4-BE49-F238E27FC236}">
                <a16:creationId xmlns:a16="http://schemas.microsoft.com/office/drawing/2014/main" id="{63382C76-5CF5-D890-9928-77791B4177B9}"/>
              </a:ext>
            </a:extLst>
          </p:cNvPr>
          <p:cNvSpPr>
            <a:spLocks noGrp="1"/>
          </p:cNvSpPr>
          <p:nvPr>
            <p:ph type="sldNum" sz="quarter" idx="5"/>
          </p:nvPr>
        </p:nvSpPr>
        <p:spPr/>
        <p:txBody>
          <a:bodyPr/>
          <a:lstStyle/>
          <a:p>
            <a:fld id="{41102F91-0AE4-8E43-9B31-2248B13AE0B0}" type="slidenum">
              <a:rPr lang="en-NO" smtClean="0"/>
              <a:t>24</a:t>
            </a:fld>
            <a:endParaRPr lang="en-NO"/>
          </a:p>
        </p:txBody>
      </p:sp>
    </p:spTree>
    <p:extLst>
      <p:ext uri="{BB962C8B-B14F-4D97-AF65-F5344CB8AC3E}">
        <p14:creationId xmlns:p14="http://schemas.microsoft.com/office/powerpoint/2010/main" val="258021401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E8391E-B793-2C6D-4EC6-CC579F4A5E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E300CC-1B3B-6261-8C10-59F3B67A48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C18139-1454-FADB-332D-6DCD6E6A7507}"/>
              </a:ext>
            </a:extLst>
          </p:cNvPr>
          <p:cNvSpPr>
            <a:spLocks noGrp="1"/>
          </p:cNvSpPr>
          <p:nvPr>
            <p:ph type="body" idx="1"/>
          </p:nvPr>
        </p:nvSpPr>
        <p:spPr/>
        <p:txBody>
          <a:bodyPr/>
          <a:lstStyle/>
          <a:p>
            <a:endParaRPr lang="en-NO" dirty="0"/>
          </a:p>
        </p:txBody>
      </p:sp>
      <p:sp>
        <p:nvSpPr>
          <p:cNvPr id="4" name="Slide Number Placeholder 3">
            <a:extLst>
              <a:ext uri="{FF2B5EF4-FFF2-40B4-BE49-F238E27FC236}">
                <a16:creationId xmlns:a16="http://schemas.microsoft.com/office/drawing/2014/main" id="{D192A09A-061D-B9AC-C265-83A4A3965BD7}"/>
              </a:ext>
            </a:extLst>
          </p:cNvPr>
          <p:cNvSpPr>
            <a:spLocks noGrp="1"/>
          </p:cNvSpPr>
          <p:nvPr>
            <p:ph type="sldNum" sz="quarter" idx="5"/>
          </p:nvPr>
        </p:nvSpPr>
        <p:spPr/>
        <p:txBody>
          <a:bodyPr/>
          <a:lstStyle/>
          <a:p>
            <a:fld id="{41102F91-0AE4-8E43-9B31-2248B13AE0B0}" type="slidenum">
              <a:rPr lang="en-NO" smtClean="0"/>
              <a:t>25</a:t>
            </a:fld>
            <a:endParaRPr lang="en-NO"/>
          </a:p>
        </p:txBody>
      </p:sp>
    </p:spTree>
    <p:extLst>
      <p:ext uri="{BB962C8B-B14F-4D97-AF65-F5344CB8AC3E}">
        <p14:creationId xmlns:p14="http://schemas.microsoft.com/office/powerpoint/2010/main" val="190612566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0D6AEA-7188-DA76-5154-279B201C51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234078-577E-1C87-06B1-F3F3DFD536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BC29DA-CB9B-6A80-15F3-FC3B4AB0778D}"/>
              </a:ext>
            </a:extLst>
          </p:cNvPr>
          <p:cNvSpPr>
            <a:spLocks noGrp="1"/>
          </p:cNvSpPr>
          <p:nvPr>
            <p:ph type="body" idx="1"/>
          </p:nvPr>
        </p:nvSpPr>
        <p:spPr/>
        <p:txBody>
          <a:bodyPr/>
          <a:lstStyle/>
          <a:p>
            <a:endParaRPr lang="en-NO" dirty="0"/>
          </a:p>
        </p:txBody>
      </p:sp>
      <p:sp>
        <p:nvSpPr>
          <p:cNvPr id="4" name="Slide Number Placeholder 3">
            <a:extLst>
              <a:ext uri="{FF2B5EF4-FFF2-40B4-BE49-F238E27FC236}">
                <a16:creationId xmlns:a16="http://schemas.microsoft.com/office/drawing/2014/main" id="{FB31479B-9E9F-B239-C20D-92B472BD6FC7}"/>
              </a:ext>
            </a:extLst>
          </p:cNvPr>
          <p:cNvSpPr>
            <a:spLocks noGrp="1"/>
          </p:cNvSpPr>
          <p:nvPr>
            <p:ph type="sldNum" sz="quarter" idx="5"/>
          </p:nvPr>
        </p:nvSpPr>
        <p:spPr/>
        <p:txBody>
          <a:bodyPr/>
          <a:lstStyle/>
          <a:p>
            <a:fld id="{41102F91-0AE4-8E43-9B31-2248B13AE0B0}" type="slidenum">
              <a:rPr lang="en-NO" smtClean="0"/>
              <a:t>26</a:t>
            </a:fld>
            <a:endParaRPr lang="en-NO"/>
          </a:p>
        </p:txBody>
      </p:sp>
    </p:spTree>
    <p:extLst>
      <p:ext uri="{BB962C8B-B14F-4D97-AF65-F5344CB8AC3E}">
        <p14:creationId xmlns:p14="http://schemas.microsoft.com/office/powerpoint/2010/main" val="384573638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O" dirty="0"/>
          </a:p>
        </p:txBody>
      </p:sp>
      <p:sp>
        <p:nvSpPr>
          <p:cNvPr id="4" name="Slide Number Placeholder 3"/>
          <p:cNvSpPr>
            <a:spLocks noGrp="1"/>
          </p:cNvSpPr>
          <p:nvPr>
            <p:ph type="sldNum" sz="quarter" idx="5"/>
          </p:nvPr>
        </p:nvSpPr>
        <p:spPr/>
        <p:txBody>
          <a:bodyPr/>
          <a:lstStyle/>
          <a:p>
            <a:fld id="{41102F91-0AE4-8E43-9B31-2248B13AE0B0}" type="slidenum">
              <a:rPr lang="en-NO" smtClean="0"/>
              <a:t>27</a:t>
            </a:fld>
            <a:endParaRPr lang="en-NO"/>
          </a:p>
        </p:txBody>
      </p:sp>
    </p:spTree>
    <p:extLst>
      <p:ext uri="{BB962C8B-B14F-4D97-AF65-F5344CB8AC3E}">
        <p14:creationId xmlns:p14="http://schemas.microsoft.com/office/powerpoint/2010/main" val="72038745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O" dirty="0"/>
          </a:p>
        </p:txBody>
      </p:sp>
      <p:sp>
        <p:nvSpPr>
          <p:cNvPr id="4" name="Slide Number Placeholder 3"/>
          <p:cNvSpPr>
            <a:spLocks noGrp="1"/>
          </p:cNvSpPr>
          <p:nvPr>
            <p:ph type="sldNum" sz="quarter" idx="5"/>
          </p:nvPr>
        </p:nvSpPr>
        <p:spPr/>
        <p:txBody>
          <a:bodyPr/>
          <a:lstStyle/>
          <a:p>
            <a:fld id="{41102F91-0AE4-8E43-9B31-2248B13AE0B0}" type="slidenum">
              <a:rPr lang="en-NO" smtClean="0"/>
              <a:t>29</a:t>
            </a:fld>
            <a:endParaRPr lang="en-NO"/>
          </a:p>
        </p:txBody>
      </p:sp>
    </p:spTree>
    <p:extLst>
      <p:ext uri="{BB962C8B-B14F-4D97-AF65-F5344CB8AC3E}">
        <p14:creationId xmlns:p14="http://schemas.microsoft.com/office/powerpoint/2010/main" val="342944185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a:t>
            </a:r>
            <a:r>
              <a:rPr lang="en-GB" dirty="0" err="1"/>
              <a:t>sites.google.com</a:t>
            </a:r>
            <a:r>
              <a:rPr lang="en-GB" dirty="0"/>
              <a:t>/site/</a:t>
            </a:r>
            <a:r>
              <a:rPr lang="en-GB" dirty="0" err="1"/>
              <a:t>cmrsoftware</a:t>
            </a:r>
            <a:r>
              <a:rPr lang="en-GB" dirty="0"/>
              <a:t>/lecture-lab-schedule/week-10-open-cmr-abundance-and-recruitment/</a:t>
            </a:r>
            <a:r>
              <a:rPr lang="en-GB" dirty="0" err="1"/>
              <a:t>jolley-seber</a:t>
            </a:r>
            <a:r>
              <a:rPr lang="en-GB" dirty="0"/>
              <a:t> (parameterization)</a:t>
            </a:r>
          </a:p>
          <a:p>
            <a:endParaRPr lang="en-GB" dirty="0"/>
          </a:p>
          <a:p>
            <a:r>
              <a:rPr lang="en-GB" dirty="0"/>
              <a:t>Likelihood</a:t>
            </a:r>
          </a:p>
          <a:p>
            <a:endParaRPr lang="en-NO" dirty="0"/>
          </a:p>
        </p:txBody>
      </p:sp>
      <p:sp>
        <p:nvSpPr>
          <p:cNvPr id="4" name="Slide Number Placeholder 3"/>
          <p:cNvSpPr>
            <a:spLocks noGrp="1"/>
          </p:cNvSpPr>
          <p:nvPr>
            <p:ph type="sldNum" sz="quarter" idx="5"/>
          </p:nvPr>
        </p:nvSpPr>
        <p:spPr/>
        <p:txBody>
          <a:bodyPr/>
          <a:lstStyle/>
          <a:p>
            <a:fld id="{41102F91-0AE4-8E43-9B31-2248B13AE0B0}" type="slidenum">
              <a:rPr lang="en-NO" smtClean="0"/>
              <a:t>30</a:t>
            </a:fld>
            <a:endParaRPr lang="en-NO"/>
          </a:p>
        </p:txBody>
      </p:sp>
    </p:spTree>
    <p:extLst>
      <p:ext uri="{BB962C8B-B14F-4D97-AF65-F5344CB8AC3E}">
        <p14:creationId xmlns:p14="http://schemas.microsoft.com/office/powerpoint/2010/main" val="371913601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O" dirty="0"/>
          </a:p>
        </p:txBody>
      </p:sp>
      <p:sp>
        <p:nvSpPr>
          <p:cNvPr id="4" name="Slide Number Placeholder 3"/>
          <p:cNvSpPr>
            <a:spLocks noGrp="1"/>
          </p:cNvSpPr>
          <p:nvPr>
            <p:ph type="sldNum" sz="quarter" idx="5"/>
          </p:nvPr>
        </p:nvSpPr>
        <p:spPr/>
        <p:txBody>
          <a:bodyPr/>
          <a:lstStyle/>
          <a:p>
            <a:fld id="{41102F91-0AE4-8E43-9B31-2248B13AE0B0}" type="slidenum">
              <a:rPr lang="en-NO" smtClean="0"/>
              <a:t>31</a:t>
            </a:fld>
            <a:endParaRPr lang="en-NO"/>
          </a:p>
        </p:txBody>
      </p:sp>
    </p:spTree>
    <p:extLst>
      <p:ext uri="{BB962C8B-B14F-4D97-AF65-F5344CB8AC3E}">
        <p14:creationId xmlns:p14="http://schemas.microsoft.com/office/powerpoint/2010/main" val="82277755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b-NO" dirty="0"/>
          </a:p>
        </p:txBody>
      </p:sp>
      <p:sp>
        <p:nvSpPr>
          <p:cNvPr id="4" name="Slide Number Placeholder 3"/>
          <p:cNvSpPr>
            <a:spLocks noGrp="1"/>
          </p:cNvSpPr>
          <p:nvPr>
            <p:ph type="sldNum" sz="quarter" idx="10"/>
          </p:nvPr>
        </p:nvSpPr>
        <p:spPr/>
        <p:txBody>
          <a:bodyPr/>
          <a:lstStyle/>
          <a:p>
            <a:pPr>
              <a:defRPr/>
            </a:pPr>
            <a:fld id="{B80E13EE-9C6F-4A69-973C-94AD4CE30238}" type="slidenum">
              <a:rPr lang="nb-NO" smtClean="0"/>
              <a:pPr>
                <a:defRPr/>
              </a:pPr>
              <a:t>32</a:t>
            </a:fld>
            <a:endParaRPr lang="nb-NO"/>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CB4C92C-33E3-4269-8088-1FB92CAFE7B9}" type="slidenum">
              <a:rPr lang="nb-NO"/>
              <a:pPr/>
              <a:t>35</a:t>
            </a:fld>
            <a:endParaRPr lang="nb-NO"/>
          </a:p>
        </p:txBody>
      </p:sp>
      <p:sp>
        <p:nvSpPr>
          <p:cNvPr id="65538" name="Rectangle 2"/>
          <p:cNvSpPr>
            <a:spLocks noGrp="1" noRot="1" noChangeAspect="1" noChangeArrowheads="1" noTextEdit="1"/>
          </p:cNvSpPr>
          <p:nvPr>
            <p:ph type="sldImg"/>
          </p:nvPr>
        </p:nvSpPr>
        <p:spPr>
          <a:ln/>
        </p:spPr>
      </p:sp>
      <p:sp>
        <p:nvSpPr>
          <p:cNvPr id="65539" name="Rectangle 3"/>
          <p:cNvSpPr>
            <a:spLocks noGrp="1" noChangeArrowheads="1"/>
          </p:cNvSpPr>
          <p:nvPr>
            <p:ph type="body" idx="1"/>
          </p:nvPr>
        </p:nvSpPr>
        <p:spPr/>
        <p:txBody>
          <a:bodyPr/>
          <a:lstStyle/>
          <a:p>
            <a:r>
              <a:rPr lang="nb-NO" dirty="0" err="1"/>
              <a:t>Also</a:t>
            </a:r>
            <a:r>
              <a:rPr lang="nb-NO" dirty="0"/>
              <a:t> LMY</a:t>
            </a:r>
          </a:p>
          <a:p>
            <a:pPr marL="0" marR="0" lvl="0" indent="0" algn="l" defTabSz="914400" rtl="0" eaLnBrk="1" fontAlgn="auto" latinLnBrk="0" hangingPunct="1">
              <a:lnSpc>
                <a:spcPct val="100000"/>
              </a:lnSpc>
              <a:spcBef>
                <a:spcPts val="0"/>
              </a:spcBef>
              <a:spcAft>
                <a:spcPts val="0"/>
              </a:spcAft>
              <a:buClrTx/>
              <a:buSzTx/>
              <a:buFontTx/>
              <a:buNone/>
              <a:tabLst/>
              <a:defRPr/>
            </a:pPr>
            <a:r>
              <a:rPr lang="nb-NO" dirty="0" err="1"/>
              <a:t>Alroy</a:t>
            </a:r>
            <a:r>
              <a:rPr lang="nb-NO" dirty="0"/>
              <a:t> </a:t>
            </a:r>
            <a:r>
              <a:rPr lang="nb-NO" dirty="0" err="1"/>
              <a:t>Paleobiology</a:t>
            </a:r>
            <a:r>
              <a:rPr lang="nb-NO" dirty="0"/>
              <a:t> </a:t>
            </a:r>
            <a:r>
              <a:rPr lang="en-GB" b="1" dirty="0"/>
              <a:t>A more precise speciation and extinction rate estimator</a:t>
            </a:r>
          </a:p>
          <a:p>
            <a:r>
              <a:rPr lang="nb-NO" dirty="0"/>
              <a:t>2015</a:t>
            </a:r>
          </a:p>
          <a:p>
            <a:r>
              <a:rPr lang="en-GB" dirty="0"/>
              <a:t>A new turnover rate metric is introduced that combines simplicity and precision. Like the related three-timer and gap-filler equations, it involves first identifying a cohort of taxa sampled in the time interval preceding the one of interest (call the intervals i0 and i1). Taxa sampled in i0 and i1 are two-timers (t2); those sampled in i0 and i2 but not i1 are part-timers (p); and taxa sampled only in either i1, i2, or i3 are newly notated here as either s1, s2, or s3. The gap-filler extinction proportion can be reformulated as (s1−s3)/(t2+p). </a:t>
            </a:r>
            <a:endParaRPr lang="nb-NO" dirty="0"/>
          </a:p>
        </p:txBody>
      </p:sp>
    </p:spTree>
    <p:extLst>
      <p:ext uri="{BB962C8B-B14F-4D97-AF65-F5344CB8AC3E}">
        <p14:creationId xmlns:p14="http://schemas.microsoft.com/office/powerpoint/2010/main" val="263901064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CB4C92C-33E3-4269-8088-1FB92CAFE7B9}" type="slidenum">
              <a:rPr lang="nb-NO"/>
              <a:pPr/>
              <a:t>36</a:t>
            </a:fld>
            <a:endParaRPr lang="nb-NO"/>
          </a:p>
        </p:txBody>
      </p:sp>
      <p:sp>
        <p:nvSpPr>
          <p:cNvPr id="65538" name="Rectangle 2"/>
          <p:cNvSpPr>
            <a:spLocks noGrp="1" noRot="1" noChangeAspect="1" noChangeArrowheads="1" noTextEdit="1"/>
          </p:cNvSpPr>
          <p:nvPr>
            <p:ph type="sldImg"/>
          </p:nvPr>
        </p:nvSpPr>
        <p:spPr>
          <a:ln/>
        </p:spPr>
      </p:sp>
      <p:sp>
        <p:nvSpPr>
          <p:cNvPr id="65539" name="Rectangle 3"/>
          <p:cNvSpPr>
            <a:spLocks noGrp="1" noChangeArrowheads="1"/>
          </p:cNvSpPr>
          <p:nvPr>
            <p:ph type="body" idx="1"/>
          </p:nvPr>
        </p:nvSpPr>
        <p:spPr/>
        <p:txBody>
          <a:bodyPr/>
          <a:lstStyle/>
          <a:p>
            <a:r>
              <a:rPr lang="nb-NO" dirty="0" err="1"/>
              <a:t>Also</a:t>
            </a:r>
            <a:r>
              <a:rPr lang="nb-NO" dirty="0"/>
              <a:t> LMY</a:t>
            </a:r>
          </a:p>
          <a:p>
            <a:pPr marL="0" marR="0" lvl="0" indent="0" algn="l" defTabSz="914400" rtl="0" eaLnBrk="1" fontAlgn="auto" latinLnBrk="0" hangingPunct="1">
              <a:lnSpc>
                <a:spcPct val="100000"/>
              </a:lnSpc>
              <a:spcBef>
                <a:spcPts val="0"/>
              </a:spcBef>
              <a:spcAft>
                <a:spcPts val="0"/>
              </a:spcAft>
              <a:buClrTx/>
              <a:buSzTx/>
              <a:buFontTx/>
              <a:buNone/>
              <a:tabLst/>
              <a:defRPr/>
            </a:pPr>
            <a:r>
              <a:rPr lang="nb-NO" dirty="0" err="1"/>
              <a:t>Alroy</a:t>
            </a:r>
            <a:r>
              <a:rPr lang="nb-NO" dirty="0"/>
              <a:t> </a:t>
            </a:r>
            <a:r>
              <a:rPr lang="nb-NO" dirty="0" err="1"/>
              <a:t>Paleobiology</a:t>
            </a:r>
            <a:r>
              <a:rPr lang="nb-NO" dirty="0"/>
              <a:t> </a:t>
            </a:r>
            <a:r>
              <a:rPr lang="en-GB" b="1" dirty="0"/>
              <a:t>A more precise speciation and extinction rate estimator</a:t>
            </a:r>
          </a:p>
          <a:p>
            <a:r>
              <a:rPr lang="nb-NO" dirty="0"/>
              <a:t>2015</a:t>
            </a:r>
          </a:p>
          <a:p>
            <a:r>
              <a:rPr lang="en-GB" dirty="0"/>
              <a:t>A new turnover rate metric is introduced that combines simplicity and precision. Like the related three-timer and gap-filler equations, it involves first identifying a cohort of taxa sampled in the time interval preceding the one of interest (call the intervals i0 and i1). Taxa sampled in i0 and i1 are two-timers (t2); those sampled in i0 and i2 but not i1 are part-timers (p); and taxa sampled only in either i1, i2, or i3 are newly notated here as either s1, s2, or s3. The gap-filler extinction proportion can be reformulated as (s1−s3)/(t2+p). </a:t>
            </a:r>
            <a:endParaRPr lang="nb-NO"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CB4C92C-33E3-4269-8088-1FB92CAFE7B9}" type="slidenum">
              <a:rPr lang="nb-NO"/>
              <a:pPr/>
              <a:t>37</a:t>
            </a:fld>
            <a:endParaRPr lang="nb-NO"/>
          </a:p>
        </p:txBody>
      </p:sp>
      <p:sp>
        <p:nvSpPr>
          <p:cNvPr id="65538" name="Rectangle 2"/>
          <p:cNvSpPr>
            <a:spLocks noGrp="1" noRot="1" noChangeAspect="1" noChangeArrowheads="1" noTextEdit="1"/>
          </p:cNvSpPr>
          <p:nvPr>
            <p:ph type="sldImg"/>
          </p:nvPr>
        </p:nvSpPr>
        <p:spPr>
          <a:ln/>
        </p:spPr>
      </p:sp>
      <p:sp>
        <p:nvSpPr>
          <p:cNvPr id="65539" name="Rectangle 3"/>
          <p:cNvSpPr>
            <a:spLocks noGrp="1" noChangeArrowheads="1"/>
          </p:cNvSpPr>
          <p:nvPr>
            <p:ph type="body" idx="1"/>
          </p:nvPr>
        </p:nvSpPr>
        <p:spPr/>
        <p:txBody>
          <a:bodyPr/>
          <a:lstStyle/>
          <a:p>
            <a:r>
              <a:rPr lang="nb-NO" dirty="0" err="1"/>
              <a:t>Also</a:t>
            </a:r>
            <a:r>
              <a:rPr lang="nb-NO" dirty="0"/>
              <a:t> LMY</a:t>
            </a:r>
          </a:p>
          <a:p>
            <a:pPr marL="0" marR="0" lvl="0" indent="0" algn="l" defTabSz="914400" rtl="0" eaLnBrk="1" fontAlgn="auto" latinLnBrk="0" hangingPunct="1">
              <a:lnSpc>
                <a:spcPct val="100000"/>
              </a:lnSpc>
              <a:spcBef>
                <a:spcPts val="0"/>
              </a:spcBef>
              <a:spcAft>
                <a:spcPts val="0"/>
              </a:spcAft>
              <a:buClrTx/>
              <a:buSzTx/>
              <a:buFontTx/>
              <a:buNone/>
              <a:tabLst/>
              <a:defRPr/>
            </a:pPr>
            <a:r>
              <a:rPr lang="nb-NO" dirty="0" err="1"/>
              <a:t>Alroy</a:t>
            </a:r>
            <a:r>
              <a:rPr lang="nb-NO" dirty="0"/>
              <a:t> </a:t>
            </a:r>
            <a:r>
              <a:rPr lang="nb-NO" dirty="0" err="1"/>
              <a:t>Paleobiology</a:t>
            </a:r>
            <a:r>
              <a:rPr lang="nb-NO" dirty="0"/>
              <a:t> </a:t>
            </a:r>
            <a:r>
              <a:rPr lang="en-GB" b="1" dirty="0"/>
              <a:t>A more precise speciation and extinction rate estimator</a:t>
            </a:r>
          </a:p>
          <a:p>
            <a:r>
              <a:rPr lang="nb-NO" dirty="0"/>
              <a:t>2015</a:t>
            </a:r>
          </a:p>
          <a:p>
            <a:r>
              <a:rPr lang="en-GB" dirty="0"/>
              <a:t>A new turnover rate metric is introduced that combines simplicity and precision. Like the related three-timer and gap-filler equations, it involves first identifying a cohort of taxa sampled in the time interval preceding the one of interest (call the intervals i0 and i1). Taxa sampled in i0 and i1 are two-timers (t2); those sampled in i0 and i2 but not i1 are part-timers (p); and taxa sampled only in either i1, i2, or i3 are newly notated here as either s1, s2, or s3. The gap-filler extinction proportion can be reformulated as (s1−s3)/(t2+p). </a:t>
            </a:r>
            <a:endParaRPr lang="nb-NO" dirty="0"/>
          </a:p>
        </p:txBody>
      </p:sp>
    </p:spTree>
    <p:extLst>
      <p:ext uri="{BB962C8B-B14F-4D97-AF65-F5344CB8AC3E}">
        <p14:creationId xmlns:p14="http://schemas.microsoft.com/office/powerpoint/2010/main" val="384728067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CB4C92C-33E3-4269-8088-1FB92CAFE7B9}" type="slidenum">
              <a:rPr lang="nb-NO"/>
              <a:pPr/>
              <a:t>38</a:t>
            </a:fld>
            <a:endParaRPr lang="nb-NO"/>
          </a:p>
        </p:txBody>
      </p:sp>
      <p:sp>
        <p:nvSpPr>
          <p:cNvPr id="65538" name="Rectangle 2"/>
          <p:cNvSpPr>
            <a:spLocks noGrp="1" noRot="1" noChangeAspect="1" noChangeArrowheads="1" noTextEdit="1"/>
          </p:cNvSpPr>
          <p:nvPr>
            <p:ph type="sldImg"/>
          </p:nvPr>
        </p:nvSpPr>
        <p:spPr>
          <a:ln/>
        </p:spPr>
      </p:sp>
      <p:sp>
        <p:nvSpPr>
          <p:cNvPr id="65539" name="Rectangle 3"/>
          <p:cNvSpPr>
            <a:spLocks noGrp="1" noChangeArrowheads="1"/>
          </p:cNvSpPr>
          <p:nvPr>
            <p:ph type="body" idx="1"/>
          </p:nvPr>
        </p:nvSpPr>
        <p:spPr/>
        <p:txBody>
          <a:bodyPr/>
          <a:lstStyle/>
          <a:p>
            <a:r>
              <a:rPr lang="nb-NO" dirty="0" err="1"/>
              <a:t>Also</a:t>
            </a:r>
            <a:r>
              <a:rPr lang="nb-NO" dirty="0"/>
              <a:t> LMY</a:t>
            </a:r>
          </a:p>
          <a:p>
            <a:pPr marL="0" marR="0" lvl="0" indent="0" algn="l" defTabSz="914400" rtl="0" eaLnBrk="1" fontAlgn="auto" latinLnBrk="0" hangingPunct="1">
              <a:lnSpc>
                <a:spcPct val="100000"/>
              </a:lnSpc>
              <a:spcBef>
                <a:spcPts val="0"/>
              </a:spcBef>
              <a:spcAft>
                <a:spcPts val="0"/>
              </a:spcAft>
              <a:buClrTx/>
              <a:buSzTx/>
              <a:buFontTx/>
              <a:buNone/>
              <a:tabLst/>
              <a:defRPr/>
            </a:pPr>
            <a:r>
              <a:rPr lang="nb-NO" dirty="0" err="1"/>
              <a:t>Alroy</a:t>
            </a:r>
            <a:r>
              <a:rPr lang="nb-NO" dirty="0"/>
              <a:t> </a:t>
            </a:r>
            <a:r>
              <a:rPr lang="nb-NO" dirty="0" err="1"/>
              <a:t>Paleobiology</a:t>
            </a:r>
            <a:r>
              <a:rPr lang="nb-NO" dirty="0"/>
              <a:t> </a:t>
            </a:r>
            <a:r>
              <a:rPr lang="en-GB" b="1" dirty="0"/>
              <a:t>A more precise speciation and extinction rate estimator</a:t>
            </a:r>
          </a:p>
          <a:p>
            <a:r>
              <a:rPr lang="nb-NO" dirty="0"/>
              <a:t>2015</a:t>
            </a:r>
          </a:p>
          <a:p>
            <a:r>
              <a:rPr lang="en-GB" dirty="0"/>
              <a:t>A new turnover rate metric is introduced that combines simplicity and precision. Like the related three-timer and gap-filler equations, it involves first identifying a cohort of taxa sampled in the time interval preceding the one of interest (call the intervals i0 and i1). Taxa sampled in i0 and i1 are two-timers (t2); those sampled in i0 and i2 but not i1 are part-timers (p); and taxa sampled only in either i1, i2, or i3 are newly notated here as either s1, s2, or s3. The gap-filler extinction proportion can be reformulated as (s1−s3)/(t2+p). </a:t>
            </a:r>
            <a:endParaRPr lang="nb-NO" dirty="0"/>
          </a:p>
        </p:txBody>
      </p:sp>
    </p:spTree>
    <p:extLst>
      <p:ext uri="{BB962C8B-B14F-4D97-AF65-F5344CB8AC3E}">
        <p14:creationId xmlns:p14="http://schemas.microsoft.com/office/powerpoint/2010/main" val="407280645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CB4C92C-33E3-4269-8088-1FB92CAFE7B9}" type="slidenum">
              <a:rPr lang="nb-NO"/>
              <a:pPr/>
              <a:t>39</a:t>
            </a:fld>
            <a:endParaRPr lang="nb-NO"/>
          </a:p>
        </p:txBody>
      </p:sp>
      <p:sp>
        <p:nvSpPr>
          <p:cNvPr id="65538" name="Rectangle 2"/>
          <p:cNvSpPr>
            <a:spLocks noGrp="1" noRot="1" noChangeAspect="1" noChangeArrowheads="1" noTextEdit="1"/>
          </p:cNvSpPr>
          <p:nvPr>
            <p:ph type="sldImg"/>
          </p:nvPr>
        </p:nvSpPr>
        <p:spPr>
          <a:ln/>
        </p:spPr>
      </p:sp>
      <p:sp>
        <p:nvSpPr>
          <p:cNvPr id="65539" name="Rectangle 3"/>
          <p:cNvSpPr>
            <a:spLocks noGrp="1" noChangeArrowheads="1"/>
          </p:cNvSpPr>
          <p:nvPr>
            <p:ph type="body" idx="1"/>
          </p:nvPr>
        </p:nvSpPr>
        <p:spPr/>
        <p:txBody>
          <a:bodyPr/>
          <a:lstStyle/>
          <a:p>
            <a:endParaRPr lang="nb-NO" dirty="0"/>
          </a:p>
        </p:txBody>
      </p:sp>
    </p:spTree>
    <p:extLst>
      <p:ext uri="{BB962C8B-B14F-4D97-AF65-F5344CB8AC3E}">
        <p14:creationId xmlns:p14="http://schemas.microsoft.com/office/powerpoint/2010/main" val="3225968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B9E5AAC-A109-3940-B021-2778AC43C4CC}" type="slidenum">
              <a:rPr lang="en-NO" smtClean="0"/>
              <a:t>45</a:t>
            </a:fld>
            <a:endParaRPr lang="en-NO"/>
          </a:p>
        </p:txBody>
      </p:sp>
    </p:spTree>
    <p:extLst>
      <p:ext uri="{BB962C8B-B14F-4D97-AF65-F5344CB8AC3E}">
        <p14:creationId xmlns:p14="http://schemas.microsoft.com/office/powerpoint/2010/main" val="22297238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2C7A3A-DE47-B9C8-BACE-310C380E352B}"/>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NO"/>
          </a:p>
        </p:txBody>
      </p:sp>
      <p:sp>
        <p:nvSpPr>
          <p:cNvPr id="3" name="Subtitle 2">
            <a:extLst>
              <a:ext uri="{FF2B5EF4-FFF2-40B4-BE49-F238E27FC236}">
                <a16:creationId xmlns:a16="http://schemas.microsoft.com/office/drawing/2014/main" id="{7F39E5FF-1BB7-A2A3-686D-49261ACE7BA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NO"/>
          </a:p>
        </p:txBody>
      </p:sp>
      <p:sp>
        <p:nvSpPr>
          <p:cNvPr id="4" name="Date Placeholder 3">
            <a:extLst>
              <a:ext uri="{FF2B5EF4-FFF2-40B4-BE49-F238E27FC236}">
                <a16:creationId xmlns:a16="http://schemas.microsoft.com/office/drawing/2014/main" id="{1162F4B0-2664-10A8-F3AF-CFCDF0F9B0E0}"/>
              </a:ext>
            </a:extLst>
          </p:cNvPr>
          <p:cNvSpPr>
            <a:spLocks noGrp="1"/>
          </p:cNvSpPr>
          <p:nvPr>
            <p:ph type="dt" sz="half" idx="10"/>
          </p:nvPr>
        </p:nvSpPr>
        <p:spPr/>
        <p:txBody>
          <a:bodyPr/>
          <a:lstStyle/>
          <a:p>
            <a:fld id="{29319802-0850-1244-A893-1DA9200A0D09}" type="datetimeFigureOut">
              <a:rPr lang="en-NO" smtClean="0"/>
              <a:t>02/09/2026</a:t>
            </a:fld>
            <a:endParaRPr lang="en-NO"/>
          </a:p>
        </p:txBody>
      </p:sp>
      <p:sp>
        <p:nvSpPr>
          <p:cNvPr id="5" name="Footer Placeholder 4">
            <a:extLst>
              <a:ext uri="{FF2B5EF4-FFF2-40B4-BE49-F238E27FC236}">
                <a16:creationId xmlns:a16="http://schemas.microsoft.com/office/drawing/2014/main" id="{FBD497FF-93DD-E791-90DA-4A50FA347B77}"/>
              </a:ext>
            </a:extLst>
          </p:cNvPr>
          <p:cNvSpPr>
            <a:spLocks noGrp="1"/>
          </p:cNvSpPr>
          <p:nvPr>
            <p:ph type="ftr" sz="quarter" idx="11"/>
          </p:nvPr>
        </p:nvSpPr>
        <p:spPr/>
        <p:txBody>
          <a:bodyPr/>
          <a:lstStyle/>
          <a:p>
            <a:endParaRPr lang="en-NO"/>
          </a:p>
        </p:txBody>
      </p:sp>
      <p:sp>
        <p:nvSpPr>
          <p:cNvPr id="6" name="Slide Number Placeholder 5">
            <a:extLst>
              <a:ext uri="{FF2B5EF4-FFF2-40B4-BE49-F238E27FC236}">
                <a16:creationId xmlns:a16="http://schemas.microsoft.com/office/drawing/2014/main" id="{F0EA82CE-A7E3-0384-74F9-136524A8E80A}"/>
              </a:ext>
            </a:extLst>
          </p:cNvPr>
          <p:cNvSpPr>
            <a:spLocks noGrp="1"/>
          </p:cNvSpPr>
          <p:nvPr>
            <p:ph type="sldNum" sz="quarter" idx="12"/>
          </p:nvPr>
        </p:nvSpPr>
        <p:spPr/>
        <p:txBody>
          <a:bodyPr/>
          <a:lstStyle/>
          <a:p>
            <a:fld id="{29554B45-1D14-BE4A-8D73-B262ADF451B7}" type="slidenum">
              <a:rPr lang="en-NO" smtClean="0"/>
              <a:t>‹#›</a:t>
            </a:fld>
            <a:endParaRPr lang="en-NO"/>
          </a:p>
        </p:txBody>
      </p:sp>
    </p:spTree>
    <p:extLst>
      <p:ext uri="{BB962C8B-B14F-4D97-AF65-F5344CB8AC3E}">
        <p14:creationId xmlns:p14="http://schemas.microsoft.com/office/powerpoint/2010/main" val="6033523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E0571-21B2-E0FC-DE81-FC69163BADD6}"/>
              </a:ext>
            </a:extLst>
          </p:cNvPr>
          <p:cNvSpPr>
            <a:spLocks noGrp="1"/>
          </p:cNvSpPr>
          <p:nvPr>
            <p:ph type="title"/>
          </p:nvPr>
        </p:nvSpPr>
        <p:spPr/>
        <p:txBody>
          <a:bodyPr/>
          <a:lstStyle/>
          <a:p>
            <a:r>
              <a:rPr lang="en-GB"/>
              <a:t>Click to edit Master title style</a:t>
            </a:r>
            <a:endParaRPr lang="en-NO"/>
          </a:p>
        </p:txBody>
      </p:sp>
      <p:sp>
        <p:nvSpPr>
          <p:cNvPr id="3" name="Content Placeholder 2">
            <a:extLst>
              <a:ext uri="{FF2B5EF4-FFF2-40B4-BE49-F238E27FC236}">
                <a16:creationId xmlns:a16="http://schemas.microsoft.com/office/drawing/2014/main" id="{3B54761E-C2C3-5578-AECF-2F76E53B2D23}"/>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O"/>
          </a:p>
        </p:txBody>
      </p:sp>
      <p:sp>
        <p:nvSpPr>
          <p:cNvPr id="4" name="Date Placeholder 3">
            <a:extLst>
              <a:ext uri="{FF2B5EF4-FFF2-40B4-BE49-F238E27FC236}">
                <a16:creationId xmlns:a16="http://schemas.microsoft.com/office/drawing/2014/main" id="{71C9627E-D0EF-9571-2914-18D83BC4B742}"/>
              </a:ext>
            </a:extLst>
          </p:cNvPr>
          <p:cNvSpPr>
            <a:spLocks noGrp="1"/>
          </p:cNvSpPr>
          <p:nvPr>
            <p:ph type="dt" sz="half" idx="10"/>
          </p:nvPr>
        </p:nvSpPr>
        <p:spPr/>
        <p:txBody>
          <a:bodyPr/>
          <a:lstStyle/>
          <a:p>
            <a:fld id="{29319802-0850-1244-A893-1DA9200A0D09}" type="datetimeFigureOut">
              <a:rPr lang="en-NO" smtClean="0"/>
              <a:t>02/09/2026</a:t>
            </a:fld>
            <a:endParaRPr lang="en-NO"/>
          </a:p>
        </p:txBody>
      </p:sp>
      <p:sp>
        <p:nvSpPr>
          <p:cNvPr id="5" name="Footer Placeholder 4">
            <a:extLst>
              <a:ext uri="{FF2B5EF4-FFF2-40B4-BE49-F238E27FC236}">
                <a16:creationId xmlns:a16="http://schemas.microsoft.com/office/drawing/2014/main" id="{F2C984AC-719E-59D0-3C8C-BC6E78C4921D}"/>
              </a:ext>
            </a:extLst>
          </p:cNvPr>
          <p:cNvSpPr>
            <a:spLocks noGrp="1"/>
          </p:cNvSpPr>
          <p:nvPr>
            <p:ph type="ftr" sz="quarter" idx="11"/>
          </p:nvPr>
        </p:nvSpPr>
        <p:spPr/>
        <p:txBody>
          <a:bodyPr/>
          <a:lstStyle/>
          <a:p>
            <a:endParaRPr lang="en-NO"/>
          </a:p>
        </p:txBody>
      </p:sp>
      <p:sp>
        <p:nvSpPr>
          <p:cNvPr id="6" name="Slide Number Placeholder 5">
            <a:extLst>
              <a:ext uri="{FF2B5EF4-FFF2-40B4-BE49-F238E27FC236}">
                <a16:creationId xmlns:a16="http://schemas.microsoft.com/office/drawing/2014/main" id="{BAE63BB3-D732-9F31-AFA1-F676DFD4F7F5}"/>
              </a:ext>
            </a:extLst>
          </p:cNvPr>
          <p:cNvSpPr>
            <a:spLocks noGrp="1"/>
          </p:cNvSpPr>
          <p:nvPr>
            <p:ph type="sldNum" sz="quarter" idx="12"/>
          </p:nvPr>
        </p:nvSpPr>
        <p:spPr/>
        <p:txBody>
          <a:bodyPr/>
          <a:lstStyle/>
          <a:p>
            <a:fld id="{29554B45-1D14-BE4A-8D73-B262ADF451B7}" type="slidenum">
              <a:rPr lang="en-NO" smtClean="0"/>
              <a:t>‹#›</a:t>
            </a:fld>
            <a:endParaRPr lang="en-NO"/>
          </a:p>
        </p:txBody>
      </p:sp>
    </p:spTree>
    <p:extLst>
      <p:ext uri="{BB962C8B-B14F-4D97-AF65-F5344CB8AC3E}">
        <p14:creationId xmlns:p14="http://schemas.microsoft.com/office/powerpoint/2010/main" val="31417181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4A457E-A38E-264E-A844-267B7177CDFB}"/>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NO"/>
          </a:p>
        </p:txBody>
      </p:sp>
      <p:sp>
        <p:nvSpPr>
          <p:cNvPr id="3" name="Text Placeholder 2">
            <a:extLst>
              <a:ext uri="{FF2B5EF4-FFF2-40B4-BE49-F238E27FC236}">
                <a16:creationId xmlns:a16="http://schemas.microsoft.com/office/drawing/2014/main" id="{1B2F529F-9482-07B4-9DF9-AE9ADCA2A71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C98127D2-A6E2-11DB-E6EC-2AAD17B1F780}"/>
              </a:ext>
            </a:extLst>
          </p:cNvPr>
          <p:cNvSpPr>
            <a:spLocks noGrp="1"/>
          </p:cNvSpPr>
          <p:nvPr>
            <p:ph type="dt" sz="half" idx="10"/>
          </p:nvPr>
        </p:nvSpPr>
        <p:spPr/>
        <p:txBody>
          <a:bodyPr/>
          <a:lstStyle/>
          <a:p>
            <a:fld id="{29319802-0850-1244-A893-1DA9200A0D09}" type="datetimeFigureOut">
              <a:rPr lang="en-NO" smtClean="0"/>
              <a:t>02/09/2026</a:t>
            </a:fld>
            <a:endParaRPr lang="en-NO"/>
          </a:p>
        </p:txBody>
      </p:sp>
      <p:sp>
        <p:nvSpPr>
          <p:cNvPr id="5" name="Footer Placeholder 4">
            <a:extLst>
              <a:ext uri="{FF2B5EF4-FFF2-40B4-BE49-F238E27FC236}">
                <a16:creationId xmlns:a16="http://schemas.microsoft.com/office/drawing/2014/main" id="{48E2DBCC-4264-754F-BEF0-B7B1DC170D98}"/>
              </a:ext>
            </a:extLst>
          </p:cNvPr>
          <p:cNvSpPr>
            <a:spLocks noGrp="1"/>
          </p:cNvSpPr>
          <p:nvPr>
            <p:ph type="ftr" sz="quarter" idx="11"/>
          </p:nvPr>
        </p:nvSpPr>
        <p:spPr/>
        <p:txBody>
          <a:bodyPr/>
          <a:lstStyle/>
          <a:p>
            <a:endParaRPr lang="en-NO"/>
          </a:p>
        </p:txBody>
      </p:sp>
      <p:sp>
        <p:nvSpPr>
          <p:cNvPr id="6" name="Slide Number Placeholder 5">
            <a:extLst>
              <a:ext uri="{FF2B5EF4-FFF2-40B4-BE49-F238E27FC236}">
                <a16:creationId xmlns:a16="http://schemas.microsoft.com/office/drawing/2014/main" id="{5433BC02-2809-7670-24C9-C5F996CA595E}"/>
              </a:ext>
            </a:extLst>
          </p:cNvPr>
          <p:cNvSpPr>
            <a:spLocks noGrp="1"/>
          </p:cNvSpPr>
          <p:nvPr>
            <p:ph type="sldNum" sz="quarter" idx="12"/>
          </p:nvPr>
        </p:nvSpPr>
        <p:spPr/>
        <p:txBody>
          <a:bodyPr/>
          <a:lstStyle/>
          <a:p>
            <a:fld id="{29554B45-1D14-BE4A-8D73-B262ADF451B7}" type="slidenum">
              <a:rPr lang="en-NO" smtClean="0"/>
              <a:t>‹#›</a:t>
            </a:fld>
            <a:endParaRPr lang="en-NO"/>
          </a:p>
        </p:txBody>
      </p:sp>
    </p:spTree>
    <p:extLst>
      <p:ext uri="{BB962C8B-B14F-4D97-AF65-F5344CB8AC3E}">
        <p14:creationId xmlns:p14="http://schemas.microsoft.com/office/powerpoint/2010/main" val="33980788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5740C2-B7FD-60A7-9856-21D03CC0234A}"/>
              </a:ext>
            </a:extLst>
          </p:cNvPr>
          <p:cNvSpPr>
            <a:spLocks noGrp="1"/>
          </p:cNvSpPr>
          <p:nvPr>
            <p:ph type="title"/>
          </p:nvPr>
        </p:nvSpPr>
        <p:spPr/>
        <p:txBody>
          <a:bodyPr/>
          <a:lstStyle/>
          <a:p>
            <a:r>
              <a:rPr lang="en-GB"/>
              <a:t>Click to edit Master title style</a:t>
            </a:r>
            <a:endParaRPr lang="en-NO"/>
          </a:p>
        </p:txBody>
      </p:sp>
      <p:sp>
        <p:nvSpPr>
          <p:cNvPr id="3" name="Content Placeholder 2">
            <a:extLst>
              <a:ext uri="{FF2B5EF4-FFF2-40B4-BE49-F238E27FC236}">
                <a16:creationId xmlns:a16="http://schemas.microsoft.com/office/drawing/2014/main" id="{D330160F-BDB2-0D40-8DD2-F721647F1664}"/>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O"/>
          </a:p>
        </p:txBody>
      </p:sp>
      <p:sp>
        <p:nvSpPr>
          <p:cNvPr id="4" name="Content Placeholder 3">
            <a:extLst>
              <a:ext uri="{FF2B5EF4-FFF2-40B4-BE49-F238E27FC236}">
                <a16:creationId xmlns:a16="http://schemas.microsoft.com/office/drawing/2014/main" id="{A880216F-DE5C-6DB2-0C6A-2672976050B2}"/>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O"/>
          </a:p>
        </p:txBody>
      </p:sp>
      <p:sp>
        <p:nvSpPr>
          <p:cNvPr id="5" name="Date Placeholder 4">
            <a:extLst>
              <a:ext uri="{FF2B5EF4-FFF2-40B4-BE49-F238E27FC236}">
                <a16:creationId xmlns:a16="http://schemas.microsoft.com/office/drawing/2014/main" id="{7B1B4C0E-CECC-45EE-ED32-13A5283E5C24}"/>
              </a:ext>
            </a:extLst>
          </p:cNvPr>
          <p:cNvSpPr>
            <a:spLocks noGrp="1"/>
          </p:cNvSpPr>
          <p:nvPr>
            <p:ph type="dt" sz="half" idx="10"/>
          </p:nvPr>
        </p:nvSpPr>
        <p:spPr/>
        <p:txBody>
          <a:bodyPr/>
          <a:lstStyle/>
          <a:p>
            <a:fld id="{29319802-0850-1244-A893-1DA9200A0D09}" type="datetimeFigureOut">
              <a:rPr lang="en-NO" smtClean="0"/>
              <a:t>02/09/2026</a:t>
            </a:fld>
            <a:endParaRPr lang="en-NO"/>
          </a:p>
        </p:txBody>
      </p:sp>
      <p:sp>
        <p:nvSpPr>
          <p:cNvPr id="6" name="Footer Placeholder 5">
            <a:extLst>
              <a:ext uri="{FF2B5EF4-FFF2-40B4-BE49-F238E27FC236}">
                <a16:creationId xmlns:a16="http://schemas.microsoft.com/office/drawing/2014/main" id="{8A168F64-55A2-CE90-6DEC-CBA661601B2D}"/>
              </a:ext>
            </a:extLst>
          </p:cNvPr>
          <p:cNvSpPr>
            <a:spLocks noGrp="1"/>
          </p:cNvSpPr>
          <p:nvPr>
            <p:ph type="ftr" sz="quarter" idx="11"/>
          </p:nvPr>
        </p:nvSpPr>
        <p:spPr/>
        <p:txBody>
          <a:bodyPr/>
          <a:lstStyle/>
          <a:p>
            <a:endParaRPr lang="en-NO"/>
          </a:p>
        </p:txBody>
      </p:sp>
      <p:sp>
        <p:nvSpPr>
          <p:cNvPr id="7" name="Slide Number Placeholder 6">
            <a:extLst>
              <a:ext uri="{FF2B5EF4-FFF2-40B4-BE49-F238E27FC236}">
                <a16:creationId xmlns:a16="http://schemas.microsoft.com/office/drawing/2014/main" id="{E31FB178-7729-F5F9-DB40-3D52F2DB0BF2}"/>
              </a:ext>
            </a:extLst>
          </p:cNvPr>
          <p:cNvSpPr>
            <a:spLocks noGrp="1"/>
          </p:cNvSpPr>
          <p:nvPr>
            <p:ph type="sldNum" sz="quarter" idx="12"/>
          </p:nvPr>
        </p:nvSpPr>
        <p:spPr/>
        <p:txBody>
          <a:bodyPr/>
          <a:lstStyle/>
          <a:p>
            <a:fld id="{29554B45-1D14-BE4A-8D73-B262ADF451B7}" type="slidenum">
              <a:rPr lang="en-NO" smtClean="0"/>
              <a:t>‹#›</a:t>
            </a:fld>
            <a:endParaRPr lang="en-NO"/>
          </a:p>
        </p:txBody>
      </p:sp>
    </p:spTree>
    <p:extLst>
      <p:ext uri="{BB962C8B-B14F-4D97-AF65-F5344CB8AC3E}">
        <p14:creationId xmlns:p14="http://schemas.microsoft.com/office/powerpoint/2010/main" val="29088728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93815-9A46-F8BC-29F8-CE43A5DC1A88}"/>
              </a:ext>
            </a:extLst>
          </p:cNvPr>
          <p:cNvSpPr>
            <a:spLocks noGrp="1"/>
          </p:cNvSpPr>
          <p:nvPr>
            <p:ph type="title"/>
          </p:nvPr>
        </p:nvSpPr>
        <p:spPr>
          <a:xfrm>
            <a:off x="839788" y="365125"/>
            <a:ext cx="10515600" cy="1325563"/>
          </a:xfrm>
        </p:spPr>
        <p:txBody>
          <a:bodyPr/>
          <a:lstStyle/>
          <a:p>
            <a:r>
              <a:rPr lang="en-GB"/>
              <a:t>Click to edit Master title style</a:t>
            </a:r>
            <a:endParaRPr lang="en-NO"/>
          </a:p>
        </p:txBody>
      </p:sp>
      <p:sp>
        <p:nvSpPr>
          <p:cNvPr id="3" name="Text Placeholder 2">
            <a:extLst>
              <a:ext uri="{FF2B5EF4-FFF2-40B4-BE49-F238E27FC236}">
                <a16:creationId xmlns:a16="http://schemas.microsoft.com/office/drawing/2014/main" id="{5A53B035-C748-2E8F-C0DA-A5B64BCCE4B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5E783480-412C-6536-C09B-84B7B48E9484}"/>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O"/>
          </a:p>
        </p:txBody>
      </p:sp>
      <p:sp>
        <p:nvSpPr>
          <p:cNvPr id="5" name="Text Placeholder 4">
            <a:extLst>
              <a:ext uri="{FF2B5EF4-FFF2-40B4-BE49-F238E27FC236}">
                <a16:creationId xmlns:a16="http://schemas.microsoft.com/office/drawing/2014/main" id="{93731C9D-466E-CDD0-7479-6637691C573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86600F4F-C53A-C97E-7BEA-107ABA52C283}"/>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O"/>
          </a:p>
        </p:txBody>
      </p:sp>
      <p:sp>
        <p:nvSpPr>
          <p:cNvPr id="7" name="Date Placeholder 6">
            <a:extLst>
              <a:ext uri="{FF2B5EF4-FFF2-40B4-BE49-F238E27FC236}">
                <a16:creationId xmlns:a16="http://schemas.microsoft.com/office/drawing/2014/main" id="{F7E33090-7B7F-067D-6E06-4A1784AA7A67}"/>
              </a:ext>
            </a:extLst>
          </p:cNvPr>
          <p:cNvSpPr>
            <a:spLocks noGrp="1"/>
          </p:cNvSpPr>
          <p:nvPr>
            <p:ph type="dt" sz="half" idx="10"/>
          </p:nvPr>
        </p:nvSpPr>
        <p:spPr/>
        <p:txBody>
          <a:bodyPr/>
          <a:lstStyle/>
          <a:p>
            <a:fld id="{29319802-0850-1244-A893-1DA9200A0D09}" type="datetimeFigureOut">
              <a:rPr lang="en-NO" smtClean="0"/>
              <a:t>02/09/2026</a:t>
            </a:fld>
            <a:endParaRPr lang="en-NO"/>
          </a:p>
        </p:txBody>
      </p:sp>
      <p:sp>
        <p:nvSpPr>
          <p:cNvPr id="8" name="Footer Placeholder 7">
            <a:extLst>
              <a:ext uri="{FF2B5EF4-FFF2-40B4-BE49-F238E27FC236}">
                <a16:creationId xmlns:a16="http://schemas.microsoft.com/office/drawing/2014/main" id="{9B258C0E-D7C9-B20B-06BE-BFBDB13F8A19}"/>
              </a:ext>
            </a:extLst>
          </p:cNvPr>
          <p:cNvSpPr>
            <a:spLocks noGrp="1"/>
          </p:cNvSpPr>
          <p:nvPr>
            <p:ph type="ftr" sz="quarter" idx="11"/>
          </p:nvPr>
        </p:nvSpPr>
        <p:spPr/>
        <p:txBody>
          <a:bodyPr/>
          <a:lstStyle/>
          <a:p>
            <a:endParaRPr lang="en-NO"/>
          </a:p>
        </p:txBody>
      </p:sp>
      <p:sp>
        <p:nvSpPr>
          <p:cNvPr id="9" name="Slide Number Placeholder 8">
            <a:extLst>
              <a:ext uri="{FF2B5EF4-FFF2-40B4-BE49-F238E27FC236}">
                <a16:creationId xmlns:a16="http://schemas.microsoft.com/office/drawing/2014/main" id="{386C27F6-0461-BB38-955E-5E0984B3FFE8}"/>
              </a:ext>
            </a:extLst>
          </p:cNvPr>
          <p:cNvSpPr>
            <a:spLocks noGrp="1"/>
          </p:cNvSpPr>
          <p:nvPr>
            <p:ph type="sldNum" sz="quarter" idx="12"/>
          </p:nvPr>
        </p:nvSpPr>
        <p:spPr/>
        <p:txBody>
          <a:bodyPr/>
          <a:lstStyle/>
          <a:p>
            <a:fld id="{29554B45-1D14-BE4A-8D73-B262ADF451B7}" type="slidenum">
              <a:rPr lang="en-NO" smtClean="0"/>
              <a:t>‹#›</a:t>
            </a:fld>
            <a:endParaRPr lang="en-NO"/>
          </a:p>
        </p:txBody>
      </p:sp>
    </p:spTree>
    <p:extLst>
      <p:ext uri="{BB962C8B-B14F-4D97-AF65-F5344CB8AC3E}">
        <p14:creationId xmlns:p14="http://schemas.microsoft.com/office/powerpoint/2010/main" val="6662694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4063B6-24F1-9742-E196-35C98D7CEF31}"/>
              </a:ext>
            </a:extLst>
          </p:cNvPr>
          <p:cNvSpPr>
            <a:spLocks noGrp="1"/>
          </p:cNvSpPr>
          <p:nvPr>
            <p:ph type="title"/>
          </p:nvPr>
        </p:nvSpPr>
        <p:spPr/>
        <p:txBody>
          <a:bodyPr/>
          <a:lstStyle/>
          <a:p>
            <a:r>
              <a:rPr lang="en-GB"/>
              <a:t>Click to edit Master title style</a:t>
            </a:r>
            <a:endParaRPr lang="en-NO"/>
          </a:p>
        </p:txBody>
      </p:sp>
      <p:sp>
        <p:nvSpPr>
          <p:cNvPr id="3" name="Date Placeholder 2">
            <a:extLst>
              <a:ext uri="{FF2B5EF4-FFF2-40B4-BE49-F238E27FC236}">
                <a16:creationId xmlns:a16="http://schemas.microsoft.com/office/drawing/2014/main" id="{38AD00B5-706B-4A8B-E062-9C06775C2158}"/>
              </a:ext>
            </a:extLst>
          </p:cNvPr>
          <p:cNvSpPr>
            <a:spLocks noGrp="1"/>
          </p:cNvSpPr>
          <p:nvPr>
            <p:ph type="dt" sz="half" idx="10"/>
          </p:nvPr>
        </p:nvSpPr>
        <p:spPr/>
        <p:txBody>
          <a:bodyPr/>
          <a:lstStyle/>
          <a:p>
            <a:fld id="{29319802-0850-1244-A893-1DA9200A0D09}" type="datetimeFigureOut">
              <a:rPr lang="en-NO" smtClean="0"/>
              <a:t>02/09/2026</a:t>
            </a:fld>
            <a:endParaRPr lang="en-NO"/>
          </a:p>
        </p:txBody>
      </p:sp>
      <p:sp>
        <p:nvSpPr>
          <p:cNvPr id="4" name="Footer Placeholder 3">
            <a:extLst>
              <a:ext uri="{FF2B5EF4-FFF2-40B4-BE49-F238E27FC236}">
                <a16:creationId xmlns:a16="http://schemas.microsoft.com/office/drawing/2014/main" id="{E226A053-C55D-5F82-CCE6-798C34990481}"/>
              </a:ext>
            </a:extLst>
          </p:cNvPr>
          <p:cNvSpPr>
            <a:spLocks noGrp="1"/>
          </p:cNvSpPr>
          <p:nvPr>
            <p:ph type="ftr" sz="quarter" idx="11"/>
          </p:nvPr>
        </p:nvSpPr>
        <p:spPr/>
        <p:txBody>
          <a:bodyPr/>
          <a:lstStyle/>
          <a:p>
            <a:endParaRPr lang="en-NO"/>
          </a:p>
        </p:txBody>
      </p:sp>
      <p:sp>
        <p:nvSpPr>
          <p:cNvPr id="5" name="Slide Number Placeholder 4">
            <a:extLst>
              <a:ext uri="{FF2B5EF4-FFF2-40B4-BE49-F238E27FC236}">
                <a16:creationId xmlns:a16="http://schemas.microsoft.com/office/drawing/2014/main" id="{D56B8F7A-385B-309C-E1E3-C0E917EA14D1}"/>
              </a:ext>
            </a:extLst>
          </p:cNvPr>
          <p:cNvSpPr>
            <a:spLocks noGrp="1"/>
          </p:cNvSpPr>
          <p:nvPr>
            <p:ph type="sldNum" sz="quarter" idx="12"/>
          </p:nvPr>
        </p:nvSpPr>
        <p:spPr/>
        <p:txBody>
          <a:bodyPr/>
          <a:lstStyle/>
          <a:p>
            <a:fld id="{29554B45-1D14-BE4A-8D73-B262ADF451B7}" type="slidenum">
              <a:rPr lang="en-NO" smtClean="0"/>
              <a:t>‹#›</a:t>
            </a:fld>
            <a:endParaRPr lang="en-NO"/>
          </a:p>
        </p:txBody>
      </p:sp>
    </p:spTree>
    <p:extLst>
      <p:ext uri="{BB962C8B-B14F-4D97-AF65-F5344CB8AC3E}">
        <p14:creationId xmlns:p14="http://schemas.microsoft.com/office/powerpoint/2010/main" val="22494608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F2C2618-A613-D539-3B39-64AF7F0EFFF3}"/>
              </a:ext>
            </a:extLst>
          </p:cNvPr>
          <p:cNvSpPr>
            <a:spLocks noGrp="1"/>
          </p:cNvSpPr>
          <p:nvPr>
            <p:ph type="dt" sz="half" idx="10"/>
          </p:nvPr>
        </p:nvSpPr>
        <p:spPr/>
        <p:txBody>
          <a:bodyPr/>
          <a:lstStyle/>
          <a:p>
            <a:fld id="{29319802-0850-1244-A893-1DA9200A0D09}" type="datetimeFigureOut">
              <a:rPr lang="en-NO" smtClean="0"/>
              <a:t>02/09/2026</a:t>
            </a:fld>
            <a:endParaRPr lang="en-NO"/>
          </a:p>
        </p:txBody>
      </p:sp>
      <p:sp>
        <p:nvSpPr>
          <p:cNvPr id="3" name="Footer Placeholder 2">
            <a:extLst>
              <a:ext uri="{FF2B5EF4-FFF2-40B4-BE49-F238E27FC236}">
                <a16:creationId xmlns:a16="http://schemas.microsoft.com/office/drawing/2014/main" id="{2456B407-DF9F-547B-2FF7-1AB667EEA1B4}"/>
              </a:ext>
            </a:extLst>
          </p:cNvPr>
          <p:cNvSpPr>
            <a:spLocks noGrp="1"/>
          </p:cNvSpPr>
          <p:nvPr>
            <p:ph type="ftr" sz="quarter" idx="11"/>
          </p:nvPr>
        </p:nvSpPr>
        <p:spPr/>
        <p:txBody>
          <a:bodyPr/>
          <a:lstStyle/>
          <a:p>
            <a:endParaRPr lang="en-NO"/>
          </a:p>
        </p:txBody>
      </p:sp>
      <p:sp>
        <p:nvSpPr>
          <p:cNvPr id="4" name="Slide Number Placeholder 3">
            <a:extLst>
              <a:ext uri="{FF2B5EF4-FFF2-40B4-BE49-F238E27FC236}">
                <a16:creationId xmlns:a16="http://schemas.microsoft.com/office/drawing/2014/main" id="{BA0967F2-21EE-5C37-C774-12F599697F87}"/>
              </a:ext>
            </a:extLst>
          </p:cNvPr>
          <p:cNvSpPr>
            <a:spLocks noGrp="1"/>
          </p:cNvSpPr>
          <p:nvPr>
            <p:ph type="sldNum" sz="quarter" idx="12"/>
          </p:nvPr>
        </p:nvSpPr>
        <p:spPr/>
        <p:txBody>
          <a:bodyPr/>
          <a:lstStyle/>
          <a:p>
            <a:fld id="{29554B45-1D14-BE4A-8D73-B262ADF451B7}" type="slidenum">
              <a:rPr lang="en-NO" smtClean="0"/>
              <a:t>‹#›</a:t>
            </a:fld>
            <a:endParaRPr lang="en-NO"/>
          </a:p>
        </p:txBody>
      </p:sp>
    </p:spTree>
    <p:extLst>
      <p:ext uri="{BB962C8B-B14F-4D97-AF65-F5344CB8AC3E}">
        <p14:creationId xmlns:p14="http://schemas.microsoft.com/office/powerpoint/2010/main" val="34591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365A0A-60B2-D7B7-2874-8B8A034F8F1F}"/>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NO"/>
          </a:p>
        </p:txBody>
      </p:sp>
      <p:sp>
        <p:nvSpPr>
          <p:cNvPr id="3" name="Content Placeholder 2">
            <a:extLst>
              <a:ext uri="{FF2B5EF4-FFF2-40B4-BE49-F238E27FC236}">
                <a16:creationId xmlns:a16="http://schemas.microsoft.com/office/drawing/2014/main" id="{8BCDAE39-9DB0-DFFA-E0CA-B70637D4C24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O"/>
          </a:p>
        </p:txBody>
      </p:sp>
      <p:sp>
        <p:nvSpPr>
          <p:cNvPr id="4" name="Text Placeholder 3">
            <a:extLst>
              <a:ext uri="{FF2B5EF4-FFF2-40B4-BE49-F238E27FC236}">
                <a16:creationId xmlns:a16="http://schemas.microsoft.com/office/drawing/2014/main" id="{7BFBAD0F-E124-420F-A6D7-00352FF7DA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60903997-C3F7-8A1C-9A79-2B6099315E1D}"/>
              </a:ext>
            </a:extLst>
          </p:cNvPr>
          <p:cNvSpPr>
            <a:spLocks noGrp="1"/>
          </p:cNvSpPr>
          <p:nvPr>
            <p:ph type="dt" sz="half" idx="10"/>
          </p:nvPr>
        </p:nvSpPr>
        <p:spPr/>
        <p:txBody>
          <a:bodyPr/>
          <a:lstStyle/>
          <a:p>
            <a:fld id="{29319802-0850-1244-A893-1DA9200A0D09}" type="datetimeFigureOut">
              <a:rPr lang="en-NO" smtClean="0"/>
              <a:t>02/09/2026</a:t>
            </a:fld>
            <a:endParaRPr lang="en-NO"/>
          </a:p>
        </p:txBody>
      </p:sp>
      <p:sp>
        <p:nvSpPr>
          <p:cNvPr id="6" name="Footer Placeholder 5">
            <a:extLst>
              <a:ext uri="{FF2B5EF4-FFF2-40B4-BE49-F238E27FC236}">
                <a16:creationId xmlns:a16="http://schemas.microsoft.com/office/drawing/2014/main" id="{95F53D41-248D-ECFB-8BA8-FC94582D74D9}"/>
              </a:ext>
            </a:extLst>
          </p:cNvPr>
          <p:cNvSpPr>
            <a:spLocks noGrp="1"/>
          </p:cNvSpPr>
          <p:nvPr>
            <p:ph type="ftr" sz="quarter" idx="11"/>
          </p:nvPr>
        </p:nvSpPr>
        <p:spPr/>
        <p:txBody>
          <a:bodyPr/>
          <a:lstStyle/>
          <a:p>
            <a:endParaRPr lang="en-NO"/>
          </a:p>
        </p:txBody>
      </p:sp>
      <p:sp>
        <p:nvSpPr>
          <p:cNvPr id="7" name="Slide Number Placeholder 6">
            <a:extLst>
              <a:ext uri="{FF2B5EF4-FFF2-40B4-BE49-F238E27FC236}">
                <a16:creationId xmlns:a16="http://schemas.microsoft.com/office/drawing/2014/main" id="{BD9B7775-1C89-0C5D-00AA-A9BF0F52F991}"/>
              </a:ext>
            </a:extLst>
          </p:cNvPr>
          <p:cNvSpPr>
            <a:spLocks noGrp="1"/>
          </p:cNvSpPr>
          <p:nvPr>
            <p:ph type="sldNum" sz="quarter" idx="12"/>
          </p:nvPr>
        </p:nvSpPr>
        <p:spPr/>
        <p:txBody>
          <a:bodyPr/>
          <a:lstStyle/>
          <a:p>
            <a:fld id="{29554B45-1D14-BE4A-8D73-B262ADF451B7}" type="slidenum">
              <a:rPr lang="en-NO" smtClean="0"/>
              <a:t>‹#›</a:t>
            </a:fld>
            <a:endParaRPr lang="en-NO"/>
          </a:p>
        </p:txBody>
      </p:sp>
    </p:spTree>
    <p:extLst>
      <p:ext uri="{BB962C8B-B14F-4D97-AF65-F5344CB8AC3E}">
        <p14:creationId xmlns:p14="http://schemas.microsoft.com/office/powerpoint/2010/main" val="33009017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88D68-7808-595F-5095-350101B9332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NO"/>
          </a:p>
        </p:txBody>
      </p:sp>
      <p:sp>
        <p:nvSpPr>
          <p:cNvPr id="3" name="Picture Placeholder 2">
            <a:extLst>
              <a:ext uri="{FF2B5EF4-FFF2-40B4-BE49-F238E27FC236}">
                <a16:creationId xmlns:a16="http://schemas.microsoft.com/office/drawing/2014/main" id="{96A378FE-624A-36FF-2011-877A6992610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O"/>
          </a:p>
        </p:txBody>
      </p:sp>
      <p:sp>
        <p:nvSpPr>
          <p:cNvPr id="4" name="Text Placeholder 3">
            <a:extLst>
              <a:ext uri="{FF2B5EF4-FFF2-40B4-BE49-F238E27FC236}">
                <a16:creationId xmlns:a16="http://schemas.microsoft.com/office/drawing/2014/main" id="{BE98CA04-4EC5-06B3-881D-FC8DD7B3941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5FDE3A1-34E0-9DA0-4379-C2A708B98ADA}"/>
              </a:ext>
            </a:extLst>
          </p:cNvPr>
          <p:cNvSpPr>
            <a:spLocks noGrp="1"/>
          </p:cNvSpPr>
          <p:nvPr>
            <p:ph type="dt" sz="half" idx="10"/>
          </p:nvPr>
        </p:nvSpPr>
        <p:spPr/>
        <p:txBody>
          <a:bodyPr/>
          <a:lstStyle/>
          <a:p>
            <a:fld id="{29319802-0850-1244-A893-1DA9200A0D09}" type="datetimeFigureOut">
              <a:rPr lang="en-NO" smtClean="0"/>
              <a:t>02/09/2026</a:t>
            </a:fld>
            <a:endParaRPr lang="en-NO"/>
          </a:p>
        </p:txBody>
      </p:sp>
      <p:sp>
        <p:nvSpPr>
          <p:cNvPr id="6" name="Footer Placeholder 5">
            <a:extLst>
              <a:ext uri="{FF2B5EF4-FFF2-40B4-BE49-F238E27FC236}">
                <a16:creationId xmlns:a16="http://schemas.microsoft.com/office/drawing/2014/main" id="{5722AB1A-C8B2-D6FC-10A2-C504BF83FBED}"/>
              </a:ext>
            </a:extLst>
          </p:cNvPr>
          <p:cNvSpPr>
            <a:spLocks noGrp="1"/>
          </p:cNvSpPr>
          <p:nvPr>
            <p:ph type="ftr" sz="quarter" idx="11"/>
          </p:nvPr>
        </p:nvSpPr>
        <p:spPr/>
        <p:txBody>
          <a:bodyPr/>
          <a:lstStyle/>
          <a:p>
            <a:endParaRPr lang="en-NO"/>
          </a:p>
        </p:txBody>
      </p:sp>
      <p:sp>
        <p:nvSpPr>
          <p:cNvPr id="7" name="Slide Number Placeholder 6">
            <a:extLst>
              <a:ext uri="{FF2B5EF4-FFF2-40B4-BE49-F238E27FC236}">
                <a16:creationId xmlns:a16="http://schemas.microsoft.com/office/drawing/2014/main" id="{B9044AAB-06AB-AC43-6B00-C5BDAEF33D8B}"/>
              </a:ext>
            </a:extLst>
          </p:cNvPr>
          <p:cNvSpPr>
            <a:spLocks noGrp="1"/>
          </p:cNvSpPr>
          <p:nvPr>
            <p:ph type="sldNum" sz="quarter" idx="12"/>
          </p:nvPr>
        </p:nvSpPr>
        <p:spPr/>
        <p:txBody>
          <a:bodyPr/>
          <a:lstStyle/>
          <a:p>
            <a:fld id="{29554B45-1D14-BE4A-8D73-B262ADF451B7}" type="slidenum">
              <a:rPr lang="en-NO" smtClean="0"/>
              <a:t>‹#›</a:t>
            </a:fld>
            <a:endParaRPr lang="en-NO"/>
          </a:p>
        </p:txBody>
      </p:sp>
    </p:spTree>
    <p:extLst>
      <p:ext uri="{BB962C8B-B14F-4D97-AF65-F5344CB8AC3E}">
        <p14:creationId xmlns:p14="http://schemas.microsoft.com/office/powerpoint/2010/main" val="29965456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62B63B-CEE4-4C22-3405-5F5524896A3A}"/>
              </a:ext>
            </a:extLst>
          </p:cNvPr>
          <p:cNvSpPr>
            <a:spLocks noGrp="1"/>
          </p:cNvSpPr>
          <p:nvPr>
            <p:ph type="title"/>
          </p:nvPr>
        </p:nvSpPr>
        <p:spPr/>
        <p:txBody>
          <a:bodyPr/>
          <a:lstStyle/>
          <a:p>
            <a:r>
              <a:rPr lang="en-GB"/>
              <a:t>Click to edit Master title style</a:t>
            </a:r>
            <a:endParaRPr lang="en-NO"/>
          </a:p>
        </p:txBody>
      </p:sp>
      <p:sp>
        <p:nvSpPr>
          <p:cNvPr id="3" name="Vertical Text Placeholder 2">
            <a:extLst>
              <a:ext uri="{FF2B5EF4-FFF2-40B4-BE49-F238E27FC236}">
                <a16:creationId xmlns:a16="http://schemas.microsoft.com/office/drawing/2014/main" id="{5BF4B981-6D2F-87A1-EEC4-5BEF3081B8AA}"/>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O"/>
          </a:p>
        </p:txBody>
      </p:sp>
      <p:sp>
        <p:nvSpPr>
          <p:cNvPr id="4" name="Date Placeholder 3">
            <a:extLst>
              <a:ext uri="{FF2B5EF4-FFF2-40B4-BE49-F238E27FC236}">
                <a16:creationId xmlns:a16="http://schemas.microsoft.com/office/drawing/2014/main" id="{53B33BC5-A2B9-0450-6A37-77C245F96431}"/>
              </a:ext>
            </a:extLst>
          </p:cNvPr>
          <p:cNvSpPr>
            <a:spLocks noGrp="1"/>
          </p:cNvSpPr>
          <p:nvPr>
            <p:ph type="dt" sz="half" idx="10"/>
          </p:nvPr>
        </p:nvSpPr>
        <p:spPr/>
        <p:txBody>
          <a:bodyPr/>
          <a:lstStyle/>
          <a:p>
            <a:fld id="{29319802-0850-1244-A893-1DA9200A0D09}" type="datetimeFigureOut">
              <a:rPr lang="en-NO" smtClean="0"/>
              <a:t>02/09/2026</a:t>
            </a:fld>
            <a:endParaRPr lang="en-NO"/>
          </a:p>
        </p:txBody>
      </p:sp>
      <p:sp>
        <p:nvSpPr>
          <p:cNvPr id="5" name="Footer Placeholder 4">
            <a:extLst>
              <a:ext uri="{FF2B5EF4-FFF2-40B4-BE49-F238E27FC236}">
                <a16:creationId xmlns:a16="http://schemas.microsoft.com/office/drawing/2014/main" id="{B6D376AB-1A3D-BFEF-95C3-42A8348ABCA5}"/>
              </a:ext>
            </a:extLst>
          </p:cNvPr>
          <p:cNvSpPr>
            <a:spLocks noGrp="1"/>
          </p:cNvSpPr>
          <p:nvPr>
            <p:ph type="ftr" sz="quarter" idx="11"/>
          </p:nvPr>
        </p:nvSpPr>
        <p:spPr/>
        <p:txBody>
          <a:bodyPr/>
          <a:lstStyle/>
          <a:p>
            <a:endParaRPr lang="en-NO"/>
          </a:p>
        </p:txBody>
      </p:sp>
      <p:sp>
        <p:nvSpPr>
          <p:cNvPr id="6" name="Slide Number Placeholder 5">
            <a:extLst>
              <a:ext uri="{FF2B5EF4-FFF2-40B4-BE49-F238E27FC236}">
                <a16:creationId xmlns:a16="http://schemas.microsoft.com/office/drawing/2014/main" id="{BE5EF356-87D7-2B16-5D1E-45EF57E1884C}"/>
              </a:ext>
            </a:extLst>
          </p:cNvPr>
          <p:cNvSpPr>
            <a:spLocks noGrp="1"/>
          </p:cNvSpPr>
          <p:nvPr>
            <p:ph type="sldNum" sz="quarter" idx="12"/>
          </p:nvPr>
        </p:nvSpPr>
        <p:spPr/>
        <p:txBody>
          <a:bodyPr/>
          <a:lstStyle/>
          <a:p>
            <a:fld id="{29554B45-1D14-BE4A-8D73-B262ADF451B7}" type="slidenum">
              <a:rPr lang="en-NO" smtClean="0"/>
              <a:t>‹#›</a:t>
            </a:fld>
            <a:endParaRPr lang="en-NO"/>
          </a:p>
        </p:txBody>
      </p:sp>
    </p:spTree>
    <p:extLst>
      <p:ext uri="{BB962C8B-B14F-4D97-AF65-F5344CB8AC3E}">
        <p14:creationId xmlns:p14="http://schemas.microsoft.com/office/powerpoint/2010/main" val="8691609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CBBF354-D862-D7AD-3286-0F810450BB59}"/>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NO"/>
          </a:p>
        </p:txBody>
      </p:sp>
      <p:sp>
        <p:nvSpPr>
          <p:cNvPr id="3" name="Vertical Text Placeholder 2">
            <a:extLst>
              <a:ext uri="{FF2B5EF4-FFF2-40B4-BE49-F238E27FC236}">
                <a16:creationId xmlns:a16="http://schemas.microsoft.com/office/drawing/2014/main" id="{4264BD70-02A5-DCDB-B18F-1AE7B2C49B56}"/>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O"/>
          </a:p>
        </p:txBody>
      </p:sp>
      <p:sp>
        <p:nvSpPr>
          <p:cNvPr id="4" name="Date Placeholder 3">
            <a:extLst>
              <a:ext uri="{FF2B5EF4-FFF2-40B4-BE49-F238E27FC236}">
                <a16:creationId xmlns:a16="http://schemas.microsoft.com/office/drawing/2014/main" id="{F881FBD5-46EB-FEC2-FE21-D732B62B0F77}"/>
              </a:ext>
            </a:extLst>
          </p:cNvPr>
          <p:cNvSpPr>
            <a:spLocks noGrp="1"/>
          </p:cNvSpPr>
          <p:nvPr>
            <p:ph type="dt" sz="half" idx="10"/>
          </p:nvPr>
        </p:nvSpPr>
        <p:spPr/>
        <p:txBody>
          <a:bodyPr/>
          <a:lstStyle/>
          <a:p>
            <a:fld id="{29319802-0850-1244-A893-1DA9200A0D09}" type="datetimeFigureOut">
              <a:rPr lang="en-NO" smtClean="0"/>
              <a:t>02/09/2026</a:t>
            </a:fld>
            <a:endParaRPr lang="en-NO"/>
          </a:p>
        </p:txBody>
      </p:sp>
      <p:sp>
        <p:nvSpPr>
          <p:cNvPr id="5" name="Footer Placeholder 4">
            <a:extLst>
              <a:ext uri="{FF2B5EF4-FFF2-40B4-BE49-F238E27FC236}">
                <a16:creationId xmlns:a16="http://schemas.microsoft.com/office/drawing/2014/main" id="{A15DB8F2-2315-3245-4C9E-830CE0F385FF}"/>
              </a:ext>
            </a:extLst>
          </p:cNvPr>
          <p:cNvSpPr>
            <a:spLocks noGrp="1"/>
          </p:cNvSpPr>
          <p:nvPr>
            <p:ph type="ftr" sz="quarter" idx="11"/>
          </p:nvPr>
        </p:nvSpPr>
        <p:spPr/>
        <p:txBody>
          <a:bodyPr/>
          <a:lstStyle/>
          <a:p>
            <a:endParaRPr lang="en-NO"/>
          </a:p>
        </p:txBody>
      </p:sp>
      <p:sp>
        <p:nvSpPr>
          <p:cNvPr id="6" name="Slide Number Placeholder 5">
            <a:extLst>
              <a:ext uri="{FF2B5EF4-FFF2-40B4-BE49-F238E27FC236}">
                <a16:creationId xmlns:a16="http://schemas.microsoft.com/office/drawing/2014/main" id="{39E93C16-D3DD-4C70-9826-C935C118ADC2}"/>
              </a:ext>
            </a:extLst>
          </p:cNvPr>
          <p:cNvSpPr>
            <a:spLocks noGrp="1"/>
          </p:cNvSpPr>
          <p:nvPr>
            <p:ph type="sldNum" sz="quarter" idx="12"/>
          </p:nvPr>
        </p:nvSpPr>
        <p:spPr/>
        <p:txBody>
          <a:bodyPr/>
          <a:lstStyle/>
          <a:p>
            <a:fld id="{29554B45-1D14-BE4A-8D73-B262ADF451B7}" type="slidenum">
              <a:rPr lang="en-NO" smtClean="0"/>
              <a:t>‹#›</a:t>
            </a:fld>
            <a:endParaRPr lang="en-NO"/>
          </a:p>
        </p:txBody>
      </p:sp>
    </p:spTree>
    <p:extLst>
      <p:ext uri="{BB962C8B-B14F-4D97-AF65-F5344CB8AC3E}">
        <p14:creationId xmlns:p14="http://schemas.microsoft.com/office/powerpoint/2010/main" val="33465154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B1378E6-D9AA-DD20-8296-2A5BCBF0BE2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NO"/>
          </a:p>
        </p:txBody>
      </p:sp>
      <p:sp>
        <p:nvSpPr>
          <p:cNvPr id="3" name="Text Placeholder 2">
            <a:extLst>
              <a:ext uri="{FF2B5EF4-FFF2-40B4-BE49-F238E27FC236}">
                <a16:creationId xmlns:a16="http://schemas.microsoft.com/office/drawing/2014/main" id="{6CC15571-C6F1-3524-89C6-69C79ED3501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O"/>
          </a:p>
        </p:txBody>
      </p:sp>
      <p:sp>
        <p:nvSpPr>
          <p:cNvPr id="4" name="Date Placeholder 3">
            <a:extLst>
              <a:ext uri="{FF2B5EF4-FFF2-40B4-BE49-F238E27FC236}">
                <a16:creationId xmlns:a16="http://schemas.microsoft.com/office/drawing/2014/main" id="{4DA67DD1-0218-28EC-B923-F45F1D8056D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9319802-0850-1244-A893-1DA9200A0D09}" type="datetimeFigureOut">
              <a:rPr lang="en-NO" smtClean="0"/>
              <a:t>02/09/2026</a:t>
            </a:fld>
            <a:endParaRPr lang="en-NO"/>
          </a:p>
        </p:txBody>
      </p:sp>
      <p:sp>
        <p:nvSpPr>
          <p:cNvPr id="5" name="Footer Placeholder 4">
            <a:extLst>
              <a:ext uri="{FF2B5EF4-FFF2-40B4-BE49-F238E27FC236}">
                <a16:creationId xmlns:a16="http://schemas.microsoft.com/office/drawing/2014/main" id="{249DE962-C66A-85D3-47EF-FE1128B7530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NO"/>
          </a:p>
        </p:txBody>
      </p:sp>
      <p:sp>
        <p:nvSpPr>
          <p:cNvPr id="6" name="Slide Number Placeholder 5">
            <a:extLst>
              <a:ext uri="{FF2B5EF4-FFF2-40B4-BE49-F238E27FC236}">
                <a16:creationId xmlns:a16="http://schemas.microsoft.com/office/drawing/2014/main" id="{F63D0857-4084-24B0-146C-6A0CF7063F6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9554B45-1D14-BE4A-8D73-B262ADF451B7}" type="slidenum">
              <a:rPr lang="en-NO" smtClean="0"/>
              <a:t>‹#›</a:t>
            </a:fld>
            <a:endParaRPr lang="en-NO"/>
          </a:p>
        </p:txBody>
      </p:sp>
    </p:spTree>
    <p:extLst>
      <p:ext uri="{BB962C8B-B14F-4D97-AF65-F5344CB8AC3E}">
        <p14:creationId xmlns:p14="http://schemas.microsoft.com/office/powerpoint/2010/main" val="13946976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oleObject" Target="../embeddings/oleObject1.bin"/><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oleObject" Target="../embeddings/oleObject2.bin"/><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oleObject" Target="../embeddings/oleObject3.bin"/><Relationship Id="rId1" Type="http://schemas.openxmlformats.org/officeDocument/2006/relationships/slideLayout" Target="../slideLayouts/slideLayout7.xml"/><Relationship Id="rId5" Type="http://schemas.openxmlformats.org/officeDocument/2006/relationships/image" Target="../media/image2.wmf"/><Relationship Id="rId4" Type="http://schemas.openxmlformats.org/officeDocument/2006/relationships/oleObject" Target="../embeddings/oleObject4.bin"/></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7.xml"/><Relationship Id="rId1" Type="http://schemas.openxmlformats.org/officeDocument/2006/relationships/slideLayout" Target="../slideLayouts/slideLayout7.xml"/><Relationship Id="rId4" Type="http://schemas.openxmlformats.org/officeDocument/2006/relationships/hyperlink" Target="http://www.phidot.org/software/mark/docs/book/" TargetMode="External"/></Relationships>
</file>

<file path=ppt/slides/_rels/slide33.xml.rels><?xml version="1.0" encoding="UTF-8" standalone="yes"?>
<Relationships xmlns="http://schemas.openxmlformats.org/package/2006/relationships"><Relationship Id="rId3" Type="http://schemas.openxmlformats.org/officeDocument/2006/relationships/hyperlink" Target="http://www.phidot.org/software/mark/docs/book/" TargetMode="External"/><Relationship Id="rId2" Type="http://schemas.openxmlformats.org/officeDocument/2006/relationships/hyperlink" Target="http://www.phidot.org/software/mark/" TargetMode="External"/><Relationship Id="rId1" Type="http://schemas.openxmlformats.org/officeDocument/2006/relationships/slideLayout" Target="../slideLayouts/slideLayout4.xml"/><Relationship Id="rId4" Type="http://schemas.openxmlformats.org/officeDocument/2006/relationships/image" Target="../media/image10.jpe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hyperlink" Target="https://royalsocietypublishing.org/doi/abs/10.1098/rspb.2021.1681" TargetMode="Externa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63D632FA-1FC1-C75F-030E-1CB652C8B00D}"/>
              </a:ext>
            </a:extLst>
          </p:cNvPr>
          <p:cNvSpPr txBox="1">
            <a:spLocks/>
          </p:cNvSpPr>
          <p:nvPr/>
        </p:nvSpPr>
        <p:spPr>
          <a:xfrm>
            <a:off x="1524000" y="802746"/>
            <a:ext cx="9144000" cy="1690764"/>
          </a:xfrm>
          <a:prstGeom prst="rect">
            <a:avLst/>
          </a:prstGeom>
        </p:spPr>
        <p:txBody>
          <a:bodyPr vert="horz" lIns="91440" tIns="45720" rIns="91440" bIns="45720" rtlCol="0" anchor="b">
            <a:normAutofit lnSpcReduction="10000"/>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ctr"/>
            <a:r>
              <a:rPr lang="en-US" b="1" dirty="0"/>
              <a:t>Capture-mark-recapture approaches II</a:t>
            </a:r>
            <a:endParaRPr lang="en-GB" dirty="0"/>
          </a:p>
        </p:txBody>
      </p:sp>
      <p:sp>
        <p:nvSpPr>
          <p:cNvPr id="6" name="Subtitle 2">
            <a:extLst>
              <a:ext uri="{FF2B5EF4-FFF2-40B4-BE49-F238E27FC236}">
                <a16:creationId xmlns:a16="http://schemas.microsoft.com/office/drawing/2014/main" id="{6130FA83-93A9-2B91-A7CD-CBEDC896D79B}"/>
              </a:ext>
            </a:extLst>
          </p:cNvPr>
          <p:cNvSpPr txBox="1">
            <a:spLocks/>
          </p:cNvSpPr>
          <p:nvPr/>
        </p:nvSpPr>
        <p:spPr>
          <a:xfrm>
            <a:off x="1524000" y="2650900"/>
            <a:ext cx="9144000" cy="49253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75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algn="ctr"/>
            <a:r>
              <a:rPr lang="en-GB" dirty="0"/>
              <a:t>Lee Hsiang Liow</a:t>
            </a:r>
          </a:p>
        </p:txBody>
      </p:sp>
      <p:sp>
        <p:nvSpPr>
          <p:cNvPr id="7" name="Text Placeholder 4">
            <a:extLst>
              <a:ext uri="{FF2B5EF4-FFF2-40B4-BE49-F238E27FC236}">
                <a16:creationId xmlns:a16="http://schemas.microsoft.com/office/drawing/2014/main" id="{2232C5B3-9F43-34D7-615B-1AA02F12B6F6}"/>
              </a:ext>
            </a:extLst>
          </p:cNvPr>
          <p:cNvSpPr txBox="1">
            <a:spLocks/>
          </p:cNvSpPr>
          <p:nvPr/>
        </p:nvSpPr>
        <p:spPr>
          <a:xfrm>
            <a:off x="1524000" y="3394348"/>
            <a:ext cx="9144000" cy="492535"/>
          </a:xfrm>
          <a:prstGeom prst="rect">
            <a:avLst/>
          </a:prstGeom>
        </p:spPr>
        <p:txBody>
          <a:bodyPr vert="horz" lIns="91440" tIns="45720" rIns="91440" bIns="45720" rtlCol="0" anchor="ctr">
            <a:normAutofit/>
          </a:bodyPr>
          <a:lstStyle>
            <a:defPPr>
              <a:defRPr lang="en-US"/>
            </a:defPPr>
            <a:lvl1pPr marL="0" algn="ct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NO" sz="1600" dirty="0"/>
              <a:t>Natural History Museum and Centre for Planetary Habitability, University of Oslo, Norway</a:t>
            </a:r>
          </a:p>
          <a:p>
            <a:endParaRPr lang="en-GB" dirty="0"/>
          </a:p>
        </p:txBody>
      </p:sp>
      <p:sp>
        <p:nvSpPr>
          <p:cNvPr id="8" name="Text Placeholder 5">
            <a:extLst>
              <a:ext uri="{FF2B5EF4-FFF2-40B4-BE49-F238E27FC236}">
                <a16:creationId xmlns:a16="http://schemas.microsoft.com/office/drawing/2014/main" id="{46E800AC-9889-7223-5E3F-8161A3C32B1C}"/>
              </a:ext>
            </a:extLst>
          </p:cNvPr>
          <p:cNvSpPr txBox="1">
            <a:spLocks/>
          </p:cNvSpPr>
          <p:nvPr/>
        </p:nvSpPr>
        <p:spPr>
          <a:xfrm>
            <a:off x="4459264" y="4082732"/>
            <a:ext cx="3273469" cy="1135827"/>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GB" sz="1400" dirty="0"/>
              <a:t>Analytical Paleobiology Workshop (</a:t>
            </a:r>
            <a:r>
              <a:rPr lang="en-GB" sz="1400" dirty="0" err="1"/>
              <a:t>Paleosynthesis</a:t>
            </a:r>
            <a:r>
              <a:rPr lang="en-GB" sz="1400" dirty="0"/>
              <a:t>, FAU, Erlangen)</a:t>
            </a:r>
          </a:p>
          <a:p>
            <a:pPr algn="ctr"/>
            <a:r>
              <a:rPr lang="en-GB" sz="1400" dirty="0"/>
              <a:t>2.9.2026 (Online lecture)</a:t>
            </a:r>
          </a:p>
        </p:txBody>
      </p:sp>
    </p:spTree>
    <p:extLst>
      <p:ext uri="{BB962C8B-B14F-4D97-AF65-F5344CB8AC3E}">
        <p14:creationId xmlns:p14="http://schemas.microsoft.com/office/powerpoint/2010/main" val="39102578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1802" name="Group 122"/>
          <p:cNvGraphicFramePr>
            <a:graphicFrameLocks noGrp="1"/>
          </p:cNvGraphicFramePr>
          <p:nvPr>
            <p:ph sz="half" idx="1"/>
          </p:nvPr>
        </p:nvGraphicFramePr>
        <p:xfrm>
          <a:off x="4038600" y="1600200"/>
          <a:ext cx="4038600" cy="1484948"/>
        </p:xfrm>
        <a:graphic>
          <a:graphicData uri="http://schemas.openxmlformats.org/drawingml/2006/table">
            <a:tbl>
              <a:tblPr/>
              <a:tblGrid>
                <a:gridCol w="504825">
                  <a:extLst>
                    <a:ext uri="{9D8B030D-6E8A-4147-A177-3AD203B41FA5}">
                      <a16:colId xmlns:a16="http://schemas.microsoft.com/office/drawing/2014/main" val="20000"/>
                    </a:ext>
                  </a:extLst>
                </a:gridCol>
                <a:gridCol w="504825">
                  <a:extLst>
                    <a:ext uri="{9D8B030D-6E8A-4147-A177-3AD203B41FA5}">
                      <a16:colId xmlns:a16="http://schemas.microsoft.com/office/drawing/2014/main" val="20001"/>
                    </a:ext>
                  </a:extLst>
                </a:gridCol>
                <a:gridCol w="504825">
                  <a:extLst>
                    <a:ext uri="{9D8B030D-6E8A-4147-A177-3AD203B41FA5}">
                      <a16:colId xmlns:a16="http://schemas.microsoft.com/office/drawing/2014/main" val="20002"/>
                    </a:ext>
                  </a:extLst>
                </a:gridCol>
                <a:gridCol w="504825">
                  <a:extLst>
                    <a:ext uri="{9D8B030D-6E8A-4147-A177-3AD203B41FA5}">
                      <a16:colId xmlns:a16="http://schemas.microsoft.com/office/drawing/2014/main" val="20003"/>
                    </a:ext>
                  </a:extLst>
                </a:gridCol>
                <a:gridCol w="504825">
                  <a:extLst>
                    <a:ext uri="{9D8B030D-6E8A-4147-A177-3AD203B41FA5}">
                      <a16:colId xmlns:a16="http://schemas.microsoft.com/office/drawing/2014/main" val="20004"/>
                    </a:ext>
                  </a:extLst>
                </a:gridCol>
                <a:gridCol w="504825">
                  <a:extLst>
                    <a:ext uri="{9D8B030D-6E8A-4147-A177-3AD203B41FA5}">
                      <a16:colId xmlns:a16="http://schemas.microsoft.com/office/drawing/2014/main" val="20005"/>
                    </a:ext>
                  </a:extLst>
                </a:gridCol>
                <a:gridCol w="504825">
                  <a:extLst>
                    <a:ext uri="{9D8B030D-6E8A-4147-A177-3AD203B41FA5}">
                      <a16:colId xmlns:a16="http://schemas.microsoft.com/office/drawing/2014/main" val="20006"/>
                    </a:ext>
                  </a:extLst>
                </a:gridCol>
                <a:gridCol w="504825">
                  <a:extLst>
                    <a:ext uri="{9D8B030D-6E8A-4147-A177-3AD203B41FA5}">
                      <a16:colId xmlns:a16="http://schemas.microsoft.com/office/drawing/2014/main" val="20007"/>
                    </a:ext>
                  </a:extLst>
                </a:gridCol>
              </a:tblGrid>
              <a:tr h="48418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dirty="0">
                          <a:ln>
                            <a:noFill/>
                          </a:ln>
                          <a:solidFill>
                            <a:srgbClr val="003399"/>
                          </a:solidFill>
                          <a:effectLst/>
                          <a:latin typeface="Arial" charset="0"/>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rgbClr val="003399"/>
                          </a:solidFill>
                          <a:effectLst/>
                          <a:latin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rgbClr val="003399"/>
                          </a:solidFill>
                          <a:effectLst/>
                          <a:latin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rgbClr val="003399"/>
                          </a:solidFill>
                          <a:effectLst/>
                          <a:latin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rgbClr val="003399"/>
                          </a:solidFill>
                          <a:effectLst/>
                          <a:latin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rgbClr val="003399"/>
                          </a:solidFill>
                          <a:effectLst/>
                          <a:latin typeface="Arial" charset="0"/>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rgbClr val="003399"/>
                          </a:solidFill>
                          <a:effectLst/>
                          <a:latin typeface="Arial" charset="0"/>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rgbClr val="003399"/>
                          </a:solidFill>
                          <a:effectLst/>
                          <a:latin typeface="Arial" charset="0"/>
                        </a:rPr>
                        <a:t>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826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dirty="0">
                          <a:ln>
                            <a:noFill/>
                          </a:ln>
                          <a:solidFill>
                            <a:schemeClr val="tx1"/>
                          </a:solidFill>
                          <a:effectLst/>
                          <a:latin typeface="Arial" charset="0"/>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chemeClr val="tx1"/>
                          </a:solidFill>
                          <a:effectLst/>
                          <a:latin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chemeClr val="tx1"/>
                          </a:solidFill>
                          <a:effectLst/>
                          <a:latin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chemeClr val="tx1"/>
                          </a:solidFill>
                          <a:effectLst/>
                          <a:latin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chemeClr val="tx1"/>
                          </a:solidFill>
                          <a:effectLst/>
                          <a:latin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chemeClr val="tx1"/>
                          </a:solidFill>
                          <a:effectLst/>
                          <a:latin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chemeClr val="tx1"/>
                          </a:solidFill>
                          <a:effectLst/>
                          <a:latin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chemeClr val="tx1"/>
                          </a:solidFill>
                          <a:effectLst/>
                          <a:latin typeface="Arial"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810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nb-NO" sz="2800" b="0" i="0" u="none" strike="noStrike" cap="none" normalizeH="0" baseline="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nb-NO" sz="28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l-GR"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chemeClr val="tx1"/>
                          </a:solidFill>
                          <a:effectLst/>
                          <a:latin typeface="Arial" charset="0"/>
                          <a:cs typeface="Arial" charset="0"/>
                        </a:rPr>
                        <a:t>p</a:t>
                      </a:r>
                      <a:r>
                        <a:rPr kumimoji="0" lang="nb-NO" sz="2000" b="0" i="0" u="none" strike="noStrike" cap="none" normalizeH="0" baseline="-25000">
                          <a:ln>
                            <a:noFill/>
                          </a:ln>
                          <a:solidFill>
                            <a:schemeClr val="tx1"/>
                          </a:solidFill>
                          <a:effectLst/>
                          <a:latin typeface="Arial" charset="0"/>
                          <a:cs typeface="Arial" charset="0"/>
                        </a:rPr>
                        <a:t>4</a:t>
                      </a:r>
                      <a:endParaRPr kumimoji="0" lang="nb-NO" sz="28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chemeClr val="tx1"/>
                          </a:solidFill>
                          <a:effectLst/>
                          <a:latin typeface="Arial" charset="0"/>
                          <a:cs typeface="Arial" charset="0"/>
                        </a:rPr>
                        <a:t>p</a:t>
                      </a:r>
                      <a:r>
                        <a:rPr kumimoji="0" lang="nb-NO" sz="2000" b="0" i="0" u="none" strike="noStrike" cap="none" normalizeH="0" baseline="-2500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chemeClr val="tx1"/>
                          </a:solidFill>
                          <a:effectLst/>
                          <a:latin typeface="Arial" charset="0"/>
                          <a:cs typeface="Arial" charset="0"/>
                        </a:rPr>
                        <a:t>p</a:t>
                      </a:r>
                      <a:r>
                        <a:rPr kumimoji="0" lang="nb-NO" sz="2000" b="0" i="0" u="none" strike="noStrike" cap="none" normalizeH="0" baseline="-25000">
                          <a:ln>
                            <a:noFill/>
                          </a:ln>
                          <a:solidFill>
                            <a:schemeClr val="tx1"/>
                          </a:solidFill>
                          <a:effectLst/>
                          <a:latin typeface="Arial" charset="0"/>
                          <a:cs typeface="Arial" charset="0"/>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chemeClr val="tx1"/>
                          </a:solidFill>
                          <a:effectLst/>
                          <a:latin typeface="Arial" charset="0"/>
                          <a:cs typeface="Arial" charset="0"/>
                        </a:rPr>
                        <a:t>p</a:t>
                      </a:r>
                      <a:r>
                        <a:rPr kumimoji="0" lang="nb-NO" sz="2000" b="0" i="0" u="none" strike="noStrike" cap="none" normalizeH="0" baseline="-25000">
                          <a:ln>
                            <a:noFill/>
                          </a:ln>
                          <a:solidFill>
                            <a:schemeClr val="tx1"/>
                          </a:solidFill>
                          <a:effectLst/>
                          <a:latin typeface="Arial" charset="0"/>
                          <a:cs typeface="Arial" charset="0"/>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chemeClr val="tx1"/>
                          </a:solidFill>
                          <a:effectLst/>
                          <a:latin typeface="Arial" charset="0"/>
                          <a:cs typeface="Arial" charset="0"/>
                        </a:rPr>
                        <a:t>p</a:t>
                      </a:r>
                      <a:r>
                        <a:rPr kumimoji="0" lang="nb-NO" sz="2000" b="0" i="0" u="none" strike="noStrike" cap="none" normalizeH="0" baseline="-25000">
                          <a:ln>
                            <a:noFill/>
                          </a:ln>
                          <a:solidFill>
                            <a:schemeClr val="tx1"/>
                          </a:solidFill>
                          <a:effectLst/>
                          <a:latin typeface="Arial" charset="0"/>
                          <a:cs typeface="Arial" charset="0"/>
                        </a:rPr>
                        <a:t>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71807" name="Group 127"/>
          <p:cNvGraphicFramePr>
            <a:graphicFrameLocks noGrp="1"/>
          </p:cNvGraphicFramePr>
          <p:nvPr>
            <p:ph sz="half" idx="2"/>
          </p:nvPr>
        </p:nvGraphicFramePr>
        <p:xfrm>
          <a:off x="3908425" y="3200400"/>
          <a:ext cx="4389438" cy="518160"/>
        </p:xfrm>
        <a:graphic>
          <a:graphicData uri="http://schemas.openxmlformats.org/drawingml/2006/table">
            <a:tbl>
              <a:tblPr/>
              <a:tblGrid>
                <a:gridCol w="487363">
                  <a:extLst>
                    <a:ext uri="{9D8B030D-6E8A-4147-A177-3AD203B41FA5}">
                      <a16:colId xmlns:a16="http://schemas.microsoft.com/office/drawing/2014/main" val="20000"/>
                    </a:ext>
                  </a:extLst>
                </a:gridCol>
                <a:gridCol w="488950">
                  <a:extLst>
                    <a:ext uri="{9D8B030D-6E8A-4147-A177-3AD203B41FA5}">
                      <a16:colId xmlns:a16="http://schemas.microsoft.com/office/drawing/2014/main" val="20001"/>
                    </a:ext>
                  </a:extLst>
                </a:gridCol>
                <a:gridCol w="485775">
                  <a:extLst>
                    <a:ext uri="{9D8B030D-6E8A-4147-A177-3AD203B41FA5}">
                      <a16:colId xmlns:a16="http://schemas.microsoft.com/office/drawing/2014/main" val="20002"/>
                    </a:ext>
                  </a:extLst>
                </a:gridCol>
                <a:gridCol w="488950">
                  <a:extLst>
                    <a:ext uri="{9D8B030D-6E8A-4147-A177-3AD203B41FA5}">
                      <a16:colId xmlns:a16="http://schemas.microsoft.com/office/drawing/2014/main" val="20003"/>
                    </a:ext>
                  </a:extLst>
                </a:gridCol>
                <a:gridCol w="487362">
                  <a:extLst>
                    <a:ext uri="{9D8B030D-6E8A-4147-A177-3AD203B41FA5}">
                      <a16:colId xmlns:a16="http://schemas.microsoft.com/office/drawing/2014/main" val="20004"/>
                    </a:ext>
                  </a:extLst>
                </a:gridCol>
                <a:gridCol w="487363">
                  <a:extLst>
                    <a:ext uri="{9D8B030D-6E8A-4147-A177-3AD203B41FA5}">
                      <a16:colId xmlns:a16="http://schemas.microsoft.com/office/drawing/2014/main" val="20005"/>
                    </a:ext>
                  </a:extLst>
                </a:gridCol>
                <a:gridCol w="488950">
                  <a:extLst>
                    <a:ext uri="{9D8B030D-6E8A-4147-A177-3AD203B41FA5}">
                      <a16:colId xmlns:a16="http://schemas.microsoft.com/office/drawing/2014/main" val="20006"/>
                    </a:ext>
                  </a:extLst>
                </a:gridCol>
                <a:gridCol w="485775">
                  <a:extLst>
                    <a:ext uri="{9D8B030D-6E8A-4147-A177-3AD203B41FA5}">
                      <a16:colId xmlns:a16="http://schemas.microsoft.com/office/drawing/2014/main" val="20007"/>
                    </a:ext>
                  </a:extLst>
                </a:gridCol>
                <a:gridCol w="488950">
                  <a:extLst>
                    <a:ext uri="{9D8B030D-6E8A-4147-A177-3AD203B41FA5}">
                      <a16:colId xmlns:a16="http://schemas.microsoft.com/office/drawing/2014/main" val="20008"/>
                    </a:ext>
                  </a:extLst>
                </a:gridCol>
              </a:tblGrid>
              <a:tr h="4572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nb-NO" sz="2800" b="0" i="0" u="none" strike="noStrike" cap="none" normalizeH="0" baseline="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nb-NO" sz="28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nb-NO" sz="28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l-GR" sz="2000" b="0" i="0" u="none" strike="noStrike" cap="none" normalizeH="0" baseline="0">
                          <a:ln>
                            <a:noFill/>
                          </a:ln>
                          <a:solidFill>
                            <a:schemeClr val="tx1"/>
                          </a:solidFill>
                          <a:effectLst/>
                          <a:latin typeface="Arial" charset="0"/>
                          <a:cs typeface="Arial" charset="0"/>
                        </a:rPr>
                        <a:t>ε</a:t>
                      </a:r>
                      <a:r>
                        <a:rPr kumimoji="0" lang="nb-NO" sz="2000" b="0" i="0" u="none" strike="noStrike" cap="none" normalizeH="0" baseline="-25000">
                          <a:ln>
                            <a:noFill/>
                          </a:ln>
                          <a:solidFill>
                            <a:schemeClr val="tx1"/>
                          </a:solidFill>
                          <a:effectLst/>
                          <a:latin typeface="Arial" charset="0"/>
                          <a:cs typeface="Arial" charset="0"/>
                        </a:rPr>
                        <a:t>3</a:t>
                      </a:r>
                      <a:endParaRPr kumimoji="0" lang="el-GR"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l-GR" sz="2000" b="0" i="0" u="none" strike="noStrike" cap="none" normalizeH="0" baseline="0">
                          <a:ln>
                            <a:noFill/>
                          </a:ln>
                          <a:solidFill>
                            <a:schemeClr val="tx1"/>
                          </a:solidFill>
                          <a:effectLst/>
                          <a:latin typeface="Arial" charset="0"/>
                          <a:cs typeface="Arial" charset="0"/>
                        </a:rPr>
                        <a:t>ε</a:t>
                      </a:r>
                      <a:r>
                        <a:rPr kumimoji="0" lang="nb-NO" sz="2000" b="0" i="0" u="none" strike="noStrike" cap="none" normalizeH="0" baseline="-25000">
                          <a:ln>
                            <a:noFill/>
                          </a:ln>
                          <a:solidFill>
                            <a:schemeClr val="tx1"/>
                          </a:solidFill>
                          <a:effectLst/>
                          <a:latin typeface="Arial" charset="0"/>
                          <a:cs typeface="Arial" charset="0"/>
                        </a:rPr>
                        <a:t>4</a:t>
                      </a:r>
                      <a:endParaRPr kumimoji="0" lang="nb-NO" sz="28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l-GR" sz="2000" b="0" i="0" u="none" strike="noStrike" cap="none" normalizeH="0" baseline="0">
                          <a:ln>
                            <a:noFill/>
                          </a:ln>
                          <a:solidFill>
                            <a:schemeClr val="tx1"/>
                          </a:solidFill>
                          <a:effectLst/>
                          <a:latin typeface="Arial" charset="0"/>
                          <a:cs typeface="Arial" charset="0"/>
                        </a:rPr>
                        <a:t>ε</a:t>
                      </a:r>
                      <a:r>
                        <a:rPr kumimoji="0" lang="nb-NO" sz="2000" b="0" i="0" u="none" strike="noStrike" cap="none" normalizeH="0" baseline="-25000">
                          <a:ln>
                            <a:noFill/>
                          </a:ln>
                          <a:solidFill>
                            <a:schemeClr val="tx1"/>
                          </a:solidFill>
                          <a:effectLst/>
                          <a:latin typeface="Arial" charset="0"/>
                          <a:cs typeface="Arial" charset="0"/>
                        </a:rPr>
                        <a:t>5</a:t>
                      </a:r>
                      <a:endParaRPr kumimoji="0" lang="nb-NO" sz="28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l-GR" sz="2000" b="0" i="0" u="none" strike="noStrike" cap="none" normalizeH="0" baseline="0">
                          <a:ln>
                            <a:noFill/>
                          </a:ln>
                          <a:solidFill>
                            <a:schemeClr val="tx1"/>
                          </a:solidFill>
                          <a:effectLst/>
                          <a:latin typeface="Arial" charset="0"/>
                          <a:cs typeface="Arial" charset="0"/>
                        </a:rPr>
                        <a:t>ε</a:t>
                      </a:r>
                      <a:r>
                        <a:rPr kumimoji="0" lang="nb-NO" sz="2000" b="0" i="0" u="none" strike="noStrike" cap="none" normalizeH="0" baseline="-25000">
                          <a:ln>
                            <a:noFill/>
                          </a:ln>
                          <a:solidFill>
                            <a:schemeClr val="tx1"/>
                          </a:solidFill>
                          <a:effectLst/>
                          <a:latin typeface="Arial" charset="0"/>
                          <a:cs typeface="Arial" charset="0"/>
                        </a:rPr>
                        <a:t>6</a:t>
                      </a:r>
                      <a:endParaRPr kumimoji="0" lang="nb-NO" sz="28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l-GR" sz="2000" b="0" i="0" u="none" strike="noStrike" cap="none" normalizeH="0" baseline="0">
                          <a:ln>
                            <a:noFill/>
                          </a:ln>
                          <a:solidFill>
                            <a:schemeClr val="tx1"/>
                          </a:solidFill>
                          <a:effectLst/>
                          <a:latin typeface="Arial" charset="0"/>
                          <a:cs typeface="Arial" charset="0"/>
                        </a:rPr>
                        <a:t>ε</a:t>
                      </a:r>
                      <a:r>
                        <a:rPr kumimoji="0" lang="nb-NO" sz="2000" b="0" i="0" u="none" strike="noStrike" cap="none" normalizeH="0" baseline="-25000">
                          <a:ln>
                            <a:noFill/>
                          </a:ln>
                          <a:solidFill>
                            <a:schemeClr val="tx1"/>
                          </a:solidFill>
                          <a:effectLst/>
                          <a:latin typeface="Arial" charset="0"/>
                          <a:cs typeface="Arial" charset="0"/>
                        </a:rPr>
                        <a:t>7</a:t>
                      </a:r>
                      <a:endParaRPr kumimoji="0" lang="nb-NO" sz="28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nb-NO" sz="28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16446" name="Text Box 125"/>
          <p:cNvSpPr txBox="1">
            <a:spLocks noChangeArrowheads="1"/>
          </p:cNvSpPr>
          <p:nvPr/>
        </p:nvSpPr>
        <p:spPr bwMode="auto">
          <a:xfrm>
            <a:off x="2438400" y="4038601"/>
            <a:ext cx="7848600" cy="2017713"/>
          </a:xfrm>
          <a:prstGeom prst="rect">
            <a:avLst/>
          </a:prstGeom>
          <a:noFill/>
          <a:ln w="9525">
            <a:noFill/>
            <a:miter lim="800000"/>
            <a:headEnd/>
            <a:tailEnd/>
          </a:ln>
        </p:spPr>
        <p:txBody>
          <a:bodyPr>
            <a:spAutoFit/>
          </a:bodyPr>
          <a:lstStyle/>
          <a:p>
            <a:pPr>
              <a:spcBef>
                <a:spcPct val="50000"/>
              </a:spcBef>
            </a:pPr>
            <a:r>
              <a:rPr lang="en-US" dirty="0"/>
              <a:t>eh = 0 0 1 0 1 1 0 0</a:t>
            </a:r>
          </a:p>
          <a:p>
            <a:pPr>
              <a:spcBef>
                <a:spcPct val="50000"/>
              </a:spcBef>
            </a:pPr>
            <a:r>
              <a:rPr lang="nb-NO" dirty="0"/>
              <a:t>Pr(</a:t>
            </a:r>
            <a:r>
              <a:rPr lang="en-US" dirty="0"/>
              <a:t>eh = 0 0 1 0 1 1 0 0 | initial encounter in interval </a:t>
            </a:r>
            <a:r>
              <a:rPr lang="en-US" dirty="0">
                <a:solidFill>
                  <a:srgbClr val="003399"/>
                </a:solidFill>
              </a:rPr>
              <a:t>3</a:t>
            </a:r>
            <a:r>
              <a:rPr lang="en-US" dirty="0"/>
              <a:t>) =</a:t>
            </a:r>
          </a:p>
          <a:p>
            <a:pPr>
              <a:spcBef>
                <a:spcPct val="50000"/>
              </a:spcBef>
            </a:pPr>
            <a:endParaRPr lang="el-GR" dirty="0">
              <a:solidFill>
                <a:srgbClr val="009900"/>
              </a:solidFill>
            </a:endParaRPr>
          </a:p>
          <a:p>
            <a:pPr>
              <a:spcBef>
                <a:spcPct val="50000"/>
              </a:spcBef>
            </a:pPr>
            <a:endParaRPr lang="el-GR" dirty="0"/>
          </a:p>
          <a:p>
            <a:pPr>
              <a:spcBef>
                <a:spcPct val="50000"/>
              </a:spcBef>
            </a:pPr>
            <a:endParaRPr lang="nb-NO" dirty="0">
              <a:solidFill>
                <a:srgbClr val="003399"/>
              </a:solidFill>
            </a:endParaRPr>
          </a:p>
        </p:txBody>
      </p:sp>
      <p:sp>
        <p:nvSpPr>
          <p:cNvPr id="8" name="Rectangle 2"/>
          <p:cNvSpPr>
            <a:spLocks noGrp="1" noChangeArrowheads="1"/>
          </p:cNvSpPr>
          <p:nvPr>
            <p:ph type="title"/>
          </p:nvPr>
        </p:nvSpPr>
        <p:spPr>
          <a:xfrm>
            <a:off x="1981200" y="274638"/>
            <a:ext cx="8229600" cy="1143000"/>
          </a:xfrm>
        </p:spPr>
        <p:txBody>
          <a:bodyPr/>
          <a:lstStyle/>
          <a:p>
            <a:pPr eaLnBrk="1" hangingPunct="1"/>
            <a:r>
              <a:rPr lang="en-US" sz="3000" b="1" dirty="0"/>
              <a:t>Representing detection/encounter histories</a:t>
            </a:r>
          </a:p>
        </p:txBody>
      </p:sp>
      <p:sp>
        <p:nvSpPr>
          <p:cNvPr id="9" name="Oval 8"/>
          <p:cNvSpPr/>
          <p:nvPr/>
        </p:nvSpPr>
        <p:spPr>
          <a:xfrm>
            <a:off x="4727848" y="4221088"/>
            <a:ext cx="1944216" cy="720080"/>
          </a:xfrm>
          <a:prstGeom prst="ellipse">
            <a:avLst/>
          </a:prstGeom>
          <a:noFill/>
          <a:ln>
            <a:solidFill>
              <a:srgbClr val="008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0" name="TextBox 9"/>
          <p:cNvSpPr txBox="1"/>
          <p:nvPr/>
        </p:nvSpPr>
        <p:spPr>
          <a:xfrm>
            <a:off x="6816080" y="4149080"/>
            <a:ext cx="1440160" cy="369332"/>
          </a:xfrm>
          <a:prstGeom prst="rect">
            <a:avLst/>
          </a:prstGeom>
          <a:noFill/>
        </p:spPr>
        <p:txBody>
          <a:bodyPr wrap="square" rtlCol="0">
            <a:spAutoFit/>
          </a:bodyPr>
          <a:lstStyle/>
          <a:p>
            <a:r>
              <a:rPr lang="nb-NO" b="1" dirty="0">
                <a:solidFill>
                  <a:srgbClr val="008000"/>
                </a:solidFill>
              </a:rPr>
              <a:t>CJS </a:t>
            </a:r>
            <a:r>
              <a:rPr lang="nb-NO" b="1" dirty="0" err="1">
                <a:solidFill>
                  <a:srgbClr val="008000"/>
                </a:solidFill>
              </a:rPr>
              <a:t>model</a:t>
            </a:r>
            <a:endParaRPr lang="nb-NO" b="1" dirty="0">
              <a:solidFill>
                <a:srgbClr val="008000"/>
              </a:solidFill>
            </a:endParaRPr>
          </a:p>
        </p:txBody>
      </p:sp>
      <p:sp>
        <p:nvSpPr>
          <p:cNvPr id="11" name="TextBox 10"/>
          <p:cNvSpPr txBox="1"/>
          <p:nvPr/>
        </p:nvSpPr>
        <p:spPr>
          <a:xfrm>
            <a:off x="8436768" y="3212977"/>
            <a:ext cx="1979712" cy="646331"/>
          </a:xfrm>
          <a:prstGeom prst="rect">
            <a:avLst/>
          </a:prstGeom>
          <a:solidFill>
            <a:schemeClr val="bg1"/>
          </a:solidFill>
        </p:spPr>
        <p:txBody>
          <a:bodyPr wrap="square" rtlCol="0">
            <a:spAutoFit/>
          </a:bodyPr>
          <a:lstStyle/>
          <a:p>
            <a:r>
              <a:rPr lang="en-US" b="1" dirty="0"/>
              <a:t>Extinction </a:t>
            </a:r>
          </a:p>
          <a:p>
            <a:r>
              <a:rPr lang="en-US" b="1" dirty="0"/>
              <a:t>probabilities</a:t>
            </a:r>
          </a:p>
        </p:txBody>
      </p:sp>
      <p:sp>
        <p:nvSpPr>
          <p:cNvPr id="12" name="TextBox 11"/>
          <p:cNvSpPr txBox="1"/>
          <p:nvPr/>
        </p:nvSpPr>
        <p:spPr>
          <a:xfrm>
            <a:off x="8364760" y="2566646"/>
            <a:ext cx="1763688" cy="646331"/>
          </a:xfrm>
          <a:prstGeom prst="rect">
            <a:avLst/>
          </a:prstGeom>
          <a:solidFill>
            <a:schemeClr val="bg1"/>
          </a:solidFill>
        </p:spPr>
        <p:txBody>
          <a:bodyPr wrap="square" rtlCol="0">
            <a:spAutoFit/>
          </a:bodyPr>
          <a:lstStyle/>
          <a:p>
            <a:r>
              <a:rPr lang="en-US" b="1" dirty="0"/>
              <a:t>Detection </a:t>
            </a:r>
          </a:p>
          <a:p>
            <a:r>
              <a:rPr lang="en-US" b="1" dirty="0"/>
              <a:t>probabilities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44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44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4690" name="Group 2"/>
          <p:cNvGraphicFramePr>
            <a:graphicFrameLocks noGrp="1"/>
          </p:cNvGraphicFramePr>
          <p:nvPr>
            <p:ph sz="half" idx="1"/>
          </p:nvPr>
        </p:nvGraphicFramePr>
        <p:xfrm>
          <a:off x="4038600" y="1600200"/>
          <a:ext cx="4038600" cy="1484948"/>
        </p:xfrm>
        <a:graphic>
          <a:graphicData uri="http://schemas.openxmlformats.org/drawingml/2006/table">
            <a:tbl>
              <a:tblPr/>
              <a:tblGrid>
                <a:gridCol w="504825">
                  <a:extLst>
                    <a:ext uri="{9D8B030D-6E8A-4147-A177-3AD203B41FA5}">
                      <a16:colId xmlns:a16="http://schemas.microsoft.com/office/drawing/2014/main" val="20000"/>
                    </a:ext>
                  </a:extLst>
                </a:gridCol>
                <a:gridCol w="504825">
                  <a:extLst>
                    <a:ext uri="{9D8B030D-6E8A-4147-A177-3AD203B41FA5}">
                      <a16:colId xmlns:a16="http://schemas.microsoft.com/office/drawing/2014/main" val="20001"/>
                    </a:ext>
                  </a:extLst>
                </a:gridCol>
                <a:gridCol w="504825">
                  <a:extLst>
                    <a:ext uri="{9D8B030D-6E8A-4147-A177-3AD203B41FA5}">
                      <a16:colId xmlns:a16="http://schemas.microsoft.com/office/drawing/2014/main" val="20002"/>
                    </a:ext>
                  </a:extLst>
                </a:gridCol>
                <a:gridCol w="504825">
                  <a:extLst>
                    <a:ext uri="{9D8B030D-6E8A-4147-A177-3AD203B41FA5}">
                      <a16:colId xmlns:a16="http://schemas.microsoft.com/office/drawing/2014/main" val="20003"/>
                    </a:ext>
                  </a:extLst>
                </a:gridCol>
                <a:gridCol w="504825">
                  <a:extLst>
                    <a:ext uri="{9D8B030D-6E8A-4147-A177-3AD203B41FA5}">
                      <a16:colId xmlns:a16="http://schemas.microsoft.com/office/drawing/2014/main" val="20004"/>
                    </a:ext>
                  </a:extLst>
                </a:gridCol>
                <a:gridCol w="504825">
                  <a:extLst>
                    <a:ext uri="{9D8B030D-6E8A-4147-A177-3AD203B41FA5}">
                      <a16:colId xmlns:a16="http://schemas.microsoft.com/office/drawing/2014/main" val="20005"/>
                    </a:ext>
                  </a:extLst>
                </a:gridCol>
                <a:gridCol w="504825">
                  <a:extLst>
                    <a:ext uri="{9D8B030D-6E8A-4147-A177-3AD203B41FA5}">
                      <a16:colId xmlns:a16="http://schemas.microsoft.com/office/drawing/2014/main" val="20006"/>
                    </a:ext>
                  </a:extLst>
                </a:gridCol>
                <a:gridCol w="504825">
                  <a:extLst>
                    <a:ext uri="{9D8B030D-6E8A-4147-A177-3AD203B41FA5}">
                      <a16:colId xmlns:a16="http://schemas.microsoft.com/office/drawing/2014/main" val="20007"/>
                    </a:ext>
                  </a:extLst>
                </a:gridCol>
              </a:tblGrid>
              <a:tr h="48418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rgbClr val="003399"/>
                          </a:solidFill>
                          <a:effectLst/>
                          <a:latin typeface="Arial" charset="0"/>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rgbClr val="003399"/>
                          </a:solidFill>
                          <a:effectLst/>
                          <a:latin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rgbClr val="003399"/>
                          </a:solidFill>
                          <a:effectLst/>
                          <a:latin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rgbClr val="003399"/>
                          </a:solidFill>
                          <a:effectLst/>
                          <a:latin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rgbClr val="003399"/>
                          </a:solidFill>
                          <a:effectLst/>
                          <a:latin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rgbClr val="003399"/>
                          </a:solidFill>
                          <a:effectLst/>
                          <a:latin typeface="Arial" charset="0"/>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rgbClr val="003399"/>
                          </a:solidFill>
                          <a:effectLst/>
                          <a:latin typeface="Arial" charset="0"/>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rgbClr val="003399"/>
                          </a:solidFill>
                          <a:effectLst/>
                          <a:latin typeface="Arial" charset="0"/>
                        </a:rPr>
                        <a:t>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826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chemeClr val="tx1"/>
                          </a:solidFill>
                          <a:effectLst/>
                          <a:latin typeface="Arial" charset="0"/>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chemeClr val="tx1"/>
                          </a:solidFill>
                          <a:effectLst/>
                          <a:latin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chemeClr val="tx1"/>
                          </a:solidFill>
                          <a:effectLst/>
                          <a:latin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chemeClr val="tx1"/>
                          </a:solidFill>
                          <a:effectLst/>
                          <a:latin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chemeClr val="tx1"/>
                          </a:solidFill>
                          <a:effectLst/>
                          <a:latin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chemeClr val="tx1"/>
                          </a:solidFill>
                          <a:effectLst/>
                          <a:latin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chemeClr val="tx1"/>
                          </a:solidFill>
                          <a:effectLst/>
                          <a:latin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chemeClr val="tx1"/>
                          </a:solidFill>
                          <a:effectLst/>
                          <a:latin typeface="Arial"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810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nb-NO" sz="2800" b="0" i="0" u="none" strike="noStrike" cap="none" normalizeH="0" baseline="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nb-NO" sz="28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l-GR"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chemeClr val="tx1"/>
                          </a:solidFill>
                          <a:effectLst/>
                          <a:latin typeface="Arial" charset="0"/>
                          <a:cs typeface="Arial" charset="0"/>
                        </a:rPr>
                        <a:t>p</a:t>
                      </a:r>
                      <a:r>
                        <a:rPr kumimoji="0" lang="nb-NO" sz="2000" b="0" i="0" u="none" strike="noStrike" cap="none" normalizeH="0" baseline="-25000">
                          <a:ln>
                            <a:noFill/>
                          </a:ln>
                          <a:solidFill>
                            <a:schemeClr val="tx1"/>
                          </a:solidFill>
                          <a:effectLst/>
                          <a:latin typeface="Arial" charset="0"/>
                          <a:cs typeface="Arial" charset="0"/>
                        </a:rPr>
                        <a:t>4</a:t>
                      </a:r>
                      <a:endParaRPr kumimoji="0" lang="nb-NO" sz="28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chemeClr val="tx1"/>
                          </a:solidFill>
                          <a:effectLst/>
                          <a:latin typeface="Arial" charset="0"/>
                          <a:cs typeface="Arial" charset="0"/>
                        </a:rPr>
                        <a:t>p</a:t>
                      </a:r>
                      <a:r>
                        <a:rPr kumimoji="0" lang="nb-NO" sz="2000" b="0" i="0" u="none" strike="noStrike" cap="none" normalizeH="0" baseline="-2500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chemeClr val="tx1"/>
                          </a:solidFill>
                          <a:effectLst/>
                          <a:latin typeface="Arial" charset="0"/>
                          <a:cs typeface="Arial" charset="0"/>
                        </a:rPr>
                        <a:t>p</a:t>
                      </a:r>
                      <a:r>
                        <a:rPr kumimoji="0" lang="nb-NO" sz="2000" b="0" i="0" u="none" strike="noStrike" cap="none" normalizeH="0" baseline="-25000">
                          <a:ln>
                            <a:noFill/>
                          </a:ln>
                          <a:solidFill>
                            <a:schemeClr val="tx1"/>
                          </a:solidFill>
                          <a:effectLst/>
                          <a:latin typeface="Arial" charset="0"/>
                          <a:cs typeface="Arial" charset="0"/>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chemeClr val="tx1"/>
                          </a:solidFill>
                          <a:effectLst/>
                          <a:latin typeface="Arial" charset="0"/>
                          <a:cs typeface="Arial" charset="0"/>
                        </a:rPr>
                        <a:t>p</a:t>
                      </a:r>
                      <a:r>
                        <a:rPr kumimoji="0" lang="nb-NO" sz="2000" b="0" i="0" u="none" strike="noStrike" cap="none" normalizeH="0" baseline="-25000">
                          <a:ln>
                            <a:noFill/>
                          </a:ln>
                          <a:solidFill>
                            <a:schemeClr val="tx1"/>
                          </a:solidFill>
                          <a:effectLst/>
                          <a:latin typeface="Arial" charset="0"/>
                          <a:cs typeface="Arial" charset="0"/>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chemeClr val="tx1"/>
                          </a:solidFill>
                          <a:effectLst/>
                          <a:latin typeface="Arial" charset="0"/>
                          <a:cs typeface="Arial" charset="0"/>
                        </a:rPr>
                        <a:t>p</a:t>
                      </a:r>
                      <a:r>
                        <a:rPr kumimoji="0" lang="nb-NO" sz="2000" b="0" i="0" u="none" strike="noStrike" cap="none" normalizeH="0" baseline="-25000">
                          <a:ln>
                            <a:noFill/>
                          </a:ln>
                          <a:solidFill>
                            <a:schemeClr val="tx1"/>
                          </a:solidFill>
                          <a:effectLst/>
                          <a:latin typeface="Arial" charset="0"/>
                          <a:cs typeface="Arial" charset="0"/>
                        </a:rPr>
                        <a:t>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114728" name="Group 40"/>
          <p:cNvGraphicFramePr>
            <a:graphicFrameLocks noGrp="1"/>
          </p:cNvGraphicFramePr>
          <p:nvPr>
            <p:ph sz="half" idx="2"/>
          </p:nvPr>
        </p:nvGraphicFramePr>
        <p:xfrm>
          <a:off x="3908425" y="3200400"/>
          <a:ext cx="4389438" cy="518160"/>
        </p:xfrm>
        <a:graphic>
          <a:graphicData uri="http://schemas.openxmlformats.org/drawingml/2006/table">
            <a:tbl>
              <a:tblPr/>
              <a:tblGrid>
                <a:gridCol w="487363">
                  <a:extLst>
                    <a:ext uri="{9D8B030D-6E8A-4147-A177-3AD203B41FA5}">
                      <a16:colId xmlns:a16="http://schemas.microsoft.com/office/drawing/2014/main" val="20000"/>
                    </a:ext>
                  </a:extLst>
                </a:gridCol>
                <a:gridCol w="488950">
                  <a:extLst>
                    <a:ext uri="{9D8B030D-6E8A-4147-A177-3AD203B41FA5}">
                      <a16:colId xmlns:a16="http://schemas.microsoft.com/office/drawing/2014/main" val="20001"/>
                    </a:ext>
                  </a:extLst>
                </a:gridCol>
                <a:gridCol w="485775">
                  <a:extLst>
                    <a:ext uri="{9D8B030D-6E8A-4147-A177-3AD203B41FA5}">
                      <a16:colId xmlns:a16="http://schemas.microsoft.com/office/drawing/2014/main" val="20002"/>
                    </a:ext>
                  </a:extLst>
                </a:gridCol>
                <a:gridCol w="488950">
                  <a:extLst>
                    <a:ext uri="{9D8B030D-6E8A-4147-A177-3AD203B41FA5}">
                      <a16:colId xmlns:a16="http://schemas.microsoft.com/office/drawing/2014/main" val="20003"/>
                    </a:ext>
                  </a:extLst>
                </a:gridCol>
                <a:gridCol w="487362">
                  <a:extLst>
                    <a:ext uri="{9D8B030D-6E8A-4147-A177-3AD203B41FA5}">
                      <a16:colId xmlns:a16="http://schemas.microsoft.com/office/drawing/2014/main" val="20004"/>
                    </a:ext>
                  </a:extLst>
                </a:gridCol>
                <a:gridCol w="487363">
                  <a:extLst>
                    <a:ext uri="{9D8B030D-6E8A-4147-A177-3AD203B41FA5}">
                      <a16:colId xmlns:a16="http://schemas.microsoft.com/office/drawing/2014/main" val="20005"/>
                    </a:ext>
                  </a:extLst>
                </a:gridCol>
                <a:gridCol w="488950">
                  <a:extLst>
                    <a:ext uri="{9D8B030D-6E8A-4147-A177-3AD203B41FA5}">
                      <a16:colId xmlns:a16="http://schemas.microsoft.com/office/drawing/2014/main" val="20006"/>
                    </a:ext>
                  </a:extLst>
                </a:gridCol>
                <a:gridCol w="485775">
                  <a:extLst>
                    <a:ext uri="{9D8B030D-6E8A-4147-A177-3AD203B41FA5}">
                      <a16:colId xmlns:a16="http://schemas.microsoft.com/office/drawing/2014/main" val="20007"/>
                    </a:ext>
                  </a:extLst>
                </a:gridCol>
                <a:gridCol w="488950">
                  <a:extLst>
                    <a:ext uri="{9D8B030D-6E8A-4147-A177-3AD203B41FA5}">
                      <a16:colId xmlns:a16="http://schemas.microsoft.com/office/drawing/2014/main" val="20008"/>
                    </a:ext>
                  </a:extLst>
                </a:gridCol>
              </a:tblGrid>
              <a:tr h="4572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nb-NO" sz="2800" b="0" i="0" u="none" strike="noStrike" cap="none" normalizeH="0" baseline="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nb-NO" sz="28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nb-NO" sz="28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l-GR" sz="2000" b="0" i="0" u="none" strike="noStrike" cap="none" normalizeH="0" baseline="0">
                          <a:ln>
                            <a:noFill/>
                          </a:ln>
                          <a:solidFill>
                            <a:schemeClr val="tx1"/>
                          </a:solidFill>
                          <a:effectLst/>
                          <a:latin typeface="Arial" charset="0"/>
                          <a:cs typeface="Arial" charset="0"/>
                        </a:rPr>
                        <a:t>ε</a:t>
                      </a:r>
                      <a:r>
                        <a:rPr kumimoji="0" lang="nb-NO" sz="2000" b="0" i="0" u="none" strike="noStrike" cap="none" normalizeH="0" baseline="-25000">
                          <a:ln>
                            <a:noFill/>
                          </a:ln>
                          <a:solidFill>
                            <a:schemeClr val="tx1"/>
                          </a:solidFill>
                          <a:effectLst/>
                          <a:latin typeface="Arial" charset="0"/>
                          <a:cs typeface="Arial" charset="0"/>
                        </a:rPr>
                        <a:t>3</a:t>
                      </a:r>
                      <a:endParaRPr kumimoji="0" lang="el-GR"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l-GR" sz="2000" b="0" i="0" u="none" strike="noStrike" cap="none" normalizeH="0" baseline="0">
                          <a:ln>
                            <a:noFill/>
                          </a:ln>
                          <a:solidFill>
                            <a:schemeClr val="tx1"/>
                          </a:solidFill>
                          <a:effectLst/>
                          <a:latin typeface="Arial" charset="0"/>
                          <a:cs typeface="Arial" charset="0"/>
                        </a:rPr>
                        <a:t>ε</a:t>
                      </a:r>
                      <a:r>
                        <a:rPr kumimoji="0" lang="nb-NO" sz="2000" b="0" i="0" u="none" strike="noStrike" cap="none" normalizeH="0" baseline="-25000">
                          <a:ln>
                            <a:noFill/>
                          </a:ln>
                          <a:solidFill>
                            <a:schemeClr val="tx1"/>
                          </a:solidFill>
                          <a:effectLst/>
                          <a:latin typeface="Arial" charset="0"/>
                          <a:cs typeface="Arial" charset="0"/>
                        </a:rPr>
                        <a:t>4</a:t>
                      </a:r>
                      <a:endParaRPr kumimoji="0" lang="nb-NO" sz="28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l-GR" sz="2000" b="0" i="0" u="none" strike="noStrike" cap="none" normalizeH="0" baseline="0">
                          <a:ln>
                            <a:noFill/>
                          </a:ln>
                          <a:solidFill>
                            <a:schemeClr val="tx1"/>
                          </a:solidFill>
                          <a:effectLst/>
                          <a:latin typeface="Arial" charset="0"/>
                          <a:cs typeface="Arial" charset="0"/>
                        </a:rPr>
                        <a:t>ε</a:t>
                      </a:r>
                      <a:r>
                        <a:rPr kumimoji="0" lang="nb-NO" sz="2000" b="0" i="0" u="none" strike="noStrike" cap="none" normalizeH="0" baseline="-25000">
                          <a:ln>
                            <a:noFill/>
                          </a:ln>
                          <a:solidFill>
                            <a:schemeClr val="tx1"/>
                          </a:solidFill>
                          <a:effectLst/>
                          <a:latin typeface="Arial" charset="0"/>
                          <a:cs typeface="Arial" charset="0"/>
                        </a:rPr>
                        <a:t>5</a:t>
                      </a:r>
                      <a:endParaRPr kumimoji="0" lang="nb-NO" sz="28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l-GR" sz="2000" b="0" i="0" u="none" strike="noStrike" cap="none" normalizeH="0" baseline="0">
                          <a:ln>
                            <a:noFill/>
                          </a:ln>
                          <a:solidFill>
                            <a:schemeClr val="tx1"/>
                          </a:solidFill>
                          <a:effectLst/>
                          <a:latin typeface="Arial" charset="0"/>
                          <a:cs typeface="Arial" charset="0"/>
                        </a:rPr>
                        <a:t>ε</a:t>
                      </a:r>
                      <a:r>
                        <a:rPr kumimoji="0" lang="nb-NO" sz="2000" b="0" i="0" u="none" strike="noStrike" cap="none" normalizeH="0" baseline="-25000">
                          <a:ln>
                            <a:noFill/>
                          </a:ln>
                          <a:solidFill>
                            <a:schemeClr val="tx1"/>
                          </a:solidFill>
                          <a:effectLst/>
                          <a:latin typeface="Arial" charset="0"/>
                          <a:cs typeface="Arial" charset="0"/>
                        </a:rPr>
                        <a:t>6</a:t>
                      </a:r>
                      <a:endParaRPr kumimoji="0" lang="nb-NO" sz="28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l-GR" sz="2000" b="0" i="0" u="none" strike="noStrike" cap="none" normalizeH="0" baseline="0">
                          <a:ln>
                            <a:noFill/>
                          </a:ln>
                          <a:solidFill>
                            <a:schemeClr val="tx1"/>
                          </a:solidFill>
                          <a:effectLst/>
                          <a:latin typeface="Arial" charset="0"/>
                          <a:cs typeface="Arial" charset="0"/>
                        </a:rPr>
                        <a:t>ε</a:t>
                      </a:r>
                      <a:r>
                        <a:rPr kumimoji="0" lang="nb-NO" sz="2000" b="0" i="0" u="none" strike="noStrike" cap="none" normalizeH="0" baseline="-25000">
                          <a:ln>
                            <a:noFill/>
                          </a:ln>
                          <a:solidFill>
                            <a:schemeClr val="tx1"/>
                          </a:solidFill>
                          <a:effectLst/>
                          <a:latin typeface="Arial" charset="0"/>
                          <a:cs typeface="Arial" charset="0"/>
                        </a:rPr>
                        <a:t>7</a:t>
                      </a:r>
                      <a:endParaRPr kumimoji="0" lang="nb-NO" sz="28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nb-NO" sz="28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17470" name="Text Box 62"/>
          <p:cNvSpPr txBox="1">
            <a:spLocks noChangeArrowheads="1"/>
          </p:cNvSpPr>
          <p:nvPr/>
        </p:nvSpPr>
        <p:spPr bwMode="auto">
          <a:xfrm>
            <a:off x="2438400" y="4038601"/>
            <a:ext cx="7848600" cy="2017713"/>
          </a:xfrm>
          <a:prstGeom prst="rect">
            <a:avLst/>
          </a:prstGeom>
          <a:noFill/>
          <a:ln w="9525">
            <a:noFill/>
            <a:miter lim="800000"/>
            <a:headEnd/>
            <a:tailEnd/>
          </a:ln>
        </p:spPr>
        <p:txBody>
          <a:bodyPr>
            <a:spAutoFit/>
          </a:bodyPr>
          <a:lstStyle/>
          <a:p>
            <a:pPr>
              <a:spcBef>
                <a:spcPct val="50000"/>
              </a:spcBef>
            </a:pPr>
            <a:r>
              <a:rPr lang="en-US"/>
              <a:t>eh = 0 0 1 0 1 1 0 0</a:t>
            </a:r>
          </a:p>
          <a:p>
            <a:pPr>
              <a:spcBef>
                <a:spcPct val="50000"/>
              </a:spcBef>
            </a:pPr>
            <a:r>
              <a:rPr lang="nb-NO"/>
              <a:t>Pr(</a:t>
            </a:r>
            <a:r>
              <a:rPr lang="en-US"/>
              <a:t>eh = 0 0 1 0 1 1 0 0 | initial encounter in interval </a:t>
            </a:r>
            <a:r>
              <a:rPr lang="en-US">
                <a:solidFill>
                  <a:srgbClr val="003399"/>
                </a:solidFill>
              </a:rPr>
              <a:t>3</a:t>
            </a:r>
            <a:r>
              <a:rPr lang="en-US"/>
              <a:t>) =</a:t>
            </a:r>
          </a:p>
          <a:p>
            <a:pPr>
              <a:spcBef>
                <a:spcPct val="50000"/>
              </a:spcBef>
            </a:pPr>
            <a:r>
              <a:rPr lang="en-US"/>
              <a:t>(1-</a:t>
            </a:r>
            <a:r>
              <a:rPr lang="el-GR"/>
              <a:t>ε</a:t>
            </a:r>
            <a:r>
              <a:rPr lang="nb-NO" baseline="-25000"/>
              <a:t>3</a:t>
            </a:r>
            <a:r>
              <a:rPr lang="nb-NO"/>
              <a:t>)(1-p</a:t>
            </a:r>
            <a:r>
              <a:rPr lang="nb-NO" baseline="-25000"/>
              <a:t>4</a:t>
            </a:r>
            <a:r>
              <a:rPr lang="nb-NO"/>
              <a:t>) </a:t>
            </a:r>
            <a:r>
              <a:rPr lang="en-US"/>
              <a:t>(1-</a:t>
            </a:r>
            <a:r>
              <a:rPr lang="el-GR"/>
              <a:t>ε</a:t>
            </a:r>
            <a:r>
              <a:rPr lang="nb-NO" baseline="-25000"/>
              <a:t>4</a:t>
            </a:r>
            <a:r>
              <a:rPr lang="nb-NO"/>
              <a:t>)p</a:t>
            </a:r>
            <a:r>
              <a:rPr lang="nb-NO" baseline="-25000"/>
              <a:t>5 </a:t>
            </a:r>
            <a:r>
              <a:rPr lang="en-US"/>
              <a:t>(1-</a:t>
            </a:r>
            <a:r>
              <a:rPr lang="el-GR"/>
              <a:t>ε</a:t>
            </a:r>
            <a:r>
              <a:rPr lang="nb-NO" baseline="-25000"/>
              <a:t>5</a:t>
            </a:r>
            <a:r>
              <a:rPr lang="nb-NO"/>
              <a:t>)p</a:t>
            </a:r>
            <a:r>
              <a:rPr lang="nb-NO" baseline="-25000"/>
              <a:t>6  </a:t>
            </a:r>
            <a:r>
              <a:rPr lang="en-US">
                <a:solidFill>
                  <a:srgbClr val="009900"/>
                </a:solidFill>
              </a:rPr>
              <a:t>[</a:t>
            </a:r>
            <a:r>
              <a:rPr lang="el-GR"/>
              <a:t>ε</a:t>
            </a:r>
            <a:r>
              <a:rPr lang="nb-NO" baseline="-25000"/>
              <a:t>6 </a:t>
            </a:r>
            <a:r>
              <a:rPr lang="nb-NO"/>
              <a:t>+ </a:t>
            </a:r>
            <a:r>
              <a:rPr lang="en-US"/>
              <a:t>(1-</a:t>
            </a:r>
            <a:r>
              <a:rPr lang="el-GR"/>
              <a:t>ε</a:t>
            </a:r>
            <a:r>
              <a:rPr lang="nb-NO" baseline="-25000"/>
              <a:t>6</a:t>
            </a:r>
            <a:r>
              <a:rPr lang="nb-NO"/>
              <a:t>)(1-p</a:t>
            </a:r>
            <a:r>
              <a:rPr lang="nb-NO" baseline="-25000"/>
              <a:t>7</a:t>
            </a:r>
            <a:r>
              <a:rPr lang="nb-NO"/>
              <a:t>)</a:t>
            </a:r>
            <a:r>
              <a:rPr lang="nb-NO">
                <a:solidFill>
                  <a:srgbClr val="003399"/>
                </a:solidFill>
              </a:rPr>
              <a:t>{</a:t>
            </a:r>
            <a:r>
              <a:rPr lang="el-GR"/>
              <a:t>ε</a:t>
            </a:r>
            <a:r>
              <a:rPr lang="nb-NO" baseline="-25000"/>
              <a:t>7</a:t>
            </a:r>
            <a:r>
              <a:rPr lang="nb-NO"/>
              <a:t>+(1- </a:t>
            </a:r>
            <a:r>
              <a:rPr lang="el-GR"/>
              <a:t>ε</a:t>
            </a:r>
            <a:r>
              <a:rPr lang="nb-NO" baseline="-25000"/>
              <a:t>7</a:t>
            </a:r>
            <a:r>
              <a:rPr lang="nb-NO"/>
              <a:t>)(1- p</a:t>
            </a:r>
            <a:r>
              <a:rPr lang="nb-NO" baseline="-25000"/>
              <a:t>8</a:t>
            </a:r>
            <a:r>
              <a:rPr lang="nb-NO"/>
              <a:t>)</a:t>
            </a:r>
            <a:r>
              <a:rPr lang="nb-NO">
                <a:solidFill>
                  <a:srgbClr val="003399"/>
                </a:solidFill>
              </a:rPr>
              <a:t>}</a:t>
            </a:r>
            <a:r>
              <a:rPr lang="nb-NO">
                <a:solidFill>
                  <a:srgbClr val="009900"/>
                </a:solidFill>
              </a:rPr>
              <a:t>]</a:t>
            </a:r>
            <a:endParaRPr lang="el-GR">
              <a:solidFill>
                <a:srgbClr val="009900"/>
              </a:solidFill>
            </a:endParaRPr>
          </a:p>
          <a:p>
            <a:pPr>
              <a:spcBef>
                <a:spcPct val="50000"/>
              </a:spcBef>
            </a:pPr>
            <a:endParaRPr lang="el-GR"/>
          </a:p>
          <a:p>
            <a:pPr>
              <a:spcBef>
                <a:spcPct val="50000"/>
              </a:spcBef>
            </a:pPr>
            <a:endParaRPr lang="nb-NO">
              <a:solidFill>
                <a:srgbClr val="003399"/>
              </a:solidFill>
            </a:endParaRPr>
          </a:p>
        </p:txBody>
      </p:sp>
      <p:sp>
        <p:nvSpPr>
          <p:cNvPr id="17471" name="Oval 63"/>
          <p:cNvSpPr>
            <a:spLocks noChangeArrowheads="1"/>
          </p:cNvSpPr>
          <p:nvPr/>
        </p:nvSpPr>
        <p:spPr bwMode="auto">
          <a:xfrm>
            <a:off x="2438400" y="4800600"/>
            <a:ext cx="1219200" cy="609600"/>
          </a:xfrm>
          <a:prstGeom prst="ellipse">
            <a:avLst/>
          </a:prstGeom>
          <a:noFill/>
          <a:ln w="25400">
            <a:solidFill>
              <a:srgbClr val="FF0000"/>
            </a:solidFill>
            <a:round/>
            <a:headEnd/>
            <a:tailEnd/>
          </a:ln>
        </p:spPr>
        <p:txBody>
          <a:bodyPr wrap="none" anchor="ctr"/>
          <a:lstStyle/>
          <a:p>
            <a:endParaRPr lang="nb-NO"/>
          </a:p>
        </p:txBody>
      </p:sp>
      <p:sp>
        <p:nvSpPr>
          <p:cNvPr id="17472" name="Oval 64"/>
          <p:cNvSpPr>
            <a:spLocks noChangeArrowheads="1"/>
          </p:cNvSpPr>
          <p:nvPr/>
        </p:nvSpPr>
        <p:spPr bwMode="auto">
          <a:xfrm>
            <a:off x="5376863" y="3200400"/>
            <a:ext cx="457200" cy="457200"/>
          </a:xfrm>
          <a:prstGeom prst="ellipse">
            <a:avLst/>
          </a:prstGeom>
          <a:noFill/>
          <a:ln w="25400">
            <a:solidFill>
              <a:srgbClr val="FF0000"/>
            </a:solidFill>
            <a:round/>
            <a:headEnd/>
            <a:tailEnd/>
          </a:ln>
        </p:spPr>
        <p:txBody>
          <a:bodyPr wrap="none" anchor="ctr"/>
          <a:lstStyle/>
          <a:p>
            <a:endParaRPr lang="nb-NO"/>
          </a:p>
        </p:txBody>
      </p:sp>
      <p:sp>
        <p:nvSpPr>
          <p:cNvPr id="17473" name="Oval 65"/>
          <p:cNvSpPr>
            <a:spLocks noChangeArrowheads="1"/>
          </p:cNvSpPr>
          <p:nvPr/>
        </p:nvSpPr>
        <p:spPr bwMode="auto">
          <a:xfrm>
            <a:off x="5562600" y="2590800"/>
            <a:ext cx="457200" cy="457200"/>
          </a:xfrm>
          <a:prstGeom prst="ellipse">
            <a:avLst/>
          </a:prstGeom>
          <a:noFill/>
          <a:ln w="25400">
            <a:solidFill>
              <a:srgbClr val="FF0000"/>
            </a:solidFill>
            <a:round/>
            <a:headEnd/>
            <a:tailEnd/>
          </a:ln>
        </p:spPr>
        <p:txBody>
          <a:bodyPr wrap="none" anchor="ctr"/>
          <a:lstStyle/>
          <a:p>
            <a:endParaRPr lang="nb-NO"/>
          </a:p>
        </p:txBody>
      </p:sp>
      <p:sp>
        <p:nvSpPr>
          <p:cNvPr id="13" name="Rectangle 2"/>
          <p:cNvSpPr>
            <a:spLocks noGrp="1" noChangeArrowheads="1"/>
          </p:cNvSpPr>
          <p:nvPr>
            <p:ph type="title"/>
          </p:nvPr>
        </p:nvSpPr>
        <p:spPr>
          <a:xfrm>
            <a:off x="1981200" y="274638"/>
            <a:ext cx="8229600" cy="1143000"/>
          </a:xfrm>
        </p:spPr>
        <p:txBody>
          <a:bodyPr/>
          <a:lstStyle/>
          <a:p>
            <a:pPr eaLnBrk="1" hangingPunct="1"/>
            <a:r>
              <a:rPr lang="en-US" sz="3000" b="1" dirty="0"/>
              <a:t>Representing detection/encounter histories</a:t>
            </a:r>
          </a:p>
        </p:txBody>
      </p:sp>
      <p:sp>
        <p:nvSpPr>
          <p:cNvPr id="14" name="TextBox 13"/>
          <p:cNvSpPr txBox="1"/>
          <p:nvPr/>
        </p:nvSpPr>
        <p:spPr>
          <a:xfrm>
            <a:off x="8436768" y="3212977"/>
            <a:ext cx="1979712" cy="646331"/>
          </a:xfrm>
          <a:prstGeom prst="rect">
            <a:avLst/>
          </a:prstGeom>
          <a:solidFill>
            <a:schemeClr val="bg1"/>
          </a:solidFill>
        </p:spPr>
        <p:txBody>
          <a:bodyPr wrap="square" rtlCol="0">
            <a:spAutoFit/>
          </a:bodyPr>
          <a:lstStyle/>
          <a:p>
            <a:r>
              <a:rPr lang="en-US" b="1" dirty="0"/>
              <a:t>Extinction </a:t>
            </a:r>
          </a:p>
          <a:p>
            <a:r>
              <a:rPr lang="en-US" b="1" dirty="0"/>
              <a:t>probabilities</a:t>
            </a:r>
          </a:p>
        </p:txBody>
      </p:sp>
      <p:sp>
        <p:nvSpPr>
          <p:cNvPr id="15" name="TextBox 14"/>
          <p:cNvSpPr txBox="1"/>
          <p:nvPr/>
        </p:nvSpPr>
        <p:spPr>
          <a:xfrm>
            <a:off x="8364760" y="2566646"/>
            <a:ext cx="1763688" cy="646331"/>
          </a:xfrm>
          <a:prstGeom prst="rect">
            <a:avLst/>
          </a:prstGeom>
          <a:solidFill>
            <a:schemeClr val="bg1"/>
          </a:solidFill>
        </p:spPr>
        <p:txBody>
          <a:bodyPr wrap="square" rtlCol="0">
            <a:spAutoFit/>
          </a:bodyPr>
          <a:lstStyle/>
          <a:p>
            <a:r>
              <a:rPr lang="en-US" b="1" dirty="0"/>
              <a:t>Detection </a:t>
            </a:r>
          </a:p>
          <a:p>
            <a:r>
              <a:rPr lang="en-US" b="1" dirty="0"/>
              <a:t>probabilities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5779" name="Group 3"/>
          <p:cNvGraphicFramePr>
            <a:graphicFrameLocks noGrp="1"/>
          </p:cNvGraphicFramePr>
          <p:nvPr>
            <p:ph sz="half" idx="1"/>
          </p:nvPr>
        </p:nvGraphicFramePr>
        <p:xfrm>
          <a:off x="4038600" y="1600200"/>
          <a:ext cx="4038600" cy="1484948"/>
        </p:xfrm>
        <a:graphic>
          <a:graphicData uri="http://schemas.openxmlformats.org/drawingml/2006/table">
            <a:tbl>
              <a:tblPr/>
              <a:tblGrid>
                <a:gridCol w="504825">
                  <a:extLst>
                    <a:ext uri="{9D8B030D-6E8A-4147-A177-3AD203B41FA5}">
                      <a16:colId xmlns:a16="http://schemas.microsoft.com/office/drawing/2014/main" val="20000"/>
                    </a:ext>
                  </a:extLst>
                </a:gridCol>
                <a:gridCol w="504825">
                  <a:extLst>
                    <a:ext uri="{9D8B030D-6E8A-4147-A177-3AD203B41FA5}">
                      <a16:colId xmlns:a16="http://schemas.microsoft.com/office/drawing/2014/main" val="20001"/>
                    </a:ext>
                  </a:extLst>
                </a:gridCol>
                <a:gridCol w="504825">
                  <a:extLst>
                    <a:ext uri="{9D8B030D-6E8A-4147-A177-3AD203B41FA5}">
                      <a16:colId xmlns:a16="http://schemas.microsoft.com/office/drawing/2014/main" val="20002"/>
                    </a:ext>
                  </a:extLst>
                </a:gridCol>
                <a:gridCol w="504825">
                  <a:extLst>
                    <a:ext uri="{9D8B030D-6E8A-4147-A177-3AD203B41FA5}">
                      <a16:colId xmlns:a16="http://schemas.microsoft.com/office/drawing/2014/main" val="20003"/>
                    </a:ext>
                  </a:extLst>
                </a:gridCol>
                <a:gridCol w="504825">
                  <a:extLst>
                    <a:ext uri="{9D8B030D-6E8A-4147-A177-3AD203B41FA5}">
                      <a16:colId xmlns:a16="http://schemas.microsoft.com/office/drawing/2014/main" val="20004"/>
                    </a:ext>
                  </a:extLst>
                </a:gridCol>
                <a:gridCol w="504825">
                  <a:extLst>
                    <a:ext uri="{9D8B030D-6E8A-4147-A177-3AD203B41FA5}">
                      <a16:colId xmlns:a16="http://schemas.microsoft.com/office/drawing/2014/main" val="20005"/>
                    </a:ext>
                  </a:extLst>
                </a:gridCol>
                <a:gridCol w="504825">
                  <a:extLst>
                    <a:ext uri="{9D8B030D-6E8A-4147-A177-3AD203B41FA5}">
                      <a16:colId xmlns:a16="http://schemas.microsoft.com/office/drawing/2014/main" val="20006"/>
                    </a:ext>
                  </a:extLst>
                </a:gridCol>
                <a:gridCol w="504825">
                  <a:extLst>
                    <a:ext uri="{9D8B030D-6E8A-4147-A177-3AD203B41FA5}">
                      <a16:colId xmlns:a16="http://schemas.microsoft.com/office/drawing/2014/main" val="20007"/>
                    </a:ext>
                  </a:extLst>
                </a:gridCol>
              </a:tblGrid>
              <a:tr h="48418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rgbClr val="003399"/>
                          </a:solidFill>
                          <a:effectLst/>
                          <a:latin typeface="Arial" charset="0"/>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rgbClr val="003399"/>
                          </a:solidFill>
                          <a:effectLst/>
                          <a:latin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rgbClr val="003399"/>
                          </a:solidFill>
                          <a:effectLst/>
                          <a:latin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rgbClr val="003399"/>
                          </a:solidFill>
                          <a:effectLst/>
                          <a:latin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rgbClr val="003399"/>
                          </a:solidFill>
                          <a:effectLst/>
                          <a:latin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rgbClr val="003399"/>
                          </a:solidFill>
                          <a:effectLst/>
                          <a:latin typeface="Arial" charset="0"/>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rgbClr val="003399"/>
                          </a:solidFill>
                          <a:effectLst/>
                          <a:latin typeface="Arial" charset="0"/>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rgbClr val="003399"/>
                          </a:solidFill>
                          <a:effectLst/>
                          <a:latin typeface="Arial" charset="0"/>
                        </a:rPr>
                        <a:t>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826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chemeClr val="tx1"/>
                          </a:solidFill>
                          <a:effectLst/>
                          <a:latin typeface="Arial" charset="0"/>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chemeClr val="tx1"/>
                          </a:solidFill>
                          <a:effectLst/>
                          <a:latin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chemeClr val="tx1"/>
                          </a:solidFill>
                          <a:effectLst/>
                          <a:latin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chemeClr val="tx1"/>
                          </a:solidFill>
                          <a:effectLst/>
                          <a:latin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chemeClr val="tx1"/>
                          </a:solidFill>
                          <a:effectLst/>
                          <a:latin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chemeClr val="tx1"/>
                          </a:solidFill>
                          <a:effectLst/>
                          <a:latin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chemeClr val="tx1"/>
                          </a:solidFill>
                          <a:effectLst/>
                          <a:latin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chemeClr val="tx1"/>
                          </a:solidFill>
                          <a:effectLst/>
                          <a:latin typeface="Arial"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810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nb-NO" sz="2800" b="0" i="0" u="none" strike="noStrike" cap="none" normalizeH="0" baseline="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nb-NO" sz="28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l-GR"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chemeClr val="tx1"/>
                          </a:solidFill>
                          <a:effectLst/>
                          <a:latin typeface="Arial" charset="0"/>
                          <a:cs typeface="Arial" charset="0"/>
                        </a:rPr>
                        <a:t>p</a:t>
                      </a:r>
                      <a:r>
                        <a:rPr kumimoji="0" lang="nb-NO" sz="2000" b="0" i="0" u="none" strike="noStrike" cap="none" normalizeH="0" baseline="-25000">
                          <a:ln>
                            <a:noFill/>
                          </a:ln>
                          <a:solidFill>
                            <a:schemeClr val="tx1"/>
                          </a:solidFill>
                          <a:effectLst/>
                          <a:latin typeface="Arial" charset="0"/>
                          <a:cs typeface="Arial" charset="0"/>
                        </a:rPr>
                        <a:t>4</a:t>
                      </a:r>
                      <a:endParaRPr kumimoji="0" lang="nb-NO" sz="28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chemeClr val="tx1"/>
                          </a:solidFill>
                          <a:effectLst/>
                          <a:latin typeface="Arial" charset="0"/>
                          <a:cs typeface="Arial" charset="0"/>
                        </a:rPr>
                        <a:t>p</a:t>
                      </a:r>
                      <a:r>
                        <a:rPr kumimoji="0" lang="nb-NO" sz="2000" b="0" i="0" u="none" strike="noStrike" cap="none" normalizeH="0" baseline="-2500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chemeClr val="tx1"/>
                          </a:solidFill>
                          <a:effectLst/>
                          <a:latin typeface="Arial" charset="0"/>
                          <a:cs typeface="Arial" charset="0"/>
                        </a:rPr>
                        <a:t>p</a:t>
                      </a:r>
                      <a:r>
                        <a:rPr kumimoji="0" lang="nb-NO" sz="2000" b="0" i="0" u="none" strike="noStrike" cap="none" normalizeH="0" baseline="-25000">
                          <a:ln>
                            <a:noFill/>
                          </a:ln>
                          <a:solidFill>
                            <a:schemeClr val="tx1"/>
                          </a:solidFill>
                          <a:effectLst/>
                          <a:latin typeface="Arial" charset="0"/>
                          <a:cs typeface="Arial" charset="0"/>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chemeClr val="tx1"/>
                          </a:solidFill>
                          <a:effectLst/>
                          <a:latin typeface="Arial" charset="0"/>
                          <a:cs typeface="Arial" charset="0"/>
                        </a:rPr>
                        <a:t>p</a:t>
                      </a:r>
                      <a:r>
                        <a:rPr kumimoji="0" lang="nb-NO" sz="2000" b="0" i="0" u="none" strike="noStrike" cap="none" normalizeH="0" baseline="-25000">
                          <a:ln>
                            <a:noFill/>
                          </a:ln>
                          <a:solidFill>
                            <a:schemeClr val="tx1"/>
                          </a:solidFill>
                          <a:effectLst/>
                          <a:latin typeface="Arial" charset="0"/>
                          <a:cs typeface="Arial" charset="0"/>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chemeClr val="tx1"/>
                          </a:solidFill>
                          <a:effectLst/>
                          <a:latin typeface="Arial" charset="0"/>
                          <a:cs typeface="Arial" charset="0"/>
                        </a:rPr>
                        <a:t>p</a:t>
                      </a:r>
                      <a:r>
                        <a:rPr kumimoji="0" lang="nb-NO" sz="2000" b="0" i="0" u="none" strike="noStrike" cap="none" normalizeH="0" baseline="-25000">
                          <a:ln>
                            <a:noFill/>
                          </a:ln>
                          <a:solidFill>
                            <a:schemeClr val="tx1"/>
                          </a:solidFill>
                          <a:effectLst/>
                          <a:latin typeface="Arial" charset="0"/>
                          <a:cs typeface="Arial" charset="0"/>
                        </a:rPr>
                        <a:t>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75817" name="Group 41"/>
          <p:cNvGraphicFramePr>
            <a:graphicFrameLocks noGrp="1"/>
          </p:cNvGraphicFramePr>
          <p:nvPr>
            <p:ph sz="half" idx="2"/>
          </p:nvPr>
        </p:nvGraphicFramePr>
        <p:xfrm>
          <a:off x="3908425" y="3200400"/>
          <a:ext cx="4389438" cy="518160"/>
        </p:xfrm>
        <a:graphic>
          <a:graphicData uri="http://schemas.openxmlformats.org/drawingml/2006/table">
            <a:tbl>
              <a:tblPr/>
              <a:tblGrid>
                <a:gridCol w="487363">
                  <a:extLst>
                    <a:ext uri="{9D8B030D-6E8A-4147-A177-3AD203B41FA5}">
                      <a16:colId xmlns:a16="http://schemas.microsoft.com/office/drawing/2014/main" val="20000"/>
                    </a:ext>
                  </a:extLst>
                </a:gridCol>
                <a:gridCol w="488950">
                  <a:extLst>
                    <a:ext uri="{9D8B030D-6E8A-4147-A177-3AD203B41FA5}">
                      <a16:colId xmlns:a16="http://schemas.microsoft.com/office/drawing/2014/main" val="20001"/>
                    </a:ext>
                  </a:extLst>
                </a:gridCol>
                <a:gridCol w="485775">
                  <a:extLst>
                    <a:ext uri="{9D8B030D-6E8A-4147-A177-3AD203B41FA5}">
                      <a16:colId xmlns:a16="http://schemas.microsoft.com/office/drawing/2014/main" val="20002"/>
                    </a:ext>
                  </a:extLst>
                </a:gridCol>
                <a:gridCol w="488950">
                  <a:extLst>
                    <a:ext uri="{9D8B030D-6E8A-4147-A177-3AD203B41FA5}">
                      <a16:colId xmlns:a16="http://schemas.microsoft.com/office/drawing/2014/main" val="20003"/>
                    </a:ext>
                  </a:extLst>
                </a:gridCol>
                <a:gridCol w="487362">
                  <a:extLst>
                    <a:ext uri="{9D8B030D-6E8A-4147-A177-3AD203B41FA5}">
                      <a16:colId xmlns:a16="http://schemas.microsoft.com/office/drawing/2014/main" val="20004"/>
                    </a:ext>
                  </a:extLst>
                </a:gridCol>
                <a:gridCol w="487363">
                  <a:extLst>
                    <a:ext uri="{9D8B030D-6E8A-4147-A177-3AD203B41FA5}">
                      <a16:colId xmlns:a16="http://schemas.microsoft.com/office/drawing/2014/main" val="20005"/>
                    </a:ext>
                  </a:extLst>
                </a:gridCol>
                <a:gridCol w="488950">
                  <a:extLst>
                    <a:ext uri="{9D8B030D-6E8A-4147-A177-3AD203B41FA5}">
                      <a16:colId xmlns:a16="http://schemas.microsoft.com/office/drawing/2014/main" val="20006"/>
                    </a:ext>
                  </a:extLst>
                </a:gridCol>
                <a:gridCol w="485775">
                  <a:extLst>
                    <a:ext uri="{9D8B030D-6E8A-4147-A177-3AD203B41FA5}">
                      <a16:colId xmlns:a16="http://schemas.microsoft.com/office/drawing/2014/main" val="20007"/>
                    </a:ext>
                  </a:extLst>
                </a:gridCol>
                <a:gridCol w="488950">
                  <a:extLst>
                    <a:ext uri="{9D8B030D-6E8A-4147-A177-3AD203B41FA5}">
                      <a16:colId xmlns:a16="http://schemas.microsoft.com/office/drawing/2014/main" val="20008"/>
                    </a:ext>
                  </a:extLst>
                </a:gridCol>
              </a:tblGrid>
              <a:tr h="4572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nb-NO" sz="2800" b="0" i="0" u="none" strike="noStrike" cap="none" normalizeH="0" baseline="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nb-NO" sz="28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nb-NO" sz="28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l-GR" sz="2000" b="0" i="0" u="none" strike="noStrike" cap="none" normalizeH="0" baseline="0">
                          <a:ln>
                            <a:noFill/>
                          </a:ln>
                          <a:solidFill>
                            <a:schemeClr val="tx1"/>
                          </a:solidFill>
                          <a:effectLst/>
                          <a:latin typeface="Arial" charset="0"/>
                          <a:cs typeface="Arial" charset="0"/>
                        </a:rPr>
                        <a:t>ε</a:t>
                      </a:r>
                      <a:r>
                        <a:rPr kumimoji="0" lang="nb-NO" sz="2000" b="0" i="0" u="none" strike="noStrike" cap="none" normalizeH="0" baseline="-25000">
                          <a:ln>
                            <a:noFill/>
                          </a:ln>
                          <a:solidFill>
                            <a:schemeClr val="tx1"/>
                          </a:solidFill>
                          <a:effectLst/>
                          <a:latin typeface="Arial" charset="0"/>
                          <a:cs typeface="Arial" charset="0"/>
                        </a:rPr>
                        <a:t>3</a:t>
                      </a:r>
                      <a:endParaRPr kumimoji="0" lang="el-GR"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l-GR" sz="2000" b="0" i="0" u="none" strike="noStrike" cap="none" normalizeH="0" baseline="0">
                          <a:ln>
                            <a:noFill/>
                          </a:ln>
                          <a:solidFill>
                            <a:schemeClr val="tx1"/>
                          </a:solidFill>
                          <a:effectLst/>
                          <a:latin typeface="Arial" charset="0"/>
                          <a:cs typeface="Arial" charset="0"/>
                        </a:rPr>
                        <a:t>ε</a:t>
                      </a:r>
                      <a:r>
                        <a:rPr kumimoji="0" lang="nb-NO" sz="2000" b="0" i="0" u="none" strike="noStrike" cap="none" normalizeH="0" baseline="-25000">
                          <a:ln>
                            <a:noFill/>
                          </a:ln>
                          <a:solidFill>
                            <a:schemeClr val="tx1"/>
                          </a:solidFill>
                          <a:effectLst/>
                          <a:latin typeface="Arial" charset="0"/>
                          <a:cs typeface="Arial" charset="0"/>
                        </a:rPr>
                        <a:t>4</a:t>
                      </a:r>
                      <a:endParaRPr kumimoji="0" lang="nb-NO" sz="28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l-GR" sz="2000" b="0" i="0" u="none" strike="noStrike" cap="none" normalizeH="0" baseline="0">
                          <a:ln>
                            <a:noFill/>
                          </a:ln>
                          <a:solidFill>
                            <a:schemeClr val="tx1"/>
                          </a:solidFill>
                          <a:effectLst/>
                          <a:latin typeface="Arial" charset="0"/>
                          <a:cs typeface="Arial" charset="0"/>
                        </a:rPr>
                        <a:t>ε</a:t>
                      </a:r>
                      <a:r>
                        <a:rPr kumimoji="0" lang="nb-NO" sz="2000" b="0" i="0" u="none" strike="noStrike" cap="none" normalizeH="0" baseline="-25000">
                          <a:ln>
                            <a:noFill/>
                          </a:ln>
                          <a:solidFill>
                            <a:schemeClr val="tx1"/>
                          </a:solidFill>
                          <a:effectLst/>
                          <a:latin typeface="Arial" charset="0"/>
                          <a:cs typeface="Arial" charset="0"/>
                        </a:rPr>
                        <a:t>5</a:t>
                      </a:r>
                      <a:endParaRPr kumimoji="0" lang="nb-NO" sz="28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l-GR" sz="2000" b="0" i="0" u="none" strike="noStrike" cap="none" normalizeH="0" baseline="0">
                          <a:ln>
                            <a:noFill/>
                          </a:ln>
                          <a:solidFill>
                            <a:schemeClr val="tx1"/>
                          </a:solidFill>
                          <a:effectLst/>
                          <a:latin typeface="Arial" charset="0"/>
                          <a:cs typeface="Arial" charset="0"/>
                        </a:rPr>
                        <a:t>ε</a:t>
                      </a:r>
                      <a:r>
                        <a:rPr kumimoji="0" lang="nb-NO" sz="2000" b="0" i="0" u="none" strike="noStrike" cap="none" normalizeH="0" baseline="-25000">
                          <a:ln>
                            <a:noFill/>
                          </a:ln>
                          <a:solidFill>
                            <a:schemeClr val="tx1"/>
                          </a:solidFill>
                          <a:effectLst/>
                          <a:latin typeface="Arial" charset="0"/>
                          <a:cs typeface="Arial" charset="0"/>
                        </a:rPr>
                        <a:t>6</a:t>
                      </a:r>
                      <a:endParaRPr kumimoji="0" lang="nb-NO" sz="28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l-GR" sz="2000" b="0" i="0" u="none" strike="noStrike" cap="none" normalizeH="0" baseline="0">
                          <a:ln>
                            <a:noFill/>
                          </a:ln>
                          <a:solidFill>
                            <a:schemeClr val="tx1"/>
                          </a:solidFill>
                          <a:effectLst/>
                          <a:latin typeface="Arial" charset="0"/>
                          <a:cs typeface="Arial" charset="0"/>
                        </a:rPr>
                        <a:t>ε</a:t>
                      </a:r>
                      <a:r>
                        <a:rPr kumimoji="0" lang="nb-NO" sz="2000" b="0" i="0" u="none" strike="noStrike" cap="none" normalizeH="0" baseline="-25000">
                          <a:ln>
                            <a:noFill/>
                          </a:ln>
                          <a:solidFill>
                            <a:schemeClr val="tx1"/>
                          </a:solidFill>
                          <a:effectLst/>
                          <a:latin typeface="Arial" charset="0"/>
                          <a:cs typeface="Arial" charset="0"/>
                        </a:rPr>
                        <a:t>7</a:t>
                      </a:r>
                      <a:endParaRPr kumimoji="0" lang="nb-NO" sz="28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nb-NO" sz="28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18495" name="Text Box 63"/>
          <p:cNvSpPr txBox="1">
            <a:spLocks noChangeArrowheads="1"/>
          </p:cNvSpPr>
          <p:nvPr/>
        </p:nvSpPr>
        <p:spPr bwMode="auto">
          <a:xfrm>
            <a:off x="2438400" y="4038601"/>
            <a:ext cx="7848600" cy="2017713"/>
          </a:xfrm>
          <a:prstGeom prst="rect">
            <a:avLst/>
          </a:prstGeom>
          <a:noFill/>
          <a:ln w="9525">
            <a:noFill/>
            <a:miter lim="800000"/>
            <a:headEnd/>
            <a:tailEnd/>
          </a:ln>
        </p:spPr>
        <p:txBody>
          <a:bodyPr>
            <a:spAutoFit/>
          </a:bodyPr>
          <a:lstStyle/>
          <a:p>
            <a:pPr>
              <a:spcBef>
                <a:spcPct val="50000"/>
              </a:spcBef>
            </a:pPr>
            <a:r>
              <a:rPr lang="en-US"/>
              <a:t>eh = 0 0 1 0 1 1 0 0</a:t>
            </a:r>
          </a:p>
          <a:p>
            <a:pPr>
              <a:spcBef>
                <a:spcPct val="50000"/>
              </a:spcBef>
            </a:pPr>
            <a:r>
              <a:rPr lang="nb-NO"/>
              <a:t>Pr(</a:t>
            </a:r>
            <a:r>
              <a:rPr lang="en-US"/>
              <a:t>eh = 0 0 1 0 1 1 0 0 | initial encounter in interval </a:t>
            </a:r>
            <a:r>
              <a:rPr lang="en-US">
                <a:solidFill>
                  <a:srgbClr val="003399"/>
                </a:solidFill>
              </a:rPr>
              <a:t>3</a:t>
            </a:r>
            <a:r>
              <a:rPr lang="en-US"/>
              <a:t>) =</a:t>
            </a:r>
          </a:p>
          <a:p>
            <a:pPr>
              <a:spcBef>
                <a:spcPct val="50000"/>
              </a:spcBef>
            </a:pPr>
            <a:r>
              <a:rPr lang="en-US"/>
              <a:t>(1-</a:t>
            </a:r>
            <a:r>
              <a:rPr lang="el-GR"/>
              <a:t>ε</a:t>
            </a:r>
            <a:r>
              <a:rPr lang="nb-NO" baseline="-25000"/>
              <a:t>3</a:t>
            </a:r>
            <a:r>
              <a:rPr lang="nb-NO"/>
              <a:t>)(1-p</a:t>
            </a:r>
            <a:r>
              <a:rPr lang="nb-NO" baseline="-25000"/>
              <a:t>4</a:t>
            </a:r>
            <a:r>
              <a:rPr lang="nb-NO"/>
              <a:t>) </a:t>
            </a:r>
            <a:r>
              <a:rPr lang="en-US"/>
              <a:t>(1-</a:t>
            </a:r>
            <a:r>
              <a:rPr lang="el-GR"/>
              <a:t>ε</a:t>
            </a:r>
            <a:r>
              <a:rPr lang="nb-NO" baseline="-25000"/>
              <a:t>4</a:t>
            </a:r>
            <a:r>
              <a:rPr lang="nb-NO"/>
              <a:t>)p</a:t>
            </a:r>
            <a:r>
              <a:rPr lang="nb-NO" baseline="-25000"/>
              <a:t>5 </a:t>
            </a:r>
            <a:r>
              <a:rPr lang="en-US"/>
              <a:t>(1-</a:t>
            </a:r>
            <a:r>
              <a:rPr lang="el-GR"/>
              <a:t>ε</a:t>
            </a:r>
            <a:r>
              <a:rPr lang="nb-NO" baseline="-25000"/>
              <a:t>5</a:t>
            </a:r>
            <a:r>
              <a:rPr lang="nb-NO"/>
              <a:t>)p</a:t>
            </a:r>
            <a:r>
              <a:rPr lang="nb-NO" baseline="-25000"/>
              <a:t>6  </a:t>
            </a:r>
            <a:r>
              <a:rPr lang="en-US">
                <a:solidFill>
                  <a:srgbClr val="009900"/>
                </a:solidFill>
              </a:rPr>
              <a:t>[</a:t>
            </a:r>
            <a:r>
              <a:rPr lang="el-GR"/>
              <a:t>ε</a:t>
            </a:r>
            <a:r>
              <a:rPr lang="nb-NO" baseline="-25000"/>
              <a:t>6 </a:t>
            </a:r>
            <a:r>
              <a:rPr lang="nb-NO"/>
              <a:t>+ </a:t>
            </a:r>
            <a:r>
              <a:rPr lang="en-US"/>
              <a:t>(1-</a:t>
            </a:r>
            <a:r>
              <a:rPr lang="el-GR"/>
              <a:t>ε</a:t>
            </a:r>
            <a:r>
              <a:rPr lang="nb-NO" baseline="-25000"/>
              <a:t>6</a:t>
            </a:r>
            <a:r>
              <a:rPr lang="nb-NO"/>
              <a:t>)(1-p</a:t>
            </a:r>
            <a:r>
              <a:rPr lang="nb-NO" baseline="-25000"/>
              <a:t>7</a:t>
            </a:r>
            <a:r>
              <a:rPr lang="nb-NO"/>
              <a:t>)</a:t>
            </a:r>
            <a:r>
              <a:rPr lang="nb-NO">
                <a:solidFill>
                  <a:srgbClr val="003399"/>
                </a:solidFill>
              </a:rPr>
              <a:t>{</a:t>
            </a:r>
            <a:r>
              <a:rPr lang="el-GR"/>
              <a:t>ε</a:t>
            </a:r>
            <a:r>
              <a:rPr lang="nb-NO" baseline="-25000"/>
              <a:t>7</a:t>
            </a:r>
            <a:r>
              <a:rPr lang="nb-NO"/>
              <a:t>+(1- </a:t>
            </a:r>
            <a:r>
              <a:rPr lang="el-GR"/>
              <a:t>ε</a:t>
            </a:r>
            <a:r>
              <a:rPr lang="nb-NO" baseline="-25000"/>
              <a:t>7</a:t>
            </a:r>
            <a:r>
              <a:rPr lang="nb-NO"/>
              <a:t>)(1- p</a:t>
            </a:r>
            <a:r>
              <a:rPr lang="nb-NO" baseline="-25000"/>
              <a:t>8</a:t>
            </a:r>
            <a:r>
              <a:rPr lang="nb-NO"/>
              <a:t>)</a:t>
            </a:r>
            <a:r>
              <a:rPr lang="nb-NO">
                <a:solidFill>
                  <a:srgbClr val="003399"/>
                </a:solidFill>
              </a:rPr>
              <a:t>}</a:t>
            </a:r>
            <a:r>
              <a:rPr lang="nb-NO">
                <a:solidFill>
                  <a:srgbClr val="009900"/>
                </a:solidFill>
              </a:rPr>
              <a:t>]</a:t>
            </a:r>
            <a:endParaRPr lang="el-GR">
              <a:solidFill>
                <a:srgbClr val="009900"/>
              </a:solidFill>
            </a:endParaRPr>
          </a:p>
          <a:p>
            <a:pPr>
              <a:spcBef>
                <a:spcPct val="50000"/>
              </a:spcBef>
            </a:pPr>
            <a:endParaRPr lang="el-GR"/>
          </a:p>
          <a:p>
            <a:pPr>
              <a:spcBef>
                <a:spcPct val="50000"/>
              </a:spcBef>
            </a:pPr>
            <a:endParaRPr lang="nb-NO">
              <a:solidFill>
                <a:srgbClr val="003399"/>
              </a:solidFill>
            </a:endParaRPr>
          </a:p>
        </p:txBody>
      </p:sp>
      <p:sp>
        <p:nvSpPr>
          <p:cNvPr id="18496" name="Oval 64"/>
          <p:cNvSpPr>
            <a:spLocks noChangeArrowheads="1"/>
          </p:cNvSpPr>
          <p:nvPr/>
        </p:nvSpPr>
        <p:spPr bwMode="auto">
          <a:xfrm>
            <a:off x="6096000" y="2590800"/>
            <a:ext cx="457200" cy="457200"/>
          </a:xfrm>
          <a:prstGeom prst="ellipse">
            <a:avLst/>
          </a:prstGeom>
          <a:noFill/>
          <a:ln w="25400">
            <a:solidFill>
              <a:srgbClr val="FF0000"/>
            </a:solidFill>
            <a:round/>
            <a:headEnd/>
            <a:tailEnd/>
          </a:ln>
        </p:spPr>
        <p:txBody>
          <a:bodyPr wrap="none" anchor="ctr"/>
          <a:lstStyle/>
          <a:p>
            <a:endParaRPr lang="nb-NO"/>
          </a:p>
        </p:txBody>
      </p:sp>
      <p:sp>
        <p:nvSpPr>
          <p:cNvPr id="18497" name="Oval 65"/>
          <p:cNvSpPr>
            <a:spLocks noChangeArrowheads="1"/>
          </p:cNvSpPr>
          <p:nvPr/>
        </p:nvSpPr>
        <p:spPr bwMode="auto">
          <a:xfrm>
            <a:off x="5867400" y="3200400"/>
            <a:ext cx="457200" cy="457200"/>
          </a:xfrm>
          <a:prstGeom prst="ellipse">
            <a:avLst/>
          </a:prstGeom>
          <a:noFill/>
          <a:ln w="25400">
            <a:solidFill>
              <a:srgbClr val="FF0000"/>
            </a:solidFill>
            <a:round/>
            <a:headEnd/>
            <a:tailEnd/>
          </a:ln>
        </p:spPr>
        <p:txBody>
          <a:bodyPr wrap="none" anchor="ctr"/>
          <a:lstStyle/>
          <a:p>
            <a:endParaRPr lang="nb-NO"/>
          </a:p>
        </p:txBody>
      </p:sp>
      <p:sp>
        <p:nvSpPr>
          <p:cNvPr id="18498" name="Oval 67"/>
          <p:cNvSpPr>
            <a:spLocks noChangeArrowheads="1"/>
          </p:cNvSpPr>
          <p:nvPr/>
        </p:nvSpPr>
        <p:spPr bwMode="auto">
          <a:xfrm>
            <a:off x="3657600" y="4800600"/>
            <a:ext cx="838200" cy="533400"/>
          </a:xfrm>
          <a:prstGeom prst="ellipse">
            <a:avLst/>
          </a:prstGeom>
          <a:noFill/>
          <a:ln w="25400">
            <a:solidFill>
              <a:srgbClr val="FF0000"/>
            </a:solidFill>
            <a:round/>
            <a:headEnd/>
            <a:tailEnd/>
          </a:ln>
        </p:spPr>
        <p:txBody>
          <a:bodyPr wrap="none" anchor="ctr"/>
          <a:lstStyle/>
          <a:p>
            <a:endParaRPr lang="nb-NO"/>
          </a:p>
        </p:txBody>
      </p:sp>
      <p:sp>
        <p:nvSpPr>
          <p:cNvPr id="15" name="Rectangle 2"/>
          <p:cNvSpPr>
            <a:spLocks noGrp="1" noChangeArrowheads="1"/>
          </p:cNvSpPr>
          <p:nvPr>
            <p:ph type="title"/>
          </p:nvPr>
        </p:nvSpPr>
        <p:spPr>
          <a:xfrm>
            <a:off x="1981200" y="274638"/>
            <a:ext cx="8229600" cy="1143000"/>
          </a:xfrm>
        </p:spPr>
        <p:txBody>
          <a:bodyPr/>
          <a:lstStyle/>
          <a:p>
            <a:pPr eaLnBrk="1" hangingPunct="1"/>
            <a:r>
              <a:rPr lang="en-US" sz="3000" b="1" dirty="0"/>
              <a:t>Representing detection/encounter histories</a:t>
            </a:r>
          </a:p>
        </p:txBody>
      </p:sp>
      <p:sp>
        <p:nvSpPr>
          <p:cNvPr id="16" name="TextBox 15"/>
          <p:cNvSpPr txBox="1"/>
          <p:nvPr/>
        </p:nvSpPr>
        <p:spPr>
          <a:xfrm>
            <a:off x="8436768" y="3212977"/>
            <a:ext cx="1979712" cy="646331"/>
          </a:xfrm>
          <a:prstGeom prst="rect">
            <a:avLst/>
          </a:prstGeom>
          <a:solidFill>
            <a:schemeClr val="bg1"/>
          </a:solidFill>
        </p:spPr>
        <p:txBody>
          <a:bodyPr wrap="square" rtlCol="0">
            <a:spAutoFit/>
          </a:bodyPr>
          <a:lstStyle/>
          <a:p>
            <a:r>
              <a:rPr lang="en-US" b="1" dirty="0"/>
              <a:t>Extinction </a:t>
            </a:r>
          </a:p>
          <a:p>
            <a:r>
              <a:rPr lang="en-US" b="1" dirty="0"/>
              <a:t>probabilities</a:t>
            </a:r>
          </a:p>
        </p:txBody>
      </p:sp>
      <p:sp>
        <p:nvSpPr>
          <p:cNvPr id="17" name="TextBox 16"/>
          <p:cNvSpPr txBox="1"/>
          <p:nvPr/>
        </p:nvSpPr>
        <p:spPr>
          <a:xfrm>
            <a:off x="8364760" y="2566646"/>
            <a:ext cx="1763688" cy="646331"/>
          </a:xfrm>
          <a:prstGeom prst="rect">
            <a:avLst/>
          </a:prstGeom>
          <a:solidFill>
            <a:schemeClr val="bg1"/>
          </a:solidFill>
        </p:spPr>
        <p:txBody>
          <a:bodyPr wrap="square" rtlCol="0">
            <a:spAutoFit/>
          </a:bodyPr>
          <a:lstStyle/>
          <a:p>
            <a:r>
              <a:rPr lang="en-US" b="1" dirty="0"/>
              <a:t>Detection </a:t>
            </a:r>
          </a:p>
          <a:p>
            <a:r>
              <a:rPr lang="en-US" b="1" dirty="0"/>
              <a:t>probabilities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7827" name="Group 3"/>
          <p:cNvGraphicFramePr>
            <a:graphicFrameLocks noGrp="1"/>
          </p:cNvGraphicFramePr>
          <p:nvPr>
            <p:ph sz="half" idx="1"/>
          </p:nvPr>
        </p:nvGraphicFramePr>
        <p:xfrm>
          <a:off x="4038600" y="1600200"/>
          <a:ext cx="4038600" cy="1484948"/>
        </p:xfrm>
        <a:graphic>
          <a:graphicData uri="http://schemas.openxmlformats.org/drawingml/2006/table">
            <a:tbl>
              <a:tblPr/>
              <a:tblGrid>
                <a:gridCol w="504825">
                  <a:extLst>
                    <a:ext uri="{9D8B030D-6E8A-4147-A177-3AD203B41FA5}">
                      <a16:colId xmlns:a16="http://schemas.microsoft.com/office/drawing/2014/main" val="20000"/>
                    </a:ext>
                  </a:extLst>
                </a:gridCol>
                <a:gridCol w="504825">
                  <a:extLst>
                    <a:ext uri="{9D8B030D-6E8A-4147-A177-3AD203B41FA5}">
                      <a16:colId xmlns:a16="http://schemas.microsoft.com/office/drawing/2014/main" val="20001"/>
                    </a:ext>
                  </a:extLst>
                </a:gridCol>
                <a:gridCol w="504825">
                  <a:extLst>
                    <a:ext uri="{9D8B030D-6E8A-4147-A177-3AD203B41FA5}">
                      <a16:colId xmlns:a16="http://schemas.microsoft.com/office/drawing/2014/main" val="20002"/>
                    </a:ext>
                  </a:extLst>
                </a:gridCol>
                <a:gridCol w="504825">
                  <a:extLst>
                    <a:ext uri="{9D8B030D-6E8A-4147-A177-3AD203B41FA5}">
                      <a16:colId xmlns:a16="http://schemas.microsoft.com/office/drawing/2014/main" val="20003"/>
                    </a:ext>
                  </a:extLst>
                </a:gridCol>
                <a:gridCol w="504825">
                  <a:extLst>
                    <a:ext uri="{9D8B030D-6E8A-4147-A177-3AD203B41FA5}">
                      <a16:colId xmlns:a16="http://schemas.microsoft.com/office/drawing/2014/main" val="20004"/>
                    </a:ext>
                  </a:extLst>
                </a:gridCol>
                <a:gridCol w="504825">
                  <a:extLst>
                    <a:ext uri="{9D8B030D-6E8A-4147-A177-3AD203B41FA5}">
                      <a16:colId xmlns:a16="http://schemas.microsoft.com/office/drawing/2014/main" val="20005"/>
                    </a:ext>
                  </a:extLst>
                </a:gridCol>
                <a:gridCol w="504825">
                  <a:extLst>
                    <a:ext uri="{9D8B030D-6E8A-4147-A177-3AD203B41FA5}">
                      <a16:colId xmlns:a16="http://schemas.microsoft.com/office/drawing/2014/main" val="20006"/>
                    </a:ext>
                  </a:extLst>
                </a:gridCol>
                <a:gridCol w="504825">
                  <a:extLst>
                    <a:ext uri="{9D8B030D-6E8A-4147-A177-3AD203B41FA5}">
                      <a16:colId xmlns:a16="http://schemas.microsoft.com/office/drawing/2014/main" val="20007"/>
                    </a:ext>
                  </a:extLst>
                </a:gridCol>
              </a:tblGrid>
              <a:tr h="48418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rgbClr val="003399"/>
                          </a:solidFill>
                          <a:effectLst/>
                          <a:latin typeface="Arial" charset="0"/>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rgbClr val="003399"/>
                          </a:solidFill>
                          <a:effectLst/>
                          <a:latin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rgbClr val="003399"/>
                          </a:solidFill>
                          <a:effectLst/>
                          <a:latin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rgbClr val="003399"/>
                          </a:solidFill>
                          <a:effectLst/>
                          <a:latin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rgbClr val="003399"/>
                          </a:solidFill>
                          <a:effectLst/>
                          <a:latin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rgbClr val="003399"/>
                          </a:solidFill>
                          <a:effectLst/>
                          <a:latin typeface="Arial" charset="0"/>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rgbClr val="003399"/>
                          </a:solidFill>
                          <a:effectLst/>
                          <a:latin typeface="Arial" charset="0"/>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rgbClr val="003399"/>
                          </a:solidFill>
                          <a:effectLst/>
                          <a:latin typeface="Arial" charset="0"/>
                        </a:rPr>
                        <a:t>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826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chemeClr val="tx1"/>
                          </a:solidFill>
                          <a:effectLst/>
                          <a:latin typeface="Arial" charset="0"/>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chemeClr val="tx1"/>
                          </a:solidFill>
                          <a:effectLst/>
                          <a:latin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chemeClr val="tx1"/>
                          </a:solidFill>
                          <a:effectLst/>
                          <a:latin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chemeClr val="tx1"/>
                          </a:solidFill>
                          <a:effectLst/>
                          <a:latin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chemeClr val="tx1"/>
                          </a:solidFill>
                          <a:effectLst/>
                          <a:latin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chemeClr val="tx1"/>
                          </a:solidFill>
                          <a:effectLst/>
                          <a:latin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chemeClr val="tx1"/>
                          </a:solidFill>
                          <a:effectLst/>
                          <a:latin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chemeClr val="tx1"/>
                          </a:solidFill>
                          <a:effectLst/>
                          <a:latin typeface="Arial"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810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nb-NO" sz="2800" b="0" i="0" u="none" strike="noStrike" cap="none" normalizeH="0" baseline="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nb-NO" sz="28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l-GR"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chemeClr val="tx1"/>
                          </a:solidFill>
                          <a:effectLst/>
                          <a:latin typeface="Arial" charset="0"/>
                          <a:cs typeface="Arial" charset="0"/>
                        </a:rPr>
                        <a:t>p</a:t>
                      </a:r>
                      <a:r>
                        <a:rPr kumimoji="0" lang="nb-NO" sz="2000" b="0" i="0" u="none" strike="noStrike" cap="none" normalizeH="0" baseline="-25000">
                          <a:ln>
                            <a:noFill/>
                          </a:ln>
                          <a:solidFill>
                            <a:schemeClr val="tx1"/>
                          </a:solidFill>
                          <a:effectLst/>
                          <a:latin typeface="Arial" charset="0"/>
                          <a:cs typeface="Arial" charset="0"/>
                        </a:rPr>
                        <a:t>4</a:t>
                      </a:r>
                      <a:endParaRPr kumimoji="0" lang="nb-NO" sz="28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chemeClr val="tx1"/>
                          </a:solidFill>
                          <a:effectLst/>
                          <a:latin typeface="Arial" charset="0"/>
                          <a:cs typeface="Arial" charset="0"/>
                        </a:rPr>
                        <a:t>p</a:t>
                      </a:r>
                      <a:r>
                        <a:rPr kumimoji="0" lang="nb-NO" sz="2000" b="0" i="0" u="none" strike="noStrike" cap="none" normalizeH="0" baseline="-2500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chemeClr val="tx1"/>
                          </a:solidFill>
                          <a:effectLst/>
                          <a:latin typeface="Arial" charset="0"/>
                          <a:cs typeface="Arial" charset="0"/>
                        </a:rPr>
                        <a:t>p</a:t>
                      </a:r>
                      <a:r>
                        <a:rPr kumimoji="0" lang="nb-NO" sz="2000" b="0" i="0" u="none" strike="noStrike" cap="none" normalizeH="0" baseline="-25000">
                          <a:ln>
                            <a:noFill/>
                          </a:ln>
                          <a:solidFill>
                            <a:schemeClr val="tx1"/>
                          </a:solidFill>
                          <a:effectLst/>
                          <a:latin typeface="Arial" charset="0"/>
                          <a:cs typeface="Arial" charset="0"/>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chemeClr val="tx1"/>
                          </a:solidFill>
                          <a:effectLst/>
                          <a:latin typeface="Arial" charset="0"/>
                          <a:cs typeface="Arial" charset="0"/>
                        </a:rPr>
                        <a:t>p</a:t>
                      </a:r>
                      <a:r>
                        <a:rPr kumimoji="0" lang="nb-NO" sz="2000" b="0" i="0" u="none" strike="noStrike" cap="none" normalizeH="0" baseline="-25000">
                          <a:ln>
                            <a:noFill/>
                          </a:ln>
                          <a:solidFill>
                            <a:schemeClr val="tx1"/>
                          </a:solidFill>
                          <a:effectLst/>
                          <a:latin typeface="Arial" charset="0"/>
                          <a:cs typeface="Arial" charset="0"/>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chemeClr val="tx1"/>
                          </a:solidFill>
                          <a:effectLst/>
                          <a:latin typeface="Arial" charset="0"/>
                          <a:cs typeface="Arial" charset="0"/>
                        </a:rPr>
                        <a:t>p</a:t>
                      </a:r>
                      <a:r>
                        <a:rPr kumimoji="0" lang="nb-NO" sz="2000" b="0" i="0" u="none" strike="noStrike" cap="none" normalizeH="0" baseline="-25000">
                          <a:ln>
                            <a:noFill/>
                          </a:ln>
                          <a:solidFill>
                            <a:schemeClr val="tx1"/>
                          </a:solidFill>
                          <a:effectLst/>
                          <a:latin typeface="Arial" charset="0"/>
                          <a:cs typeface="Arial" charset="0"/>
                        </a:rPr>
                        <a:t>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77865" name="Group 41"/>
          <p:cNvGraphicFramePr>
            <a:graphicFrameLocks noGrp="1"/>
          </p:cNvGraphicFramePr>
          <p:nvPr>
            <p:ph sz="half" idx="2"/>
          </p:nvPr>
        </p:nvGraphicFramePr>
        <p:xfrm>
          <a:off x="3908425" y="3200400"/>
          <a:ext cx="4389438" cy="518160"/>
        </p:xfrm>
        <a:graphic>
          <a:graphicData uri="http://schemas.openxmlformats.org/drawingml/2006/table">
            <a:tbl>
              <a:tblPr/>
              <a:tblGrid>
                <a:gridCol w="487363">
                  <a:extLst>
                    <a:ext uri="{9D8B030D-6E8A-4147-A177-3AD203B41FA5}">
                      <a16:colId xmlns:a16="http://schemas.microsoft.com/office/drawing/2014/main" val="20000"/>
                    </a:ext>
                  </a:extLst>
                </a:gridCol>
                <a:gridCol w="488950">
                  <a:extLst>
                    <a:ext uri="{9D8B030D-6E8A-4147-A177-3AD203B41FA5}">
                      <a16:colId xmlns:a16="http://schemas.microsoft.com/office/drawing/2014/main" val="20001"/>
                    </a:ext>
                  </a:extLst>
                </a:gridCol>
                <a:gridCol w="485775">
                  <a:extLst>
                    <a:ext uri="{9D8B030D-6E8A-4147-A177-3AD203B41FA5}">
                      <a16:colId xmlns:a16="http://schemas.microsoft.com/office/drawing/2014/main" val="20002"/>
                    </a:ext>
                  </a:extLst>
                </a:gridCol>
                <a:gridCol w="488950">
                  <a:extLst>
                    <a:ext uri="{9D8B030D-6E8A-4147-A177-3AD203B41FA5}">
                      <a16:colId xmlns:a16="http://schemas.microsoft.com/office/drawing/2014/main" val="20003"/>
                    </a:ext>
                  </a:extLst>
                </a:gridCol>
                <a:gridCol w="487362">
                  <a:extLst>
                    <a:ext uri="{9D8B030D-6E8A-4147-A177-3AD203B41FA5}">
                      <a16:colId xmlns:a16="http://schemas.microsoft.com/office/drawing/2014/main" val="20004"/>
                    </a:ext>
                  </a:extLst>
                </a:gridCol>
                <a:gridCol w="487363">
                  <a:extLst>
                    <a:ext uri="{9D8B030D-6E8A-4147-A177-3AD203B41FA5}">
                      <a16:colId xmlns:a16="http://schemas.microsoft.com/office/drawing/2014/main" val="20005"/>
                    </a:ext>
                  </a:extLst>
                </a:gridCol>
                <a:gridCol w="488950">
                  <a:extLst>
                    <a:ext uri="{9D8B030D-6E8A-4147-A177-3AD203B41FA5}">
                      <a16:colId xmlns:a16="http://schemas.microsoft.com/office/drawing/2014/main" val="20006"/>
                    </a:ext>
                  </a:extLst>
                </a:gridCol>
                <a:gridCol w="485775">
                  <a:extLst>
                    <a:ext uri="{9D8B030D-6E8A-4147-A177-3AD203B41FA5}">
                      <a16:colId xmlns:a16="http://schemas.microsoft.com/office/drawing/2014/main" val="20007"/>
                    </a:ext>
                  </a:extLst>
                </a:gridCol>
                <a:gridCol w="488950">
                  <a:extLst>
                    <a:ext uri="{9D8B030D-6E8A-4147-A177-3AD203B41FA5}">
                      <a16:colId xmlns:a16="http://schemas.microsoft.com/office/drawing/2014/main" val="20008"/>
                    </a:ext>
                  </a:extLst>
                </a:gridCol>
              </a:tblGrid>
              <a:tr h="4572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nb-NO" sz="2800" b="0" i="0" u="none" strike="noStrike" cap="none" normalizeH="0" baseline="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nb-NO" sz="28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nb-NO" sz="28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l-GR" sz="2000" b="0" i="0" u="none" strike="noStrike" cap="none" normalizeH="0" baseline="0">
                          <a:ln>
                            <a:noFill/>
                          </a:ln>
                          <a:solidFill>
                            <a:schemeClr val="tx1"/>
                          </a:solidFill>
                          <a:effectLst/>
                          <a:latin typeface="Arial" charset="0"/>
                          <a:cs typeface="Arial" charset="0"/>
                        </a:rPr>
                        <a:t>ε</a:t>
                      </a:r>
                      <a:r>
                        <a:rPr kumimoji="0" lang="nb-NO" sz="2000" b="0" i="0" u="none" strike="noStrike" cap="none" normalizeH="0" baseline="-25000">
                          <a:ln>
                            <a:noFill/>
                          </a:ln>
                          <a:solidFill>
                            <a:schemeClr val="tx1"/>
                          </a:solidFill>
                          <a:effectLst/>
                          <a:latin typeface="Arial" charset="0"/>
                          <a:cs typeface="Arial" charset="0"/>
                        </a:rPr>
                        <a:t>3</a:t>
                      </a:r>
                      <a:endParaRPr kumimoji="0" lang="el-GR"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l-GR" sz="2000" b="0" i="0" u="none" strike="noStrike" cap="none" normalizeH="0" baseline="0">
                          <a:ln>
                            <a:noFill/>
                          </a:ln>
                          <a:solidFill>
                            <a:schemeClr val="tx1"/>
                          </a:solidFill>
                          <a:effectLst/>
                          <a:latin typeface="Arial" charset="0"/>
                          <a:cs typeface="Arial" charset="0"/>
                        </a:rPr>
                        <a:t>ε</a:t>
                      </a:r>
                      <a:r>
                        <a:rPr kumimoji="0" lang="nb-NO" sz="2000" b="0" i="0" u="none" strike="noStrike" cap="none" normalizeH="0" baseline="-25000">
                          <a:ln>
                            <a:noFill/>
                          </a:ln>
                          <a:solidFill>
                            <a:schemeClr val="tx1"/>
                          </a:solidFill>
                          <a:effectLst/>
                          <a:latin typeface="Arial" charset="0"/>
                          <a:cs typeface="Arial" charset="0"/>
                        </a:rPr>
                        <a:t>4</a:t>
                      </a:r>
                      <a:endParaRPr kumimoji="0" lang="nb-NO" sz="28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l-GR" sz="2000" b="0" i="0" u="none" strike="noStrike" cap="none" normalizeH="0" baseline="0">
                          <a:ln>
                            <a:noFill/>
                          </a:ln>
                          <a:solidFill>
                            <a:schemeClr val="tx1"/>
                          </a:solidFill>
                          <a:effectLst/>
                          <a:latin typeface="Arial" charset="0"/>
                          <a:cs typeface="Arial" charset="0"/>
                        </a:rPr>
                        <a:t>ε</a:t>
                      </a:r>
                      <a:r>
                        <a:rPr kumimoji="0" lang="nb-NO" sz="2000" b="0" i="0" u="none" strike="noStrike" cap="none" normalizeH="0" baseline="-25000">
                          <a:ln>
                            <a:noFill/>
                          </a:ln>
                          <a:solidFill>
                            <a:schemeClr val="tx1"/>
                          </a:solidFill>
                          <a:effectLst/>
                          <a:latin typeface="Arial" charset="0"/>
                          <a:cs typeface="Arial" charset="0"/>
                        </a:rPr>
                        <a:t>5</a:t>
                      </a:r>
                      <a:endParaRPr kumimoji="0" lang="nb-NO" sz="28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l-GR" sz="2000" b="0" i="0" u="none" strike="noStrike" cap="none" normalizeH="0" baseline="0">
                          <a:ln>
                            <a:noFill/>
                          </a:ln>
                          <a:solidFill>
                            <a:schemeClr val="tx1"/>
                          </a:solidFill>
                          <a:effectLst/>
                          <a:latin typeface="Arial" charset="0"/>
                          <a:cs typeface="Arial" charset="0"/>
                        </a:rPr>
                        <a:t>ε</a:t>
                      </a:r>
                      <a:r>
                        <a:rPr kumimoji="0" lang="nb-NO" sz="2000" b="0" i="0" u="none" strike="noStrike" cap="none" normalizeH="0" baseline="-25000">
                          <a:ln>
                            <a:noFill/>
                          </a:ln>
                          <a:solidFill>
                            <a:schemeClr val="tx1"/>
                          </a:solidFill>
                          <a:effectLst/>
                          <a:latin typeface="Arial" charset="0"/>
                          <a:cs typeface="Arial" charset="0"/>
                        </a:rPr>
                        <a:t>6</a:t>
                      </a:r>
                      <a:endParaRPr kumimoji="0" lang="nb-NO" sz="28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l-GR" sz="2000" b="0" i="0" u="none" strike="noStrike" cap="none" normalizeH="0" baseline="0">
                          <a:ln>
                            <a:noFill/>
                          </a:ln>
                          <a:solidFill>
                            <a:schemeClr val="tx1"/>
                          </a:solidFill>
                          <a:effectLst/>
                          <a:latin typeface="Arial" charset="0"/>
                          <a:cs typeface="Arial" charset="0"/>
                        </a:rPr>
                        <a:t>ε</a:t>
                      </a:r>
                      <a:r>
                        <a:rPr kumimoji="0" lang="nb-NO" sz="2000" b="0" i="0" u="none" strike="noStrike" cap="none" normalizeH="0" baseline="-25000">
                          <a:ln>
                            <a:noFill/>
                          </a:ln>
                          <a:solidFill>
                            <a:schemeClr val="tx1"/>
                          </a:solidFill>
                          <a:effectLst/>
                          <a:latin typeface="Arial" charset="0"/>
                          <a:cs typeface="Arial" charset="0"/>
                        </a:rPr>
                        <a:t>7</a:t>
                      </a:r>
                      <a:endParaRPr kumimoji="0" lang="nb-NO" sz="28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nb-NO" sz="28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19519" name="Text Box 63"/>
          <p:cNvSpPr txBox="1">
            <a:spLocks noChangeArrowheads="1"/>
          </p:cNvSpPr>
          <p:nvPr/>
        </p:nvSpPr>
        <p:spPr bwMode="auto">
          <a:xfrm>
            <a:off x="2438400" y="4038601"/>
            <a:ext cx="7848600" cy="2017713"/>
          </a:xfrm>
          <a:prstGeom prst="rect">
            <a:avLst/>
          </a:prstGeom>
          <a:noFill/>
          <a:ln w="9525">
            <a:noFill/>
            <a:miter lim="800000"/>
            <a:headEnd/>
            <a:tailEnd/>
          </a:ln>
        </p:spPr>
        <p:txBody>
          <a:bodyPr>
            <a:spAutoFit/>
          </a:bodyPr>
          <a:lstStyle/>
          <a:p>
            <a:pPr>
              <a:spcBef>
                <a:spcPct val="50000"/>
              </a:spcBef>
            </a:pPr>
            <a:r>
              <a:rPr lang="en-US"/>
              <a:t>eh = 0 0 1 0 1 1 0 0</a:t>
            </a:r>
          </a:p>
          <a:p>
            <a:pPr>
              <a:spcBef>
                <a:spcPct val="50000"/>
              </a:spcBef>
            </a:pPr>
            <a:r>
              <a:rPr lang="nb-NO"/>
              <a:t>Pr(</a:t>
            </a:r>
            <a:r>
              <a:rPr lang="en-US"/>
              <a:t>eh = 0 0 1 0 1 1 0 0 | initial encounter in interval </a:t>
            </a:r>
            <a:r>
              <a:rPr lang="en-US">
                <a:solidFill>
                  <a:srgbClr val="003399"/>
                </a:solidFill>
              </a:rPr>
              <a:t>3</a:t>
            </a:r>
            <a:r>
              <a:rPr lang="en-US"/>
              <a:t>) =</a:t>
            </a:r>
          </a:p>
          <a:p>
            <a:pPr>
              <a:spcBef>
                <a:spcPct val="50000"/>
              </a:spcBef>
            </a:pPr>
            <a:r>
              <a:rPr lang="en-US"/>
              <a:t>(1-</a:t>
            </a:r>
            <a:r>
              <a:rPr lang="el-GR"/>
              <a:t>ε</a:t>
            </a:r>
            <a:r>
              <a:rPr lang="nb-NO" baseline="-25000"/>
              <a:t>3</a:t>
            </a:r>
            <a:r>
              <a:rPr lang="nb-NO"/>
              <a:t>)(1-p</a:t>
            </a:r>
            <a:r>
              <a:rPr lang="nb-NO" baseline="-25000"/>
              <a:t>4</a:t>
            </a:r>
            <a:r>
              <a:rPr lang="nb-NO"/>
              <a:t>) </a:t>
            </a:r>
            <a:r>
              <a:rPr lang="en-US"/>
              <a:t>(1-</a:t>
            </a:r>
            <a:r>
              <a:rPr lang="el-GR"/>
              <a:t>ε</a:t>
            </a:r>
            <a:r>
              <a:rPr lang="nb-NO" baseline="-25000"/>
              <a:t>4</a:t>
            </a:r>
            <a:r>
              <a:rPr lang="nb-NO"/>
              <a:t>)p</a:t>
            </a:r>
            <a:r>
              <a:rPr lang="nb-NO" baseline="-25000"/>
              <a:t>5 </a:t>
            </a:r>
            <a:r>
              <a:rPr lang="en-US"/>
              <a:t>(1-</a:t>
            </a:r>
            <a:r>
              <a:rPr lang="el-GR"/>
              <a:t>ε</a:t>
            </a:r>
            <a:r>
              <a:rPr lang="nb-NO" baseline="-25000"/>
              <a:t>5</a:t>
            </a:r>
            <a:r>
              <a:rPr lang="nb-NO"/>
              <a:t>)p</a:t>
            </a:r>
            <a:r>
              <a:rPr lang="nb-NO" baseline="-25000"/>
              <a:t>6  </a:t>
            </a:r>
            <a:r>
              <a:rPr lang="en-US">
                <a:solidFill>
                  <a:srgbClr val="009900"/>
                </a:solidFill>
              </a:rPr>
              <a:t>[</a:t>
            </a:r>
            <a:r>
              <a:rPr lang="el-GR"/>
              <a:t>ε</a:t>
            </a:r>
            <a:r>
              <a:rPr lang="nb-NO" baseline="-25000"/>
              <a:t>6 </a:t>
            </a:r>
            <a:r>
              <a:rPr lang="nb-NO"/>
              <a:t>+</a:t>
            </a:r>
            <a:r>
              <a:rPr lang="nb-NO" baseline="-25000"/>
              <a:t> </a:t>
            </a:r>
            <a:r>
              <a:rPr lang="en-US"/>
              <a:t>(1-</a:t>
            </a:r>
            <a:r>
              <a:rPr lang="el-GR"/>
              <a:t>ε</a:t>
            </a:r>
            <a:r>
              <a:rPr lang="nb-NO" baseline="-25000"/>
              <a:t>6</a:t>
            </a:r>
            <a:r>
              <a:rPr lang="nb-NO"/>
              <a:t>)(1-p</a:t>
            </a:r>
            <a:r>
              <a:rPr lang="nb-NO" baseline="-25000"/>
              <a:t>7</a:t>
            </a:r>
            <a:r>
              <a:rPr lang="nb-NO"/>
              <a:t>)</a:t>
            </a:r>
            <a:r>
              <a:rPr lang="nb-NO">
                <a:solidFill>
                  <a:srgbClr val="003399"/>
                </a:solidFill>
              </a:rPr>
              <a:t>{</a:t>
            </a:r>
            <a:r>
              <a:rPr lang="el-GR"/>
              <a:t>ε</a:t>
            </a:r>
            <a:r>
              <a:rPr lang="nb-NO" baseline="-25000"/>
              <a:t>7</a:t>
            </a:r>
            <a:r>
              <a:rPr lang="nb-NO"/>
              <a:t>+(1- </a:t>
            </a:r>
            <a:r>
              <a:rPr lang="el-GR"/>
              <a:t>ε</a:t>
            </a:r>
            <a:r>
              <a:rPr lang="nb-NO" baseline="-25000"/>
              <a:t>7</a:t>
            </a:r>
            <a:r>
              <a:rPr lang="nb-NO"/>
              <a:t>)(1- p</a:t>
            </a:r>
            <a:r>
              <a:rPr lang="nb-NO" baseline="-25000"/>
              <a:t>8</a:t>
            </a:r>
            <a:r>
              <a:rPr lang="nb-NO"/>
              <a:t>)</a:t>
            </a:r>
            <a:r>
              <a:rPr lang="nb-NO">
                <a:solidFill>
                  <a:srgbClr val="003399"/>
                </a:solidFill>
              </a:rPr>
              <a:t>}</a:t>
            </a:r>
            <a:r>
              <a:rPr lang="nb-NO">
                <a:solidFill>
                  <a:srgbClr val="009900"/>
                </a:solidFill>
              </a:rPr>
              <a:t>]</a:t>
            </a:r>
            <a:endParaRPr lang="el-GR">
              <a:solidFill>
                <a:srgbClr val="009900"/>
              </a:solidFill>
            </a:endParaRPr>
          </a:p>
          <a:p>
            <a:pPr>
              <a:spcBef>
                <a:spcPct val="50000"/>
              </a:spcBef>
            </a:pPr>
            <a:endParaRPr lang="el-GR"/>
          </a:p>
          <a:p>
            <a:pPr>
              <a:spcBef>
                <a:spcPct val="50000"/>
              </a:spcBef>
            </a:pPr>
            <a:endParaRPr lang="nb-NO">
              <a:solidFill>
                <a:srgbClr val="003399"/>
              </a:solidFill>
            </a:endParaRPr>
          </a:p>
        </p:txBody>
      </p:sp>
      <p:sp>
        <p:nvSpPr>
          <p:cNvPr id="19520" name="Oval 64"/>
          <p:cNvSpPr>
            <a:spLocks noChangeArrowheads="1"/>
          </p:cNvSpPr>
          <p:nvPr/>
        </p:nvSpPr>
        <p:spPr bwMode="auto">
          <a:xfrm>
            <a:off x="4419600" y="4800600"/>
            <a:ext cx="914400" cy="609600"/>
          </a:xfrm>
          <a:prstGeom prst="ellipse">
            <a:avLst/>
          </a:prstGeom>
          <a:noFill/>
          <a:ln w="25400">
            <a:solidFill>
              <a:srgbClr val="FF0000"/>
            </a:solidFill>
            <a:round/>
            <a:headEnd/>
            <a:tailEnd/>
          </a:ln>
        </p:spPr>
        <p:txBody>
          <a:bodyPr wrap="none" anchor="ctr"/>
          <a:lstStyle/>
          <a:p>
            <a:endParaRPr lang="nb-NO"/>
          </a:p>
        </p:txBody>
      </p:sp>
      <p:sp>
        <p:nvSpPr>
          <p:cNvPr id="19521" name="Oval 65"/>
          <p:cNvSpPr>
            <a:spLocks noChangeArrowheads="1"/>
          </p:cNvSpPr>
          <p:nvPr/>
        </p:nvSpPr>
        <p:spPr bwMode="auto">
          <a:xfrm>
            <a:off x="6324600" y="3200400"/>
            <a:ext cx="457200" cy="457200"/>
          </a:xfrm>
          <a:prstGeom prst="ellipse">
            <a:avLst/>
          </a:prstGeom>
          <a:noFill/>
          <a:ln w="25400">
            <a:solidFill>
              <a:srgbClr val="FF0000"/>
            </a:solidFill>
            <a:round/>
            <a:headEnd/>
            <a:tailEnd/>
          </a:ln>
        </p:spPr>
        <p:txBody>
          <a:bodyPr wrap="none" anchor="ctr"/>
          <a:lstStyle/>
          <a:p>
            <a:endParaRPr lang="nb-NO"/>
          </a:p>
        </p:txBody>
      </p:sp>
      <p:sp>
        <p:nvSpPr>
          <p:cNvPr id="19522" name="Oval 66"/>
          <p:cNvSpPr>
            <a:spLocks noChangeArrowheads="1"/>
          </p:cNvSpPr>
          <p:nvPr/>
        </p:nvSpPr>
        <p:spPr bwMode="auto">
          <a:xfrm>
            <a:off x="6553200" y="2590800"/>
            <a:ext cx="457200" cy="457200"/>
          </a:xfrm>
          <a:prstGeom prst="ellipse">
            <a:avLst/>
          </a:prstGeom>
          <a:noFill/>
          <a:ln w="25400">
            <a:solidFill>
              <a:srgbClr val="FF0000"/>
            </a:solidFill>
            <a:round/>
            <a:headEnd/>
            <a:tailEnd/>
          </a:ln>
        </p:spPr>
        <p:txBody>
          <a:bodyPr wrap="none" anchor="ctr"/>
          <a:lstStyle/>
          <a:p>
            <a:endParaRPr lang="nb-NO"/>
          </a:p>
        </p:txBody>
      </p:sp>
      <p:sp>
        <p:nvSpPr>
          <p:cNvPr id="12" name="Rectangle 2"/>
          <p:cNvSpPr>
            <a:spLocks noGrp="1" noChangeArrowheads="1"/>
          </p:cNvSpPr>
          <p:nvPr>
            <p:ph type="title"/>
          </p:nvPr>
        </p:nvSpPr>
        <p:spPr>
          <a:xfrm>
            <a:off x="1981200" y="274638"/>
            <a:ext cx="8229600" cy="1143000"/>
          </a:xfrm>
        </p:spPr>
        <p:txBody>
          <a:bodyPr/>
          <a:lstStyle/>
          <a:p>
            <a:pPr eaLnBrk="1" hangingPunct="1"/>
            <a:r>
              <a:rPr lang="en-US" sz="3000" b="1" dirty="0"/>
              <a:t>Representing detection/encounter histories</a:t>
            </a:r>
          </a:p>
        </p:txBody>
      </p:sp>
      <p:sp>
        <p:nvSpPr>
          <p:cNvPr id="13" name="TextBox 12"/>
          <p:cNvSpPr txBox="1"/>
          <p:nvPr/>
        </p:nvSpPr>
        <p:spPr>
          <a:xfrm>
            <a:off x="8436768" y="3212977"/>
            <a:ext cx="1979712" cy="646331"/>
          </a:xfrm>
          <a:prstGeom prst="rect">
            <a:avLst/>
          </a:prstGeom>
          <a:solidFill>
            <a:schemeClr val="bg1"/>
          </a:solidFill>
        </p:spPr>
        <p:txBody>
          <a:bodyPr wrap="square" rtlCol="0">
            <a:spAutoFit/>
          </a:bodyPr>
          <a:lstStyle/>
          <a:p>
            <a:r>
              <a:rPr lang="en-US" b="1" dirty="0"/>
              <a:t>Extinction </a:t>
            </a:r>
          </a:p>
          <a:p>
            <a:r>
              <a:rPr lang="en-US" b="1" dirty="0"/>
              <a:t>probabilities</a:t>
            </a:r>
          </a:p>
        </p:txBody>
      </p:sp>
      <p:sp>
        <p:nvSpPr>
          <p:cNvPr id="14" name="TextBox 13"/>
          <p:cNvSpPr txBox="1"/>
          <p:nvPr/>
        </p:nvSpPr>
        <p:spPr>
          <a:xfrm>
            <a:off x="8364760" y="2566646"/>
            <a:ext cx="1763688" cy="646331"/>
          </a:xfrm>
          <a:prstGeom prst="rect">
            <a:avLst/>
          </a:prstGeom>
          <a:solidFill>
            <a:schemeClr val="bg1"/>
          </a:solidFill>
        </p:spPr>
        <p:txBody>
          <a:bodyPr wrap="square" rtlCol="0">
            <a:spAutoFit/>
          </a:bodyPr>
          <a:lstStyle/>
          <a:p>
            <a:r>
              <a:rPr lang="en-US" b="1" dirty="0"/>
              <a:t>Detection </a:t>
            </a:r>
          </a:p>
          <a:p>
            <a:r>
              <a:rPr lang="en-US" b="1" dirty="0"/>
              <a:t>probabilities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9875" name="Group 3"/>
          <p:cNvGraphicFramePr>
            <a:graphicFrameLocks noGrp="1"/>
          </p:cNvGraphicFramePr>
          <p:nvPr>
            <p:ph sz="half" idx="1"/>
          </p:nvPr>
        </p:nvGraphicFramePr>
        <p:xfrm>
          <a:off x="4038600" y="1600200"/>
          <a:ext cx="4038600" cy="1484948"/>
        </p:xfrm>
        <a:graphic>
          <a:graphicData uri="http://schemas.openxmlformats.org/drawingml/2006/table">
            <a:tbl>
              <a:tblPr/>
              <a:tblGrid>
                <a:gridCol w="504825">
                  <a:extLst>
                    <a:ext uri="{9D8B030D-6E8A-4147-A177-3AD203B41FA5}">
                      <a16:colId xmlns:a16="http://schemas.microsoft.com/office/drawing/2014/main" val="20000"/>
                    </a:ext>
                  </a:extLst>
                </a:gridCol>
                <a:gridCol w="504825">
                  <a:extLst>
                    <a:ext uri="{9D8B030D-6E8A-4147-A177-3AD203B41FA5}">
                      <a16:colId xmlns:a16="http://schemas.microsoft.com/office/drawing/2014/main" val="20001"/>
                    </a:ext>
                  </a:extLst>
                </a:gridCol>
                <a:gridCol w="504825">
                  <a:extLst>
                    <a:ext uri="{9D8B030D-6E8A-4147-A177-3AD203B41FA5}">
                      <a16:colId xmlns:a16="http://schemas.microsoft.com/office/drawing/2014/main" val="20002"/>
                    </a:ext>
                  </a:extLst>
                </a:gridCol>
                <a:gridCol w="504825">
                  <a:extLst>
                    <a:ext uri="{9D8B030D-6E8A-4147-A177-3AD203B41FA5}">
                      <a16:colId xmlns:a16="http://schemas.microsoft.com/office/drawing/2014/main" val="20003"/>
                    </a:ext>
                  </a:extLst>
                </a:gridCol>
                <a:gridCol w="504825">
                  <a:extLst>
                    <a:ext uri="{9D8B030D-6E8A-4147-A177-3AD203B41FA5}">
                      <a16:colId xmlns:a16="http://schemas.microsoft.com/office/drawing/2014/main" val="20004"/>
                    </a:ext>
                  </a:extLst>
                </a:gridCol>
                <a:gridCol w="504825">
                  <a:extLst>
                    <a:ext uri="{9D8B030D-6E8A-4147-A177-3AD203B41FA5}">
                      <a16:colId xmlns:a16="http://schemas.microsoft.com/office/drawing/2014/main" val="20005"/>
                    </a:ext>
                  </a:extLst>
                </a:gridCol>
                <a:gridCol w="504825">
                  <a:extLst>
                    <a:ext uri="{9D8B030D-6E8A-4147-A177-3AD203B41FA5}">
                      <a16:colId xmlns:a16="http://schemas.microsoft.com/office/drawing/2014/main" val="20006"/>
                    </a:ext>
                  </a:extLst>
                </a:gridCol>
                <a:gridCol w="504825">
                  <a:extLst>
                    <a:ext uri="{9D8B030D-6E8A-4147-A177-3AD203B41FA5}">
                      <a16:colId xmlns:a16="http://schemas.microsoft.com/office/drawing/2014/main" val="20007"/>
                    </a:ext>
                  </a:extLst>
                </a:gridCol>
              </a:tblGrid>
              <a:tr h="48418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rgbClr val="003399"/>
                          </a:solidFill>
                          <a:effectLst/>
                          <a:latin typeface="Arial" charset="0"/>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rgbClr val="003399"/>
                          </a:solidFill>
                          <a:effectLst/>
                          <a:latin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rgbClr val="003399"/>
                          </a:solidFill>
                          <a:effectLst/>
                          <a:latin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rgbClr val="003399"/>
                          </a:solidFill>
                          <a:effectLst/>
                          <a:latin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rgbClr val="003399"/>
                          </a:solidFill>
                          <a:effectLst/>
                          <a:latin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rgbClr val="003399"/>
                          </a:solidFill>
                          <a:effectLst/>
                          <a:latin typeface="Arial" charset="0"/>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rgbClr val="003399"/>
                          </a:solidFill>
                          <a:effectLst/>
                          <a:latin typeface="Arial" charset="0"/>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rgbClr val="003399"/>
                          </a:solidFill>
                          <a:effectLst/>
                          <a:latin typeface="Arial" charset="0"/>
                        </a:rPr>
                        <a:t>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826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chemeClr val="tx1"/>
                          </a:solidFill>
                          <a:effectLst/>
                          <a:latin typeface="Arial" charset="0"/>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chemeClr val="tx1"/>
                          </a:solidFill>
                          <a:effectLst/>
                          <a:latin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chemeClr val="tx1"/>
                          </a:solidFill>
                          <a:effectLst/>
                          <a:latin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chemeClr val="tx1"/>
                          </a:solidFill>
                          <a:effectLst/>
                          <a:latin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chemeClr val="tx1"/>
                          </a:solidFill>
                          <a:effectLst/>
                          <a:latin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chemeClr val="tx1"/>
                          </a:solidFill>
                          <a:effectLst/>
                          <a:latin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chemeClr val="tx1"/>
                          </a:solidFill>
                          <a:effectLst/>
                          <a:latin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chemeClr val="tx1"/>
                          </a:solidFill>
                          <a:effectLst/>
                          <a:latin typeface="Arial"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810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nb-NO" sz="2800" b="0" i="0" u="none" strike="noStrike" cap="none" normalizeH="0" baseline="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nb-NO" sz="28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l-GR"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chemeClr val="tx1"/>
                          </a:solidFill>
                          <a:effectLst/>
                          <a:latin typeface="Arial" charset="0"/>
                          <a:cs typeface="Arial" charset="0"/>
                        </a:rPr>
                        <a:t>p</a:t>
                      </a:r>
                      <a:r>
                        <a:rPr kumimoji="0" lang="nb-NO" sz="2000" b="0" i="0" u="none" strike="noStrike" cap="none" normalizeH="0" baseline="-25000">
                          <a:ln>
                            <a:noFill/>
                          </a:ln>
                          <a:solidFill>
                            <a:schemeClr val="tx1"/>
                          </a:solidFill>
                          <a:effectLst/>
                          <a:latin typeface="Arial" charset="0"/>
                          <a:cs typeface="Arial" charset="0"/>
                        </a:rPr>
                        <a:t>4</a:t>
                      </a:r>
                      <a:endParaRPr kumimoji="0" lang="nb-NO" sz="28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chemeClr val="tx1"/>
                          </a:solidFill>
                          <a:effectLst/>
                          <a:latin typeface="Arial" charset="0"/>
                          <a:cs typeface="Arial" charset="0"/>
                        </a:rPr>
                        <a:t>p</a:t>
                      </a:r>
                      <a:r>
                        <a:rPr kumimoji="0" lang="nb-NO" sz="2000" b="0" i="0" u="none" strike="noStrike" cap="none" normalizeH="0" baseline="-2500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chemeClr val="tx1"/>
                          </a:solidFill>
                          <a:effectLst/>
                          <a:latin typeface="Arial" charset="0"/>
                          <a:cs typeface="Arial" charset="0"/>
                        </a:rPr>
                        <a:t>p</a:t>
                      </a:r>
                      <a:r>
                        <a:rPr kumimoji="0" lang="nb-NO" sz="2000" b="0" i="0" u="none" strike="noStrike" cap="none" normalizeH="0" baseline="-25000">
                          <a:ln>
                            <a:noFill/>
                          </a:ln>
                          <a:solidFill>
                            <a:schemeClr val="tx1"/>
                          </a:solidFill>
                          <a:effectLst/>
                          <a:latin typeface="Arial" charset="0"/>
                          <a:cs typeface="Arial" charset="0"/>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chemeClr val="tx1"/>
                          </a:solidFill>
                          <a:effectLst/>
                          <a:latin typeface="Arial" charset="0"/>
                          <a:cs typeface="Arial" charset="0"/>
                        </a:rPr>
                        <a:t>p</a:t>
                      </a:r>
                      <a:r>
                        <a:rPr kumimoji="0" lang="nb-NO" sz="2000" b="0" i="0" u="none" strike="noStrike" cap="none" normalizeH="0" baseline="-25000">
                          <a:ln>
                            <a:noFill/>
                          </a:ln>
                          <a:solidFill>
                            <a:schemeClr val="tx1"/>
                          </a:solidFill>
                          <a:effectLst/>
                          <a:latin typeface="Arial" charset="0"/>
                          <a:cs typeface="Arial" charset="0"/>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chemeClr val="tx1"/>
                          </a:solidFill>
                          <a:effectLst/>
                          <a:latin typeface="Arial" charset="0"/>
                          <a:cs typeface="Arial" charset="0"/>
                        </a:rPr>
                        <a:t>p</a:t>
                      </a:r>
                      <a:r>
                        <a:rPr kumimoji="0" lang="nb-NO" sz="2000" b="0" i="0" u="none" strike="noStrike" cap="none" normalizeH="0" baseline="-25000">
                          <a:ln>
                            <a:noFill/>
                          </a:ln>
                          <a:solidFill>
                            <a:schemeClr val="tx1"/>
                          </a:solidFill>
                          <a:effectLst/>
                          <a:latin typeface="Arial" charset="0"/>
                          <a:cs typeface="Arial" charset="0"/>
                        </a:rPr>
                        <a:t>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79913" name="Group 41"/>
          <p:cNvGraphicFramePr>
            <a:graphicFrameLocks noGrp="1"/>
          </p:cNvGraphicFramePr>
          <p:nvPr>
            <p:ph sz="half" idx="2"/>
          </p:nvPr>
        </p:nvGraphicFramePr>
        <p:xfrm>
          <a:off x="3908425" y="3200400"/>
          <a:ext cx="4389438" cy="518160"/>
        </p:xfrm>
        <a:graphic>
          <a:graphicData uri="http://schemas.openxmlformats.org/drawingml/2006/table">
            <a:tbl>
              <a:tblPr/>
              <a:tblGrid>
                <a:gridCol w="487363">
                  <a:extLst>
                    <a:ext uri="{9D8B030D-6E8A-4147-A177-3AD203B41FA5}">
                      <a16:colId xmlns:a16="http://schemas.microsoft.com/office/drawing/2014/main" val="20000"/>
                    </a:ext>
                  </a:extLst>
                </a:gridCol>
                <a:gridCol w="488950">
                  <a:extLst>
                    <a:ext uri="{9D8B030D-6E8A-4147-A177-3AD203B41FA5}">
                      <a16:colId xmlns:a16="http://schemas.microsoft.com/office/drawing/2014/main" val="20001"/>
                    </a:ext>
                  </a:extLst>
                </a:gridCol>
                <a:gridCol w="485775">
                  <a:extLst>
                    <a:ext uri="{9D8B030D-6E8A-4147-A177-3AD203B41FA5}">
                      <a16:colId xmlns:a16="http://schemas.microsoft.com/office/drawing/2014/main" val="20002"/>
                    </a:ext>
                  </a:extLst>
                </a:gridCol>
                <a:gridCol w="488950">
                  <a:extLst>
                    <a:ext uri="{9D8B030D-6E8A-4147-A177-3AD203B41FA5}">
                      <a16:colId xmlns:a16="http://schemas.microsoft.com/office/drawing/2014/main" val="20003"/>
                    </a:ext>
                  </a:extLst>
                </a:gridCol>
                <a:gridCol w="487362">
                  <a:extLst>
                    <a:ext uri="{9D8B030D-6E8A-4147-A177-3AD203B41FA5}">
                      <a16:colId xmlns:a16="http://schemas.microsoft.com/office/drawing/2014/main" val="20004"/>
                    </a:ext>
                  </a:extLst>
                </a:gridCol>
                <a:gridCol w="487363">
                  <a:extLst>
                    <a:ext uri="{9D8B030D-6E8A-4147-A177-3AD203B41FA5}">
                      <a16:colId xmlns:a16="http://schemas.microsoft.com/office/drawing/2014/main" val="20005"/>
                    </a:ext>
                  </a:extLst>
                </a:gridCol>
                <a:gridCol w="488950">
                  <a:extLst>
                    <a:ext uri="{9D8B030D-6E8A-4147-A177-3AD203B41FA5}">
                      <a16:colId xmlns:a16="http://schemas.microsoft.com/office/drawing/2014/main" val="20006"/>
                    </a:ext>
                  </a:extLst>
                </a:gridCol>
                <a:gridCol w="485775">
                  <a:extLst>
                    <a:ext uri="{9D8B030D-6E8A-4147-A177-3AD203B41FA5}">
                      <a16:colId xmlns:a16="http://schemas.microsoft.com/office/drawing/2014/main" val="20007"/>
                    </a:ext>
                  </a:extLst>
                </a:gridCol>
                <a:gridCol w="488950">
                  <a:extLst>
                    <a:ext uri="{9D8B030D-6E8A-4147-A177-3AD203B41FA5}">
                      <a16:colId xmlns:a16="http://schemas.microsoft.com/office/drawing/2014/main" val="20008"/>
                    </a:ext>
                  </a:extLst>
                </a:gridCol>
              </a:tblGrid>
              <a:tr h="4572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nb-NO" sz="2800" b="0" i="0" u="none" strike="noStrike" cap="none" normalizeH="0" baseline="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nb-NO" sz="28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nb-NO" sz="28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l-GR" sz="2000" b="0" i="0" u="none" strike="noStrike" cap="none" normalizeH="0" baseline="0">
                          <a:ln>
                            <a:noFill/>
                          </a:ln>
                          <a:solidFill>
                            <a:schemeClr val="tx1"/>
                          </a:solidFill>
                          <a:effectLst/>
                          <a:latin typeface="Arial" charset="0"/>
                          <a:cs typeface="Arial" charset="0"/>
                        </a:rPr>
                        <a:t>ε</a:t>
                      </a:r>
                      <a:r>
                        <a:rPr kumimoji="0" lang="nb-NO" sz="2000" b="0" i="0" u="none" strike="noStrike" cap="none" normalizeH="0" baseline="-25000">
                          <a:ln>
                            <a:noFill/>
                          </a:ln>
                          <a:solidFill>
                            <a:schemeClr val="tx1"/>
                          </a:solidFill>
                          <a:effectLst/>
                          <a:latin typeface="Arial" charset="0"/>
                          <a:cs typeface="Arial" charset="0"/>
                        </a:rPr>
                        <a:t>3</a:t>
                      </a:r>
                      <a:endParaRPr kumimoji="0" lang="el-GR"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l-GR" sz="2000" b="0" i="0" u="none" strike="noStrike" cap="none" normalizeH="0" baseline="0">
                          <a:ln>
                            <a:noFill/>
                          </a:ln>
                          <a:solidFill>
                            <a:schemeClr val="tx1"/>
                          </a:solidFill>
                          <a:effectLst/>
                          <a:latin typeface="Arial" charset="0"/>
                          <a:cs typeface="Arial" charset="0"/>
                        </a:rPr>
                        <a:t>ε</a:t>
                      </a:r>
                      <a:r>
                        <a:rPr kumimoji="0" lang="nb-NO" sz="2000" b="0" i="0" u="none" strike="noStrike" cap="none" normalizeH="0" baseline="-25000">
                          <a:ln>
                            <a:noFill/>
                          </a:ln>
                          <a:solidFill>
                            <a:schemeClr val="tx1"/>
                          </a:solidFill>
                          <a:effectLst/>
                          <a:latin typeface="Arial" charset="0"/>
                          <a:cs typeface="Arial" charset="0"/>
                        </a:rPr>
                        <a:t>4</a:t>
                      </a:r>
                      <a:endParaRPr kumimoji="0" lang="nb-NO" sz="28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l-GR" sz="2000" b="0" i="0" u="none" strike="noStrike" cap="none" normalizeH="0" baseline="0">
                          <a:ln>
                            <a:noFill/>
                          </a:ln>
                          <a:solidFill>
                            <a:schemeClr val="tx1"/>
                          </a:solidFill>
                          <a:effectLst/>
                          <a:latin typeface="Arial" charset="0"/>
                          <a:cs typeface="Arial" charset="0"/>
                        </a:rPr>
                        <a:t>ε</a:t>
                      </a:r>
                      <a:r>
                        <a:rPr kumimoji="0" lang="nb-NO" sz="2000" b="0" i="0" u="none" strike="noStrike" cap="none" normalizeH="0" baseline="-25000">
                          <a:ln>
                            <a:noFill/>
                          </a:ln>
                          <a:solidFill>
                            <a:schemeClr val="tx1"/>
                          </a:solidFill>
                          <a:effectLst/>
                          <a:latin typeface="Arial" charset="0"/>
                          <a:cs typeface="Arial" charset="0"/>
                        </a:rPr>
                        <a:t>5</a:t>
                      </a:r>
                      <a:endParaRPr kumimoji="0" lang="nb-NO" sz="28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l-GR" sz="2000" b="0" i="0" u="none" strike="noStrike" cap="none" normalizeH="0" baseline="0">
                          <a:ln>
                            <a:noFill/>
                          </a:ln>
                          <a:solidFill>
                            <a:schemeClr val="tx1"/>
                          </a:solidFill>
                          <a:effectLst/>
                          <a:latin typeface="Arial" charset="0"/>
                          <a:cs typeface="Arial" charset="0"/>
                        </a:rPr>
                        <a:t>ε</a:t>
                      </a:r>
                      <a:r>
                        <a:rPr kumimoji="0" lang="nb-NO" sz="2000" b="0" i="0" u="none" strike="noStrike" cap="none" normalizeH="0" baseline="-25000">
                          <a:ln>
                            <a:noFill/>
                          </a:ln>
                          <a:solidFill>
                            <a:schemeClr val="tx1"/>
                          </a:solidFill>
                          <a:effectLst/>
                          <a:latin typeface="Arial" charset="0"/>
                          <a:cs typeface="Arial" charset="0"/>
                        </a:rPr>
                        <a:t>6</a:t>
                      </a:r>
                      <a:endParaRPr kumimoji="0" lang="nb-NO" sz="28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l-GR" sz="2000" b="0" i="0" u="none" strike="noStrike" cap="none" normalizeH="0" baseline="0">
                          <a:ln>
                            <a:noFill/>
                          </a:ln>
                          <a:solidFill>
                            <a:schemeClr val="tx1"/>
                          </a:solidFill>
                          <a:effectLst/>
                          <a:latin typeface="Arial" charset="0"/>
                          <a:cs typeface="Arial" charset="0"/>
                        </a:rPr>
                        <a:t>ε</a:t>
                      </a:r>
                      <a:r>
                        <a:rPr kumimoji="0" lang="nb-NO" sz="2000" b="0" i="0" u="none" strike="noStrike" cap="none" normalizeH="0" baseline="-25000">
                          <a:ln>
                            <a:noFill/>
                          </a:ln>
                          <a:solidFill>
                            <a:schemeClr val="tx1"/>
                          </a:solidFill>
                          <a:effectLst/>
                          <a:latin typeface="Arial" charset="0"/>
                          <a:cs typeface="Arial" charset="0"/>
                        </a:rPr>
                        <a:t>7</a:t>
                      </a:r>
                      <a:endParaRPr kumimoji="0" lang="nb-NO" sz="28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nb-NO" sz="28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20543" name="Text Box 63"/>
          <p:cNvSpPr txBox="1">
            <a:spLocks noChangeArrowheads="1"/>
          </p:cNvSpPr>
          <p:nvPr/>
        </p:nvSpPr>
        <p:spPr bwMode="auto">
          <a:xfrm>
            <a:off x="2438400" y="4038601"/>
            <a:ext cx="7848600" cy="2017713"/>
          </a:xfrm>
          <a:prstGeom prst="rect">
            <a:avLst/>
          </a:prstGeom>
          <a:noFill/>
          <a:ln w="9525">
            <a:noFill/>
            <a:miter lim="800000"/>
            <a:headEnd/>
            <a:tailEnd/>
          </a:ln>
        </p:spPr>
        <p:txBody>
          <a:bodyPr>
            <a:spAutoFit/>
          </a:bodyPr>
          <a:lstStyle/>
          <a:p>
            <a:pPr>
              <a:spcBef>
                <a:spcPct val="50000"/>
              </a:spcBef>
            </a:pPr>
            <a:r>
              <a:rPr lang="en-US" dirty="0"/>
              <a:t>eh = 0 0 1 0 1 1 0 0</a:t>
            </a:r>
          </a:p>
          <a:p>
            <a:pPr>
              <a:spcBef>
                <a:spcPct val="50000"/>
              </a:spcBef>
            </a:pPr>
            <a:r>
              <a:rPr lang="nb-NO" dirty="0">
                <a:solidFill>
                  <a:schemeClr val="bg2"/>
                </a:solidFill>
              </a:rPr>
              <a:t>Pr(</a:t>
            </a:r>
            <a:r>
              <a:rPr lang="en-US" dirty="0">
                <a:solidFill>
                  <a:schemeClr val="bg2"/>
                </a:solidFill>
              </a:rPr>
              <a:t>eh = 0 0 1 0 1 1 0 0 | initial encounter in interval 3) =</a:t>
            </a:r>
          </a:p>
          <a:p>
            <a:pPr>
              <a:spcBef>
                <a:spcPct val="50000"/>
              </a:spcBef>
            </a:pPr>
            <a:r>
              <a:rPr lang="en-US" dirty="0"/>
              <a:t>(1-</a:t>
            </a:r>
            <a:r>
              <a:rPr lang="el-GR" dirty="0"/>
              <a:t>ε</a:t>
            </a:r>
            <a:r>
              <a:rPr lang="nb-NO" baseline="-25000" dirty="0"/>
              <a:t>3</a:t>
            </a:r>
            <a:r>
              <a:rPr lang="nb-NO" dirty="0"/>
              <a:t>)(1-p</a:t>
            </a:r>
            <a:r>
              <a:rPr lang="nb-NO" baseline="-25000" dirty="0"/>
              <a:t>4</a:t>
            </a:r>
            <a:r>
              <a:rPr lang="nb-NO" dirty="0"/>
              <a:t>) </a:t>
            </a:r>
            <a:r>
              <a:rPr lang="en-US" dirty="0"/>
              <a:t>(1-</a:t>
            </a:r>
            <a:r>
              <a:rPr lang="el-GR" dirty="0"/>
              <a:t>ε</a:t>
            </a:r>
            <a:r>
              <a:rPr lang="nb-NO" baseline="-25000" dirty="0"/>
              <a:t>4</a:t>
            </a:r>
            <a:r>
              <a:rPr lang="nb-NO" dirty="0"/>
              <a:t>)p</a:t>
            </a:r>
            <a:r>
              <a:rPr lang="nb-NO" baseline="-25000" dirty="0"/>
              <a:t>5 </a:t>
            </a:r>
            <a:r>
              <a:rPr lang="en-US" dirty="0"/>
              <a:t>(1-</a:t>
            </a:r>
            <a:r>
              <a:rPr lang="el-GR" dirty="0"/>
              <a:t>ε</a:t>
            </a:r>
            <a:r>
              <a:rPr lang="nb-NO" baseline="-25000" dirty="0"/>
              <a:t>5</a:t>
            </a:r>
            <a:r>
              <a:rPr lang="nb-NO" dirty="0"/>
              <a:t>)p</a:t>
            </a:r>
            <a:r>
              <a:rPr lang="nb-NO" baseline="-25000" dirty="0"/>
              <a:t>6  </a:t>
            </a:r>
            <a:r>
              <a:rPr lang="en-US" dirty="0">
                <a:solidFill>
                  <a:srgbClr val="009900"/>
                </a:solidFill>
              </a:rPr>
              <a:t>[</a:t>
            </a:r>
            <a:r>
              <a:rPr lang="el-GR" dirty="0"/>
              <a:t>ε</a:t>
            </a:r>
            <a:r>
              <a:rPr lang="nb-NO" baseline="-25000" dirty="0"/>
              <a:t>6 </a:t>
            </a:r>
            <a:r>
              <a:rPr lang="nb-NO" dirty="0"/>
              <a:t>+</a:t>
            </a:r>
            <a:r>
              <a:rPr lang="nb-NO" baseline="-25000" dirty="0"/>
              <a:t> </a:t>
            </a:r>
            <a:r>
              <a:rPr lang="en-US" dirty="0"/>
              <a:t>(1-</a:t>
            </a:r>
            <a:r>
              <a:rPr lang="el-GR" dirty="0"/>
              <a:t>ε</a:t>
            </a:r>
            <a:r>
              <a:rPr lang="nb-NO" baseline="-25000" dirty="0"/>
              <a:t>6</a:t>
            </a:r>
            <a:r>
              <a:rPr lang="nb-NO" dirty="0"/>
              <a:t>)(1-p</a:t>
            </a:r>
            <a:r>
              <a:rPr lang="nb-NO" baseline="-25000" dirty="0"/>
              <a:t>7</a:t>
            </a:r>
            <a:r>
              <a:rPr lang="nb-NO" dirty="0"/>
              <a:t>)</a:t>
            </a:r>
            <a:r>
              <a:rPr lang="nb-NO" dirty="0">
                <a:solidFill>
                  <a:srgbClr val="003399"/>
                </a:solidFill>
              </a:rPr>
              <a:t>{</a:t>
            </a:r>
            <a:r>
              <a:rPr lang="el-GR" dirty="0"/>
              <a:t>ε</a:t>
            </a:r>
            <a:r>
              <a:rPr lang="nb-NO" baseline="-25000" dirty="0"/>
              <a:t>7</a:t>
            </a:r>
            <a:r>
              <a:rPr lang="nb-NO" dirty="0"/>
              <a:t>+(1- </a:t>
            </a:r>
            <a:r>
              <a:rPr lang="el-GR" dirty="0"/>
              <a:t>ε</a:t>
            </a:r>
            <a:r>
              <a:rPr lang="nb-NO" baseline="-25000" dirty="0"/>
              <a:t>7</a:t>
            </a:r>
            <a:r>
              <a:rPr lang="nb-NO" dirty="0"/>
              <a:t>)(1- p</a:t>
            </a:r>
            <a:r>
              <a:rPr lang="nb-NO" baseline="-25000" dirty="0"/>
              <a:t>8</a:t>
            </a:r>
            <a:r>
              <a:rPr lang="nb-NO" dirty="0"/>
              <a:t>)</a:t>
            </a:r>
            <a:r>
              <a:rPr lang="nb-NO" dirty="0">
                <a:solidFill>
                  <a:srgbClr val="003399"/>
                </a:solidFill>
              </a:rPr>
              <a:t>}</a:t>
            </a:r>
            <a:r>
              <a:rPr lang="nb-NO" dirty="0">
                <a:solidFill>
                  <a:srgbClr val="009900"/>
                </a:solidFill>
              </a:rPr>
              <a:t>]</a:t>
            </a:r>
            <a:endParaRPr lang="el-GR" dirty="0">
              <a:solidFill>
                <a:srgbClr val="009900"/>
              </a:solidFill>
            </a:endParaRPr>
          </a:p>
          <a:p>
            <a:pPr>
              <a:spcBef>
                <a:spcPct val="50000"/>
              </a:spcBef>
            </a:pPr>
            <a:endParaRPr lang="el-GR" dirty="0"/>
          </a:p>
          <a:p>
            <a:pPr>
              <a:spcBef>
                <a:spcPct val="50000"/>
              </a:spcBef>
            </a:pPr>
            <a:endParaRPr lang="nb-NO" dirty="0">
              <a:solidFill>
                <a:srgbClr val="003399"/>
              </a:solidFill>
            </a:endParaRPr>
          </a:p>
        </p:txBody>
      </p:sp>
      <p:sp>
        <p:nvSpPr>
          <p:cNvPr id="79936" name="Rectangle 64"/>
          <p:cNvSpPr>
            <a:spLocks noChangeArrowheads="1"/>
          </p:cNvSpPr>
          <p:nvPr/>
        </p:nvSpPr>
        <p:spPr bwMode="auto">
          <a:xfrm>
            <a:off x="2514599" y="4876800"/>
            <a:ext cx="2913743" cy="457200"/>
          </a:xfrm>
          <a:prstGeom prst="rect">
            <a:avLst/>
          </a:prstGeom>
          <a:solidFill>
            <a:schemeClr val="bg1"/>
          </a:solidFill>
          <a:ln w="9525">
            <a:noFill/>
            <a:miter lim="800000"/>
            <a:headEnd/>
            <a:tailEnd/>
          </a:ln>
        </p:spPr>
        <p:txBody>
          <a:bodyPr wrap="none" anchor="ctr"/>
          <a:lstStyle/>
          <a:p>
            <a:endParaRPr lang="nb-NO"/>
          </a:p>
        </p:txBody>
      </p:sp>
      <p:sp>
        <p:nvSpPr>
          <p:cNvPr id="20546" name="Oval 66"/>
          <p:cNvSpPr>
            <a:spLocks noChangeArrowheads="1"/>
          </p:cNvSpPr>
          <p:nvPr/>
        </p:nvSpPr>
        <p:spPr bwMode="auto">
          <a:xfrm>
            <a:off x="6858000" y="3200400"/>
            <a:ext cx="457200" cy="457200"/>
          </a:xfrm>
          <a:prstGeom prst="ellipse">
            <a:avLst/>
          </a:prstGeom>
          <a:noFill/>
          <a:ln w="25400">
            <a:solidFill>
              <a:srgbClr val="FF0000"/>
            </a:solidFill>
            <a:round/>
            <a:headEnd/>
            <a:tailEnd/>
          </a:ln>
        </p:spPr>
        <p:txBody>
          <a:bodyPr wrap="none" anchor="ctr"/>
          <a:lstStyle/>
          <a:p>
            <a:endParaRPr lang="nb-NO"/>
          </a:p>
        </p:txBody>
      </p:sp>
      <p:sp>
        <p:nvSpPr>
          <p:cNvPr id="20547" name="Oval 67"/>
          <p:cNvSpPr>
            <a:spLocks noChangeArrowheads="1"/>
          </p:cNvSpPr>
          <p:nvPr/>
        </p:nvSpPr>
        <p:spPr bwMode="auto">
          <a:xfrm>
            <a:off x="7086600" y="2590800"/>
            <a:ext cx="457200" cy="457200"/>
          </a:xfrm>
          <a:prstGeom prst="ellipse">
            <a:avLst/>
          </a:prstGeom>
          <a:noFill/>
          <a:ln w="25400">
            <a:solidFill>
              <a:srgbClr val="FF0000"/>
            </a:solidFill>
            <a:round/>
            <a:headEnd/>
            <a:tailEnd/>
          </a:ln>
        </p:spPr>
        <p:txBody>
          <a:bodyPr wrap="none" anchor="ctr"/>
          <a:lstStyle/>
          <a:p>
            <a:endParaRPr lang="nb-NO"/>
          </a:p>
        </p:txBody>
      </p:sp>
      <p:sp>
        <p:nvSpPr>
          <p:cNvPr id="20548" name="Oval 68"/>
          <p:cNvSpPr>
            <a:spLocks noChangeArrowheads="1"/>
          </p:cNvSpPr>
          <p:nvPr/>
        </p:nvSpPr>
        <p:spPr bwMode="auto">
          <a:xfrm>
            <a:off x="7315200" y="3200400"/>
            <a:ext cx="457200" cy="457200"/>
          </a:xfrm>
          <a:prstGeom prst="ellipse">
            <a:avLst/>
          </a:prstGeom>
          <a:noFill/>
          <a:ln w="25400">
            <a:solidFill>
              <a:srgbClr val="FF0000"/>
            </a:solidFill>
            <a:round/>
            <a:headEnd/>
            <a:tailEnd/>
          </a:ln>
        </p:spPr>
        <p:txBody>
          <a:bodyPr wrap="none" anchor="ctr"/>
          <a:lstStyle/>
          <a:p>
            <a:endParaRPr lang="nb-NO"/>
          </a:p>
        </p:txBody>
      </p:sp>
      <p:sp>
        <p:nvSpPr>
          <p:cNvPr id="20549" name="Oval 69"/>
          <p:cNvSpPr>
            <a:spLocks noChangeArrowheads="1"/>
          </p:cNvSpPr>
          <p:nvPr/>
        </p:nvSpPr>
        <p:spPr bwMode="auto">
          <a:xfrm>
            <a:off x="7620000" y="2590800"/>
            <a:ext cx="457200" cy="457200"/>
          </a:xfrm>
          <a:prstGeom prst="ellipse">
            <a:avLst/>
          </a:prstGeom>
          <a:noFill/>
          <a:ln w="25400">
            <a:solidFill>
              <a:srgbClr val="FF0000"/>
            </a:solidFill>
            <a:round/>
            <a:headEnd/>
            <a:tailEnd/>
          </a:ln>
        </p:spPr>
        <p:txBody>
          <a:bodyPr wrap="none" anchor="ctr"/>
          <a:lstStyle/>
          <a:p>
            <a:endParaRPr lang="nb-NO"/>
          </a:p>
        </p:txBody>
      </p:sp>
      <p:sp>
        <p:nvSpPr>
          <p:cNvPr id="17" name="Rectangle 2"/>
          <p:cNvSpPr>
            <a:spLocks noGrp="1" noChangeArrowheads="1"/>
          </p:cNvSpPr>
          <p:nvPr>
            <p:ph type="title"/>
          </p:nvPr>
        </p:nvSpPr>
        <p:spPr>
          <a:xfrm>
            <a:off x="1981200" y="274638"/>
            <a:ext cx="8229600" cy="1143000"/>
          </a:xfrm>
        </p:spPr>
        <p:txBody>
          <a:bodyPr/>
          <a:lstStyle/>
          <a:p>
            <a:pPr eaLnBrk="1" hangingPunct="1"/>
            <a:r>
              <a:rPr lang="en-US" sz="3000" b="1" dirty="0"/>
              <a:t>Representing detection/encounter histories</a:t>
            </a:r>
          </a:p>
        </p:txBody>
      </p:sp>
      <p:sp>
        <p:nvSpPr>
          <p:cNvPr id="18" name="TextBox 17"/>
          <p:cNvSpPr txBox="1"/>
          <p:nvPr/>
        </p:nvSpPr>
        <p:spPr>
          <a:xfrm>
            <a:off x="8436768" y="3212977"/>
            <a:ext cx="1979712" cy="646331"/>
          </a:xfrm>
          <a:prstGeom prst="rect">
            <a:avLst/>
          </a:prstGeom>
          <a:solidFill>
            <a:schemeClr val="bg1"/>
          </a:solidFill>
        </p:spPr>
        <p:txBody>
          <a:bodyPr wrap="square" rtlCol="0">
            <a:spAutoFit/>
          </a:bodyPr>
          <a:lstStyle/>
          <a:p>
            <a:r>
              <a:rPr lang="en-US" b="1" dirty="0"/>
              <a:t>Extinction </a:t>
            </a:r>
          </a:p>
          <a:p>
            <a:r>
              <a:rPr lang="en-US" b="1" dirty="0"/>
              <a:t>probabilities</a:t>
            </a:r>
          </a:p>
        </p:txBody>
      </p:sp>
      <p:sp>
        <p:nvSpPr>
          <p:cNvPr id="19" name="TextBox 18"/>
          <p:cNvSpPr txBox="1"/>
          <p:nvPr/>
        </p:nvSpPr>
        <p:spPr>
          <a:xfrm>
            <a:off x="8364760" y="2566646"/>
            <a:ext cx="1763688" cy="646331"/>
          </a:xfrm>
          <a:prstGeom prst="rect">
            <a:avLst/>
          </a:prstGeom>
          <a:solidFill>
            <a:schemeClr val="bg1"/>
          </a:solidFill>
        </p:spPr>
        <p:txBody>
          <a:bodyPr wrap="square" rtlCol="0">
            <a:spAutoFit/>
          </a:bodyPr>
          <a:lstStyle/>
          <a:p>
            <a:r>
              <a:rPr lang="en-US" b="1" dirty="0"/>
              <a:t>Detection </a:t>
            </a:r>
          </a:p>
          <a:p>
            <a:r>
              <a:rPr lang="en-US" b="1" dirty="0"/>
              <a:t>probabilities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9936"/>
                                        </p:tgtEl>
                                        <p:attrNameLst>
                                          <p:attrName>style.visibility</p:attrName>
                                        </p:attrNameLst>
                                      </p:cBhvr>
                                      <p:to>
                                        <p:strVal val="visible"/>
                                      </p:to>
                                    </p:set>
                                    <p:animEffect transition="in" filter="fade">
                                      <p:cBhvr>
                                        <p:cTn id="7" dur="2000"/>
                                        <p:tgtEl>
                                          <p:spTgt spid="799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93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1923" name="Group 3"/>
          <p:cNvGraphicFramePr>
            <a:graphicFrameLocks noGrp="1"/>
          </p:cNvGraphicFramePr>
          <p:nvPr>
            <p:ph sz="half" idx="1"/>
          </p:nvPr>
        </p:nvGraphicFramePr>
        <p:xfrm>
          <a:off x="4038600" y="1600200"/>
          <a:ext cx="4038600" cy="1484948"/>
        </p:xfrm>
        <a:graphic>
          <a:graphicData uri="http://schemas.openxmlformats.org/drawingml/2006/table">
            <a:tbl>
              <a:tblPr/>
              <a:tblGrid>
                <a:gridCol w="504825">
                  <a:extLst>
                    <a:ext uri="{9D8B030D-6E8A-4147-A177-3AD203B41FA5}">
                      <a16:colId xmlns:a16="http://schemas.microsoft.com/office/drawing/2014/main" val="20000"/>
                    </a:ext>
                  </a:extLst>
                </a:gridCol>
                <a:gridCol w="504825">
                  <a:extLst>
                    <a:ext uri="{9D8B030D-6E8A-4147-A177-3AD203B41FA5}">
                      <a16:colId xmlns:a16="http://schemas.microsoft.com/office/drawing/2014/main" val="20001"/>
                    </a:ext>
                  </a:extLst>
                </a:gridCol>
                <a:gridCol w="504825">
                  <a:extLst>
                    <a:ext uri="{9D8B030D-6E8A-4147-A177-3AD203B41FA5}">
                      <a16:colId xmlns:a16="http://schemas.microsoft.com/office/drawing/2014/main" val="20002"/>
                    </a:ext>
                  </a:extLst>
                </a:gridCol>
                <a:gridCol w="504825">
                  <a:extLst>
                    <a:ext uri="{9D8B030D-6E8A-4147-A177-3AD203B41FA5}">
                      <a16:colId xmlns:a16="http://schemas.microsoft.com/office/drawing/2014/main" val="20003"/>
                    </a:ext>
                  </a:extLst>
                </a:gridCol>
                <a:gridCol w="504825">
                  <a:extLst>
                    <a:ext uri="{9D8B030D-6E8A-4147-A177-3AD203B41FA5}">
                      <a16:colId xmlns:a16="http://schemas.microsoft.com/office/drawing/2014/main" val="20004"/>
                    </a:ext>
                  </a:extLst>
                </a:gridCol>
                <a:gridCol w="504825">
                  <a:extLst>
                    <a:ext uri="{9D8B030D-6E8A-4147-A177-3AD203B41FA5}">
                      <a16:colId xmlns:a16="http://schemas.microsoft.com/office/drawing/2014/main" val="20005"/>
                    </a:ext>
                  </a:extLst>
                </a:gridCol>
                <a:gridCol w="504825">
                  <a:extLst>
                    <a:ext uri="{9D8B030D-6E8A-4147-A177-3AD203B41FA5}">
                      <a16:colId xmlns:a16="http://schemas.microsoft.com/office/drawing/2014/main" val="20006"/>
                    </a:ext>
                  </a:extLst>
                </a:gridCol>
                <a:gridCol w="504825">
                  <a:extLst>
                    <a:ext uri="{9D8B030D-6E8A-4147-A177-3AD203B41FA5}">
                      <a16:colId xmlns:a16="http://schemas.microsoft.com/office/drawing/2014/main" val="20007"/>
                    </a:ext>
                  </a:extLst>
                </a:gridCol>
              </a:tblGrid>
              <a:tr h="48418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rgbClr val="003399"/>
                          </a:solidFill>
                          <a:effectLst/>
                          <a:latin typeface="Arial" charset="0"/>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rgbClr val="003399"/>
                          </a:solidFill>
                          <a:effectLst/>
                          <a:latin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rgbClr val="003399"/>
                          </a:solidFill>
                          <a:effectLst/>
                          <a:latin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rgbClr val="003399"/>
                          </a:solidFill>
                          <a:effectLst/>
                          <a:latin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rgbClr val="003399"/>
                          </a:solidFill>
                          <a:effectLst/>
                          <a:latin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rgbClr val="003399"/>
                          </a:solidFill>
                          <a:effectLst/>
                          <a:latin typeface="Arial" charset="0"/>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rgbClr val="003399"/>
                          </a:solidFill>
                          <a:effectLst/>
                          <a:latin typeface="Arial" charset="0"/>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rgbClr val="003399"/>
                          </a:solidFill>
                          <a:effectLst/>
                          <a:latin typeface="Arial" charset="0"/>
                        </a:rPr>
                        <a:t>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826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chemeClr val="tx1"/>
                          </a:solidFill>
                          <a:effectLst/>
                          <a:latin typeface="Arial" charset="0"/>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chemeClr val="tx1"/>
                          </a:solidFill>
                          <a:effectLst/>
                          <a:latin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chemeClr val="tx1"/>
                          </a:solidFill>
                          <a:effectLst/>
                          <a:latin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chemeClr val="tx1"/>
                          </a:solidFill>
                          <a:effectLst/>
                          <a:latin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chemeClr val="tx1"/>
                          </a:solidFill>
                          <a:effectLst/>
                          <a:latin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chemeClr val="tx1"/>
                          </a:solidFill>
                          <a:effectLst/>
                          <a:latin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chemeClr val="tx1"/>
                          </a:solidFill>
                          <a:effectLst/>
                          <a:latin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chemeClr val="tx1"/>
                          </a:solidFill>
                          <a:effectLst/>
                          <a:latin typeface="Arial"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810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nb-NO" sz="2800" b="0" i="0" u="none" strike="noStrike" cap="none" normalizeH="0" baseline="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nb-NO" sz="28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l-GR"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chemeClr val="tx1"/>
                          </a:solidFill>
                          <a:effectLst/>
                          <a:latin typeface="Arial" charset="0"/>
                          <a:cs typeface="Arial" charset="0"/>
                        </a:rPr>
                        <a:t>p</a:t>
                      </a:r>
                      <a:r>
                        <a:rPr kumimoji="0" lang="nb-NO" sz="2000" b="0" i="0" u="none" strike="noStrike" cap="none" normalizeH="0" baseline="-25000">
                          <a:ln>
                            <a:noFill/>
                          </a:ln>
                          <a:solidFill>
                            <a:schemeClr val="tx1"/>
                          </a:solidFill>
                          <a:effectLst/>
                          <a:latin typeface="Arial" charset="0"/>
                          <a:cs typeface="Arial" charset="0"/>
                        </a:rPr>
                        <a:t>4</a:t>
                      </a:r>
                      <a:endParaRPr kumimoji="0" lang="nb-NO" sz="28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chemeClr val="tx1"/>
                          </a:solidFill>
                          <a:effectLst/>
                          <a:latin typeface="Arial" charset="0"/>
                          <a:cs typeface="Arial" charset="0"/>
                        </a:rPr>
                        <a:t>p</a:t>
                      </a:r>
                      <a:r>
                        <a:rPr kumimoji="0" lang="nb-NO" sz="2000" b="0" i="0" u="none" strike="noStrike" cap="none" normalizeH="0" baseline="-2500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chemeClr val="tx1"/>
                          </a:solidFill>
                          <a:effectLst/>
                          <a:latin typeface="Arial" charset="0"/>
                          <a:cs typeface="Arial" charset="0"/>
                        </a:rPr>
                        <a:t>p</a:t>
                      </a:r>
                      <a:r>
                        <a:rPr kumimoji="0" lang="nb-NO" sz="2000" b="0" i="0" u="none" strike="noStrike" cap="none" normalizeH="0" baseline="-25000">
                          <a:ln>
                            <a:noFill/>
                          </a:ln>
                          <a:solidFill>
                            <a:schemeClr val="tx1"/>
                          </a:solidFill>
                          <a:effectLst/>
                          <a:latin typeface="Arial" charset="0"/>
                          <a:cs typeface="Arial" charset="0"/>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chemeClr val="tx1"/>
                          </a:solidFill>
                          <a:effectLst/>
                          <a:latin typeface="Arial" charset="0"/>
                          <a:cs typeface="Arial" charset="0"/>
                        </a:rPr>
                        <a:t>p</a:t>
                      </a:r>
                      <a:r>
                        <a:rPr kumimoji="0" lang="nb-NO" sz="2000" b="0" i="0" u="none" strike="noStrike" cap="none" normalizeH="0" baseline="-25000">
                          <a:ln>
                            <a:noFill/>
                          </a:ln>
                          <a:solidFill>
                            <a:schemeClr val="tx1"/>
                          </a:solidFill>
                          <a:effectLst/>
                          <a:latin typeface="Arial" charset="0"/>
                          <a:cs typeface="Arial" charset="0"/>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b-NO" sz="2000" b="0" i="0" u="none" strike="noStrike" cap="none" normalizeH="0" baseline="0">
                          <a:ln>
                            <a:noFill/>
                          </a:ln>
                          <a:solidFill>
                            <a:schemeClr val="tx1"/>
                          </a:solidFill>
                          <a:effectLst/>
                          <a:latin typeface="Arial" charset="0"/>
                          <a:cs typeface="Arial" charset="0"/>
                        </a:rPr>
                        <a:t>p</a:t>
                      </a:r>
                      <a:r>
                        <a:rPr kumimoji="0" lang="nb-NO" sz="2000" b="0" i="0" u="none" strike="noStrike" cap="none" normalizeH="0" baseline="-25000">
                          <a:ln>
                            <a:noFill/>
                          </a:ln>
                          <a:solidFill>
                            <a:schemeClr val="tx1"/>
                          </a:solidFill>
                          <a:effectLst/>
                          <a:latin typeface="Arial" charset="0"/>
                          <a:cs typeface="Arial" charset="0"/>
                        </a:rPr>
                        <a:t>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81961" name="Group 41"/>
          <p:cNvGraphicFramePr>
            <a:graphicFrameLocks noGrp="1"/>
          </p:cNvGraphicFramePr>
          <p:nvPr>
            <p:ph sz="half" idx="2"/>
          </p:nvPr>
        </p:nvGraphicFramePr>
        <p:xfrm>
          <a:off x="3908425" y="3200400"/>
          <a:ext cx="4389438" cy="518160"/>
        </p:xfrm>
        <a:graphic>
          <a:graphicData uri="http://schemas.openxmlformats.org/drawingml/2006/table">
            <a:tbl>
              <a:tblPr/>
              <a:tblGrid>
                <a:gridCol w="487363">
                  <a:extLst>
                    <a:ext uri="{9D8B030D-6E8A-4147-A177-3AD203B41FA5}">
                      <a16:colId xmlns:a16="http://schemas.microsoft.com/office/drawing/2014/main" val="20000"/>
                    </a:ext>
                  </a:extLst>
                </a:gridCol>
                <a:gridCol w="488950">
                  <a:extLst>
                    <a:ext uri="{9D8B030D-6E8A-4147-A177-3AD203B41FA5}">
                      <a16:colId xmlns:a16="http://schemas.microsoft.com/office/drawing/2014/main" val="20001"/>
                    </a:ext>
                  </a:extLst>
                </a:gridCol>
                <a:gridCol w="485775">
                  <a:extLst>
                    <a:ext uri="{9D8B030D-6E8A-4147-A177-3AD203B41FA5}">
                      <a16:colId xmlns:a16="http://schemas.microsoft.com/office/drawing/2014/main" val="20002"/>
                    </a:ext>
                  </a:extLst>
                </a:gridCol>
                <a:gridCol w="488950">
                  <a:extLst>
                    <a:ext uri="{9D8B030D-6E8A-4147-A177-3AD203B41FA5}">
                      <a16:colId xmlns:a16="http://schemas.microsoft.com/office/drawing/2014/main" val="20003"/>
                    </a:ext>
                  </a:extLst>
                </a:gridCol>
                <a:gridCol w="487362">
                  <a:extLst>
                    <a:ext uri="{9D8B030D-6E8A-4147-A177-3AD203B41FA5}">
                      <a16:colId xmlns:a16="http://schemas.microsoft.com/office/drawing/2014/main" val="20004"/>
                    </a:ext>
                  </a:extLst>
                </a:gridCol>
                <a:gridCol w="487363">
                  <a:extLst>
                    <a:ext uri="{9D8B030D-6E8A-4147-A177-3AD203B41FA5}">
                      <a16:colId xmlns:a16="http://schemas.microsoft.com/office/drawing/2014/main" val="20005"/>
                    </a:ext>
                  </a:extLst>
                </a:gridCol>
                <a:gridCol w="488950">
                  <a:extLst>
                    <a:ext uri="{9D8B030D-6E8A-4147-A177-3AD203B41FA5}">
                      <a16:colId xmlns:a16="http://schemas.microsoft.com/office/drawing/2014/main" val="20006"/>
                    </a:ext>
                  </a:extLst>
                </a:gridCol>
                <a:gridCol w="485775">
                  <a:extLst>
                    <a:ext uri="{9D8B030D-6E8A-4147-A177-3AD203B41FA5}">
                      <a16:colId xmlns:a16="http://schemas.microsoft.com/office/drawing/2014/main" val="20007"/>
                    </a:ext>
                  </a:extLst>
                </a:gridCol>
                <a:gridCol w="488950">
                  <a:extLst>
                    <a:ext uri="{9D8B030D-6E8A-4147-A177-3AD203B41FA5}">
                      <a16:colId xmlns:a16="http://schemas.microsoft.com/office/drawing/2014/main" val="20008"/>
                    </a:ext>
                  </a:extLst>
                </a:gridCol>
              </a:tblGrid>
              <a:tr h="4572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nb-NO" sz="2800" b="0" i="0" u="none" strike="noStrike" cap="none" normalizeH="0" baseline="0" dirty="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nb-NO" sz="28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nb-NO" sz="28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l-GR" sz="2000" b="0" i="0" u="none" strike="noStrike" cap="none" normalizeH="0" baseline="0">
                          <a:ln>
                            <a:noFill/>
                          </a:ln>
                          <a:solidFill>
                            <a:schemeClr val="tx1"/>
                          </a:solidFill>
                          <a:effectLst/>
                          <a:latin typeface="Arial" charset="0"/>
                          <a:cs typeface="Arial" charset="0"/>
                        </a:rPr>
                        <a:t>ε</a:t>
                      </a:r>
                      <a:r>
                        <a:rPr kumimoji="0" lang="nb-NO" sz="2000" b="0" i="0" u="none" strike="noStrike" cap="none" normalizeH="0" baseline="-25000">
                          <a:ln>
                            <a:noFill/>
                          </a:ln>
                          <a:solidFill>
                            <a:schemeClr val="tx1"/>
                          </a:solidFill>
                          <a:effectLst/>
                          <a:latin typeface="Arial" charset="0"/>
                          <a:cs typeface="Arial" charset="0"/>
                        </a:rPr>
                        <a:t>3</a:t>
                      </a:r>
                      <a:endParaRPr kumimoji="0" lang="el-GR"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l-GR" sz="2000" b="0" i="0" u="none" strike="noStrike" cap="none" normalizeH="0" baseline="0">
                          <a:ln>
                            <a:noFill/>
                          </a:ln>
                          <a:solidFill>
                            <a:schemeClr val="tx1"/>
                          </a:solidFill>
                          <a:effectLst/>
                          <a:latin typeface="Arial" charset="0"/>
                          <a:cs typeface="Arial" charset="0"/>
                        </a:rPr>
                        <a:t>ε</a:t>
                      </a:r>
                      <a:r>
                        <a:rPr kumimoji="0" lang="nb-NO" sz="2000" b="0" i="0" u="none" strike="noStrike" cap="none" normalizeH="0" baseline="-25000">
                          <a:ln>
                            <a:noFill/>
                          </a:ln>
                          <a:solidFill>
                            <a:schemeClr val="tx1"/>
                          </a:solidFill>
                          <a:effectLst/>
                          <a:latin typeface="Arial" charset="0"/>
                          <a:cs typeface="Arial" charset="0"/>
                        </a:rPr>
                        <a:t>4</a:t>
                      </a:r>
                      <a:endParaRPr kumimoji="0" lang="nb-NO" sz="28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l-GR" sz="2000" b="0" i="0" u="none" strike="noStrike" cap="none" normalizeH="0" baseline="0">
                          <a:ln>
                            <a:noFill/>
                          </a:ln>
                          <a:solidFill>
                            <a:schemeClr val="tx1"/>
                          </a:solidFill>
                          <a:effectLst/>
                          <a:latin typeface="Arial" charset="0"/>
                          <a:cs typeface="Arial" charset="0"/>
                        </a:rPr>
                        <a:t>ε</a:t>
                      </a:r>
                      <a:r>
                        <a:rPr kumimoji="0" lang="nb-NO" sz="2000" b="0" i="0" u="none" strike="noStrike" cap="none" normalizeH="0" baseline="-25000">
                          <a:ln>
                            <a:noFill/>
                          </a:ln>
                          <a:solidFill>
                            <a:schemeClr val="tx1"/>
                          </a:solidFill>
                          <a:effectLst/>
                          <a:latin typeface="Arial" charset="0"/>
                          <a:cs typeface="Arial" charset="0"/>
                        </a:rPr>
                        <a:t>5</a:t>
                      </a:r>
                      <a:endParaRPr kumimoji="0" lang="nb-NO" sz="28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l-GR" sz="2000" b="0" i="0" u="none" strike="noStrike" cap="none" normalizeH="0" baseline="0">
                          <a:ln>
                            <a:noFill/>
                          </a:ln>
                          <a:solidFill>
                            <a:schemeClr val="tx1"/>
                          </a:solidFill>
                          <a:effectLst/>
                          <a:latin typeface="Arial" charset="0"/>
                          <a:cs typeface="Arial" charset="0"/>
                        </a:rPr>
                        <a:t>ε</a:t>
                      </a:r>
                      <a:r>
                        <a:rPr kumimoji="0" lang="nb-NO" sz="2000" b="0" i="0" u="none" strike="noStrike" cap="none" normalizeH="0" baseline="-25000">
                          <a:ln>
                            <a:noFill/>
                          </a:ln>
                          <a:solidFill>
                            <a:schemeClr val="tx1"/>
                          </a:solidFill>
                          <a:effectLst/>
                          <a:latin typeface="Arial" charset="0"/>
                          <a:cs typeface="Arial" charset="0"/>
                        </a:rPr>
                        <a:t>6</a:t>
                      </a:r>
                      <a:endParaRPr kumimoji="0" lang="nb-NO" sz="28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l-GR" sz="2000" b="0" i="0" u="none" strike="noStrike" cap="none" normalizeH="0" baseline="0" dirty="0">
                          <a:ln>
                            <a:noFill/>
                          </a:ln>
                          <a:solidFill>
                            <a:schemeClr val="tx1"/>
                          </a:solidFill>
                          <a:effectLst/>
                          <a:latin typeface="Arial" charset="0"/>
                          <a:cs typeface="Arial" charset="0"/>
                        </a:rPr>
                        <a:t>ε</a:t>
                      </a:r>
                      <a:r>
                        <a:rPr kumimoji="0" lang="nb-NO" sz="2000" b="0" i="0" u="none" strike="noStrike" cap="none" normalizeH="0" baseline="-25000" dirty="0">
                          <a:ln>
                            <a:noFill/>
                          </a:ln>
                          <a:solidFill>
                            <a:schemeClr val="tx1"/>
                          </a:solidFill>
                          <a:effectLst/>
                          <a:latin typeface="Arial" charset="0"/>
                          <a:cs typeface="Arial" charset="0"/>
                        </a:rPr>
                        <a:t>7</a:t>
                      </a:r>
                      <a:endParaRPr kumimoji="0" lang="nb-NO" sz="28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nb-NO" sz="28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21567" name="Text Box 63"/>
          <p:cNvSpPr txBox="1">
            <a:spLocks noChangeArrowheads="1"/>
          </p:cNvSpPr>
          <p:nvPr/>
        </p:nvSpPr>
        <p:spPr bwMode="auto">
          <a:xfrm>
            <a:off x="2438400" y="4038601"/>
            <a:ext cx="7848600" cy="2017713"/>
          </a:xfrm>
          <a:prstGeom prst="rect">
            <a:avLst/>
          </a:prstGeom>
          <a:noFill/>
          <a:ln w="9525">
            <a:noFill/>
            <a:miter lim="800000"/>
            <a:headEnd/>
            <a:tailEnd/>
          </a:ln>
        </p:spPr>
        <p:txBody>
          <a:bodyPr>
            <a:spAutoFit/>
          </a:bodyPr>
          <a:lstStyle/>
          <a:p>
            <a:pPr>
              <a:spcBef>
                <a:spcPct val="50000"/>
              </a:spcBef>
            </a:pPr>
            <a:r>
              <a:rPr lang="en-US"/>
              <a:t>eh = 0 0 1 0 1 1 0 0</a:t>
            </a:r>
          </a:p>
          <a:p>
            <a:pPr>
              <a:spcBef>
                <a:spcPct val="50000"/>
              </a:spcBef>
            </a:pPr>
            <a:r>
              <a:rPr lang="nb-NO"/>
              <a:t>Pr(</a:t>
            </a:r>
            <a:r>
              <a:rPr lang="en-US"/>
              <a:t>eh = 0 0 1 0 1 1 0 0 | initial encounter in interval </a:t>
            </a:r>
            <a:r>
              <a:rPr lang="en-US">
                <a:solidFill>
                  <a:srgbClr val="003399"/>
                </a:solidFill>
              </a:rPr>
              <a:t>3</a:t>
            </a:r>
            <a:r>
              <a:rPr lang="en-US"/>
              <a:t>) =</a:t>
            </a:r>
          </a:p>
          <a:p>
            <a:pPr>
              <a:spcBef>
                <a:spcPct val="50000"/>
              </a:spcBef>
            </a:pPr>
            <a:r>
              <a:rPr lang="en-US"/>
              <a:t>(1-</a:t>
            </a:r>
            <a:r>
              <a:rPr lang="el-GR"/>
              <a:t>ε</a:t>
            </a:r>
            <a:r>
              <a:rPr lang="nb-NO" baseline="-25000"/>
              <a:t>3</a:t>
            </a:r>
            <a:r>
              <a:rPr lang="nb-NO"/>
              <a:t>)(1-p</a:t>
            </a:r>
            <a:r>
              <a:rPr lang="nb-NO" baseline="-25000"/>
              <a:t>4</a:t>
            </a:r>
            <a:r>
              <a:rPr lang="nb-NO"/>
              <a:t>) </a:t>
            </a:r>
            <a:r>
              <a:rPr lang="en-US"/>
              <a:t>(1-</a:t>
            </a:r>
            <a:r>
              <a:rPr lang="el-GR"/>
              <a:t>ε</a:t>
            </a:r>
            <a:r>
              <a:rPr lang="nb-NO" baseline="-25000"/>
              <a:t>4</a:t>
            </a:r>
            <a:r>
              <a:rPr lang="nb-NO"/>
              <a:t>)p</a:t>
            </a:r>
            <a:r>
              <a:rPr lang="nb-NO" baseline="-25000"/>
              <a:t>5 </a:t>
            </a:r>
            <a:r>
              <a:rPr lang="en-US"/>
              <a:t>(1-</a:t>
            </a:r>
            <a:r>
              <a:rPr lang="el-GR"/>
              <a:t>ε</a:t>
            </a:r>
            <a:r>
              <a:rPr lang="nb-NO" baseline="-25000"/>
              <a:t>5</a:t>
            </a:r>
            <a:r>
              <a:rPr lang="nb-NO"/>
              <a:t>)p</a:t>
            </a:r>
            <a:r>
              <a:rPr lang="nb-NO" baseline="-25000"/>
              <a:t>6  </a:t>
            </a:r>
            <a:r>
              <a:rPr lang="en-US">
                <a:solidFill>
                  <a:srgbClr val="009900"/>
                </a:solidFill>
              </a:rPr>
              <a:t>[</a:t>
            </a:r>
            <a:r>
              <a:rPr lang="el-GR"/>
              <a:t>ε</a:t>
            </a:r>
            <a:r>
              <a:rPr lang="nb-NO" baseline="-25000"/>
              <a:t>6 </a:t>
            </a:r>
            <a:r>
              <a:rPr lang="nb-NO"/>
              <a:t>+</a:t>
            </a:r>
            <a:r>
              <a:rPr lang="nb-NO" baseline="-25000"/>
              <a:t> </a:t>
            </a:r>
            <a:r>
              <a:rPr lang="en-US"/>
              <a:t>(1-</a:t>
            </a:r>
            <a:r>
              <a:rPr lang="el-GR"/>
              <a:t>ε</a:t>
            </a:r>
            <a:r>
              <a:rPr lang="nb-NO" baseline="-25000"/>
              <a:t>6</a:t>
            </a:r>
            <a:r>
              <a:rPr lang="nb-NO"/>
              <a:t>)(1-p</a:t>
            </a:r>
            <a:r>
              <a:rPr lang="nb-NO" baseline="-25000"/>
              <a:t>7</a:t>
            </a:r>
            <a:r>
              <a:rPr lang="nb-NO"/>
              <a:t>)</a:t>
            </a:r>
            <a:r>
              <a:rPr lang="nb-NO">
                <a:solidFill>
                  <a:srgbClr val="003399"/>
                </a:solidFill>
              </a:rPr>
              <a:t>{</a:t>
            </a:r>
            <a:r>
              <a:rPr lang="el-GR"/>
              <a:t>ε</a:t>
            </a:r>
            <a:r>
              <a:rPr lang="nb-NO" baseline="-25000"/>
              <a:t>7</a:t>
            </a:r>
            <a:r>
              <a:rPr lang="nb-NO"/>
              <a:t>+(1- </a:t>
            </a:r>
            <a:r>
              <a:rPr lang="el-GR"/>
              <a:t>ε</a:t>
            </a:r>
            <a:r>
              <a:rPr lang="nb-NO" baseline="-25000"/>
              <a:t>7</a:t>
            </a:r>
            <a:r>
              <a:rPr lang="nb-NO"/>
              <a:t>)(1- p</a:t>
            </a:r>
            <a:r>
              <a:rPr lang="nb-NO" baseline="-25000"/>
              <a:t>8</a:t>
            </a:r>
            <a:r>
              <a:rPr lang="nb-NO"/>
              <a:t>)</a:t>
            </a:r>
            <a:r>
              <a:rPr lang="nb-NO">
                <a:solidFill>
                  <a:srgbClr val="003399"/>
                </a:solidFill>
              </a:rPr>
              <a:t>}</a:t>
            </a:r>
            <a:r>
              <a:rPr lang="nb-NO">
                <a:solidFill>
                  <a:srgbClr val="009900"/>
                </a:solidFill>
              </a:rPr>
              <a:t>]</a:t>
            </a:r>
            <a:endParaRPr lang="el-GR">
              <a:solidFill>
                <a:srgbClr val="009900"/>
              </a:solidFill>
            </a:endParaRPr>
          </a:p>
          <a:p>
            <a:pPr>
              <a:spcBef>
                <a:spcPct val="50000"/>
              </a:spcBef>
            </a:pPr>
            <a:endParaRPr lang="el-GR"/>
          </a:p>
          <a:p>
            <a:pPr>
              <a:spcBef>
                <a:spcPct val="50000"/>
              </a:spcBef>
            </a:pPr>
            <a:endParaRPr lang="nb-NO">
              <a:solidFill>
                <a:srgbClr val="003399"/>
              </a:solidFill>
            </a:endParaRPr>
          </a:p>
        </p:txBody>
      </p:sp>
      <p:sp>
        <p:nvSpPr>
          <p:cNvPr id="81985" name="Text Box 65"/>
          <p:cNvSpPr txBox="1">
            <a:spLocks noChangeArrowheads="1"/>
          </p:cNvSpPr>
          <p:nvPr/>
        </p:nvSpPr>
        <p:spPr bwMode="auto">
          <a:xfrm>
            <a:off x="3267076" y="5486400"/>
            <a:ext cx="8674426" cy="369332"/>
          </a:xfrm>
          <a:prstGeom prst="rect">
            <a:avLst/>
          </a:prstGeom>
          <a:noFill/>
          <a:ln w="9525">
            <a:noFill/>
            <a:miter lim="800000"/>
            <a:headEnd/>
            <a:tailEnd/>
          </a:ln>
        </p:spPr>
        <p:txBody>
          <a:bodyPr wrap="none">
            <a:spAutoFit/>
          </a:bodyPr>
          <a:lstStyle/>
          <a:p>
            <a:r>
              <a:rPr lang="nb-NO" dirty="0">
                <a:solidFill>
                  <a:srgbClr val="FF3300"/>
                </a:solidFill>
              </a:rPr>
              <a:t>"sampling" and vital parameters </a:t>
            </a:r>
            <a:r>
              <a:rPr lang="nb-NO" dirty="0" err="1">
                <a:solidFill>
                  <a:srgbClr val="FF3300"/>
                </a:solidFill>
              </a:rPr>
              <a:t>are</a:t>
            </a:r>
            <a:r>
              <a:rPr lang="nb-NO" dirty="0">
                <a:solidFill>
                  <a:srgbClr val="FF3300"/>
                </a:solidFill>
              </a:rPr>
              <a:t> </a:t>
            </a:r>
            <a:r>
              <a:rPr lang="nb-NO" dirty="0" err="1">
                <a:solidFill>
                  <a:srgbClr val="FF3300"/>
                </a:solidFill>
              </a:rPr>
              <a:t>both</a:t>
            </a:r>
            <a:r>
              <a:rPr lang="nb-NO" dirty="0">
                <a:solidFill>
                  <a:srgbClr val="FF3300"/>
                </a:solidFill>
              </a:rPr>
              <a:t> </a:t>
            </a:r>
            <a:r>
              <a:rPr lang="nb-NO" dirty="0" err="1">
                <a:solidFill>
                  <a:srgbClr val="FF3300"/>
                </a:solidFill>
              </a:rPr>
              <a:t>explicit</a:t>
            </a:r>
            <a:r>
              <a:rPr lang="nb-NO" dirty="0">
                <a:solidFill>
                  <a:srgbClr val="FF3300"/>
                </a:solidFill>
              </a:rPr>
              <a:t>! (</a:t>
            </a:r>
            <a:r>
              <a:rPr lang="nb-NO" dirty="0" err="1">
                <a:solidFill>
                  <a:srgbClr val="FF3300"/>
                </a:solidFill>
              </a:rPr>
              <a:t>closer</a:t>
            </a:r>
            <a:r>
              <a:rPr lang="nb-NO" dirty="0">
                <a:solidFill>
                  <a:srgbClr val="FF3300"/>
                </a:solidFill>
              </a:rPr>
              <a:t> to </a:t>
            </a:r>
            <a:r>
              <a:rPr lang="nb-NO" dirty="0" err="1">
                <a:solidFill>
                  <a:srgbClr val="FF3300"/>
                </a:solidFill>
              </a:rPr>
              <a:t>generating</a:t>
            </a:r>
            <a:r>
              <a:rPr lang="nb-NO" dirty="0">
                <a:solidFill>
                  <a:srgbClr val="FF3300"/>
                </a:solidFill>
              </a:rPr>
              <a:t> </a:t>
            </a:r>
            <a:r>
              <a:rPr lang="nb-NO" dirty="0" err="1">
                <a:solidFill>
                  <a:srgbClr val="FF3300"/>
                </a:solidFill>
              </a:rPr>
              <a:t>process</a:t>
            </a:r>
            <a:r>
              <a:rPr lang="nb-NO" dirty="0">
                <a:solidFill>
                  <a:srgbClr val="FF3300"/>
                </a:solidFill>
              </a:rPr>
              <a:t> </a:t>
            </a:r>
            <a:r>
              <a:rPr lang="nb-NO" dirty="0" err="1">
                <a:solidFill>
                  <a:srgbClr val="FF3300"/>
                </a:solidFill>
              </a:rPr>
              <a:t>of</a:t>
            </a:r>
            <a:r>
              <a:rPr lang="nb-NO" dirty="0">
                <a:solidFill>
                  <a:srgbClr val="FF3300"/>
                </a:solidFill>
              </a:rPr>
              <a:t> </a:t>
            </a:r>
            <a:r>
              <a:rPr lang="nb-NO" dirty="0" err="1">
                <a:solidFill>
                  <a:srgbClr val="FF3300"/>
                </a:solidFill>
              </a:rPr>
              <a:t>the</a:t>
            </a:r>
            <a:r>
              <a:rPr lang="nb-NO" dirty="0">
                <a:solidFill>
                  <a:srgbClr val="FF3300"/>
                </a:solidFill>
              </a:rPr>
              <a:t> data)</a:t>
            </a:r>
          </a:p>
        </p:txBody>
      </p:sp>
      <p:sp>
        <p:nvSpPr>
          <p:cNvPr id="10" name="Rectangle 2"/>
          <p:cNvSpPr>
            <a:spLocks noGrp="1" noChangeArrowheads="1"/>
          </p:cNvSpPr>
          <p:nvPr>
            <p:ph type="title"/>
          </p:nvPr>
        </p:nvSpPr>
        <p:spPr>
          <a:xfrm>
            <a:off x="1981200" y="274638"/>
            <a:ext cx="8229600" cy="1143000"/>
          </a:xfrm>
        </p:spPr>
        <p:txBody>
          <a:bodyPr/>
          <a:lstStyle/>
          <a:p>
            <a:pPr eaLnBrk="1" hangingPunct="1"/>
            <a:r>
              <a:rPr lang="en-US" sz="3000" b="1" dirty="0"/>
              <a:t>Representing detection/encounter histories</a:t>
            </a:r>
          </a:p>
        </p:txBody>
      </p:sp>
      <p:sp>
        <p:nvSpPr>
          <p:cNvPr id="11" name="TextBox 10"/>
          <p:cNvSpPr txBox="1"/>
          <p:nvPr/>
        </p:nvSpPr>
        <p:spPr>
          <a:xfrm>
            <a:off x="8436768" y="3212977"/>
            <a:ext cx="1979712" cy="646331"/>
          </a:xfrm>
          <a:prstGeom prst="rect">
            <a:avLst/>
          </a:prstGeom>
          <a:solidFill>
            <a:schemeClr val="bg1"/>
          </a:solidFill>
        </p:spPr>
        <p:txBody>
          <a:bodyPr wrap="square" rtlCol="0">
            <a:spAutoFit/>
          </a:bodyPr>
          <a:lstStyle/>
          <a:p>
            <a:r>
              <a:rPr lang="en-US" b="1" dirty="0"/>
              <a:t>Extinction </a:t>
            </a:r>
          </a:p>
          <a:p>
            <a:r>
              <a:rPr lang="en-US" b="1" dirty="0"/>
              <a:t>probabilities</a:t>
            </a:r>
          </a:p>
        </p:txBody>
      </p:sp>
      <p:sp>
        <p:nvSpPr>
          <p:cNvPr id="12" name="TextBox 11"/>
          <p:cNvSpPr txBox="1"/>
          <p:nvPr/>
        </p:nvSpPr>
        <p:spPr>
          <a:xfrm>
            <a:off x="8364760" y="2566646"/>
            <a:ext cx="1763688" cy="646331"/>
          </a:xfrm>
          <a:prstGeom prst="rect">
            <a:avLst/>
          </a:prstGeom>
          <a:solidFill>
            <a:schemeClr val="bg1"/>
          </a:solidFill>
        </p:spPr>
        <p:txBody>
          <a:bodyPr wrap="square" rtlCol="0">
            <a:spAutoFit/>
          </a:bodyPr>
          <a:lstStyle/>
          <a:p>
            <a:r>
              <a:rPr lang="en-US" b="1" dirty="0"/>
              <a:t>Detection </a:t>
            </a:r>
          </a:p>
          <a:p>
            <a:r>
              <a:rPr lang="en-US" b="1" dirty="0"/>
              <a:t>probabilities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19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8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body" idx="1"/>
          </p:nvPr>
        </p:nvSpPr>
        <p:spPr/>
        <p:txBody>
          <a:bodyPr/>
          <a:lstStyle/>
          <a:p>
            <a:pPr eaLnBrk="1" hangingPunct="1">
              <a:buFontTx/>
              <a:buNone/>
            </a:pPr>
            <a:r>
              <a:rPr lang="nb-NO" sz="1800" dirty="0"/>
              <a:t>Pr(</a:t>
            </a:r>
            <a:r>
              <a:rPr lang="en-US" sz="1800" dirty="0"/>
              <a:t>eh = 0 0 1 0 1 1 0 0) =</a:t>
            </a:r>
          </a:p>
          <a:p>
            <a:pPr eaLnBrk="1" hangingPunct="1">
              <a:buFontTx/>
              <a:buNone/>
            </a:pPr>
            <a:r>
              <a:rPr lang="en-US" sz="1800" dirty="0"/>
              <a:t>(1-</a:t>
            </a:r>
            <a:r>
              <a:rPr lang="el-GR" sz="1800" dirty="0"/>
              <a:t>ε</a:t>
            </a:r>
            <a:r>
              <a:rPr lang="nb-NO" sz="1800" dirty="0"/>
              <a:t>3)(1-p4) </a:t>
            </a:r>
            <a:r>
              <a:rPr lang="en-US" sz="1800" dirty="0"/>
              <a:t>(1-</a:t>
            </a:r>
            <a:r>
              <a:rPr lang="el-GR" sz="1800" dirty="0"/>
              <a:t>ε</a:t>
            </a:r>
            <a:r>
              <a:rPr lang="nb-NO" sz="1800" dirty="0"/>
              <a:t>4)p5 </a:t>
            </a:r>
            <a:r>
              <a:rPr lang="en-US" sz="1800" dirty="0"/>
              <a:t>(1-</a:t>
            </a:r>
            <a:r>
              <a:rPr lang="el-GR" sz="1800" dirty="0"/>
              <a:t>ε</a:t>
            </a:r>
            <a:r>
              <a:rPr lang="nb-NO" sz="1800" dirty="0"/>
              <a:t>5)p6  </a:t>
            </a:r>
            <a:r>
              <a:rPr lang="en-US" sz="1800" dirty="0"/>
              <a:t>[</a:t>
            </a:r>
            <a:r>
              <a:rPr lang="el-GR" sz="1800" dirty="0"/>
              <a:t>ε</a:t>
            </a:r>
            <a:r>
              <a:rPr lang="nb-NO" sz="1800" dirty="0"/>
              <a:t>6 + </a:t>
            </a:r>
            <a:r>
              <a:rPr lang="en-US" sz="1800" dirty="0"/>
              <a:t>(1-</a:t>
            </a:r>
            <a:r>
              <a:rPr lang="el-GR" sz="1800" dirty="0"/>
              <a:t>ε</a:t>
            </a:r>
            <a:r>
              <a:rPr lang="nb-NO" sz="1800" dirty="0"/>
              <a:t>6)(1-p7){</a:t>
            </a:r>
            <a:r>
              <a:rPr lang="el-GR" sz="1800" dirty="0"/>
              <a:t>ε</a:t>
            </a:r>
            <a:r>
              <a:rPr lang="nb-NO" sz="1800" dirty="0"/>
              <a:t>7+(1- </a:t>
            </a:r>
            <a:r>
              <a:rPr lang="el-GR" sz="1800" dirty="0"/>
              <a:t>ε</a:t>
            </a:r>
            <a:r>
              <a:rPr lang="nb-NO" sz="1800" dirty="0"/>
              <a:t>7)(1- p8)}]= H1</a:t>
            </a:r>
            <a:endParaRPr lang="el-GR" sz="1800" dirty="0"/>
          </a:p>
          <a:p>
            <a:pPr eaLnBrk="1" hangingPunct="1">
              <a:buFontTx/>
              <a:buNone/>
            </a:pPr>
            <a:endParaRPr lang="nb-NO" sz="1800" dirty="0"/>
          </a:p>
          <a:p>
            <a:pPr eaLnBrk="1" hangingPunct="1">
              <a:buFontTx/>
              <a:buNone/>
            </a:pPr>
            <a:r>
              <a:rPr lang="en-US" sz="2400" dirty="0"/>
              <a:t>Likelihood (</a:t>
            </a:r>
            <a:r>
              <a:rPr lang="en-US" sz="2400" dirty="0" err="1"/>
              <a:t>parameters|data</a:t>
            </a:r>
            <a:r>
              <a:rPr lang="en-US" sz="2400" dirty="0"/>
              <a:t>) </a:t>
            </a:r>
            <a:r>
              <a:rPr lang="nb-NO" sz="2400" dirty="0"/>
              <a:t>= H</a:t>
            </a:r>
            <a:r>
              <a:rPr lang="nb-NO" sz="2400" baseline="-25000" dirty="0"/>
              <a:t>1</a:t>
            </a:r>
            <a:r>
              <a:rPr lang="nb-NO" sz="2400" baseline="30000" dirty="0">
                <a:solidFill>
                  <a:srgbClr val="0033CC"/>
                </a:solidFill>
              </a:rPr>
              <a:t>No. cases</a:t>
            </a:r>
            <a:r>
              <a:rPr lang="nb-NO" sz="2400" dirty="0"/>
              <a:t> H</a:t>
            </a:r>
            <a:r>
              <a:rPr lang="nb-NO" sz="2400" baseline="-25000" dirty="0"/>
              <a:t>2</a:t>
            </a:r>
            <a:r>
              <a:rPr lang="nb-NO" sz="2400" baseline="30000" dirty="0">
                <a:solidFill>
                  <a:srgbClr val="0033CC"/>
                </a:solidFill>
              </a:rPr>
              <a:t>No. cases </a:t>
            </a:r>
            <a:r>
              <a:rPr lang="nb-NO" sz="2400" dirty="0" err="1"/>
              <a:t>H</a:t>
            </a:r>
            <a:r>
              <a:rPr lang="nb-NO" sz="2400" baseline="-25000" dirty="0" err="1"/>
              <a:t>x</a:t>
            </a:r>
            <a:r>
              <a:rPr lang="nb-NO" sz="2400" baseline="30000" dirty="0" err="1">
                <a:solidFill>
                  <a:srgbClr val="0033CC"/>
                </a:solidFill>
              </a:rPr>
              <a:t>No</a:t>
            </a:r>
            <a:r>
              <a:rPr lang="nb-NO" sz="2400" baseline="30000" dirty="0">
                <a:solidFill>
                  <a:srgbClr val="0033CC"/>
                </a:solidFill>
              </a:rPr>
              <a:t>. cases </a:t>
            </a:r>
            <a:r>
              <a:rPr lang="nb-NO" sz="2400" dirty="0"/>
              <a:t>		</a:t>
            </a:r>
            <a:r>
              <a:rPr lang="nb-NO" sz="1800" dirty="0"/>
              <a:t>	</a:t>
            </a:r>
          </a:p>
          <a:p>
            <a:pPr eaLnBrk="1" hangingPunct="1">
              <a:buFontTx/>
              <a:buNone/>
            </a:pPr>
            <a:endParaRPr lang="nb-NO" sz="1800" dirty="0"/>
          </a:p>
          <a:p>
            <a:pPr eaLnBrk="1" hangingPunct="1">
              <a:buFontTx/>
              <a:buNone/>
            </a:pPr>
            <a:r>
              <a:rPr lang="nb-NO" sz="1800" dirty="0"/>
              <a:t>				0001010010</a:t>
            </a:r>
          </a:p>
          <a:p>
            <a:pPr eaLnBrk="1" hangingPunct="1">
              <a:buFontTx/>
              <a:buNone/>
            </a:pPr>
            <a:r>
              <a:rPr lang="nb-NO" sz="1800" dirty="0"/>
              <a:t>				0010001101</a:t>
            </a:r>
          </a:p>
          <a:p>
            <a:pPr eaLnBrk="1" hangingPunct="1">
              <a:buFontTx/>
              <a:buNone/>
            </a:pPr>
            <a:r>
              <a:rPr lang="nb-NO" sz="1800" dirty="0"/>
              <a:t>				0101010100</a:t>
            </a:r>
          </a:p>
          <a:p>
            <a:pPr eaLnBrk="1" hangingPunct="1">
              <a:buFontTx/>
              <a:buNone/>
            </a:pPr>
            <a:r>
              <a:rPr lang="nb-NO" sz="1800" dirty="0"/>
              <a:t>				1001000000</a:t>
            </a:r>
          </a:p>
          <a:p>
            <a:pPr eaLnBrk="1" hangingPunct="1">
              <a:buFontTx/>
              <a:buNone/>
            </a:pPr>
            <a:r>
              <a:rPr lang="nb-NO" sz="1800" dirty="0"/>
              <a:t>				0001010111</a:t>
            </a:r>
          </a:p>
          <a:p>
            <a:pPr eaLnBrk="1" hangingPunct="1">
              <a:buFontTx/>
              <a:buNone/>
            </a:pPr>
            <a:r>
              <a:rPr lang="nb-NO" sz="1800" dirty="0"/>
              <a:t>				0011101000</a:t>
            </a:r>
          </a:p>
        </p:txBody>
      </p:sp>
      <p:sp>
        <p:nvSpPr>
          <p:cNvPr id="23555" name="Rectangle 3"/>
          <p:cNvSpPr>
            <a:spLocks noChangeArrowheads="1"/>
          </p:cNvSpPr>
          <p:nvPr/>
        </p:nvSpPr>
        <p:spPr bwMode="auto">
          <a:xfrm>
            <a:off x="2133600" y="427038"/>
            <a:ext cx="8229600" cy="1143000"/>
          </a:xfrm>
          <a:prstGeom prst="rect">
            <a:avLst/>
          </a:prstGeom>
          <a:noFill/>
          <a:ln w="9525">
            <a:noFill/>
            <a:miter lim="800000"/>
            <a:headEnd/>
            <a:tailEnd/>
          </a:ln>
        </p:spPr>
        <p:txBody>
          <a:bodyPr anchor="ctr"/>
          <a:lstStyle/>
          <a:p>
            <a:pPr algn="ctr"/>
            <a:r>
              <a:rPr lang="en-US" sz="3000" b="1" dirty="0"/>
              <a:t>We have detection histories – now what?</a:t>
            </a:r>
          </a:p>
        </p:txBody>
      </p:sp>
      <p:sp>
        <p:nvSpPr>
          <p:cNvPr id="23556" name="Text Box 4"/>
          <p:cNvSpPr txBox="1">
            <a:spLocks noChangeArrowheads="1"/>
          </p:cNvSpPr>
          <p:nvPr/>
        </p:nvSpPr>
        <p:spPr bwMode="auto">
          <a:xfrm>
            <a:off x="6400800" y="2590801"/>
            <a:ext cx="533400" cy="366713"/>
          </a:xfrm>
          <a:prstGeom prst="rect">
            <a:avLst/>
          </a:prstGeom>
          <a:noFill/>
          <a:ln w="9525">
            <a:noFill/>
            <a:miter lim="800000"/>
            <a:headEnd/>
            <a:tailEnd/>
          </a:ln>
        </p:spPr>
        <p:txBody>
          <a:bodyPr>
            <a:spAutoFit/>
          </a:bodyPr>
          <a:lstStyle/>
          <a:p>
            <a:pPr>
              <a:spcBef>
                <a:spcPct val="50000"/>
              </a:spcBef>
            </a:pPr>
            <a:endParaRPr lang="nb-NO"/>
          </a:p>
        </p:txBody>
      </p:sp>
      <p:sp>
        <p:nvSpPr>
          <p:cNvPr id="23557" name="Text Box 5"/>
          <p:cNvSpPr txBox="1">
            <a:spLocks noChangeArrowheads="1"/>
          </p:cNvSpPr>
          <p:nvPr/>
        </p:nvSpPr>
        <p:spPr bwMode="auto">
          <a:xfrm>
            <a:off x="6172200" y="3757374"/>
            <a:ext cx="1200150" cy="2289175"/>
          </a:xfrm>
          <a:prstGeom prst="rect">
            <a:avLst/>
          </a:prstGeom>
          <a:noFill/>
          <a:ln w="9525">
            <a:noFill/>
            <a:miter lim="800000"/>
            <a:headEnd/>
            <a:tailEnd/>
          </a:ln>
        </p:spPr>
        <p:txBody>
          <a:bodyPr>
            <a:spAutoFit/>
          </a:bodyPr>
          <a:lstStyle/>
          <a:p>
            <a:pPr algn="ctr"/>
            <a:r>
              <a:rPr lang="nb-NO" dirty="0">
                <a:solidFill>
                  <a:srgbClr val="0066FF"/>
                </a:solidFill>
              </a:rPr>
              <a:t>10</a:t>
            </a:r>
          </a:p>
          <a:p>
            <a:pPr algn="ctr"/>
            <a:r>
              <a:rPr lang="nb-NO" dirty="0">
                <a:solidFill>
                  <a:srgbClr val="0066FF"/>
                </a:solidFill>
              </a:rPr>
              <a:t>3</a:t>
            </a:r>
          </a:p>
          <a:p>
            <a:pPr algn="ctr"/>
            <a:r>
              <a:rPr lang="nb-NO" dirty="0">
                <a:solidFill>
                  <a:srgbClr val="0066FF"/>
                </a:solidFill>
              </a:rPr>
              <a:t>4</a:t>
            </a:r>
          </a:p>
          <a:p>
            <a:pPr algn="ctr"/>
            <a:r>
              <a:rPr lang="nb-NO" dirty="0">
                <a:solidFill>
                  <a:srgbClr val="0066FF"/>
                </a:solidFill>
              </a:rPr>
              <a:t>18</a:t>
            </a:r>
          </a:p>
          <a:p>
            <a:pPr algn="ctr"/>
            <a:r>
              <a:rPr lang="nb-NO" dirty="0">
                <a:solidFill>
                  <a:srgbClr val="0066FF"/>
                </a:solidFill>
              </a:rPr>
              <a:t>2</a:t>
            </a:r>
          </a:p>
          <a:p>
            <a:pPr algn="ctr"/>
            <a:r>
              <a:rPr lang="nb-NO" dirty="0">
                <a:solidFill>
                  <a:srgbClr val="0066FF"/>
                </a:solidFill>
              </a:rPr>
              <a:t>1</a:t>
            </a:r>
          </a:p>
          <a:p>
            <a:pPr algn="ctr"/>
            <a:r>
              <a:rPr lang="nb-NO" dirty="0">
                <a:solidFill>
                  <a:srgbClr val="0066FF"/>
                </a:solidFill>
              </a:rPr>
              <a:t>3</a:t>
            </a:r>
          </a:p>
          <a:p>
            <a:pPr algn="ctr"/>
            <a:r>
              <a:rPr lang="nb-NO" dirty="0">
                <a:solidFill>
                  <a:srgbClr val="0066FF"/>
                </a:solidFill>
              </a:rPr>
              <a:t>No. cases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554">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3554">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3554">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3554">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3554">
                                            <p:txEl>
                                              <p:pRg st="9" end="9"/>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3554">
                                            <p:txEl>
                                              <p:pRg st="10" end="10"/>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355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355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541BA75-292E-98EE-4C24-9E9D59E1F37C}"/>
              </a:ext>
            </a:extLst>
          </p:cNvPr>
          <p:cNvSpPr txBox="1"/>
          <p:nvPr/>
        </p:nvSpPr>
        <p:spPr>
          <a:xfrm>
            <a:off x="1304778" y="893187"/>
            <a:ext cx="9850902" cy="4708981"/>
          </a:xfrm>
          <a:prstGeom prst="rect">
            <a:avLst/>
          </a:prstGeom>
          <a:noFill/>
        </p:spPr>
        <p:txBody>
          <a:bodyPr wrap="square">
            <a:spAutoFit/>
          </a:bodyPr>
          <a:lstStyle/>
          <a:p>
            <a:r>
              <a:rPr lang="en-GB" sz="3000" b="0" i="0" u="none" strike="noStrike" dirty="0">
                <a:solidFill>
                  <a:srgbClr val="2E3E49"/>
                </a:solidFill>
                <a:effectLst/>
              </a:rPr>
              <a:t>Maximum likelihood estimation </a:t>
            </a:r>
          </a:p>
          <a:p>
            <a:endParaRPr lang="en-GB" sz="3000" b="0" i="0" u="none" strike="noStrike" dirty="0">
              <a:solidFill>
                <a:srgbClr val="2E3E49"/>
              </a:solidFill>
              <a:effectLst/>
            </a:endParaRPr>
          </a:p>
          <a:p>
            <a:pPr marL="342900" indent="-342900">
              <a:buFont typeface="Arial" panose="020B0604020202020204" pitchFamily="34" charset="0"/>
              <a:buChar char="•"/>
            </a:pPr>
            <a:r>
              <a:rPr lang="en-GB" sz="2400" b="0" i="0" u="none" strike="noStrike" dirty="0">
                <a:solidFill>
                  <a:srgbClr val="2E3E49"/>
                </a:solidFill>
                <a:effectLst/>
              </a:rPr>
              <a:t>statistical approach for estimating the parameters of a model </a:t>
            </a:r>
          </a:p>
          <a:p>
            <a:pPr marL="342900" indent="-342900">
              <a:buFont typeface="Arial" panose="020B0604020202020204" pitchFamily="34" charset="0"/>
              <a:buChar char="•"/>
            </a:pPr>
            <a:r>
              <a:rPr lang="en-GB" sz="2400" b="0" i="0" u="none" strike="noStrike" dirty="0">
                <a:solidFill>
                  <a:srgbClr val="2E3E49"/>
                </a:solidFill>
                <a:effectLst/>
              </a:rPr>
              <a:t>parameters are chosen to maximize the likelihood for the assumed 	model given the data</a:t>
            </a:r>
          </a:p>
          <a:p>
            <a:endParaRPr lang="en-GB" sz="3000" dirty="0">
              <a:solidFill>
                <a:srgbClr val="2E3E49"/>
              </a:solidFill>
            </a:endParaRPr>
          </a:p>
          <a:p>
            <a:endParaRPr lang="en-GB" sz="3000" dirty="0">
              <a:solidFill>
                <a:srgbClr val="2E3E49"/>
              </a:solidFill>
            </a:endParaRPr>
          </a:p>
          <a:p>
            <a:pPr fontAlgn="base"/>
            <a:r>
              <a:rPr lang="en-GB" sz="3000" dirty="0"/>
              <a:t>So do to MLE, we have to</a:t>
            </a:r>
          </a:p>
          <a:p>
            <a:pPr marL="285750" indent="-285750" fontAlgn="base">
              <a:buFont typeface="Arial" panose="020B0604020202020204" pitchFamily="34" charset="0"/>
              <a:buChar char="•"/>
            </a:pPr>
            <a:endParaRPr lang="en-GB" sz="3000" dirty="0"/>
          </a:p>
          <a:p>
            <a:pPr marL="285750" indent="-285750" fontAlgn="base">
              <a:buFont typeface="Arial" panose="020B0604020202020204" pitchFamily="34" charset="0"/>
              <a:buChar char="•"/>
            </a:pPr>
            <a:r>
              <a:rPr lang="en-GB" sz="2400" dirty="0"/>
              <a:t>assume a model (e.g. data generating process) for the data in question</a:t>
            </a:r>
          </a:p>
          <a:p>
            <a:pPr marL="285750" indent="-285750" fontAlgn="base">
              <a:buFont typeface="Arial" panose="020B0604020202020204" pitchFamily="34" charset="0"/>
              <a:buChar char="•"/>
            </a:pPr>
            <a:r>
              <a:rPr lang="en-GB" sz="2400" dirty="0"/>
              <a:t>derive the likelihood function for our data, given our assumed model</a:t>
            </a:r>
            <a:endParaRPr lang="en-US" sz="2400" dirty="0"/>
          </a:p>
        </p:txBody>
      </p:sp>
    </p:spTree>
    <p:extLst>
      <p:ext uri="{BB962C8B-B14F-4D97-AF65-F5344CB8AC3E}">
        <p14:creationId xmlns:p14="http://schemas.microsoft.com/office/powerpoint/2010/main" val="1708849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sz="3000" b="1" dirty="0"/>
              <a:t>Likelihood of Detection histories</a:t>
            </a:r>
          </a:p>
        </p:txBody>
      </p:sp>
      <p:sp>
        <p:nvSpPr>
          <p:cNvPr id="24579" name="Text Box 3"/>
          <p:cNvSpPr txBox="1">
            <a:spLocks noChangeArrowheads="1"/>
          </p:cNvSpPr>
          <p:nvPr/>
        </p:nvSpPr>
        <p:spPr bwMode="auto">
          <a:xfrm>
            <a:off x="1981200" y="1295402"/>
            <a:ext cx="8291264" cy="6494085"/>
          </a:xfrm>
          <a:prstGeom prst="rect">
            <a:avLst/>
          </a:prstGeom>
          <a:noFill/>
          <a:ln w="9525">
            <a:noFill/>
            <a:miter lim="800000"/>
            <a:headEnd/>
            <a:tailEnd/>
          </a:ln>
        </p:spPr>
        <p:txBody>
          <a:bodyPr wrap="square">
            <a:spAutoFit/>
          </a:bodyPr>
          <a:lstStyle/>
          <a:p>
            <a:pPr marL="914400" lvl="1" indent="-457200">
              <a:spcBef>
                <a:spcPct val="50000"/>
              </a:spcBef>
              <a:buFont typeface="+mj-lt"/>
              <a:buAutoNum type="arabicPeriod"/>
            </a:pPr>
            <a:r>
              <a:rPr lang="en-US" sz="2200" b="1" dirty="0"/>
              <a:t>Estimate parameters (by maximizing the likelihood)</a:t>
            </a:r>
          </a:p>
          <a:p>
            <a:pPr marL="914400" lvl="1" indent="-457200">
              <a:spcBef>
                <a:spcPct val="50000"/>
              </a:spcBef>
              <a:buFont typeface="+mj-lt"/>
              <a:buAutoNum type="arabicPeriod"/>
            </a:pPr>
            <a:r>
              <a:rPr lang="en-US" sz="2200" b="1" dirty="0"/>
              <a:t>Estimate uncertainty in parameters</a:t>
            </a:r>
          </a:p>
          <a:p>
            <a:pPr marL="914400" lvl="1" indent="-457200">
              <a:spcBef>
                <a:spcPct val="50000"/>
              </a:spcBef>
              <a:buFont typeface="+mj-lt"/>
              <a:buAutoNum type="arabicPeriod"/>
            </a:pPr>
            <a:r>
              <a:rPr lang="en-US" sz="2200" b="1" dirty="0"/>
              <a:t>Compare models </a:t>
            </a:r>
          </a:p>
          <a:p>
            <a:pPr marL="1257300" lvl="2" indent="-342900">
              <a:spcBef>
                <a:spcPct val="50000"/>
              </a:spcBef>
              <a:buFont typeface="Arial" pitchFamily="34" charset="0"/>
              <a:buChar char="•"/>
            </a:pPr>
            <a:r>
              <a:rPr lang="en-US" sz="2200" b="1" dirty="0"/>
              <a:t>e.g. same or different </a:t>
            </a:r>
            <a:r>
              <a:rPr lang="en-US" sz="2200" b="1" dirty="0" err="1"/>
              <a:t>p’s</a:t>
            </a:r>
            <a:r>
              <a:rPr lang="en-US" sz="2200" b="1" dirty="0"/>
              <a:t> or </a:t>
            </a:r>
            <a:r>
              <a:rPr lang="el-GR" sz="2200" b="1" dirty="0"/>
              <a:t>ε</a:t>
            </a:r>
            <a:r>
              <a:rPr lang="nb-NO" sz="2200" b="1" dirty="0"/>
              <a:t>’s</a:t>
            </a:r>
            <a:endParaRPr lang="en-US" sz="2200" b="1" dirty="0"/>
          </a:p>
          <a:p>
            <a:pPr marL="1257300" lvl="2" indent="-342900">
              <a:spcBef>
                <a:spcPct val="50000"/>
              </a:spcBef>
              <a:buFont typeface="Arial" pitchFamily="34" charset="0"/>
              <a:buChar char="•"/>
            </a:pPr>
            <a:r>
              <a:rPr lang="en-US" sz="2200" b="1" dirty="0"/>
              <a:t>e.g. with or without covariates (important factors that you think might influence p and </a:t>
            </a:r>
            <a:r>
              <a:rPr lang="el-GR" sz="2200" dirty="0"/>
              <a:t>ε</a:t>
            </a:r>
            <a:r>
              <a:rPr lang="nb-NO" sz="2200" b="1" dirty="0"/>
              <a:t>)</a:t>
            </a:r>
            <a:endParaRPr lang="en-US" sz="2200" b="1" dirty="0"/>
          </a:p>
          <a:p>
            <a:pPr marL="1885950" lvl="3" indent="-514350">
              <a:spcBef>
                <a:spcPct val="50000"/>
              </a:spcBef>
              <a:buSzPct val="80000"/>
              <a:buFont typeface="+mj-lt"/>
              <a:buAutoNum type="romanLcPeriod"/>
            </a:pPr>
            <a:r>
              <a:rPr lang="en-US" sz="2200" b="1" dirty="0" err="1"/>
              <a:t>Akaike</a:t>
            </a:r>
            <a:r>
              <a:rPr lang="en-US" sz="2200" b="1" dirty="0"/>
              <a:t> Information Criteria, AIC</a:t>
            </a:r>
          </a:p>
          <a:p>
            <a:pPr marL="1885950" lvl="3" indent="-514350">
              <a:spcBef>
                <a:spcPct val="50000"/>
              </a:spcBef>
              <a:buSzPct val="80000"/>
              <a:buFont typeface="+mj-lt"/>
              <a:buAutoNum type="romanLcPeriod"/>
            </a:pPr>
            <a:r>
              <a:rPr lang="en-US" sz="2200" b="1" dirty="0"/>
              <a:t>classical hypothesis testing</a:t>
            </a:r>
          </a:p>
          <a:p>
            <a:pPr marL="1885950" lvl="3" indent="-514350">
              <a:spcBef>
                <a:spcPct val="50000"/>
              </a:spcBef>
              <a:buSzPct val="80000"/>
              <a:buFont typeface="+mj-lt"/>
              <a:buAutoNum type="romanLcPeriod"/>
            </a:pPr>
            <a:r>
              <a:rPr lang="en-US" sz="2200" b="1" dirty="0"/>
              <a:t>extendable to Bayesian approaches</a:t>
            </a:r>
          </a:p>
          <a:p>
            <a:pPr marL="800100" lvl="1" indent="-342900">
              <a:spcBef>
                <a:spcPct val="50000"/>
              </a:spcBef>
              <a:buFontTx/>
              <a:buAutoNum type="arabicPeriod"/>
            </a:pPr>
            <a:r>
              <a:rPr lang="en-US" sz="2200" b="1" dirty="0"/>
              <a:t>Good statistical properties</a:t>
            </a:r>
            <a:r>
              <a:rPr lang="en-US" sz="2200" dirty="0"/>
              <a:t>	</a:t>
            </a:r>
          </a:p>
          <a:p>
            <a:pPr marL="342900" indent="-342900">
              <a:spcBef>
                <a:spcPct val="50000"/>
              </a:spcBef>
            </a:pPr>
            <a:endParaRPr lang="en-US" dirty="0"/>
          </a:p>
          <a:p>
            <a:pPr marL="342900" indent="-342900">
              <a:spcBef>
                <a:spcPct val="50000"/>
              </a:spcBef>
            </a:pPr>
            <a:endParaRPr lang="en-US" dirty="0"/>
          </a:p>
          <a:p>
            <a:pPr marL="342900" indent="-342900">
              <a:spcBef>
                <a:spcPct val="50000"/>
              </a:spcBef>
            </a:pPr>
            <a:endParaRPr lang="en-US" dirty="0">
              <a:latin typeface="Lucida Calligraphy" pitchFamily="66" charset="0"/>
            </a:endParaRPr>
          </a:p>
          <a:p>
            <a:pPr marL="342900" indent="-342900">
              <a:spcBef>
                <a:spcPct val="50000"/>
              </a:spcBef>
            </a:pP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57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579">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4579">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4579">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4579">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4579">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4579">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4579">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sz="3000" b="1" dirty="0"/>
              <a:t>Assumptions of the CJS model</a:t>
            </a:r>
          </a:p>
        </p:txBody>
      </p:sp>
      <p:sp>
        <p:nvSpPr>
          <p:cNvPr id="24579" name="Text Box 3"/>
          <p:cNvSpPr txBox="1">
            <a:spLocks noChangeArrowheads="1"/>
          </p:cNvSpPr>
          <p:nvPr/>
        </p:nvSpPr>
        <p:spPr bwMode="auto">
          <a:xfrm>
            <a:off x="1981200" y="918885"/>
            <a:ext cx="8229600" cy="5816977"/>
          </a:xfrm>
          <a:prstGeom prst="rect">
            <a:avLst/>
          </a:prstGeom>
          <a:noFill/>
          <a:ln w="9525">
            <a:noFill/>
            <a:miter lim="800000"/>
            <a:headEnd/>
            <a:tailEnd/>
          </a:ln>
        </p:spPr>
        <p:txBody>
          <a:bodyPr>
            <a:spAutoFit/>
          </a:bodyPr>
          <a:lstStyle/>
          <a:p>
            <a:pPr marL="342900" indent="-342900">
              <a:spcBef>
                <a:spcPct val="50000"/>
              </a:spcBef>
            </a:pPr>
            <a:r>
              <a:rPr lang="en-US" dirty="0"/>
              <a:t>	</a:t>
            </a:r>
            <a:endParaRPr lang="en-US" sz="2200" u="sng" dirty="0"/>
          </a:p>
          <a:p>
            <a:pPr marL="800100" lvl="1" indent="-342900">
              <a:spcBef>
                <a:spcPct val="50000"/>
              </a:spcBef>
              <a:buFontTx/>
              <a:buAutoNum type="arabicPeriod"/>
            </a:pPr>
            <a:r>
              <a:rPr lang="en-US" sz="2200" b="1" dirty="0"/>
              <a:t>After initial encounters, detection/encounter probabilities are equal for all taxa in the data/group of interest</a:t>
            </a:r>
          </a:p>
          <a:p>
            <a:pPr marL="800100" lvl="1" indent="-342900">
              <a:spcBef>
                <a:spcPct val="50000"/>
              </a:spcBef>
              <a:buFontTx/>
              <a:buAutoNum type="arabicPeriod"/>
            </a:pPr>
            <a:r>
              <a:rPr lang="en-US" sz="2200" b="1" dirty="0"/>
              <a:t>After initial encounters, extinction probabilities for all taxa are equal </a:t>
            </a:r>
          </a:p>
          <a:p>
            <a:pPr marL="800100" lvl="1" indent="-342900">
              <a:spcBef>
                <a:spcPct val="50000"/>
              </a:spcBef>
              <a:buFontTx/>
              <a:buAutoNum type="arabicPeriod"/>
            </a:pPr>
            <a:r>
              <a:rPr lang="en-US" sz="2200" b="1" dirty="0"/>
              <a:t>Sampling intervals are short relative to the time over which extinction is to be estimated</a:t>
            </a:r>
          </a:p>
          <a:p>
            <a:pPr marL="800100" lvl="1" indent="-342900">
              <a:spcBef>
                <a:spcPct val="50000"/>
              </a:spcBef>
              <a:buFontTx/>
              <a:buAutoNum type="arabicPeriod"/>
            </a:pPr>
            <a:r>
              <a:rPr lang="en-US" sz="2200" b="1" dirty="0"/>
              <a:t>The fate of each </a:t>
            </a:r>
            <a:r>
              <a:rPr lang="en-US" sz="2200" b="1" dirty="0" err="1"/>
              <a:t>taxon</a:t>
            </a:r>
            <a:r>
              <a:rPr lang="en-US" sz="2200" b="1" dirty="0"/>
              <a:t> (with respect to extinction and encounter) is independent of the fate of every other </a:t>
            </a:r>
            <a:r>
              <a:rPr lang="en-US" sz="2200" b="1" dirty="0" err="1"/>
              <a:t>taxon</a:t>
            </a:r>
            <a:r>
              <a:rPr lang="en-US" sz="2200" b="1" dirty="0"/>
              <a:t> </a:t>
            </a:r>
            <a:r>
              <a:rPr lang="en-US" sz="2200" dirty="0"/>
              <a:t>	</a:t>
            </a:r>
          </a:p>
          <a:p>
            <a:pPr marL="342900" indent="-342900">
              <a:spcBef>
                <a:spcPct val="50000"/>
              </a:spcBef>
            </a:pPr>
            <a:endParaRPr lang="en-US" dirty="0"/>
          </a:p>
          <a:p>
            <a:pPr marL="342900" indent="-342900">
              <a:spcBef>
                <a:spcPct val="50000"/>
              </a:spcBef>
            </a:pPr>
            <a:endParaRPr lang="en-US" dirty="0"/>
          </a:p>
          <a:p>
            <a:pPr marL="342900" indent="-342900">
              <a:spcBef>
                <a:spcPct val="50000"/>
              </a:spcBef>
            </a:pPr>
            <a:endParaRPr lang="en-US" dirty="0">
              <a:latin typeface="Lucida Calligraphy" pitchFamily="66" charset="0"/>
            </a:endParaRPr>
          </a:p>
          <a:p>
            <a:pPr marL="342900" indent="-342900">
              <a:spcBef>
                <a:spcPct val="50000"/>
              </a:spcBef>
            </a:pP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579">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579">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4579">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457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sz="3000" b="1" dirty="0"/>
              <a:t>Assumptions of the CJS model</a:t>
            </a:r>
          </a:p>
        </p:txBody>
      </p:sp>
      <p:sp>
        <p:nvSpPr>
          <p:cNvPr id="24579" name="Text Box 3"/>
          <p:cNvSpPr txBox="1">
            <a:spLocks noChangeArrowheads="1"/>
          </p:cNvSpPr>
          <p:nvPr/>
        </p:nvSpPr>
        <p:spPr bwMode="auto">
          <a:xfrm>
            <a:off x="1981200" y="918884"/>
            <a:ext cx="8229600" cy="6324808"/>
          </a:xfrm>
          <a:prstGeom prst="rect">
            <a:avLst/>
          </a:prstGeom>
          <a:noFill/>
          <a:ln w="9525">
            <a:noFill/>
            <a:miter lim="800000"/>
            <a:headEnd/>
            <a:tailEnd/>
          </a:ln>
        </p:spPr>
        <p:txBody>
          <a:bodyPr>
            <a:spAutoFit/>
          </a:bodyPr>
          <a:lstStyle/>
          <a:p>
            <a:pPr marL="342900" indent="-342900">
              <a:spcBef>
                <a:spcPct val="50000"/>
              </a:spcBef>
            </a:pPr>
            <a:r>
              <a:rPr lang="en-US" dirty="0"/>
              <a:t>	</a:t>
            </a:r>
            <a:endParaRPr lang="en-US" sz="2200" u="sng" dirty="0"/>
          </a:p>
          <a:p>
            <a:pPr marL="800100" lvl="1" indent="-342900">
              <a:spcBef>
                <a:spcPct val="50000"/>
              </a:spcBef>
              <a:buFontTx/>
              <a:buAutoNum type="arabicPeriod"/>
            </a:pPr>
            <a:r>
              <a:rPr lang="en-US" sz="2200" b="1" dirty="0"/>
              <a:t>After initial encounters, detection/encounter probabilities are equal for all taxa in the data/group of interest</a:t>
            </a:r>
          </a:p>
          <a:p>
            <a:pPr marL="1257300" lvl="2" indent="-342900">
              <a:spcBef>
                <a:spcPct val="50000"/>
              </a:spcBef>
              <a:buFont typeface="Arial" pitchFamily="34" charset="0"/>
              <a:buChar char="•"/>
            </a:pPr>
            <a:r>
              <a:rPr lang="en-US" sz="2200" b="1" dirty="0" err="1">
                <a:solidFill>
                  <a:srgbClr val="0033CC"/>
                </a:solidFill>
              </a:rPr>
              <a:t>Taxon</a:t>
            </a:r>
            <a:r>
              <a:rPr lang="en-US" sz="2200" b="1" dirty="0">
                <a:solidFill>
                  <a:srgbClr val="0033CC"/>
                </a:solidFill>
              </a:rPr>
              <a:t> specific covariates</a:t>
            </a:r>
          </a:p>
          <a:p>
            <a:pPr marL="800100" lvl="1" indent="-342900">
              <a:spcBef>
                <a:spcPct val="50000"/>
              </a:spcBef>
              <a:buFontTx/>
              <a:buAutoNum type="arabicPeriod"/>
            </a:pPr>
            <a:r>
              <a:rPr lang="en-US" sz="2200" b="1" dirty="0">
                <a:solidFill>
                  <a:schemeClr val="bg1">
                    <a:lumMod val="75000"/>
                  </a:schemeClr>
                </a:solidFill>
              </a:rPr>
              <a:t>After initial encounters, extinction probabilities for all taxa are equal </a:t>
            </a:r>
          </a:p>
          <a:p>
            <a:pPr marL="800100" lvl="1" indent="-342900">
              <a:spcBef>
                <a:spcPct val="50000"/>
              </a:spcBef>
              <a:buFontTx/>
              <a:buAutoNum type="arabicPeriod"/>
            </a:pPr>
            <a:r>
              <a:rPr lang="en-US" sz="2200" b="1" dirty="0">
                <a:solidFill>
                  <a:schemeClr val="bg1">
                    <a:lumMod val="75000"/>
                  </a:schemeClr>
                </a:solidFill>
              </a:rPr>
              <a:t>Sampling intervals are short relative to the time over which extinction is to be estimated</a:t>
            </a:r>
          </a:p>
          <a:p>
            <a:pPr marL="800100" lvl="1" indent="-342900">
              <a:spcBef>
                <a:spcPct val="50000"/>
              </a:spcBef>
              <a:buFontTx/>
              <a:buAutoNum type="arabicPeriod"/>
            </a:pPr>
            <a:r>
              <a:rPr lang="en-US" sz="2200" b="1" dirty="0">
                <a:solidFill>
                  <a:schemeClr val="bg1">
                    <a:lumMod val="75000"/>
                  </a:schemeClr>
                </a:solidFill>
              </a:rPr>
              <a:t>The fate of each </a:t>
            </a:r>
            <a:r>
              <a:rPr lang="en-US" sz="2200" b="1" dirty="0" err="1">
                <a:solidFill>
                  <a:schemeClr val="bg1">
                    <a:lumMod val="75000"/>
                  </a:schemeClr>
                </a:solidFill>
              </a:rPr>
              <a:t>taxon</a:t>
            </a:r>
            <a:r>
              <a:rPr lang="en-US" sz="2200" b="1" dirty="0">
                <a:solidFill>
                  <a:schemeClr val="bg1">
                    <a:lumMod val="75000"/>
                  </a:schemeClr>
                </a:solidFill>
              </a:rPr>
              <a:t> (with respect to extinction and encounter) is independent of the fate of every other </a:t>
            </a:r>
            <a:r>
              <a:rPr lang="en-US" sz="2200" b="1" dirty="0" err="1">
                <a:solidFill>
                  <a:schemeClr val="bg1">
                    <a:lumMod val="75000"/>
                  </a:schemeClr>
                </a:solidFill>
              </a:rPr>
              <a:t>taxon</a:t>
            </a:r>
            <a:r>
              <a:rPr lang="en-US" sz="2200" b="1" dirty="0">
                <a:solidFill>
                  <a:schemeClr val="bg1">
                    <a:lumMod val="75000"/>
                  </a:schemeClr>
                </a:solidFill>
              </a:rPr>
              <a:t> </a:t>
            </a:r>
            <a:r>
              <a:rPr lang="en-US" sz="2200" dirty="0"/>
              <a:t>	</a:t>
            </a:r>
          </a:p>
          <a:p>
            <a:pPr marL="342900" indent="-342900">
              <a:spcBef>
                <a:spcPct val="50000"/>
              </a:spcBef>
            </a:pPr>
            <a:endParaRPr lang="en-US" dirty="0"/>
          </a:p>
          <a:p>
            <a:pPr marL="342900" indent="-342900">
              <a:spcBef>
                <a:spcPct val="50000"/>
              </a:spcBef>
            </a:pPr>
            <a:endParaRPr lang="en-US" dirty="0"/>
          </a:p>
          <a:p>
            <a:pPr marL="342900" indent="-342900">
              <a:spcBef>
                <a:spcPct val="50000"/>
              </a:spcBef>
            </a:pPr>
            <a:endParaRPr lang="en-US" dirty="0">
              <a:latin typeface="Lucida Calligraphy" pitchFamily="66" charset="0"/>
            </a:endParaRPr>
          </a:p>
          <a:p>
            <a:pPr marL="342900" indent="-342900">
              <a:spcBef>
                <a:spcPct val="50000"/>
              </a:spcBef>
            </a:pP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sz="3000" b="1" dirty="0"/>
              <a:t>Assumptions of the CJS model</a:t>
            </a:r>
          </a:p>
        </p:txBody>
      </p:sp>
      <p:sp>
        <p:nvSpPr>
          <p:cNvPr id="24579" name="Text Box 3"/>
          <p:cNvSpPr txBox="1">
            <a:spLocks noChangeArrowheads="1"/>
          </p:cNvSpPr>
          <p:nvPr/>
        </p:nvSpPr>
        <p:spPr bwMode="auto">
          <a:xfrm>
            <a:off x="1981200" y="905437"/>
            <a:ext cx="8229600" cy="6324808"/>
          </a:xfrm>
          <a:prstGeom prst="rect">
            <a:avLst/>
          </a:prstGeom>
          <a:noFill/>
          <a:ln w="9525">
            <a:noFill/>
            <a:miter lim="800000"/>
            <a:headEnd/>
            <a:tailEnd/>
          </a:ln>
        </p:spPr>
        <p:txBody>
          <a:bodyPr>
            <a:spAutoFit/>
          </a:bodyPr>
          <a:lstStyle/>
          <a:p>
            <a:pPr marL="342900" indent="-342900">
              <a:spcBef>
                <a:spcPct val="50000"/>
              </a:spcBef>
            </a:pPr>
            <a:r>
              <a:rPr lang="en-US" dirty="0">
                <a:solidFill>
                  <a:schemeClr val="bg1">
                    <a:lumMod val="75000"/>
                  </a:schemeClr>
                </a:solidFill>
              </a:rPr>
              <a:t>	</a:t>
            </a:r>
            <a:endParaRPr lang="en-US" sz="2200" u="sng" dirty="0">
              <a:solidFill>
                <a:schemeClr val="bg1">
                  <a:lumMod val="75000"/>
                </a:schemeClr>
              </a:solidFill>
            </a:endParaRPr>
          </a:p>
          <a:p>
            <a:pPr marL="800100" lvl="1" indent="-342900">
              <a:spcBef>
                <a:spcPct val="50000"/>
              </a:spcBef>
              <a:buFontTx/>
              <a:buAutoNum type="arabicPeriod"/>
            </a:pPr>
            <a:r>
              <a:rPr lang="en-US" sz="2200" b="1" dirty="0">
                <a:solidFill>
                  <a:schemeClr val="bg1">
                    <a:lumMod val="75000"/>
                  </a:schemeClr>
                </a:solidFill>
              </a:rPr>
              <a:t>After initial encounters, detection/encounter probabilities are equal for all taxa in the data/group of interest</a:t>
            </a:r>
          </a:p>
          <a:p>
            <a:pPr marL="800100" lvl="1" indent="-342900">
              <a:spcBef>
                <a:spcPct val="50000"/>
              </a:spcBef>
              <a:buFontTx/>
              <a:buAutoNum type="arabicPeriod"/>
            </a:pPr>
            <a:r>
              <a:rPr lang="en-US" sz="2200" b="1" dirty="0"/>
              <a:t>After initial encounters, extinction probabilities for all taxa are equal </a:t>
            </a:r>
          </a:p>
          <a:p>
            <a:pPr marL="1257300" lvl="2" indent="-342900">
              <a:spcBef>
                <a:spcPct val="50000"/>
              </a:spcBef>
              <a:buFont typeface="Arial" pitchFamily="34" charset="0"/>
              <a:buChar char="•"/>
            </a:pPr>
            <a:r>
              <a:rPr lang="en-US" sz="2200" b="1" dirty="0" err="1">
                <a:solidFill>
                  <a:srgbClr val="0033CC"/>
                </a:solidFill>
              </a:rPr>
              <a:t>Taxon</a:t>
            </a:r>
            <a:r>
              <a:rPr lang="en-US" sz="2200" b="1" dirty="0">
                <a:solidFill>
                  <a:srgbClr val="0033CC"/>
                </a:solidFill>
              </a:rPr>
              <a:t> specific covariates</a:t>
            </a:r>
            <a:endParaRPr lang="en-US" sz="2200" b="1" dirty="0"/>
          </a:p>
          <a:p>
            <a:pPr marL="800100" lvl="1" indent="-342900">
              <a:spcBef>
                <a:spcPct val="50000"/>
              </a:spcBef>
              <a:buFontTx/>
              <a:buAutoNum type="arabicPeriod"/>
            </a:pPr>
            <a:r>
              <a:rPr lang="en-US" sz="2200" b="1" dirty="0">
                <a:solidFill>
                  <a:schemeClr val="bg1">
                    <a:lumMod val="75000"/>
                  </a:schemeClr>
                </a:solidFill>
              </a:rPr>
              <a:t>Sampling intervals are short relative to the time over which extinction is to be estimated</a:t>
            </a:r>
          </a:p>
          <a:p>
            <a:pPr marL="800100" lvl="1" indent="-342900">
              <a:spcBef>
                <a:spcPct val="50000"/>
              </a:spcBef>
              <a:buFontTx/>
              <a:buAutoNum type="arabicPeriod"/>
            </a:pPr>
            <a:r>
              <a:rPr lang="en-US" sz="2200" b="1" dirty="0">
                <a:solidFill>
                  <a:schemeClr val="bg1">
                    <a:lumMod val="75000"/>
                  </a:schemeClr>
                </a:solidFill>
              </a:rPr>
              <a:t>The fate of each </a:t>
            </a:r>
            <a:r>
              <a:rPr lang="en-US" sz="2200" b="1" dirty="0" err="1">
                <a:solidFill>
                  <a:schemeClr val="bg1">
                    <a:lumMod val="75000"/>
                  </a:schemeClr>
                </a:solidFill>
              </a:rPr>
              <a:t>taxon</a:t>
            </a:r>
            <a:r>
              <a:rPr lang="en-US" sz="2200" b="1" dirty="0">
                <a:solidFill>
                  <a:schemeClr val="bg1">
                    <a:lumMod val="75000"/>
                  </a:schemeClr>
                </a:solidFill>
              </a:rPr>
              <a:t> (with respect to extinction and encounter) is independent of the fate of every other </a:t>
            </a:r>
            <a:r>
              <a:rPr lang="en-US" sz="2200" b="1" dirty="0" err="1">
                <a:solidFill>
                  <a:schemeClr val="bg1">
                    <a:lumMod val="75000"/>
                  </a:schemeClr>
                </a:solidFill>
              </a:rPr>
              <a:t>taxon</a:t>
            </a:r>
            <a:r>
              <a:rPr lang="en-US" sz="2200" b="1" dirty="0">
                <a:solidFill>
                  <a:schemeClr val="bg1">
                    <a:lumMod val="75000"/>
                  </a:schemeClr>
                </a:solidFill>
              </a:rPr>
              <a:t> </a:t>
            </a:r>
            <a:r>
              <a:rPr lang="en-US" sz="2200" dirty="0"/>
              <a:t>	</a:t>
            </a:r>
          </a:p>
          <a:p>
            <a:pPr marL="342900" indent="-342900">
              <a:spcBef>
                <a:spcPct val="50000"/>
              </a:spcBef>
            </a:pPr>
            <a:endParaRPr lang="en-US" dirty="0"/>
          </a:p>
          <a:p>
            <a:pPr marL="342900" indent="-342900">
              <a:spcBef>
                <a:spcPct val="50000"/>
              </a:spcBef>
            </a:pPr>
            <a:endParaRPr lang="en-US" dirty="0"/>
          </a:p>
          <a:p>
            <a:pPr marL="342900" indent="-342900">
              <a:spcBef>
                <a:spcPct val="50000"/>
              </a:spcBef>
            </a:pPr>
            <a:endParaRPr lang="en-US" dirty="0">
              <a:latin typeface="Lucida Calligraphy" pitchFamily="66" charset="0"/>
            </a:endParaRPr>
          </a:p>
          <a:p>
            <a:pPr marL="342900" indent="-342900">
              <a:spcBef>
                <a:spcPct val="50000"/>
              </a:spcBef>
            </a:pP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sz="3000" b="1" dirty="0"/>
              <a:t>Assumptions of the CJS model</a:t>
            </a:r>
          </a:p>
        </p:txBody>
      </p:sp>
      <p:sp>
        <p:nvSpPr>
          <p:cNvPr id="24579" name="Text Box 3"/>
          <p:cNvSpPr txBox="1">
            <a:spLocks noChangeArrowheads="1"/>
          </p:cNvSpPr>
          <p:nvPr/>
        </p:nvSpPr>
        <p:spPr bwMode="auto">
          <a:xfrm>
            <a:off x="1981200" y="918884"/>
            <a:ext cx="8229600" cy="6940361"/>
          </a:xfrm>
          <a:prstGeom prst="rect">
            <a:avLst/>
          </a:prstGeom>
          <a:noFill/>
          <a:ln w="9525">
            <a:noFill/>
            <a:miter lim="800000"/>
            <a:headEnd/>
            <a:tailEnd/>
          </a:ln>
        </p:spPr>
        <p:txBody>
          <a:bodyPr>
            <a:spAutoFit/>
          </a:bodyPr>
          <a:lstStyle/>
          <a:p>
            <a:pPr marL="342900" indent="-342900">
              <a:spcBef>
                <a:spcPct val="50000"/>
              </a:spcBef>
            </a:pPr>
            <a:r>
              <a:rPr lang="en-US" dirty="0">
                <a:solidFill>
                  <a:schemeClr val="bg1">
                    <a:lumMod val="75000"/>
                  </a:schemeClr>
                </a:solidFill>
              </a:rPr>
              <a:t>	</a:t>
            </a:r>
            <a:endParaRPr lang="en-US" sz="2200" u="sng" dirty="0">
              <a:solidFill>
                <a:schemeClr val="bg1">
                  <a:lumMod val="75000"/>
                </a:schemeClr>
              </a:solidFill>
            </a:endParaRPr>
          </a:p>
          <a:p>
            <a:pPr marL="800100" lvl="1" indent="-342900">
              <a:spcBef>
                <a:spcPct val="50000"/>
              </a:spcBef>
              <a:buFontTx/>
              <a:buAutoNum type="arabicPeriod"/>
            </a:pPr>
            <a:r>
              <a:rPr lang="en-US" sz="2200" b="1" dirty="0">
                <a:solidFill>
                  <a:schemeClr val="bg1">
                    <a:lumMod val="75000"/>
                  </a:schemeClr>
                </a:solidFill>
              </a:rPr>
              <a:t>After initial encounters, detection/encounter probabilities are equal for all taxa in the data/group of interest</a:t>
            </a:r>
          </a:p>
          <a:p>
            <a:pPr marL="800100" lvl="1" indent="-342900">
              <a:spcBef>
                <a:spcPct val="50000"/>
              </a:spcBef>
              <a:buFontTx/>
              <a:buAutoNum type="arabicPeriod"/>
            </a:pPr>
            <a:r>
              <a:rPr lang="en-US" sz="2200" b="1" dirty="0">
                <a:solidFill>
                  <a:schemeClr val="bg1">
                    <a:lumMod val="75000"/>
                  </a:schemeClr>
                </a:solidFill>
              </a:rPr>
              <a:t>After initial encounters, extinction probabilities for all taxa are equal </a:t>
            </a:r>
          </a:p>
          <a:p>
            <a:pPr marL="800100" lvl="1" indent="-342900">
              <a:spcBef>
                <a:spcPct val="50000"/>
              </a:spcBef>
              <a:buFontTx/>
              <a:buAutoNum type="arabicPeriod"/>
            </a:pPr>
            <a:r>
              <a:rPr lang="en-US" sz="2200" b="1" dirty="0"/>
              <a:t>Sampling intervals are short relative to the time over which extinction is to be estimated</a:t>
            </a:r>
          </a:p>
          <a:p>
            <a:pPr marL="1257300" lvl="2" indent="-342900">
              <a:spcBef>
                <a:spcPct val="50000"/>
              </a:spcBef>
              <a:buFont typeface="Arial" pitchFamily="34" charset="0"/>
              <a:buChar char="•"/>
            </a:pPr>
            <a:r>
              <a:rPr lang="en-US" sz="2200" b="1" dirty="0">
                <a:solidFill>
                  <a:srgbClr val="0033CC"/>
                </a:solidFill>
              </a:rPr>
              <a:t>Simulations show that this is not a big problem; other models (e.g. robust design models, never applied in paleo) tackle this head-on</a:t>
            </a:r>
            <a:endParaRPr lang="en-US" sz="2200" b="1" dirty="0"/>
          </a:p>
          <a:p>
            <a:pPr marL="800100" lvl="1" indent="-342900">
              <a:spcBef>
                <a:spcPct val="50000"/>
              </a:spcBef>
              <a:buFontTx/>
              <a:buAutoNum type="arabicPeriod"/>
            </a:pPr>
            <a:r>
              <a:rPr lang="en-US" sz="2200" b="1" dirty="0">
                <a:solidFill>
                  <a:schemeClr val="bg1">
                    <a:lumMod val="75000"/>
                  </a:schemeClr>
                </a:solidFill>
              </a:rPr>
              <a:t>The fate of each </a:t>
            </a:r>
            <a:r>
              <a:rPr lang="en-US" sz="2200" b="1" dirty="0" err="1">
                <a:solidFill>
                  <a:schemeClr val="bg1">
                    <a:lumMod val="75000"/>
                  </a:schemeClr>
                </a:solidFill>
              </a:rPr>
              <a:t>taxon</a:t>
            </a:r>
            <a:r>
              <a:rPr lang="en-US" sz="2200" b="1" dirty="0">
                <a:solidFill>
                  <a:schemeClr val="bg1">
                    <a:lumMod val="75000"/>
                  </a:schemeClr>
                </a:solidFill>
              </a:rPr>
              <a:t> (with respect to extinction and encounter) is independent of the fate of every other </a:t>
            </a:r>
            <a:r>
              <a:rPr lang="en-US" sz="2200" b="1" dirty="0" err="1">
                <a:solidFill>
                  <a:schemeClr val="bg1">
                    <a:lumMod val="75000"/>
                  </a:schemeClr>
                </a:solidFill>
              </a:rPr>
              <a:t>taxon</a:t>
            </a:r>
            <a:r>
              <a:rPr lang="en-US" sz="2200" b="1" dirty="0">
                <a:solidFill>
                  <a:schemeClr val="bg1">
                    <a:lumMod val="75000"/>
                  </a:schemeClr>
                </a:solidFill>
              </a:rPr>
              <a:t> </a:t>
            </a:r>
            <a:r>
              <a:rPr lang="en-US" sz="2200" dirty="0"/>
              <a:t>	</a:t>
            </a:r>
          </a:p>
          <a:p>
            <a:pPr marL="342900" indent="-342900">
              <a:spcBef>
                <a:spcPct val="50000"/>
              </a:spcBef>
            </a:pPr>
            <a:endParaRPr lang="en-US" dirty="0"/>
          </a:p>
          <a:p>
            <a:pPr marL="342900" indent="-342900">
              <a:spcBef>
                <a:spcPct val="50000"/>
              </a:spcBef>
            </a:pPr>
            <a:endParaRPr lang="en-US" dirty="0"/>
          </a:p>
          <a:p>
            <a:pPr marL="342900" indent="-342900">
              <a:spcBef>
                <a:spcPct val="50000"/>
              </a:spcBef>
            </a:pPr>
            <a:endParaRPr lang="en-US" dirty="0">
              <a:latin typeface="Lucida Calligraphy" pitchFamily="66" charset="0"/>
            </a:endParaRPr>
          </a:p>
          <a:p>
            <a:pPr marL="342900" indent="-342900">
              <a:spcBef>
                <a:spcPct val="50000"/>
              </a:spcBef>
            </a:pP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sz="3000" b="1" dirty="0"/>
              <a:t>Assumptions of the CJS model</a:t>
            </a:r>
          </a:p>
        </p:txBody>
      </p:sp>
      <p:sp>
        <p:nvSpPr>
          <p:cNvPr id="24579" name="Text Box 3"/>
          <p:cNvSpPr txBox="1">
            <a:spLocks noChangeArrowheads="1"/>
          </p:cNvSpPr>
          <p:nvPr/>
        </p:nvSpPr>
        <p:spPr bwMode="auto">
          <a:xfrm>
            <a:off x="1981200" y="880955"/>
            <a:ext cx="8229600" cy="7001917"/>
          </a:xfrm>
          <a:prstGeom prst="rect">
            <a:avLst/>
          </a:prstGeom>
          <a:noFill/>
          <a:ln w="9525">
            <a:noFill/>
            <a:miter lim="800000"/>
            <a:headEnd/>
            <a:tailEnd/>
          </a:ln>
        </p:spPr>
        <p:txBody>
          <a:bodyPr>
            <a:spAutoFit/>
          </a:bodyPr>
          <a:lstStyle/>
          <a:p>
            <a:pPr marL="342900" indent="-342900">
              <a:spcBef>
                <a:spcPct val="50000"/>
              </a:spcBef>
            </a:pPr>
            <a:r>
              <a:rPr lang="en-US" dirty="0">
                <a:solidFill>
                  <a:schemeClr val="bg1">
                    <a:lumMod val="75000"/>
                  </a:schemeClr>
                </a:solidFill>
              </a:rPr>
              <a:t>	</a:t>
            </a:r>
            <a:endParaRPr lang="en-US" sz="2200" u="sng" dirty="0">
              <a:solidFill>
                <a:schemeClr val="bg1">
                  <a:lumMod val="75000"/>
                </a:schemeClr>
              </a:solidFill>
            </a:endParaRPr>
          </a:p>
          <a:p>
            <a:pPr marL="800100" lvl="1" indent="-342900">
              <a:spcBef>
                <a:spcPct val="50000"/>
              </a:spcBef>
              <a:buFontTx/>
              <a:buAutoNum type="arabicPeriod"/>
            </a:pPr>
            <a:r>
              <a:rPr lang="en-US" sz="2200" b="1" dirty="0">
                <a:solidFill>
                  <a:schemeClr val="bg1">
                    <a:lumMod val="75000"/>
                  </a:schemeClr>
                </a:solidFill>
              </a:rPr>
              <a:t>After initial encounters, detection/encounter probabilities are equal for all taxa in the data/group of interest</a:t>
            </a:r>
          </a:p>
          <a:p>
            <a:pPr marL="800100" lvl="1" indent="-342900">
              <a:spcBef>
                <a:spcPct val="50000"/>
              </a:spcBef>
              <a:buFontTx/>
              <a:buAutoNum type="arabicPeriod"/>
            </a:pPr>
            <a:r>
              <a:rPr lang="en-US" sz="2200" b="1" dirty="0">
                <a:solidFill>
                  <a:schemeClr val="bg1">
                    <a:lumMod val="75000"/>
                  </a:schemeClr>
                </a:solidFill>
              </a:rPr>
              <a:t>After initial encounters, extinction probabilities for all taxa are equal </a:t>
            </a:r>
          </a:p>
          <a:p>
            <a:pPr marL="800100" lvl="1" indent="-342900">
              <a:spcBef>
                <a:spcPct val="50000"/>
              </a:spcBef>
              <a:buFontTx/>
              <a:buAutoNum type="arabicPeriod"/>
            </a:pPr>
            <a:r>
              <a:rPr lang="en-US" sz="2200" b="1" dirty="0">
                <a:solidFill>
                  <a:schemeClr val="bg1">
                    <a:lumMod val="75000"/>
                  </a:schemeClr>
                </a:solidFill>
              </a:rPr>
              <a:t>Sampling intervals are short relative to the time over which extinction is to be estimated</a:t>
            </a:r>
          </a:p>
          <a:p>
            <a:pPr marL="800100" lvl="1" indent="-342900">
              <a:spcBef>
                <a:spcPct val="50000"/>
              </a:spcBef>
              <a:buFontTx/>
              <a:buAutoNum type="arabicPeriod"/>
            </a:pPr>
            <a:r>
              <a:rPr lang="en-US" sz="2200" b="1" dirty="0"/>
              <a:t>The fate of each </a:t>
            </a:r>
            <a:r>
              <a:rPr lang="en-US" sz="2200" b="1" dirty="0" err="1"/>
              <a:t>taxon</a:t>
            </a:r>
            <a:r>
              <a:rPr lang="en-US" sz="2200" b="1" dirty="0"/>
              <a:t> (with respect to extinction and encounter) is independent of the fate of every other </a:t>
            </a:r>
            <a:r>
              <a:rPr lang="en-US" sz="2200" b="1" dirty="0" err="1"/>
              <a:t>taxon</a:t>
            </a:r>
            <a:r>
              <a:rPr lang="en-US" sz="2200" b="1" dirty="0"/>
              <a:t> </a:t>
            </a:r>
          </a:p>
          <a:p>
            <a:pPr marL="1257300" lvl="2" indent="-342900">
              <a:spcBef>
                <a:spcPct val="50000"/>
              </a:spcBef>
              <a:buFont typeface="Arial" pitchFamily="34" charset="0"/>
              <a:buChar char="•"/>
            </a:pPr>
            <a:r>
              <a:rPr lang="en-US" sz="2200" b="1" dirty="0">
                <a:solidFill>
                  <a:srgbClr val="0033CC"/>
                </a:solidFill>
              </a:rPr>
              <a:t>Corrections for over-dispersion</a:t>
            </a:r>
          </a:p>
          <a:p>
            <a:pPr marL="1257300" lvl="2" indent="-342900">
              <a:spcBef>
                <a:spcPct val="50000"/>
              </a:spcBef>
              <a:buFont typeface="Arial" pitchFamily="34" charset="0"/>
              <a:buChar char="•"/>
            </a:pPr>
            <a:r>
              <a:rPr lang="en-US" sz="2200" b="1" dirty="0">
                <a:solidFill>
                  <a:srgbClr val="0033CC"/>
                </a:solidFill>
              </a:rPr>
              <a:t>Co-occurrence analyses </a:t>
            </a:r>
            <a:endParaRPr lang="en-US" sz="2200" b="1" dirty="0"/>
          </a:p>
          <a:p>
            <a:pPr marL="800100" lvl="1" indent="-342900">
              <a:spcBef>
                <a:spcPct val="50000"/>
              </a:spcBef>
            </a:pPr>
            <a:r>
              <a:rPr lang="en-US" sz="2200" dirty="0"/>
              <a:t>	</a:t>
            </a:r>
          </a:p>
          <a:p>
            <a:pPr marL="342900" indent="-342900">
              <a:spcBef>
                <a:spcPct val="50000"/>
              </a:spcBef>
            </a:pPr>
            <a:endParaRPr lang="en-US" dirty="0"/>
          </a:p>
          <a:p>
            <a:pPr marL="342900" indent="-342900">
              <a:spcBef>
                <a:spcPct val="50000"/>
              </a:spcBef>
            </a:pPr>
            <a:endParaRPr lang="en-US" dirty="0"/>
          </a:p>
          <a:p>
            <a:pPr marL="342900" indent="-342900">
              <a:spcBef>
                <a:spcPct val="50000"/>
              </a:spcBef>
            </a:pPr>
            <a:endParaRPr lang="en-US" dirty="0">
              <a:latin typeface="Lucida Calligraphy" pitchFamily="66" charset="0"/>
            </a:endParaRPr>
          </a:p>
          <a:p>
            <a:pPr marL="342900" indent="-342900">
              <a:spcBef>
                <a:spcPct val="50000"/>
              </a:spcBef>
            </a:pP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txBox="1">
            <a:spLocks noChangeArrowheads="1"/>
          </p:cNvSpPr>
          <p:nvPr/>
        </p:nvSpPr>
        <p:spPr>
          <a:xfrm>
            <a:off x="1981200" y="629816"/>
            <a:ext cx="8229600" cy="926976"/>
          </a:xfrm>
          <a:prstGeom prst="rect">
            <a:avLst/>
          </a:prstGeom>
        </p:spPr>
        <p:txBody>
          <a:bodyPr/>
          <a:lstStyle/>
          <a:p>
            <a:pPr algn="ctr" fontAlgn="base">
              <a:spcBef>
                <a:spcPct val="0"/>
              </a:spcBef>
              <a:spcAft>
                <a:spcPct val="0"/>
              </a:spcAft>
              <a:defRPr/>
            </a:pPr>
            <a:r>
              <a:rPr lang="en-US" sz="3000" b="1" dirty="0">
                <a:latin typeface="+mj-lt"/>
                <a:ea typeface="+mj-ea"/>
                <a:cs typeface="+mj-cs"/>
              </a:rPr>
              <a:t>Covariate modeling</a:t>
            </a:r>
          </a:p>
        </p:txBody>
      </p:sp>
      <p:sp>
        <p:nvSpPr>
          <p:cNvPr id="12" name="Text Box 3"/>
          <p:cNvSpPr txBox="1">
            <a:spLocks noChangeArrowheads="1"/>
          </p:cNvSpPr>
          <p:nvPr/>
        </p:nvSpPr>
        <p:spPr bwMode="auto">
          <a:xfrm>
            <a:off x="1981200" y="918884"/>
            <a:ext cx="8229600" cy="5647700"/>
          </a:xfrm>
          <a:prstGeom prst="rect">
            <a:avLst/>
          </a:prstGeom>
          <a:noFill/>
          <a:ln w="9525">
            <a:noFill/>
            <a:miter lim="800000"/>
            <a:headEnd/>
            <a:tailEnd/>
          </a:ln>
        </p:spPr>
        <p:txBody>
          <a:bodyPr>
            <a:spAutoFit/>
          </a:bodyPr>
          <a:lstStyle/>
          <a:p>
            <a:pPr marL="342900" indent="-342900">
              <a:spcBef>
                <a:spcPct val="50000"/>
              </a:spcBef>
            </a:pPr>
            <a:r>
              <a:rPr lang="en-US" dirty="0"/>
              <a:t>	</a:t>
            </a:r>
            <a:endParaRPr lang="en-US" sz="2200" u="sng" dirty="0"/>
          </a:p>
          <a:p>
            <a:pPr marL="800100" lvl="1" indent="-342900">
              <a:spcBef>
                <a:spcPct val="50000"/>
              </a:spcBef>
              <a:buFont typeface="Arial" pitchFamily="34" charset="0"/>
              <a:buChar char="•"/>
            </a:pPr>
            <a:r>
              <a:rPr lang="en-US" sz="2200" b="1" dirty="0"/>
              <a:t>A way to include factors or variables that may be important in explaining variation in the parameters (e.g. extinction, sampling) you are interested in</a:t>
            </a:r>
          </a:p>
          <a:p>
            <a:pPr marL="800100" lvl="1" indent="-342900">
              <a:spcBef>
                <a:spcPct val="50000"/>
              </a:spcBef>
              <a:buFont typeface="Arial" pitchFamily="34" charset="0"/>
              <a:buChar char="•"/>
            </a:pPr>
            <a:r>
              <a:rPr lang="en-US" sz="2200" b="1" dirty="0"/>
              <a:t>Allows us to compare models with different [or no] covariates (Model Comparison and Selection)</a:t>
            </a:r>
          </a:p>
          <a:p>
            <a:pPr marL="800100" lvl="1" indent="-342900">
              <a:spcBef>
                <a:spcPct val="50000"/>
              </a:spcBef>
              <a:buFont typeface="Arial" pitchFamily="34" charset="0"/>
              <a:buChar char="•"/>
            </a:pPr>
            <a:r>
              <a:rPr lang="en-US" sz="2200" b="1" dirty="0"/>
              <a:t>models to compare</a:t>
            </a:r>
          </a:p>
          <a:p>
            <a:pPr marL="1714500" lvl="3" indent="-342900">
              <a:spcBef>
                <a:spcPct val="50000"/>
              </a:spcBef>
              <a:buClr>
                <a:srgbClr val="0033CC"/>
              </a:buClr>
              <a:buSzPct val="80000"/>
              <a:buFont typeface="Wingdings" pitchFamily="2" charset="2"/>
              <a:buChar char="§"/>
            </a:pPr>
            <a:r>
              <a:rPr lang="el-GR" sz="2200" b="1" dirty="0"/>
              <a:t>ε</a:t>
            </a:r>
            <a:r>
              <a:rPr lang="nb-NO" sz="2200" b="1" dirty="0"/>
              <a:t>(</a:t>
            </a:r>
            <a:r>
              <a:rPr lang="nb-NO" sz="2200" b="1" dirty="0" err="1"/>
              <a:t>constant</a:t>
            </a:r>
            <a:r>
              <a:rPr lang="nb-NO" sz="2200" b="1" dirty="0"/>
              <a:t>)p(</a:t>
            </a:r>
            <a:r>
              <a:rPr lang="nb-NO" sz="2200" b="1" dirty="0" err="1"/>
              <a:t>time-varying</a:t>
            </a:r>
            <a:r>
              <a:rPr lang="nb-NO" sz="2200" b="1" dirty="0"/>
              <a:t>)</a:t>
            </a:r>
          </a:p>
          <a:p>
            <a:pPr marL="1714500" lvl="3" indent="-342900">
              <a:spcBef>
                <a:spcPct val="50000"/>
              </a:spcBef>
              <a:buClr>
                <a:srgbClr val="0033CC"/>
              </a:buClr>
              <a:buSzPct val="80000"/>
              <a:buFont typeface="Wingdings" pitchFamily="2" charset="2"/>
              <a:buChar char="§"/>
            </a:pPr>
            <a:r>
              <a:rPr lang="el-GR" sz="2200" b="1" dirty="0"/>
              <a:t>ε</a:t>
            </a:r>
            <a:r>
              <a:rPr lang="nb-NO" sz="2200" b="1" dirty="0"/>
              <a:t>(</a:t>
            </a:r>
            <a:r>
              <a:rPr lang="nb-NO" sz="2200" b="1" dirty="0" err="1"/>
              <a:t>time-varying</a:t>
            </a:r>
            <a:r>
              <a:rPr lang="nb-NO" sz="2200" b="1" dirty="0"/>
              <a:t>)p(</a:t>
            </a:r>
            <a:r>
              <a:rPr lang="nb-NO" sz="2200" b="1" dirty="0" err="1"/>
              <a:t>sea-levels</a:t>
            </a:r>
            <a:r>
              <a:rPr lang="nb-NO" sz="2200" b="1" dirty="0"/>
              <a:t>)</a:t>
            </a:r>
            <a:endParaRPr lang="en-US" sz="2200" b="1" dirty="0"/>
          </a:p>
          <a:p>
            <a:pPr marL="342900" indent="-342900">
              <a:spcBef>
                <a:spcPct val="50000"/>
              </a:spcBef>
            </a:pPr>
            <a:endParaRPr lang="en-US" dirty="0"/>
          </a:p>
          <a:p>
            <a:pPr marL="342900" indent="-342900">
              <a:spcBef>
                <a:spcPct val="50000"/>
              </a:spcBef>
            </a:pPr>
            <a:endParaRPr lang="en-US" dirty="0"/>
          </a:p>
          <a:p>
            <a:pPr marL="342900" indent="-342900">
              <a:spcBef>
                <a:spcPct val="50000"/>
              </a:spcBef>
            </a:pPr>
            <a:endParaRPr lang="en-US" dirty="0">
              <a:latin typeface="Lucida Calligraphy" pitchFamily="66" charset="0"/>
            </a:endParaRPr>
          </a:p>
          <a:p>
            <a:pPr marL="342900" indent="-342900">
              <a:spcBef>
                <a:spcPct val="50000"/>
              </a:spcBef>
            </a:pP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p:cNvGraphicFramePr>
            <a:graphicFrameLocks noChangeAspect="1"/>
          </p:cNvGraphicFramePr>
          <p:nvPr/>
        </p:nvGraphicFramePr>
        <p:xfrm>
          <a:off x="1949450" y="1439864"/>
          <a:ext cx="8351838" cy="1519237"/>
        </p:xfrm>
        <a:graphic>
          <a:graphicData uri="http://schemas.openxmlformats.org/presentationml/2006/ole">
            <mc:AlternateContent xmlns:mc="http://schemas.openxmlformats.org/markup-compatibility/2006">
              <mc:Choice xmlns:v="urn:schemas-microsoft-com:vml" Requires="v">
                <p:oleObj name="Equation" r:id="rId2" imgW="2514600" imgH="457200" progId="Equation.DSMT4">
                  <p:embed/>
                </p:oleObj>
              </mc:Choice>
              <mc:Fallback>
                <p:oleObj name="Equation" r:id="rId2" imgW="2514600" imgH="457200" progId="Equation.DSMT4">
                  <p:embed/>
                  <p:pic>
                    <p:nvPicPr>
                      <p:cNvPr id="6"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49450" y="1439864"/>
                        <a:ext cx="8351838" cy="15192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Rectangle 2"/>
          <p:cNvSpPr txBox="1">
            <a:spLocks noChangeArrowheads="1"/>
          </p:cNvSpPr>
          <p:nvPr/>
        </p:nvSpPr>
        <p:spPr>
          <a:xfrm>
            <a:off x="1981200" y="629816"/>
            <a:ext cx="8229600" cy="926976"/>
          </a:xfrm>
          <a:prstGeom prst="rect">
            <a:avLst/>
          </a:prstGeom>
        </p:spPr>
        <p:txBody>
          <a:bodyPr/>
          <a:lstStyle/>
          <a:p>
            <a:pPr algn="ctr" fontAlgn="base">
              <a:spcBef>
                <a:spcPct val="0"/>
              </a:spcBef>
              <a:spcAft>
                <a:spcPct val="0"/>
              </a:spcAft>
              <a:defRPr/>
            </a:pPr>
            <a:r>
              <a:rPr lang="en-US" sz="3000" b="1" dirty="0">
                <a:latin typeface="+mj-lt"/>
                <a:ea typeface="+mj-ea"/>
                <a:cs typeface="+mj-cs"/>
              </a:rPr>
              <a:t>Covariate modeling via link functions</a:t>
            </a:r>
          </a:p>
        </p:txBody>
      </p:sp>
      <p:sp>
        <p:nvSpPr>
          <p:cNvPr id="9" name="Oval 8"/>
          <p:cNvSpPr/>
          <p:nvPr/>
        </p:nvSpPr>
        <p:spPr>
          <a:xfrm>
            <a:off x="8472264" y="1916832"/>
            <a:ext cx="576064" cy="57606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0" name="Oval 9"/>
          <p:cNvSpPr/>
          <p:nvPr/>
        </p:nvSpPr>
        <p:spPr>
          <a:xfrm>
            <a:off x="3287688" y="2204864"/>
            <a:ext cx="216024" cy="21602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1" name="TextBox 10"/>
          <p:cNvSpPr txBox="1"/>
          <p:nvPr/>
        </p:nvSpPr>
        <p:spPr>
          <a:xfrm>
            <a:off x="6744072" y="2708921"/>
            <a:ext cx="2794548" cy="1323439"/>
          </a:xfrm>
          <a:prstGeom prst="rect">
            <a:avLst/>
          </a:prstGeom>
          <a:noFill/>
        </p:spPr>
        <p:txBody>
          <a:bodyPr wrap="none" rtlCol="0">
            <a:spAutoFit/>
          </a:bodyPr>
          <a:lstStyle/>
          <a:p>
            <a:r>
              <a:rPr lang="en-US" sz="2000" dirty="0">
                <a:solidFill>
                  <a:srgbClr val="FF0000"/>
                </a:solidFill>
              </a:rPr>
              <a:t>Taxon specific covariates </a:t>
            </a:r>
          </a:p>
          <a:p>
            <a:pPr lvl="1">
              <a:buFont typeface="Arial" pitchFamily="34" charset="0"/>
              <a:buChar char="•"/>
            </a:pPr>
            <a:r>
              <a:rPr lang="en-US" sz="2000" dirty="0">
                <a:solidFill>
                  <a:srgbClr val="FF0000"/>
                </a:solidFill>
              </a:rPr>
              <a:t>size</a:t>
            </a:r>
          </a:p>
          <a:p>
            <a:pPr lvl="1">
              <a:buFont typeface="Arial" pitchFamily="34" charset="0"/>
              <a:buChar char="•"/>
            </a:pPr>
            <a:r>
              <a:rPr lang="en-US" sz="2000" dirty="0" err="1">
                <a:solidFill>
                  <a:srgbClr val="FF0000"/>
                </a:solidFill>
              </a:rPr>
              <a:t>minerology</a:t>
            </a:r>
            <a:endParaRPr lang="en-US" sz="2000" dirty="0">
              <a:solidFill>
                <a:srgbClr val="FF0000"/>
              </a:solidFill>
            </a:endParaRPr>
          </a:p>
          <a:p>
            <a:pPr lvl="1">
              <a:buFont typeface="Arial" pitchFamily="34" charset="0"/>
              <a:buChar char="•"/>
            </a:pPr>
            <a:r>
              <a:rPr lang="en-US" sz="2000" dirty="0">
                <a:solidFill>
                  <a:srgbClr val="FF0000"/>
                </a:solidFill>
              </a:rPr>
              <a:t>taxonomic group</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p:cNvGraphicFramePr>
            <a:graphicFrameLocks noChangeAspect="1"/>
          </p:cNvGraphicFramePr>
          <p:nvPr/>
        </p:nvGraphicFramePr>
        <p:xfrm>
          <a:off x="1949450" y="1439864"/>
          <a:ext cx="8351838" cy="1519237"/>
        </p:xfrm>
        <a:graphic>
          <a:graphicData uri="http://schemas.openxmlformats.org/presentationml/2006/ole">
            <mc:AlternateContent xmlns:mc="http://schemas.openxmlformats.org/markup-compatibility/2006">
              <mc:Choice xmlns:v="urn:schemas-microsoft-com:vml" Requires="v">
                <p:oleObj name="Equation" r:id="rId2" imgW="2514600" imgH="457200" progId="Equation.DSMT4">
                  <p:embed/>
                </p:oleObj>
              </mc:Choice>
              <mc:Fallback>
                <p:oleObj name="Equation" r:id="rId2" imgW="2514600" imgH="457200" progId="Equation.DSMT4">
                  <p:embed/>
                  <p:pic>
                    <p:nvPicPr>
                      <p:cNvPr id="6"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49450" y="1439864"/>
                        <a:ext cx="8351838" cy="15192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Rectangle 2"/>
          <p:cNvSpPr txBox="1">
            <a:spLocks noChangeArrowheads="1"/>
          </p:cNvSpPr>
          <p:nvPr/>
        </p:nvSpPr>
        <p:spPr>
          <a:xfrm>
            <a:off x="1981200" y="629816"/>
            <a:ext cx="8229600" cy="926976"/>
          </a:xfrm>
          <a:prstGeom prst="rect">
            <a:avLst/>
          </a:prstGeom>
        </p:spPr>
        <p:txBody>
          <a:bodyPr/>
          <a:lstStyle/>
          <a:p>
            <a:pPr algn="ctr" fontAlgn="base">
              <a:spcBef>
                <a:spcPct val="0"/>
              </a:spcBef>
              <a:spcAft>
                <a:spcPct val="0"/>
              </a:spcAft>
              <a:defRPr/>
            </a:pPr>
            <a:r>
              <a:rPr lang="en-US" sz="3000" b="1" dirty="0">
                <a:latin typeface="+mj-lt"/>
                <a:ea typeface="+mj-ea"/>
                <a:cs typeface="+mj-cs"/>
              </a:rPr>
              <a:t>Covariate modeling via link functions</a:t>
            </a:r>
          </a:p>
        </p:txBody>
      </p:sp>
      <p:sp>
        <p:nvSpPr>
          <p:cNvPr id="9" name="Oval 8"/>
          <p:cNvSpPr/>
          <p:nvPr/>
        </p:nvSpPr>
        <p:spPr>
          <a:xfrm>
            <a:off x="9768408" y="1916832"/>
            <a:ext cx="576064" cy="576064"/>
          </a:xfrm>
          <a:prstGeom prst="ellipse">
            <a:avLst/>
          </a:prstGeom>
          <a:noFill/>
          <a:ln>
            <a:solidFill>
              <a:srgbClr val="0033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0" name="Oval 9"/>
          <p:cNvSpPr/>
          <p:nvPr/>
        </p:nvSpPr>
        <p:spPr>
          <a:xfrm>
            <a:off x="3503712" y="2218311"/>
            <a:ext cx="216024" cy="216024"/>
          </a:xfrm>
          <a:prstGeom prst="ellipse">
            <a:avLst/>
          </a:prstGeom>
          <a:noFill/>
          <a:ln>
            <a:solidFill>
              <a:srgbClr val="0033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1" name="TextBox 10"/>
          <p:cNvSpPr txBox="1"/>
          <p:nvPr/>
        </p:nvSpPr>
        <p:spPr>
          <a:xfrm>
            <a:off x="6744073" y="2708921"/>
            <a:ext cx="2713243" cy="1323439"/>
          </a:xfrm>
          <a:prstGeom prst="rect">
            <a:avLst/>
          </a:prstGeom>
          <a:noFill/>
          <a:ln>
            <a:noFill/>
          </a:ln>
        </p:spPr>
        <p:txBody>
          <a:bodyPr wrap="none" rtlCol="0">
            <a:spAutoFit/>
          </a:bodyPr>
          <a:lstStyle/>
          <a:p>
            <a:r>
              <a:rPr lang="en-US" sz="2000" dirty="0">
                <a:solidFill>
                  <a:srgbClr val="0033CC"/>
                </a:solidFill>
              </a:rPr>
              <a:t>Time specific covariates </a:t>
            </a:r>
          </a:p>
          <a:p>
            <a:pPr lvl="1">
              <a:buFont typeface="Arial" pitchFamily="34" charset="0"/>
              <a:buChar char="•"/>
            </a:pPr>
            <a:r>
              <a:rPr lang="en-US" sz="2000" dirty="0">
                <a:solidFill>
                  <a:srgbClr val="0033CC"/>
                </a:solidFill>
              </a:rPr>
              <a:t>Duration of bin</a:t>
            </a:r>
          </a:p>
          <a:p>
            <a:pPr lvl="1">
              <a:buFont typeface="Arial" pitchFamily="34" charset="0"/>
              <a:buChar char="•"/>
            </a:pPr>
            <a:r>
              <a:rPr lang="en-US" sz="2000" dirty="0">
                <a:solidFill>
                  <a:srgbClr val="0033CC"/>
                </a:solidFill>
              </a:rPr>
              <a:t>Sea-level</a:t>
            </a:r>
          </a:p>
          <a:p>
            <a:pPr lvl="1">
              <a:buFont typeface="Arial" pitchFamily="34" charset="0"/>
              <a:buChar char="•"/>
            </a:pPr>
            <a:r>
              <a:rPr lang="en-US" sz="2000" dirty="0">
                <a:solidFill>
                  <a:srgbClr val="0033CC"/>
                </a:solidFill>
              </a:rPr>
              <a:t>Temperature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p:cNvGraphicFramePr>
            <a:graphicFrameLocks noChangeAspect="1"/>
          </p:cNvGraphicFramePr>
          <p:nvPr/>
        </p:nvGraphicFramePr>
        <p:xfrm>
          <a:off x="1949450" y="1439864"/>
          <a:ext cx="8351838" cy="1519237"/>
        </p:xfrm>
        <a:graphic>
          <a:graphicData uri="http://schemas.openxmlformats.org/presentationml/2006/ole">
            <mc:AlternateContent xmlns:mc="http://schemas.openxmlformats.org/markup-compatibility/2006">
              <mc:Choice xmlns:v="urn:schemas-microsoft-com:vml" Requires="v">
                <p:oleObj name="Equation" r:id="rId2" imgW="2514600" imgH="457200" progId="Equation.DSMT4">
                  <p:embed/>
                </p:oleObj>
              </mc:Choice>
              <mc:Fallback>
                <p:oleObj name="Equation" r:id="rId2" imgW="2514600" imgH="457200" progId="Equation.DSMT4">
                  <p:embed/>
                  <p:pic>
                    <p:nvPicPr>
                      <p:cNvPr id="6"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49450" y="1439864"/>
                        <a:ext cx="8351838" cy="15192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Object 6"/>
          <p:cNvGraphicFramePr>
            <a:graphicFrameLocks noChangeAspect="1"/>
          </p:cNvGraphicFramePr>
          <p:nvPr/>
        </p:nvGraphicFramePr>
        <p:xfrm>
          <a:off x="3431704" y="3717033"/>
          <a:ext cx="5184576" cy="1820117"/>
        </p:xfrm>
        <a:graphic>
          <a:graphicData uri="http://schemas.openxmlformats.org/presentationml/2006/ole">
            <mc:AlternateContent xmlns:mc="http://schemas.openxmlformats.org/markup-compatibility/2006">
              <mc:Choice xmlns:v="urn:schemas-microsoft-com:vml" Requires="v">
                <p:oleObj name="Equation" r:id="rId4" imgW="1193760" imgH="419040" progId="Equation.DSMT4">
                  <p:embed/>
                </p:oleObj>
              </mc:Choice>
              <mc:Fallback>
                <p:oleObj name="Equation" r:id="rId4" imgW="1193760" imgH="419040" progId="Equation.DSMT4">
                  <p:embed/>
                  <p:pic>
                    <p:nvPicPr>
                      <p:cNvPr id="7"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31704" y="3717033"/>
                        <a:ext cx="5184576" cy="182011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Rectangle 2"/>
          <p:cNvSpPr txBox="1">
            <a:spLocks noChangeArrowheads="1"/>
          </p:cNvSpPr>
          <p:nvPr/>
        </p:nvSpPr>
        <p:spPr>
          <a:xfrm>
            <a:off x="1981200" y="629816"/>
            <a:ext cx="8229600" cy="926976"/>
          </a:xfrm>
          <a:prstGeom prst="rect">
            <a:avLst/>
          </a:prstGeom>
        </p:spPr>
        <p:txBody>
          <a:bodyPr/>
          <a:lstStyle/>
          <a:p>
            <a:pPr algn="ctr" fontAlgn="base">
              <a:spcBef>
                <a:spcPct val="0"/>
              </a:spcBef>
              <a:spcAft>
                <a:spcPct val="0"/>
              </a:spcAft>
              <a:defRPr/>
            </a:pPr>
            <a:r>
              <a:rPr lang="en-US" sz="3000" b="1" dirty="0">
                <a:latin typeface="+mj-lt"/>
                <a:ea typeface="+mj-ea"/>
                <a:cs typeface="+mj-cs"/>
              </a:rPr>
              <a:t>Covariate modeling via link functions</a:t>
            </a:r>
          </a:p>
        </p:txBody>
      </p:sp>
      <p:sp>
        <p:nvSpPr>
          <p:cNvPr id="14" name="Rectangle 13"/>
          <p:cNvSpPr/>
          <p:nvPr/>
        </p:nvSpPr>
        <p:spPr>
          <a:xfrm>
            <a:off x="8040216" y="1628800"/>
            <a:ext cx="504056" cy="1152128"/>
          </a:xfrm>
          <a:prstGeom prst="rect">
            <a:avLst/>
          </a:prstGeom>
          <a:noFill/>
          <a:ln w="38100">
            <a:solidFill>
              <a:srgbClr val="008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5" name="Rectangle 14"/>
          <p:cNvSpPr/>
          <p:nvPr/>
        </p:nvSpPr>
        <p:spPr>
          <a:xfrm>
            <a:off x="7104112" y="1628800"/>
            <a:ext cx="504056" cy="1152128"/>
          </a:xfrm>
          <a:prstGeom prst="rect">
            <a:avLst/>
          </a:prstGeom>
          <a:noFill/>
          <a:ln w="38100">
            <a:solidFill>
              <a:srgbClr val="008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6" name="Rectangle 15"/>
          <p:cNvSpPr/>
          <p:nvPr/>
        </p:nvSpPr>
        <p:spPr>
          <a:xfrm>
            <a:off x="9336360" y="1628800"/>
            <a:ext cx="504056" cy="1152128"/>
          </a:xfrm>
          <a:prstGeom prst="rect">
            <a:avLst/>
          </a:prstGeom>
          <a:noFill/>
          <a:ln w="38100">
            <a:solidFill>
              <a:srgbClr val="008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8" name="Rectangle 17"/>
          <p:cNvSpPr/>
          <p:nvPr/>
        </p:nvSpPr>
        <p:spPr>
          <a:xfrm>
            <a:off x="6384032" y="3789040"/>
            <a:ext cx="360040" cy="504056"/>
          </a:xfrm>
          <a:prstGeom prst="rect">
            <a:avLst/>
          </a:prstGeom>
          <a:noFill/>
          <a:ln w="38100">
            <a:solidFill>
              <a:srgbClr val="008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9" name="Rectangle 18"/>
          <p:cNvSpPr/>
          <p:nvPr/>
        </p:nvSpPr>
        <p:spPr>
          <a:xfrm>
            <a:off x="5735960" y="3789040"/>
            <a:ext cx="360040" cy="504056"/>
          </a:xfrm>
          <a:prstGeom prst="rect">
            <a:avLst/>
          </a:prstGeom>
          <a:noFill/>
          <a:ln w="38100">
            <a:solidFill>
              <a:srgbClr val="008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20" name="Rectangle 19"/>
          <p:cNvSpPr/>
          <p:nvPr/>
        </p:nvSpPr>
        <p:spPr>
          <a:xfrm>
            <a:off x="7320136" y="3789040"/>
            <a:ext cx="360040" cy="504056"/>
          </a:xfrm>
          <a:prstGeom prst="rect">
            <a:avLst/>
          </a:prstGeom>
          <a:noFill/>
          <a:ln w="38100">
            <a:solidFill>
              <a:srgbClr val="008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21" name="Rectangle 20"/>
          <p:cNvSpPr/>
          <p:nvPr/>
        </p:nvSpPr>
        <p:spPr>
          <a:xfrm>
            <a:off x="7680176" y="4725144"/>
            <a:ext cx="360040" cy="504056"/>
          </a:xfrm>
          <a:prstGeom prst="rect">
            <a:avLst/>
          </a:prstGeom>
          <a:noFill/>
          <a:ln w="38100">
            <a:solidFill>
              <a:srgbClr val="008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22" name="Rectangle 21"/>
          <p:cNvSpPr/>
          <p:nvPr/>
        </p:nvSpPr>
        <p:spPr>
          <a:xfrm>
            <a:off x="6744072" y="4725144"/>
            <a:ext cx="360040" cy="504056"/>
          </a:xfrm>
          <a:prstGeom prst="rect">
            <a:avLst/>
          </a:prstGeom>
          <a:noFill/>
          <a:ln w="38100">
            <a:solidFill>
              <a:srgbClr val="008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23" name="Rectangle 22"/>
          <p:cNvSpPr/>
          <p:nvPr/>
        </p:nvSpPr>
        <p:spPr>
          <a:xfrm>
            <a:off x="6096000" y="4725144"/>
            <a:ext cx="360040" cy="504056"/>
          </a:xfrm>
          <a:prstGeom prst="rect">
            <a:avLst/>
          </a:prstGeom>
          <a:noFill/>
          <a:ln w="38100">
            <a:solidFill>
              <a:srgbClr val="008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18" grpId="0" animBg="1"/>
      <p:bldP spid="19" grpId="0" animBg="1"/>
      <p:bldP spid="20" grpId="0" animBg="1"/>
      <p:bldP spid="21" grpId="0" animBg="1"/>
      <p:bldP spid="22" grpId="0" animBg="1"/>
      <p:bldP spid="23"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CB469B97-F8EA-3284-DC1E-900C0242AA7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7559" b="37472"/>
          <a:stretch>
            <a:fillRect/>
          </a:stretch>
        </p:blipFill>
        <p:spPr bwMode="auto">
          <a:xfrm>
            <a:off x="824276" y="1816893"/>
            <a:ext cx="5154663" cy="487364"/>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A screenshot of a computer&#10;&#10;AI-generated content may be incorrect.">
            <a:extLst>
              <a:ext uri="{FF2B5EF4-FFF2-40B4-BE49-F238E27FC236}">
                <a16:creationId xmlns:a16="http://schemas.microsoft.com/office/drawing/2014/main" id="{2ABC6B01-65C4-0C46-A9E2-D162DAC052A1}"/>
              </a:ext>
            </a:extLst>
          </p:cNvPr>
          <p:cNvPicPr>
            <a:picLocks noChangeAspect="1"/>
          </p:cNvPicPr>
          <p:nvPr/>
        </p:nvPicPr>
        <p:blipFill>
          <a:blip r:embed="rId4"/>
          <a:srcRect l="38854" t="51113" r="34746" b="23736"/>
          <a:stretch>
            <a:fillRect/>
          </a:stretch>
        </p:blipFill>
        <p:spPr>
          <a:xfrm>
            <a:off x="6968003" y="235884"/>
            <a:ext cx="4399721" cy="2726056"/>
          </a:xfrm>
          <a:prstGeom prst="rect">
            <a:avLst/>
          </a:prstGeom>
        </p:spPr>
      </p:pic>
      <p:graphicFrame>
        <p:nvGraphicFramePr>
          <p:cNvPr id="6" name="Table 5">
            <a:extLst>
              <a:ext uri="{FF2B5EF4-FFF2-40B4-BE49-F238E27FC236}">
                <a16:creationId xmlns:a16="http://schemas.microsoft.com/office/drawing/2014/main" id="{4671EC4B-6D07-791D-668D-EC1879FEC82E}"/>
              </a:ext>
            </a:extLst>
          </p:cNvPr>
          <p:cNvGraphicFramePr>
            <a:graphicFrameLocks noGrp="1"/>
          </p:cNvGraphicFramePr>
          <p:nvPr>
            <p:extLst>
              <p:ext uri="{D42A27DB-BD31-4B8C-83A1-F6EECF244321}">
                <p14:modId xmlns:p14="http://schemas.microsoft.com/office/powerpoint/2010/main" val="3620639567"/>
              </p:ext>
            </p:extLst>
          </p:nvPr>
        </p:nvGraphicFramePr>
        <p:xfrm>
          <a:off x="1294295" y="3540039"/>
          <a:ext cx="9369288" cy="2931160"/>
        </p:xfrm>
        <a:graphic>
          <a:graphicData uri="http://schemas.openxmlformats.org/drawingml/2006/table">
            <a:tbl>
              <a:tblPr firstRow="1" bandRow="1">
                <a:tableStyleId>{5C22544A-7EE6-4342-B048-85BDC9FD1C3A}</a:tableStyleId>
              </a:tblPr>
              <a:tblGrid>
                <a:gridCol w="1041032">
                  <a:extLst>
                    <a:ext uri="{9D8B030D-6E8A-4147-A177-3AD203B41FA5}">
                      <a16:colId xmlns:a16="http://schemas.microsoft.com/office/drawing/2014/main" val="375710652"/>
                    </a:ext>
                  </a:extLst>
                </a:gridCol>
                <a:gridCol w="1041032">
                  <a:extLst>
                    <a:ext uri="{9D8B030D-6E8A-4147-A177-3AD203B41FA5}">
                      <a16:colId xmlns:a16="http://schemas.microsoft.com/office/drawing/2014/main" val="3342026321"/>
                    </a:ext>
                  </a:extLst>
                </a:gridCol>
                <a:gridCol w="1041032">
                  <a:extLst>
                    <a:ext uri="{9D8B030D-6E8A-4147-A177-3AD203B41FA5}">
                      <a16:colId xmlns:a16="http://schemas.microsoft.com/office/drawing/2014/main" val="1919333409"/>
                    </a:ext>
                  </a:extLst>
                </a:gridCol>
                <a:gridCol w="1041032">
                  <a:extLst>
                    <a:ext uri="{9D8B030D-6E8A-4147-A177-3AD203B41FA5}">
                      <a16:colId xmlns:a16="http://schemas.microsoft.com/office/drawing/2014/main" val="324722923"/>
                    </a:ext>
                  </a:extLst>
                </a:gridCol>
                <a:gridCol w="1041032">
                  <a:extLst>
                    <a:ext uri="{9D8B030D-6E8A-4147-A177-3AD203B41FA5}">
                      <a16:colId xmlns:a16="http://schemas.microsoft.com/office/drawing/2014/main" val="1810647388"/>
                    </a:ext>
                  </a:extLst>
                </a:gridCol>
                <a:gridCol w="1041032">
                  <a:extLst>
                    <a:ext uri="{9D8B030D-6E8A-4147-A177-3AD203B41FA5}">
                      <a16:colId xmlns:a16="http://schemas.microsoft.com/office/drawing/2014/main" val="1119389672"/>
                    </a:ext>
                  </a:extLst>
                </a:gridCol>
                <a:gridCol w="1041032">
                  <a:extLst>
                    <a:ext uri="{9D8B030D-6E8A-4147-A177-3AD203B41FA5}">
                      <a16:colId xmlns:a16="http://schemas.microsoft.com/office/drawing/2014/main" val="2838020959"/>
                    </a:ext>
                  </a:extLst>
                </a:gridCol>
                <a:gridCol w="1041032">
                  <a:extLst>
                    <a:ext uri="{9D8B030D-6E8A-4147-A177-3AD203B41FA5}">
                      <a16:colId xmlns:a16="http://schemas.microsoft.com/office/drawing/2014/main" val="4212327275"/>
                    </a:ext>
                  </a:extLst>
                </a:gridCol>
                <a:gridCol w="1041032">
                  <a:extLst>
                    <a:ext uri="{9D8B030D-6E8A-4147-A177-3AD203B41FA5}">
                      <a16:colId xmlns:a16="http://schemas.microsoft.com/office/drawing/2014/main" val="2096784609"/>
                    </a:ext>
                  </a:extLst>
                </a:gridCol>
              </a:tblGrid>
              <a:tr h="370840">
                <a:tc>
                  <a:txBody>
                    <a:bodyPr/>
                    <a:lstStyle/>
                    <a:p>
                      <a:endParaRPr lang="en-US"/>
                    </a:p>
                  </a:txBody>
                  <a:tcPr/>
                </a:tc>
                <a:tc>
                  <a:txBody>
                    <a:bodyPr/>
                    <a:lstStyle/>
                    <a:p>
                      <a:r>
                        <a:rPr lang="en-US" dirty="0"/>
                        <a:t>Model</a:t>
                      </a:r>
                    </a:p>
                  </a:txBody>
                  <a:tcPr/>
                </a:tc>
                <a:tc>
                  <a:txBody>
                    <a:bodyPr/>
                    <a:lstStyle/>
                    <a:p>
                      <a:r>
                        <a:rPr lang="en-US" dirty="0" err="1"/>
                        <a:t>Npar</a:t>
                      </a:r>
                      <a:r>
                        <a:rPr lang="en-US" dirty="0"/>
                        <a:t> (k)</a:t>
                      </a:r>
                    </a:p>
                  </a:txBody>
                  <a:tcPr/>
                </a:tc>
                <a:tc>
                  <a:txBody>
                    <a:bodyPr/>
                    <a:lstStyle/>
                    <a:p>
                      <a:r>
                        <a:rPr lang="en-US" dirty="0"/>
                        <a:t>Rank</a:t>
                      </a:r>
                    </a:p>
                  </a:txBody>
                  <a:tcPr/>
                </a:tc>
                <a:tc>
                  <a:txBody>
                    <a:bodyPr/>
                    <a:lstStyle/>
                    <a:p>
                      <a:r>
                        <a:rPr lang="en-US" dirty="0" err="1"/>
                        <a:t>logLik</a:t>
                      </a:r>
                      <a:r>
                        <a:rPr lang="en-US" dirty="0"/>
                        <a:t> (L)</a:t>
                      </a:r>
                    </a:p>
                  </a:txBody>
                  <a:tcPr/>
                </a:tc>
                <a:tc>
                  <a:txBody>
                    <a:bodyPr/>
                    <a:lstStyle/>
                    <a:p>
                      <a:r>
                        <a:rPr lang="en-US" dirty="0"/>
                        <a:t>AIC</a:t>
                      </a:r>
                    </a:p>
                  </a:txBody>
                  <a:tcPr/>
                </a:tc>
                <a:tc>
                  <a:txBody>
                    <a:bodyPr/>
                    <a:lstStyle/>
                    <a:p>
                      <a:r>
                        <a:rPr lang="en-US" dirty="0" err="1"/>
                        <a:t>AICc</a:t>
                      </a:r>
                      <a:endParaRPr lang="en-US" dirty="0"/>
                    </a:p>
                  </a:txBody>
                  <a:tcPr/>
                </a:tc>
                <a:tc>
                  <a:txBody>
                    <a:bodyPr/>
                    <a:lstStyle/>
                    <a:p>
                      <a:r>
                        <a:rPr lang="en-US" dirty="0" err="1"/>
                        <a:t>dAIC</a:t>
                      </a:r>
                      <a:endParaRPr lang="en-US" dirty="0"/>
                    </a:p>
                  </a:txBody>
                  <a:tcPr/>
                </a:tc>
                <a:tc>
                  <a:txBody>
                    <a:bodyPr/>
                    <a:lstStyle/>
                    <a:p>
                      <a:r>
                        <a:rPr lang="en-US" dirty="0" err="1"/>
                        <a:t>AICwt</a:t>
                      </a:r>
                      <a:endParaRPr lang="en-US" dirty="0"/>
                    </a:p>
                  </a:txBody>
                  <a:tcPr/>
                </a:tc>
                <a:extLst>
                  <a:ext uri="{0D108BD9-81ED-4DB2-BD59-A6C34878D82A}">
                    <a16:rowId xmlns:a16="http://schemas.microsoft.com/office/drawing/2014/main" val="1063844841"/>
                  </a:ext>
                </a:extLst>
              </a:tr>
              <a:tr h="370840">
                <a:tc>
                  <a:txBody>
                    <a:bodyPr/>
                    <a:lstStyle/>
                    <a:p>
                      <a:r>
                        <a:rPr lang="en-US" dirty="0"/>
                        <a:t>Model A</a:t>
                      </a:r>
                    </a:p>
                  </a:txBody>
                  <a:tcPr/>
                </a:tc>
                <a:tc>
                  <a:txBody>
                    <a:bodyPr/>
                    <a:lstStyle/>
                    <a:p>
                      <a:r>
                        <a:rPr lang="en-US" dirty="0"/>
                        <a:t>p~1 phi~1 </a:t>
                      </a:r>
                    </a:p>
                  </a:txBody>
                  <a:tcPr/>
                </a:tc>
                <a:tc>
                  <a:txBody>
                    <a:bodyPr/>
                    <a:lstStyle/>
                    <a:p>
                      <a:r>
                        <a:rPr lang="en-US" dirty="0"/>
                        <a:t>2</a:t>
                      </a:r>
                    </a:p>
                  </a:txBody>
                  <a:tcPr/>
                </a:tc>
                <a:tc>
                  <a:txBody>
                    <a:bodyPr/>
                    <a:lstStyle/>
                    <a:p>
                      <a:r>
                        <a:rPr lang="en-US" dirty="0"/>
                        <a:t>2</a:t>
                      </a:r>
                    </a:p>
                  </a:txBody>
                  <a:tcPr/>
                </a:tc>
                <a:tc>
                  <a:txBody>
                    <a:bodyPr/>
                    <a:lstStyle/>
                    <a:p>
                      <a:r>
                        <a:rPr lang="en-US" dirty="0"/>
                        <a:t>-333</a:t>
                      </a:r>
                    </a:p>
                  </a:txBody>
                  <a:tcPr/>
                </a:tc>
                <a:tc>
                  <a:txBody>
                    <a:bodyPr/>
                    <a:lstStyle/>
                    <a:p>
                      <a:r>
                        <a:rPr lang="en-US" dirty="0"/>
                        <a:t>670</a:t>
                      </a:r>
                    </a:p>
                  </a:txBody>
                  <a:tcPr/>
                </a:tc>
                <a:tc>
                  <a:txBody>
                    <a:bodyPr/>
                    <a:lstStyle/>
                    <a:p>
                      <a:r>
                        <a:rPr lang="en-US" dirty="0"/>
                        <a:t>671</a:t>
                      </a:r>
                    </a:p>
                  </a:txBody>
                  <a:tcPr/>
                </a:tc>
                <a:tc>
                  <a:txBody>
                    <a:bodyPr/>
                    <a:lstStyle/>
                    <a:p>
                      <a:r>
                        <a:rPr lang="en-US" dirty="0"/>
                        <a:t>0</a:t>
                      </a:r>
                    </a:p>
                  </a:txBody>
                  <a:tcPr/>
                </a:tc>
                <a:tc>
                  <a:txBody>
                    <a:bodyPr/>
                    <a:lstStyle/>
                    <a:p>
                      <a:r>
                        <a:rPr lang="en-US" dirty="0"/>
                        <a:t>0.79</a:t>
                      </a:r>
                    </a:p>
                  </a:txBody>
                  <a:tcPr/>
                </a:tc>
                <a:extLst>
                  <a:ext uri="{0D108BD9-81ED-4DB2-BD59-A6C34878D82A}">
                    <a16:rowId xmlns:a16="http://schemas.microsoft.com/office/drawing/2014/main" val="314957620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Model B</a:t>
                      </a:r>
                    </a:p>
                    <a:p>
                      <a:endParaRPr lang="en-US" dirty="0"/>
                    </a:p>
                  </a:txBody>
                  <a:tcPr/>
                </a:tc>
                <a:tc>
                  <a:txBody>
                    <a:bodyPr/>
                    <a:lstStyle/>
                    <a:p>
                      <a:r>
                        <a:rPr lang="en-US" dirty="0"/>
                        <a:t>p~1 </a:t>
                      </a:r>
                      <a:r>
                        <a:rPr lang="en-US" dirty="0" err="1"/>
                        <a:t>phi~t</a:t>
                      </a:r>
                      <a:r>
                        <a:rPr lang="en-US" dirty="0"/>
                        <a:t> </a:t>
                      </a:r>
                    </a:p>
                  </a:txBody>
                  <a:tcPr/>
                </a:tc>
                <a:tc>
                  <a:txBody>
                    <a:bodyPr/>
                    <a:lstStyle/>
                    <a:p>
                      <a:r>
                        <a:rPr lang="en-US" dirty="0"/>
                        <a:t>7</a:t>
                      </a:r>
                    </a:p>
                  </a:txBody>
                  <a:tcPr/>
                </a:tc>
                <a:tc>
                  <a:txBody>
                    <a:bodyPr/>
                    <a:lstStyle/>
                    <a:p>
                      <a:r>
                        <a:rPr lang="en-US" dirty="0"/>
                        <a:t>7</a:t>
                      </a:r>
                    </a:p>
                  </a:txBody>
                  <a:tcPr/>
                </a:tc>
                <a:tc>
                  <a:txBody>
                    <a:bodyPr/>
                    <a:lstStyle/>
                    <a:p>
                      <a:r>
                        <a:rPr lang="en-US" dirty="0"/>
                        <a:t>-330</a:t>
                      </a:r>
                    </a:p>
                  </a:txBody>
                  <a:tcPr/>
                </a:tc>
                <a:tc>
                  <a:txBody>
                    <a:bodyPr/>
                    <a:lstStyle/>
                    <a:p>
                      <a:r>
                        <a:rPr lang="en-US" dirty="0"/>
                        <a:t>673</a:t>
                      </a:r>
                    </a:p>
                  </a:txBody>
                  <a:tcPr/>
                </a:tc>
                <a:tc>
                  <a:txBody>
                    <a:bodyPr/>
                    <a:lstStyle/>
                    <a:p>
                      <a:r>
                        <a:rPr lang="en-US" dirty="0"/>
                        <a:t>676</a:t>
                      </a:r>
                    </a:p>
                  </a:txBody>
                  <a:tcPr/>
                </a:tc>
                <a:tc>
                  <a:txBody>
                    <a:bodyPr/>
                    <a:lstStyle/>
                    <a:p>
                      <a:r>
                        <a:rPr lang="en-US" dirty="0"/>
                        <a:t>2.9</a:t>
                      </a:r>
                    </a:p>
                  </a:txBody>
                  <a:tcPr/>
                </a:tc>
                <a:tc>
                  <a:txBody>
                    <a:bodyPr/>
                    <a:lstStyle/>
                    <a:p>
                      <a:r>
                        <a:rPr lang="en-US" dirty="0"/>
                        <a:t>0.19</a:t>
                      </a:r>
                    </a:p>
                  </a:txBody>
                  <a:tcPr/>
                </a:tc>
                <a:extLst>
                  <a:ext uri="{0D108BD9-81ED-4DB2-BD59-A6C34878D82A}">
                    <a16:rowId xmlns:a16="http://schemas.microsoft.com/office/drawing/2014/main" val="414674357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Model C</a:t>
                      </a:r>
                    </a:p>
                    <a:p>
                      <a:endParaRPr lang="en-US" dirty="0"/>
                    </a:p>
                  </a:txBody>
                  <a:tcPr/>
                </a:tc>
                <a:tc>
                  <a:txBody>
                    <a:bodyPr/>
                    <a:lstStyle/>
                    <a:p>
                      <a:r>
                        <a:rPr lang="en-US" dirty="0" err="1"/>
                        <a:t>p~t</a:t>
                      </a:r>
                      <a:r>
                        <a:rPr lang="en-US" dirty="0"/>
                        <a:t> phi~1 </a:t>
                      </a:r>
                    </a:p>
                  </a:txBody>
                  <a:tcPr/>
                </a:tc>
                <a:tc>
                  <a:txBody>
                    <a:bodyPr/>
                    <a:lstStyle/>
                    <a:p>
                      <a:r>
                        <a:rPr lang="en-US" dirty="0"/>
                        <a:t>7</a:t>
                      </a:r>
                    </a:p>
                  </a:txBody>
                  <a:tcPr/>
                </a:tc>
                <a:tc>
                  <a:txBody>
                    <a:bodyPr/>
                    <a:lstStyle/>
                    <a:p>
                      <a:r>
                        <a:rPr lang="en-US" dirty="0"/>
                        <a:t>7</a:t>
                      </a:r>
                    </a:p>
                  </a:txBody>
                  <a:tcPr/>
                </a:tc>
                <a:tc>
                  <a:txBody>
                    <a:bodyPr/>
                    <a:lstStyle/>
                    <a:p>
                      <a:r>
                        <a:rPr lang="en-US" dirty="0"/>
                        <a:t>-332</a:t>
                      </a:r>
                    </a:p>
                  </a:txBody>
                  <a:tcPr/>
                </a:tc>
                <a:tc>
                  <a:txBody>
                    <a:bodyPr/>
                    <a:lstStyle/>
                    <a:p>
                      <a:r>
                        <a:rPr lang="en-US" dirty="0"/>
                        <a:t>678</a:t>
                      </a:r>
                    </a:p>
                  </a:txBody>
                  <a:tcPr/>
                </a:tc>
                <a:tc>
                  <a:txBody>
                    <a:bodyPr/>
                    <a:lstStyle/>
                    <a:p>
                      <a:r>
                        <a:rPr lang="en-US" dirty="0"/>
                        <a:t>678</a:t>
                      </a:r>
                    </a:p>
                  </a:txBody>
                  <a:tcPr/>
                </a:tc>
                <a:tc>
                  <a:txBody>
                    <a:bodyPr/>
                    <a:lstStyle/>
                    <a:p>
                      <a:r>
                        <a:rPr lang="en-US" dirty="0"/>
                        <a:t>7.6</a:t>
                      </a:r>
                    </a:p>
                  </a:txBody>
                  <a:tcPr/>
                </a:tc>
                <a:tc>
                  <a:txBody>
                    <a:bodyPr/>
                    <a:lstStyle/>
                    <a:p>
                      <a:r>
                        <a:rPr lang="en-US" dirty="0"/>
                        <a:t>0.02</a:t>
                      </a:r>
                    </a:p>
                  </a:txBody>
                  <a:tcPr/>
                </a:tc>
                <a:extLst>
                  <a:ext uri="{0D108BD9-81ED-4DB2-BD59-A6C34878D82A}">
                    <a16:rowId xmlns:a16="http://schemas.microsoft.com/office/drawing/2014/main" val="204300602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Model D</a:t>
                      </a:r>
                    </a:p>
                    <a:p>
                      <a:endParaRPr lang="en-US" dirty="0"/>
                    </a:p>
                  </a:txBody>
                  <a:tcPr/>
                </a:tc>
                <a:tc>
                  <a:txBody>
                    <a:bodyPr/>
                    <a:lstStyle/>
                    <a:p>
                      <a:r>
                        <a:rPr lang="en-US" dirty="0" err="1"/>
                        <a:t>p~t</a:t>
                      </a:r>
                      <a:r>
                        <a:rPr lang="en-US" dirty="0"/>
                        <a:t> </a:t>
                      </a:r>
                      <a:r>
                        <a:rPr lang="en-US" dirty="0" err="1"/>
                        <a:t>phi~t</a:t>
                      </a:r>
                      <a:r>
                        <a:rPr lang="en-US" dirty="0"/>
                        <a:t> </a:t>
                      </a:r>
                    </a:p>
                  </a:txBody>
                  <a:tcPr/>
                </a:tc>
                <a:tc>
                  <a:txBody>
                    <a:bodyPr/>
                    <a:lstStyle/>
                    <a:p>
                      <a:r>
                        <a:rPr lang="en-US" dirty="0"/>
                        <a:t>12</a:t>
                      </a:r>
                    </a:p>
                  </a:txBody>
                  <a:tcPr/>
                </a:tc>
                <a:tc>
                  <a:txBody>
                    <a:bodyPr/>
                    <a:lstStyle/>
                    <a:p>
                      <a:r>
                        <a:rPr lang="en-US" dirty="0"/>
                        <a:t>12</a:t>
                      </a:r>
                    </a:p>
                  </a:txBody>
                  <a:tcPr/>
                </a:tc>
                <a:tc>
                  <a:txBody>
                    <a:bodyPr/>
                    <a:lstStyle/>
                    <a:p>
                      <a:r>
                        <a:rPr lang="en-US" dirty="0"/>
                        <a:t>-328</a:t>
                      </a:r>
                    </a:p>
                  </a:txBody>
                  <a:tcPr/>
                </a:tc>
                <a:tc>
                  <a:txBody>
                    <a:bodyPr/>
                    <a:lstStyle/>
                    <a:p>
                      <a:r>
                        <a:rPr lang="en-US" dirty="0"/>
                        <a:t>681</a:t>
                      </a:r>
                    </a:p>
                  </a:txBody>
                  <a:tcPr/>
                </a:tc>
                <a:tc>
                  <a:txBody>
                    <a:bodyPr/>
                    <a:lstStyle/>
                    <a:p>
                      <a:r>
                        <a:rPr lang="en-US" dirty="0"/>
                        <a:t>688</a:t>
                      </a:r>
                    </a:p>
                  </a:txBody>
                  <a:tcPr/>
                </a:tc>
                <a:tc>
                  <a:txBody>
                    <a:bodyPr/>
                    <a:lstStyle/>
                    <a:p>
                      <a:r>
                        <a:rPr lang="en-US" dirty="0"/>
                        <a:t>10.1</a:t>
                      </a:r>
                    </a:p>
                  </a:txBody>
                  <a:tcPr/>
                </a:tc>
                <a:tc>
                  <a:txBody>
                    <a:bodyPr/>
                    <a:lstStyle/>
                    <a:p>
                      <a:r>
                        <a:rPr lang="en-US" dirty="0"/>
                        <a:t>0.00</a:t>
                      </a:r>
                    </a:p>
                  </a:txBody>
                  <a:tcPr/>
                </a:tc>
                <a:extLst>
                  <a:ext uri="{0D108BD9-81ED-4DB2-BD59-A6C34878D82A}">
                    <a16:rowId xmlns:a16="http://schemas.microsoft.com/office/drawing/2014/main" val="3403516467"/>
                  </a:ext>
                </a:extLst>
              </a:tr>
            </a:tbl>
          </a:graphicData>
        </a:graphic>
      </p:graphicFrame>
      <p:sp>
        <p:nvSpPr>
          <p:cNvPr id="7" name="TextBox 6">
            <a:extLst>
              <a:ext uri="{FF2B5EF4-FFF2-40B4-BE49-F238E27FC236}">
                <a16:creationId xmlns:a16="http://schemas.microsoft.com/office/drawing/2014/main" id="{41544CF3-7EC5-B78B-9FA5-6CDBF82EFB31}"/>
              </a:ext>
            </a:extLst>
          </p:cNvPr>
          <p:cNvSpPr txBox="1"/>
          <p:nvPr/>
        </p:nvSpPr>
        <p:spPr>
          <a:xfrm>
            <a:off x="631471" y="363551"/>
            <a:ext cx="6096000" cy="1477328"/>
          </a:xfrm>
          <a:prstGeom prst="rect">
            <a:avLst/>
          </a:prstGeom>
          <a:noFill/>
        </p:spPr>
        <p:txBody>
          <a:bodyPr wrap="square">
            <a:spAutoFit/>
          </a:bodyPr>
          <a:lstStyle/>
          <a:p>
            <a:r>
              <a:rPr lang="en-GB" b="0" i="0" u="none" strike="noStrike" dirty="0">
                <a:solidFill>
                  <a:srgbClr val="3B4045"/>
                </a:solidFill>
                <a:effectLst/>
                <a:latin typeface="-apple-system"/>
              </a:rPr>
              <a:t>“Some simple rules of thumb are often useful in assessing the relative merits of models in the set: Models having </a:t>
            </a:r>
            <a:r>
              <a:rPr lang="el-GR" b="0" i="0" u="none" strike="noStrike" dirty="0">
                <a:solidFill>
                  <a:srgbClr val="3B4045"/>
                </a:solidFill>
                <a:effectLst/>
                <a:latin typeface="STIXGeneral-Regular"/>
              </a:rPr>
              <a:t>Δ</a:t>
            </a:r>
            <a:r>
              <a:rPr lang="el-GR" b="0" i="0" u="none" strike="noStrike" dirty="0">
                <a:solidFill>
                  <a:srgbClr val="3B4045"/>
                </a:solidFill>
                <a:effectLst/>
                <a:latin typeface="STIXGeneral-Italic"/>
              </a:rPr>
              <a:t>𝑖</a:t>
            </a:r>
            <a:r>
              <a:rPr lang="el-GR" b="0" i="0" u="none" strike="noStrike" dirty="0">
                <a:solidFill>
                  <a:srgbClr val="3B4045"/>
                </a:solidFill>
                <a:effectLst/>
                <a:latin typeface="-apple-system"/>
              </a:rPr>
              <a:t> ≤ 2 </a:t>
            </a:r>
            <a:r>
              <a:rPr lang="en-GB" b="0" i="0" u="none" strike="noStrike" dirty="0">
                <a:solidFill>
                  <a:srgbClr val="3B4045"/>
                </a:solidFill>
                <a:effectLst/>
                <a:latin typeface="-apple-system"/>
              </a:rPr>
              <a:t>have substantial support (evidence), those in which 4 ≤ </a:t>
            </a:r>
            <a:r>
              <a:rPr lang="el-GR" b="0" i="0" u="none" strike="noStrike" dirty="0">
                <a:solidFill>
                  <a:srgbClr val="3B4045"/>
                </a:solidFill>
                <a:effectLst/>
                <a:latin typeface="STIXGeneral-Regular"/>
              </a:rPr>
              <a:t>Δ</a:t>
            </a:r>
            <a:r>
              <a:rPr lang="el-GR" b="0" i="0" u="none" strike="noStrike" dirty="0">
                <a:solidFill>
                  <a:srgbClr val="3B4045"/>
                </a:solidFill>
                <a:effectLst/>
                <a:latin typeface="STIXGeneral-Italic"/>
              </a:rPr>
              <a:t>𝑖</a:t>
            </a:r>
            <a:r>
              <a:rPr lang="el-GR" b="0" i="0" u="none" strike="noStrike" dirty="0">
                <a:solidFill>
                  <a:srgbClr val="3B4045"/>
                </a:solidFill>
                <a:effectLst/>
                <a:latin typeface="-apple-system"/>
              </a:rPr>
              <a:t> ≤ 7 </a:t>
            </a:r>
            <a:r>
              <a:rPr lang="en-GB" b="0" i="0" u="none" strike="noStrike" dirty="0">
                <a:solidFill>
                  <a:srgbClr val="3B4045"/>
                </a:solidFill>
                <a:effectLst/>
                <a:latin typeface="-apple-system"/>
              </a:rPr>
              <a:t>have considerably less support, and models having </a:t>
            </a:r>
            <a:r>
              <a:rPr lang="el-GR" b="0" i="0" u="none" strike="noStrike" dirty="0">
                <a:solidFill>
                  <a:srgbClr val="3B4045"/>
                </a:solidFill>
                <a:effectLst/>
                <a:latin typeface="STIXGeneral-Regular"/>
              </a:rPr>
              <a:t>Δ</a:t>
            </a:r>
            <a:r>
              <a:rPr lang="el-GR" b="0" i="0" u="none" strike="noStrike" dirty="0">
                <a:solidFill>
                  <a:srgbClr val="3B4045"/>
                </a:solidFill>
                <a:effectLst/>
                <a:latin typeface="STIXGeneral-Italic"/>
              </a:rPr>
              <a:t>𝑖</a:t>
            </a:r>
            <a:r>
              <a:rPr lang="el-GR" b="0" i="0" u="none" strike="noStrike" dirty="0">
                <a:solidFill>
                  <a:srgbClr val="3B4045"/>
                </a:solidFill>
                <a:effectLst/>
                <a:latin typeface="-apple-system"/>
              </a:rPr>
              <a:t> &gt; 10 </a:t>
            </a:r>
            <a:r>
              <a:rPr lang="en-GB" b="0" i="0" u="none" strike="noStrike" dirty="0">
                <a:solidFill>
                  <a:srgbClr val="3B4045"/>
                </a:solidFill>
                <a:effectLst/>
                <a:latin typeface="-apple-system"/>
              </a:rPr>
              <a:t>have essentially no support.” Burnham &amp; Anderson 2004 – see </a:t>
            </a:r>
            <a:r>
              <a:rPr lang="en-GB" b="0" i="0" u="none" strike="noStrike" dirty="0" err="1">
                <a:solidFill>
                  <a:srgbClr val="3B4045"/>
                </a:solidFill>
                <a:effectLst/>
                <a:latin typeface="-apple-system"/>
              </a:rPr>
              <a:t>dAIC</a:t>
            </a:r>
            <a:r>
              <a:rPr lang="en-GB" b="0" i="0" u="none" strike="noStrike" dirty="0">
                <a:solidFill>
                  <a:srgbClr val="3B4045"/>
                </a:solidFill>
                <a:effectLst/>
                <a:latin typeface="-apple-system"/>
              </a:rPr>
              <a:t> </a:t>
            </a:r>
            <a:endParaRPr lang="en-US" dirty="0"/>
          </a:p>
        </p:txBody>
      </p:sp>
      <p:pic>
        <p:nvPicPr>
          <p:cNvPr id="2" name="Picture 4" descr="The equation of the AICc used in GWR ...">
            <a:extLst>
              <a:ext uri="{FF2B5EF4-FFF2-40B4-BE49-F238E27FC236}">
                <a16:creationId xmlns:a16="http://schemas.microsoft.com/office/drawing/2014/main" id="{B6B84A58-ED5D-FDD1-080B-3D6CF336879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94295" y="2312097"/>
            <a:ext cx="3052853" cy="10387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5411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49A98C6-8C5F-CB00-35E5-5160E3B00D27}"/>
              </a:ext>
            </a:extLst>
          </p:cNvPr>
          <p:cNvSpPr txBox="1"/>
          <p:nvPr/>
        </p:nvSpPr>
        <p:spPr>
          <a:xfrm>
            <a:off x="636105" y="1537253"/>
            <a:ext cx="9511643" cy="2431435"/>
          </a:xfrm>
          <a:prstGeom prst="rect">
            <a:avLst/>
          </a:prstGeom>
          <a:noFill/>
        </p:spPr>
        <p:txBody>
          <a:bodyPr wrap="none" rtlCol="0">
            <a:spAutoFit/>
          </a:bodyPr>
          <a:lstStyle/>
          <a:p>
            <a:r>
              <a:rPr lang="en-US" sz="3800" b="1" dirty="0"/>
              <a:t>Model selection is cool, but don’t stop there </a:t>
            </a:r>
          </a:p>
          <a:p>
            <a:endParaRPr lang="en-US" sz="3800" b="1" dirty="0"/>
          </a:p>
          <a:p>
            <a:r>
              <a:rPr lang="en-US" sz="3800" b="1" dirty="0"/>
              <a:t>Look at your parameter estimates and check if</a:t>
            </a:r>
          </a:p>
          <a:p>
            <a:r>
              <a:rPr lang="en-US" sz="3800" b="1" dirty="0"/>
              <a:t>they make sense!</a:t>
            </a:r>
          </a:p>
        </p:txBody>
      </p:sp>
    </p:spTree>
    <p:extLst>
      <p:ext uri="{BB962C8B-B14F-4D97-AF65-F5344CB8AC3E}">
        <p14:creationId xmlns:p14="http://schemas.microsoft.com/office/powerpoint/2010/main" val="30191924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eaLnBrk="1" hangingPunct="1"/>
            <a:r>
              <a:rPr lang="en-US" sz="3000" b="1" dirty="0"/>
              <a:t>Why Capture-Mark-Recapture (CMR) ?</a:t>
            </a:r>
          </a:p>
        </p:txBody>
      </p:sp>
      <p:sp>
        <p:nvSpPr>
          <p:cNvPr id="92163" name="Rectangle 3"/>
          <p:cNvSpPr>
            <a:spLocks noGrp="1" noChangeArrowheads="1"/>
          </p:cNvSpPr>
          <p:nvPr>
            <p:ph type="body" idx="1"/>
          </p:nvPr>
        </p:nvSpPr>
        <p:spPr>
          <a:xfrm>
            <a:off x="1981200" y="1143000"/>
            <a:ext cx="8363272" cy="5166320"/>
          </a:xfrm>
        </p:spPr>
        <p:txBody>
          <a:bodyPr>
            <a:normAutofit lnSpcReduction="10000"/>
          </a:bodyPr>
          <a:lstStyle/>
          <a:p>
            <a:pPr eaLnBrk="1" hangingPunct="1">
              <a:lnSpc>
                <a:spcPct val="90000"/>
              </a:lnSpc>
            </a:pPr>
            <a:endParaRPr lang="en-US" sz="1800" dirty="0"/>
          </a:p>
          <a:p>
            <a:pPr eaLnBrk="1" hangingPunct="1">
              <a:lnSpc>
                <a:spcPct val="90000"/>
              </a:lnSpc>
            </a:pPr>
            <a:r>
              <a:rPr lang="en-US" sz="1800" dirty="0"/>
              <a:t>Detection probability </a:t>
            </a:r>
          </a:p>
          <a:p>
            <a:pPr eaLnBrk="1" hangingPunct="1">
              <a:lnSpc>
                <a:spcPct val="90000"/>
              </a:lnSpc>
              <a:buFontTx/>
              <a:buNone/>
            </a:pPr>
            <a:endParaRPr lang="en-US" sz="1800" dirty="0"/>
          </a:p>
          <a:p>
            <a:pPr eaLnBrk="1" hangingPunct="1">
              <a:lnSpc>
                <a:spcPct val="90000"/>
              </a:lnSpc>
            </a:pPr>
            <a:r>
              <a:rPr lang="en-US" sz="1800" dirty="0"/>
              <a:t>Separating between</a:t>
            </a:r>
          </a:p>
          <a:p>
            <a:pPr eaLnBrk="1" hangingPunct="1">
              <a:lnSpc>
                <a:spcPct val="90000"/>
              </a:lnSpc>
              <a:buFontTx/>
              <a:buNone/>
            </a:pPr>
            <a:r>
              <a:rPr lang="en-US" sz="1800" dirty="0"/>
              <a:t>	- probability of detection (given presence)</a:t>
            </a:r>
          </a:p>
          <a:p>
            <a:pPr eaLnBrk="1" hangingPunct="1">
              <a:lnSpc>
                <a:spcPct val="90000"/>
              </a:lnSpc>
              <a:buFontTx/>
              <a:buNone/>
            </a:pPr>
            <a:r>
              <a:rPr lang="en-US" sz="1800" dirty="0"/>
              <a:t>	- probability of the parameters in question </a:t>
            </a:r>
          </a:p>
          <a:p>
            <a:pPr eaLnBrk="1" hangingPunct="1">
              <a:lnSpc>
                <a:spcPct val="90000"/>
              </a:lnSpc>
              <a:buFontTx/>
              <a:buNone/>
            </a:pPr>
            <a:r>
              <a:rPr lang="en-US" sz="1800" dirty="0"/>
              <a:t>		(e.g. survivorship, origination, occupancy, immigration)</a:t>
            </a:r>
          </a:p>
          <a:p>
            <a:pPr eaLnBrk="1" hangingPunct="1">
              <a:lnSpc>
                <a:spcPct val="90000"/>
              </a:lnSpc>
              <a:buFontTx/>
              <a:buNone/>
            </a:pPr>
            <a:r>
              <a:rPr lang="en-US" sz="1800" dirty="0"/>
              <a:t>		and derived parameters such as species richness/diversity</a:t>
            </a:r>
          </a:p>
          <a:p>
            <a:pPr eaLnBrk="1" hangingPunct="1">
              <a:lnSpc>
                <a:spcPct val="90000"/>
              </a:lnSpc>
              <a:buFontTx/>
              <a:buNone/>
            </a:pPr>
            <a:endParaRPr lang="en-US" sz="1800" dirty="0"/>
          </a:p>
          <a:p>
            <a:pPr eaLnBrk="1" hangingPunct="1">
              <a:lnSpc>
                <a:spcPct val="90000"/>
              </a:lnSpc>
              <a:buFontTx/>
              <a:buNone/>
            </a:pPr>
            <a:r>
              <a:rPr lang="en-US" sz="1800" dirty="0"/>
              <a:t>The probability of detection or sampling is sometimes only a nuisance but sometimes interesting in itself.</a:t>
            </a:r>
          </a:p>
          <a:p>
            <a:pPr eaLnBrk="1" hangingPunct="1">
              <a:lnSpc>
                <a:spcPct val="90000"/>
              </a:lnSpc>
              <a:buFontTx/>
              <a:buNone/>
            </a:pPr>
            <a:endParaRPr lang="en-US" sz="1800" dirty="0"/>
          </a:p>
          <a:p>
            <a:pPr eaLnBrk="1" hangingPunct="1">
              <a:lnSpc>
                <a:spcPct val="90000"/>
              </a:lnSpc>
            </a:pPr>
            <a:r>
              <a:rPr lang="en-US" sz="1800" dirty="0"/>
              <a:t>Covariates can be EASILY included in models for both vital parameters and sampling/detection estimates. </a:t>
            </a:r>
          </a:p>
          <a:p>
            <a:pPr eaLnBrk="1" hangingPunct="1">
              <a:lnSpc>
                <a:spcPct val="90000"/>
              </a:lnSpc>
            </a:pPr>
            <a:r>
              <a:rPr lang="en-US" sz="1800" dirty="0"/>
              <a:t>Covariates can be modeled at a variety of levels (e.g. group factors, individual traits, temporal characteristics)</a:t>
            </a:r>
          </a:p>
          <a:p>
            <a:pPr lvl="1" eaLnBrk="1" hangingPunct="1">
              <a:lnSpc>
                <a:spcPct val="90000"/>
              </a:lnSpc>
            </a:pPr>
            <a:endParaRPr lang="en-US"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16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216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216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216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2163">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2163">
                                            <p:txEl>
                                              <p:pRg st="9" end="9"/>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2163">
                                            <p:txEl>
                                              <p:pRg st="11" end="1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216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7DD28-F42B-259E-C04F-AE4A9450C544}"/>
              </a:ext>
            </a:extLst>
          </p:cNvPr>
          <p:cNvSpPr>
            <a:spLocks noGrp="1"/>
          </p:cNvSpPr>
          <p:nvPr>
            <p:ph type="title"/>
          </p:nvPr>
        </p:nvSpPr>
        <p:spPr/>
        <p:txBody>
          <a:bodyPr/>
          <a:lstStyle/>
          <a:p>
            <a:r>
              <a:rPr lang="en-NO" dirty="0"/>
              <a:t>Chapters in MARK book most relevant (if not using MARK)</a:t>
            </a:r>
          </a:p>
        </p:txBody>
      </p:sp>
      <p:sp>
        <p:nvSpPr>
          <p:cNvPr id="3" name="Content Placeholder 2">
            <a:extLst>
              <a:ext uri="{FF2B5EF4-FFF2-40B4-BE49-F238E27FC236}">
                <a16:creationId xmlns:a16="http://schemas.microsoft.com/office/drawing/2014/main" id="{CE4F1DCB-8469-FC0D-B678-1393FF0EC13F}"/>
              </a:ext>
            </a:extLst>
          </p:cNvPr>
          <p:cNvSpPr>
            <a:spLocks noGrp="1"/>
          </p:cNvSpPr>
          <p:nvPr>
            <p:ph idx="1"/>
          </p:nvPr>
        </p:nvSpPr>
        <p:spPr/>
        <p:txBody>
          <a:bodyPr/>
          <a:lstStyle/>
          <a:p>
            <a:r>
              <a:rPr lang="en-NO" dirty="0"/>
              <a:t>Chapter 1 (introduction)</a:t>
            </a:r>
          </a:p>
          <a:p>
            <a:r>
              <a:rPr lang="en-NO" dirty="0"/>
              <a:t>Chapter 4 (dipper example, but skip the MARK specific bits)</a:t>
            </a:r>
          </a:p>
          <a:p>
            <a:r>
              <a:rPr lang="en-NO" dirty="0"/>
              <a:t>Chapter 5 (goodness of fit –not covered in lectures but important)</a:t>
            </a:r>
          </a:p>
          <a:p>
            <a:r>
              <a:rPr lang="en-NO" dirty="0"/>
              <a:t>Chapter 6 (more on covariates and link functions)</a:t>
            </a:r>
          </a:p>
          <a:p>
            <a:r>
              <a:rPr lang="en-NO" dirty="0"/>
              <a:t>Chapter 11 (individual covariates)</a:t>
            </a:r>
          </a:p>
          <a:p>
            <a:r>
              <a:rPr lang="en-NO" dirty="0"/>
              <a:t>Chapter 12 (Pradel) and 13 (JS models in general)</a:t>
            </a:r>
          </a:p>
          <a:p>
            <a:endParaRPr lang="en-NO" dirty="0"/>
          </a:p>
          <a:p>
            <a:pPr marL="0" indent="0">
              <a:buNone/>
            </a:pPr>
            <a:r>
              <a:rPr lang="en-GB" b="1" dirty="0">
                <a:solidFill>
                  <a:srgbClr val="FF0000"/>
                </a:solidFill>
              </a:rPr>
              <a:t>http://</a:t>
            </a:r>
            <a:r>
              <a:rPr lang="en-GB" b="1" dirty="0" err="1">
                <a:solidFill>
                  <a:srgbClr val="FF0000"/>
                </a:solidFill>
              </a:rPr>
              <a:t>www.phidot.org</a:t>
            </a:r>
            <a:r>
              <a:rPr lang="en-GB" b="1" dirty="0">
                <a:solidFill>
                  <a:srgbClr val="FF0000"/>
                </a:solidFill>
              </a:rPr>
              <a:t>/software/mark/docs/book/</a:t>
            </a:r>
            <a:endParaRPr lang="en-NO" b="1" dirty="0">
              <a:solidFill>
                <a:srgbClr val="FF0000"/>
              </a:solidFill>
            </a:endParaRPr>
          </a:p>
          <a:p>
            <a:endParaRPr lang="en-NO" dirty="0"/>
          </a:p>
        </p:txBody>
      </p:sp>
    </p:spTree>
    <p:extLst>
      <p:ext uri="{BB962C8B-B14F-4D97-AF65-F5344CB8AC3E}">
        <p14:creationId xmlns:p14="http://schemas.microsoft.com/office/powerpoint/2010/main" val="37891098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C79501-C239-C9AF-50B7-C4867B363E42}"/>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100F6A65-B2E6-4A3A-910B-1E07FD88CD57}"/>
              </a:ext>
            </a:extLst>
          </p:cNvPr>
          <p:cNvSpPr>
            <a:spLocks noGrp="1"/>
          </p:cNvSpPr>
          <p:nvPr>
            <p:ph type="title"/>
          </p:nvPr>
        </p:nvSpPr>
        <p:spPr/>
        <p:txBody>
          <a:bodyPr/>
          <a:lstStyle/>
          <a:p>
            <a:r>
              <a:rPr lang="en-NO" dirty="0"/>
              <a:t>Different classes of CMR (MR) models</a:t>
            </a:r>
          </a:p>
        </p:txBody>
      </p:sp>
      <p:sp>
        <p:nvSpPr>
          <p:cNvPr id="8" name="Text Placeholder 7">
            <a:extLst>
              <a:ext uri="{FF2B5EF4-FFF2-40B4-BE49-F238E27FC236}">
                <a16:creationId xmlns:a16="http://schemas.microsoft.com/office/drawing/2014/main" id="{9DFA8E72-AD2B-2FE6-E8A9-2E2589275302}"/>
              </a:ext>
            </a:extLst>
          </p:cNvPr>
          <p:cNvSpPr>
            <a:spLocks noGrp="1"/>
          </p:cNvSpPr>
          <p:nvPr>
            <p:ph type="body" idx="1"/>
          </p:nvPr>
        </p:nvSpPr>
        <p:spPr/>
        <p:txBody>
          <a:bodyPr>
            <a:normAutofit/>
          </a:bodyPr>
          <a:lstStyle/>
          <a:p>
            <a:r>
              <a:rPr lang="en-NO" dirty="0"/>
              <a:t>CJS models	</a:t>
            </a:r>
          </a:p>
        </p:txBody>
      </p:sp>
      <p:sp>
        <p:nvSpPr>
          <p:cNvPr id="9" name="Content Placeholder 8">
            <a:extLst>
              <a:ext uri="{FF2B5EF4-FFF2-40B4-BE49-F238E27FC236}">
                <a16:creationId xmlns:a16="http://schemas.microsoft.com/office/drawing/2014/main" id="{F302DCF5-D760-9510-17B2-C7FD0495D699}"/>
              </a:ext>
            </a:extLst>
          </p:cNvPr>
          <p:cNvSpPr>
            <a:spLocks noGrp="1"/>
          </p:cNvSpPr>
          <p:nvPr>
            <p:ph sz="half" idx="2"/>
          </p:nvPr>
        </p:nvSpPr>
        <p:spPr/>
        <p:txBody>
          <a:bodyPr>
            <a:normAutofit fontScale="62500" lnSpcReduction="20000"/>
          </a:bodyPr>
          <a:lstStyle/>
          <a:p>
            <a:r>
              <a:rPr lang="en-GB" dirty="0"/>
              <a:t>Cormack-Jolly-</a:t>
            </a:r>
            <a:r>
              <a:rPr lang="en-GB" dirty="0" err="1"/>
              <a:t>Seber</a:t>
            </a:r>
            <a:r>
              <a:rPr lang="en-GB" dirty="0"/>
              <a:t>  models </a:t>
            </a:r>
          </a:p>
          <a:p>
            <a:r>
              <a:rPr lang="en-GB" dirty="0"/>
              <a:t>Originally “Closed-population model”</a:t>
            </a:r>
          </a:p>
          <a:p>
            <a:r>
              <a:rPr lang="en-GB" dirty="0"/>
              <a:t>“conditional upon the animal</a:t>
            </a:r>
            <a:br>
              <a:rPr lang="en-GB" dirty="0"/>
            </a:br>
            <a:r>
              <a:rPr lang="en-GB" dirty="0"/>
              <a:t>being released alive at first encounter, and survival and catchability refer only to these marked animals”</a:t>
            </a:r>
          </a:p>
          <a:p>
            <a:r>
              <a:rPr lang="en-GB" dirty="0"/>
              <a:t>Developed initially for survival rates</a:t>
            </a:r>
          </a:p>
          <a:p>
            <a:r>
              <a:rPr lang="en-GB" dirty="0"/>
              <a:t>Translation: we can get extinction rates if we are only interested in the taxa that entered the fossil record and are sampled at least once.</a:t>
            </a:r>
          </a:p>
        </p:txBody>
      </p:sp>
      <p:sp>
        <p:nvSpPr>
          <p:cNvPr id="10" name="Text Placeholder 9">
            <a:extLst>
              <a:ext uri="{FF2B5EF4-FFF2-40B4-BE49-F238E27FC236}">
                <a16:creationId xmlns:a16="http://schemas.microsoft.com/office/drawing/2014/main" id="{8B354ADF-DEC6-53EE-0021-3B0899C0BA02}"/>
              </a:ext>
            </a:extLst>
          </p:cNvPr>
          <p:cNvSpPr>
            <a:spLocks noGrp="1"/>
          </p:cNvSpPr>
          <p:nvPr>
            <p:ph type="body" sz="quarter" idx="3"/>
          </p:nvPr>
        </p:nvSpPr>
        <p:spPr/>
        <p:txBody>
          <a:bodyPr>
            <a:normAutofit/>
          </a:bodyPr>
          <a:lstStyle/>
          <a:p>
            <a:r>
              <a:rPr lang="en-NO" dirty="0"/>
              <a:t>JS models</a:t>
            </a:r>
          </a:p>
        </p:txBody>
      </p:sp>
      <p:sp>
        <p:nvSpPr>
          <p:cNvPr id="11" name="Content Placeholder 10">
            <a:extLst>
              <a:ext uri="{FF2B5EF4-FFF2-40B4-BE49-F238E27FC236}">
                <a16:creationId xmlns:a16="http://schemas.microsoft.com/office/drawing/2014/main" id="{B71D6A71-4E83-0AF2-F0F2-BBABC2B193BF}"/>
              </a:ext>
            </a:extLst>
          </p:cNvPr>
          <p:cNvSpPr>
            <a:spLocks noGrp="1"/>
          </p:cNvSpPr>
          <p:nvPr>
            <p:ph sz="quarter" idx="4"/>
          </p:nvPr>
        </p:nvSpPr>
        <p:spPr/>
        <p:txBody>
          <a:bodyPr>
            <a:normAutofit fontScale="62500" lnSpcReduction="20000"/>
          </a:bodyPr>
          <a:lstStyle/>
          <a:p>
            <a:r>
              <a:rPr lang="en-GB" dirty="0"/>
              <a:t>Jolly-</a:t>
            </a:r>
            <a:r>
              <a:rPr lang="en-GB" dirty="0" err="1"/>
              <a:t>Seber</a:t>
            </a:r>
            <a:r>
              <a:rPr lang="en-GB" dirty="0"/>
              <a:t> models </a:t>
            </a:r>
          </a:p>
          <a:p>
            <a:r>
              <a:rPr lang="en-GB" dirty="0"/>
              <a:t>“Open-population model”</a:t>
            </a:r>
            <a:endParaRPr lang="en-NO" dirty="0"/>
          </a:p>
          <a:p>
            <a:r>
              <a:rPr lang="en-NO" dirty="0"/>
              <a:t>“</a:t>
            </a:r>
            <a:r>
              <a:rPr lang="en-GB" dirty="0"/>
              <a:t>unmarked animals in the population have the</a:t>
            </a:r>
            <a:br>
              <a:rPr lang="en-GB" dirty="0"/>
            </a:br>
            <a:r>
              <a:rPr lang="en-GB" dirty="0"/>
              <a:t>same probability of capture as marked animals in the population, i.e., that newly captured unmarked</a:t>
            </a:r>
            <a:br>
              <a:rPr lang="en-GB" dirty="0"/>
            </a:br>
            <a:r>
              <a:rPr lang="en-GB" dirty="0"/>
              <a:t>animals are a random sample of all unmarked animals in the population”</a:t>
            </a:r>
          </a:p>
          <a:p>
            <a:r>
              <a:rPr lang="en-GB" dirty="0"/>
              <a:t>Developed for parameters like abundance, population growth, recruitment.</a:t>
            </a:r>
          </a:p>
          <a:p>
            <a:r>
              <a:rPr lang="en-GB" dirty="0"/>
              <a:t>Translation: we can get extinction rates, origination rates, taxonomic richness and we include those taxa never sampled or have never entered the fossil record.</a:t>
            </a:r>
            <a:endParaRPr lang="en-NO" dirty="0"/>
          </a:p>
          <a:p>
            <a:endParaRPr lang="en-NO" dirty="0"/>
          </a:p>
        </p:txBody>
      </p:sp>
      <p:sp>
        <p:nvSpPr>
          <p:cNvPr id="2" name="TextBox 1">
            <a:extLst>
              <a:ext uri="{FF2B5EF4-FFF2-40B4-BE49-F238E27FC236}">
                <a16:creationId xmlns:a16="http://schemas.microsoft.com/office/drawing/2014/main" id="{0DE994AF-242D-FBF7-240A-4EBF064567C2}"/>
              </a:ext>
            </a:extLst>
          </p:cNvPr>
          <p:cNvSpPr txBox="1"/>
          <p:nvPr/>
        </p:nvSpPr>
        <p:spPr>
          <a:xfrm>
            <a:off x="2470362" y="6004997"/>
            <a:ext cx="7655173" cy="369332"/>
          </a:xfrm>
          <a:prstGeom prst="rect">
            <a:avLst/>
          </a:prstGeom>
          <a:noFill/>
        </p:spPr>
        <p:txBody>
          <a:bodyPr wrap="none" rtlCol="0">
            <a:spAutoFit/>
          </a:bodyPr>
          <a:lstStyle/>
          <a:p>
            <a:r>
              <a:rPr lang="en-NO" dirty="0"/>
              <a:t> </a:t>
            </a:r>
            <a:r>
              <a:rPr lang="en-NO" dirty="0">
                <a:solidFill>
                  <a:srgbClr val="0070C0"/>
                </a:solidFill>
              </a:rPr>
              <a:t>Q Which class of model do you expect a greater uncertainty in estimates? Why?</a:t>
            </a:r>
          </a:p>
        </p:txBody>
      </p:sp>
    </p:spTree>
    <p:extLst>
      <p:ext uri="{BB962C8B-B14F-4D97-AF65-F5344CB8AC3E}">
        <p14:creationId xmlns:p14="http://schemas.microsoft.com/office/powerpoint/2010/main" val="30121273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0194D9-AC22-327B-84F8-BFC317CC7EE3}"/>
            </a:ext>
          </a:extLst>
        </p:cNvPr>
        <p:cNvGrpSpPr/>
        <p:nvPr/>
      </p:nvGrpSpPr>
      <p:grpSpPr>
        <a:xfrm>
          <a:off x="0" y="0"/>
          <a:ext cx="0" cy="0"/>
          <a:chOff x="0" y="0"/>
          <a:chExt cx="0" cy="0"/>
        </a:xfrm>
      </p:grpSpPr>
      <p:sp>
        <p:nvSpPr>
          <p:cNvPr id="21" name="Freeform 20">
            <a:extLst>
              <a:ext uri="{FF2B5EF4-FFF2-40B4-BE49-F238E27FC236}">
                <a16:creationId xmlns:a16="http://schemas.microsoft.com/office/drawing/2014/main" id="{08DA3BBD-69A6-A72D-E23D-4BA80665BB8E}"/>
              </a:ext>
            </a:extLst>
          </p:cNvPr>
          <p:cNvSpPr/>
          <p:nvPr/>
        </p:nvSpPr>
        <p:spPr>
          <a:xfrm>
            <a:off x="470228" y="2543149"/>
            <a:ext cx="4342403" cy="2846998"/>
          </a:xfrm>
          <a:custGeom>
            <a:avLst/>
            <a:gdLst>
              <a:gd name="connsiteX0" fmla="*/ 175230 w 3026006"/>
              <a:gd name="connsiteY0" fmla="*/ 119369 h 1746463"/>
              <a:gd name="connsiteX1" fmla="*/ 269359 w 3026006"/>
              <a:gd name="connsiteY1" fmla="*/ 132816 h 1746463"/>
              <a:gd name="connsiteX2" fmla="*/ 323147 w 3026006"/>
              <a:gd name="connsiteY2" fmla="*/ 146263 h 1746463"/>
              <a:gd name="connsiteX3" fmla="*/ 417277 w 3026006"/>
              <a:gd name="connsiteY3" fmla="*/ 132816 h 1746463"/>
              <a:gd name="connsiteX4" fmla="*/ 511406 w 3026006"/>
              <a:gd name="connsiteY4" fmla="*/ 105922 h 1746463"/>
              <a:gd name="connsiteX5" fmla="*/ 793795 w 3026006"/>
              <a:gd name="connsiteY5" fmla="*/ 92475 h 1746463"/>
              <a:gd name="connsiteX6" fmla="*/ 928265 w 3026006"/>
              <a:gd name="connsiteY6" fmla="*/ 105922 h 1746463"/>
              <a:gd name="connsiteX7" fmla="*/ 995500 w 3026006"/>
              <a:gd name="connsiteY7" fmla="*/ 119369 h 1746463"/>
              <a:gd name="connsiteX8" fmla="*/ 1170312 w 3026006"/>
              <a:gd name="connsiteY8" fmla="*/ 105922 h 1746463"/>
              <a:gd name="connsiteX9" fmla="*/ 2057818 w 3026006"/>
              <a:gd name="connsiteY9" fmla="*/ 65580 h 1746463"/>
              <a:gd name="connsiteX10" fmla="*/ 2151947 w 3026006"/>
              <a:gd name="connsiteY10" fmla="*/ 79027 h 1746463"/>
              <a:gd name="connsiteX11" fmla="*/ 2192289 w 3026006"/>
              <a:gd name="connsiteY11" fmla="*/ 92475 h 1746463"/>
              <a:gd name="connsiteX12" fmla="*/ 2246077 w 3026006"/>
              <a:gd name="connsiteY12" fmla="*/ 105922 h 1746463"/>
              <a:gd name="connsiteX13" fmla="*/ 2286418 w 3026006"/>
              <a:gd name="connsiteY13" fmla="*/ 119369 h 1746463"/>
              <a:gd name="connsiteX14" fmla="*/ 2515018 w 3026006"/>
              <a:gd name="connsiteY14" fmla="*/ 132816 h 1746463"/>
              <a:gd name="connsiteX15" fmla="*/ 2568806 w 3026006"/>
              <a:gd name="connsiteY15" fmla="*/ 159710 h 1746463"/>
              <a:gd name="connsiteX16" fmla="*/ 2649489 w 3026006"/>
              <a:gd name="connsiteY16" fmla="*/ 173157 h 1746463"/>
              <a:gd name="connsiteX17" fmla="*/ 2972218 w 3026006"/>
              <a:gd name="connsiteY17" fmla="*/ 186604 h 1746463"/>
              <a:gd name="connsiteX18" fmla="*/ 2958771 w 3026006"/>
              <a:gd name="connsiteY18" fmla="*/ 374863 h 1746463"/>
              <a:gd name="connsiteX19" fmla="*/ 2985665 w 3026006"/>
              <a:gd name="connsiteY19" fmla="*/ 455545 h 1746463"/>
              <a:gd name="connsiteX20" fmla="*/ 2999112 w 3026006"/>
              <a:gd name="connsiteY20" fmla="*/ 509333 h 1746463"/>
              <a:gd name="connsiteX21" fmla="*/ 3026006 w 3026006"/>
              <a:gd name="connsiteY21" fmla="*/ 590016 h 1746463"/>
              <a:gd name="connsiteX22" fmla="*/ 3012559 w 3026006"/>
              <a:gd name="connsiteY22" fmla="*/ 872404 h 1746463"/>
              <a:gd name="connsiteX23" fmla="*/ 2999112 w 3026006"/>
              <a:gd name="connsiteY23" fmla="*/ 939639 h 1746463"/>
              <a:gd name="connsiteX24" fmla="*/ 2972218 w 3026006"/>
              <a:gd name="connsiteY24" fmla="*/ 979980 h 1746463"/>
              <a:gd name="connsiteX25" fmla="*/ 2891536 w 3026006"/>
              <a:gd name="connsiteY25" fmla="*/ 1087557 h 1746463"/>
              <a:gd name="connsiteX26" fmla="*/ 2824300 w 3026006"/>
              <a:gd name="connsiteY26" fmla="*/ 1141345 h 1746463"/>
              <a:gd name="connsiteX27" fmla="*/ 2703277 w 3026006"/>
              <a:gd name="connsiteY27" fmla="*/ 1208580 h 1746463"/>
              <a:gd name="connsiteX28" fmla="*/ 2582253 w 3026006"/>
              <a:gd name="connsiteY28" fmla="*/ 1248922 h 1746463"/>
              <a:gd name="connsiteX29" fmla="*/ 2541912 w 3026006"/>
              <a:gd name="connsiteY29" fmla="*/ 1262369 h 1746463"/>
              <a:gd name="connsiteX30" fmla="*/ 2488124 w 3026006"/>
              <a:gd name="connsiteY30" fmla="*/ 1289263 h 1746463"/>
              <a:gd name="connsiteX31" fmla="*/ 2393995 w 3026006"/>
              <a:gd name="connsiteY31" fmla="*/ 1343051 h 1746463"/>
              <a:gd name="connsiteX32" fmla="*/ 2326759 w 3026006"/>
              <a:gd name="connsiteY32" fmla="*/ 1383392 h 1746463"/>
              <a:gd name="connsiteX33" fmla="*/ 2286418 w 3026006"/>
              <a:gd name="connsiteY33" fmla="*/ 1410286 h 1746463"/>
              <a:gd name="connsiteX34" fmla="*/ 2232630 w 3026006"/>
              <a:gd name="connsiteY34" fmla="*/ 1437180 h 1746463"/>
              <a:gd name="connsiteX35" fmla="*/ 2205736 w 3026006"/>
              <a:gd name="connsiteY35" fmla="*/ 1464075 h 1746463"/>
              <a:gd name="connsiteX36" fmla="*/ 2111606 w 3026006"/>
              <a:gd name="connsiteY36" fmla="*/ 1504416 h 1746463"/>
              <a:gd name="connsiteX37" fmla="*/ 2071265 w 3026006"/>
              <a:gd name="connsiteY37" fmla="*/ 1531310 h 1746463"/>
              <a:gd name="connsiteX38" fmla="*/ 2017477 w 3026006"/>
              <a:gd name="connsiteY38" fmla="*/ 1544757 h 1746463"/>
              <a:gd name="connsiteX39" fmla="*/ 1936795 w 3026006"/>
              <a:gd name="connsiteY39" fmla="*/ 1571651 h 1746463"/>
              <a:gd name="connsiteX40" fmla="*/ 1896453 w 3026006"/>
              <a:gd name="connsiteY40" fmla="*/ 1585098 h 1746463"/>
              <a:gd name="connsiteX41" fmla="*/ 1829218 w 3026006"/>
              <a:gd name="connsiteY41" fmla="*/ 1611992 h 1746463"/>
              <a:gd name="connsiteX42" fmla="*/ 1775430 w 3026006"/>
              <a:gd name="connsiteY42" fmla="*/ 1638886 h 1746463"/>
              <a:gd name="connsiteX43" fmla="*/ 1735089 w 3026006"/>
              <a:gd name="connsiteY43" fmla="*/ 1652333 h 1746463"/>
              <a:gd name="connsiteX44" fmla="*/ 1694747 w 3026006"/>
              <a:gd name="connsiteY44" fmla="*/ 1679227 h 1746463"/>
              <a:gd name="connsiteX45" fmla="*/ 1587171 w 3026006"/>
              <a:gd name="connsiteY45" fmla="*/ 1706122 h 1746463"/>
              <a:gd name="connsiteX46" fmla="*/ 1533383 w 3026006"/>
              <a:gd name="connsiteY46" fmla="*/ 1719569 h 1746463"/>
              <a:gd name="connsiteX47" fmla="*/ 1197206 w 3026006"/>
              <a:gd name="connsiteY47" fmla="*/ 1733016 h 1746463"/>
              <a:gd name="connsiteX48" fmla="*/ 1156865 w 3026006"/>
              <a:gd name="connsiteY48" fmla="*/ 1746463 h 1746463"/>
              <a:gd name="connsiteX49" fmla="*/ 1008947 w 3026006"/>
              <a:gd name="connsiteY49" fmla="*/ 1706122 h 1746463"/>
              <a:gd name="connsiteX50" fmla="*/ 982053 w 3026006"/>
              <a:gd name="connsiteY50" fmla="*/ 1679227 h 1746463"/>
              <a:gd name="connsiteX51" fmla="*/ 955159 w 3026006"/>
              <a:gd name="connsiteY51" fmla="*/ 1571651 h 1746463"/>
              <a:gd name="connsiteX52" fmla="*/ 941712 w 3026006"/>
              <a:gd name="connsiteY52" fmla="*/ 1275816 h 1746463"/>
              <a:gd name="connsiteX53" fmla="*/ 914818 w 3026006"/>
              <a:gd name="connsiteY53" fmla="*/ 1235475 h 1746463"/>
              <a:gd name="connsiteX54" fmla="*/ 834136 w 3026006"/>
              <a:gd name="connsiteY54" fmla="*/ 1154792 h 1746463"/>
              <a:gd name="connsiteX55" fmla="*/ 726559 w 3026006"/>
              <a:gd name="connsiteY55" fmla="*/ 1101004 h 1746463"/>
              <a:gd name="connsiteX56" fmla="*/ 618983 w 3026006"/>
              <a:gd name="connsiteY56" fmla="*/ 1074110 h 1746463"/>
              <a:gd name="connsiteX57" fmla="*/ 497959 w 3026006"/>
              <a:gd name="connsiteY57" fmla="*/ 1047216 h 1746463"/>
              <a:gd name="connsiteX58" fmla="*/ 403830 w 3026006"/>
              <a:gd name="connsiteY58" fmla="*/ 1006875 h 1746463"/>
              <a:gd name="connsiteX59" fmla="*/ 363489 w 3026006"/>
              <a:gd name="connsiteY59" fmla="*/ 993427 h 1746463"/>
              <a:gd name="connsiteX60" fmla="*/ 323147 w 3026006"/>
              <a:gd name="connsiteY60" fmla="*/ 953086 h 1746463"/>
              <a:gd name="connsiteX61" fmla="*/ 296253 w 3026006"/>
              <a:gd name="connsiteY61" fmla="*/ 912745 h 1746463"/>
              <a:gd name="connsiteX62" fmla="*/ 215571 w 3026006"/>
              <a:gd name="connsiteY62" fmla="*/ 832063 h 1746463"/>
              <a:gd name="connsiteX63" fmla="*/ 188677 w 3026006"/>
              <a:gd name="connsiteY63" fmla="*/ 791722 h 1746463"/>
              <a:gd name="connsiteX64" fmla="*/ 107995 w 3026006"/>
              <a:gd name="connsiteY64" fmla="*/ 724486 h 1746463"/>
              <a:gd name="connsiteX65" fmla="*/ 40759 w 3026006"/>
              <a:gd name="connsiteY65" fmla="*/ 670698 h 1746463"/>
              <a:gd name="connsiteX66" fmla="*/ 13865 w 3026006"/>
              <a:gd name="connsiteY66" fmla="*/ 630357 h 1746463"/>
              <a:gd name="connsiteX67" fmla="*/ 13865 w 3026006"/>
              <a:gd name="connsiteY67" fmla="*/ 468992 h 1746463"/>
              <a:gd name="connsiteX68" fmla="*/ 27312 w 3026006"/>
              <a:gd name="connsiteY68" fmla="*/ 428651 h 1746463"/>
              <a:gd name="connsiteX69" fmla="*/ 67653 w 3026006"/>
              <a:gd name="connsiteY69" fmla="*/ 347969 h 1746463"/>
              <a:gd name="connsiteX70" fmla="*/ 94547 w 3026006"/>
              <a:gd name="connsiteY70" fmla="*/ 226945 h 1746463"/>
              <a:gd name="connsiteX71" fmla="*/ 121442 w 3026006"/>
              <a:gd name="connsiteY71" fmla="*/ 200051 h 1746463"/>
              <a:gd name="connsiteX72" fmla="*/ 175230 w 3026006"/>
              <a:gd name="connsiteY72" fmla="*/ 119369 h 1746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3026006" h="1746463">
                <a:moveTo>
                  <a:pt x="175230" y="119369"/>
                </a:moveTo>
                <a:cubicBezTo>
                  <a:pt x="199883" y="108163"/>
                  <a:pt x="238175" y="127146"/>
                  <a:pt x="269359" y="132816"/>
                </a:cubicBezTo>
                <a:cubicBezTo>
                  <a:pt x="287542" y="136122"/>
                  <a:pt x="304666" y="146263"/>
                  <a:pt x="323147" y="146263"/>
                </a:cubicBezTo>
                <a:cubicBezTo>
                  <a:pt x="354842" y="146263"/>
                  <a:pt x="385900" y="137298"/>
                  <a:pt x="417277" y="132816"/>
                </a:cubicBezTo>
                <a:cubicBezTo>
                  <a:pt x="440390" y="125112"/>
                  <a:pt x="489189" y="107699"/>
                  <a:pt x="511406" y="105922"/>
                </a:cubicBezTo>
                <a:cubicBezTo>
                  <a:pt x="605342" y="98407"/>
                  <a:pt x="699665" y="96957"/>
                  <a:pt x="793795" y="92475"/>
                </a:cubicBezTo>
                <a:cubicBezTo>
                  <a:pt x="838618" y="96957"/>
                  <a:pt x="883613" y="99968"/>
                  <a:pt x="928265" y="105922"/>
                </a:cubicBezTo>
                <a:cubicBezTo>
                  <a:pt x="950920" y="108943"/>
                  <a:pt x="972644" y="119369"/>
                  <a:pt x="995500" y="119369"/>
                </a:cubicBezTo>
                <a:cubicBezTo>
                  <a:pt x="1053943" y="119369"/>
                  <a:pt x="1112041" y="110404"/>
                  <a:pt x="1170312" y="105922"/>
                </a:cubicBezTo>
                <a:cubicBezTo>
                  <a:pt x="1474798" y="-97070"/>
                  <a:pt x="1218676" y="51594"/>
                  <a:pt x="2057818" y="65580"/>
                </a:cubicBezTo>
                <a:cubicBezTo>
                  <a:pt x="2089194" y="70062"/>
                  <a:pt x="2120868" y="72811"/>
                  <a:pt x="2151947" y="79027"/>
                </a:cubicBezTo>
                <a:cubicBezTo>
                  <a:pt x="2165847" y="81807"/>
                  <a:pt x="2178660" y="88581"/>
                  <a:pt x="2192289" y="92475"/>
                </a:cubicBezTo>
                <a:cubicBezTo>
                  <a:pt x="2210059" y="97552"/>
                  <a:pt x="2228307" y="100845"/>
                  <a:pt x="2246077" y="105922"/>
                </a:cubicBezTo>
                <a:cubicBezTo>
                  <a:pt x="2259706" y="109816"/>
                  <a:pt x="2272314" y="117959"/>
                  <a:pt x="2286418" y="119369"/>
                </a:cubicBezTo>
                <a:cubicBezTo>
                  <a:pt x="2362371" y="126964"/>
                  <a:pt x="2438818" y="128334"/>
                  <a:pt x="2515018" y="132816"/>
                </a:cubicBezTo>
                <a:cubicBezTo>
                  <a:pt x="2532947" y="141781"/>
                  <a:pt x="2549606" y="153950"/>
                  <a:pt x="2568806" y="159710"/>
                </a:cubicBezTo>
                <a:cubicBezTo>
                  <a:pt x="2594921" y="167545"/>
                  <a:pt x="2622284" y="171343"/>
                  <a:pt x="2649489" y="173157"/>
                </a:cubicBezTo>
                <a:cubicBezTo>
                  <a:pt x="2756920" y="180319"/>
                  <a:pt x="2864642" y="182122"/>
                  <a:pt x="2972218" y="186604"/>
                </a:cubicBezTo>
                <a:cubicBezTo>
                  <a:pt x="2945328" y="294164"/>
                  <a:pt x="2934367" y="277245"/>
                  <a:pt x="2958771" y="374863"/>
                </a:cubicBezTo>
                <a:cubicBezTo>
                  <a:pt x="2965647" y="402365"/>
                  <a:pt x="2978789" y="428043"/>
                  <a:pt x="2985665" y="455545"/>
                </a:cubicBezTo>
                <a:cubicBezTo>
                  <a:pt x="2990147" y="473474"/>
                  <a:pt x="2993802" y="491631"/>
                  <a:pt x="2999112" y="509333"/>
                </a:cubicBezTo>
                <a:cubicBezTo>
                  <a:pt x="3007258" y="536487"/>
                  <a:pt x="3026006" y="590016"/>
                  <a:pt x="3026006" y="590016"/>
                </a:cubicBezTo>
                <a:cubicBezTo>
                  <a:pt x="3021524" y="684145"/>
                  <a:pt x="3019787" y="778446"/>
                  <a:pt x="3012559" y="872404"/>
                </a:cubicBezTo>
                <a:cubicBezTo>
                  <a:pt x="3010806" y="895192"/>
                  <a:pt x="3007137" y="918239"/>
                  <a:pt x="2999112" y="939639"/>
                </a:cubicBezTo>
                <a:cubicBezTo>
                  <a:pt x="2993437" y="954771"/>
                  <a:pt x="2981724" y="966910"/>
                  <a:pt x="2972218" y="979980"/>
                </a:cubicBezTo>
                <a:cubicBezTo>
                  <a:pt x="2945854" y="1016231"/>
                  <a:pt x="2926538" y="1059556"/>
                  <a:pt x="2891536" y="1087557"/>
                </a:cubicBezTo>
                <a:cubicBezTo>
                  <a:pt x="2869124" y="1105486"/>
                  <a:pt x="2847261" y="1124124"/>
                  <a:pt x="2824300" y="1141345"/>
                </a:cubicBezTo>
                <a:cubicBezTo>
                  <a:pt x="2788063" y="1168523"/>
                  <a:pt x="2744231" y="1191515"/>
                  <a:pt x="2703277" y="1208580"/>
                </a:cubicBezTo>
                <a:cubicBezTo>
                  <a:pt x="2703252" y="1208591"/>
                  <a:pt x="2602436" y="1242194"/>
                  <a:pt x="2582253" y="1248922"/>
                </a:cubicBezTo>
                <a:cubicBezTo>
                  <a:pt x="2568806" y="1253404"/>
                  <a:pt x="2554590" y="1256030"/>
                  <a:pt x="2541912" y="1262369"/>
                </a:cubicBezTo>
                <a:cubicBezTo>
                  <a:pt x="2523983" y="1271334"/>
                  <a:pt x="2505123" y="1278639"/>
                  <a:pt x="2488124" y="1289263"/>
                </a:cubicBezTo>
                <a:cubicBezTo>
                  <a:pt x="2395085" y="1347413"/>
                  <a:pt x="2473251" y="1316632"/>
                  <a:pt x="2393995" y="1343051"/>
                </a:cubicBezTo>
                <a:cubicBezTo>
                  <a:pt x="2341462" y="1395582"/>
                  <a:pt x="2396585" y="1348479"/>
                  <a:pt x="2326759" y="1383392"/>
                </a:cubicBezTo>
                <a:cubicBezTo>
                  <a:pt x="2312304" y="1390620"/>
                  <a:pt x="2300450" y="1402268"/>
                  <a:pt x="2286418" y="1410286"/>
                </a:cubicBezTo>
                <a:cubicBezTo>
                  <a:pt x="2269014" y="1420231"/>
                  <a:pt x="2250559" y="1428215"/>
                  <a:pt x="2232630" y="1437180"/>
                </a:cubicBezTo>
                <a:cubicBezTo>
                  <a:pt x="2223665" y="1446145"/>
                  <a:pt x="2216285" y="1457042"/>
                  <a:pt x="2205736" y="1464075"/>
                </a:cubicBezTo>
                <a:cubicBezTo>
                  <a:pt x="2121795" y="1520036"/>
                  <a:pt x="2183320" y="1468559"/>
                  <a:pt x="2111606" y="1504416"/>
                </a:cubicBezTo>
                <a:cubicBezTo>
                  <a:pt x="2097151" y="1511644"/>
                  <a:pt x="2086120" y="1524944"/>
                  <a:pt x="2071265" y="1531310"/>
                </a:cubicBezTo>
                <a:cubicBezTo>
                  <a:pt x="2054278" y="1538590"/>
                  <a:pt x="2035179" y="1539446"/>
                  <a:pt x="2017477" y="1544757"/>
                </a:cubicBezTo>
                <a:cubicBezTo>
                  <a:pt x="1990324" y="1552903"/>
                  <a:pt x="1963689" y="1562686"/>
                  <a:pt x="1936795" y="1571651"/>
                </a:cubicBezTo>
                <a:cubicBezTo>
                  <a:pt x="1923348" y="1576133"/>
                  <a:pt x="1909614" y="1579834"/>
                  <a:pt x="1896453" y="1585098"/>
                </a:cubicBezTo>
                <a:cubicBezTo>
                  <a:pt x="1874041" y="1594063"/>
                  <a:pt x="1851276" y="1602189"/>
                  <a:pt x="1829218" y="1611992"/>
                </a:cubicBezTo>
                <a:cubicBezTo>
                  <a:pt x="1810900" y="1620133"/>
                  <a:pt x="1793855" y="1630990"/>
                  <a:pt x="1775430" y="1638886"/>
                </a:cubicBezTo>
                <a:cubicBezTo>
                  <a:pt x="1762402" y="1644470"/>
                  <a:pt x="1747767" y="1645994"/>
                  <a:pt x="1735089" y="1652333"/>
                </a:cubicBezTo>
                <a:cubicBezTo>
                  <a:pt x="1720634" y="1659561"/>
                  <a:pt x="1709936" y="1673704"/>
                  <a:pt x="1694747" y="1679227"/>
                </a:cubicBezTo>
                <a:cubicBezTo>
                  <a:pt x="1660010" y="1691859"/>
                  <a:pt x="1623030" y="1697157"/>
                  <a:pt x="1587171" y="1706122"/>
                </a:cubicBezTo>
                <a:cubicBezTo>
                  <a:pt x="1569242" y="1710604"/>
                  <a:pt x="1551849" y="1718830"/>
                  <a:pt x="1533383" y="1719569"/>
                </a:cubicBezTo>
                <a:lnTo>
                  <a:pt x="1197206" y="1733016"/>
                </a:lnTo>
                <a:cubicBezTo>
                  <a:pt x="1183759" y="1737498"/>
                  <a:pt x="1171039" y="1746463"/>
                  <a:pt x="1156865" y="1746463"/>
                </a:cubicBezTo>
                <a:cubicBezTo>
                  <a:pt x="1075456" y="1746463"/>
                  <a:pt x="1070489" y="1736892"/>
                  <a:pt x="1008947" y="1706122"/>
                </a:cubicBezTo>
                <a:cubicBezTo>
                  <a:pt x="999982" y="1697157"/>
                  <a:pt x="986762" y="1690998"/>
                  <a:pt x="982053" y="1679227"/>
                </a:cubicBezTo>
                <a:cubicBezTo>
                  <a:pt x="968326" y="1644908"/>
                  <a:pt x="955159" y="1571651"/>
                  <a:pt x="955159" y="1571651"/>
                </a:cubicBezTo>
                <a:cubicBezTo>
                  <a:pt x="950677" y="1473039"/>
                  <a:pt x="953473" y="1373826"/>
                  <a:pt x="941712" y="1275816"/>
                </a:cubicBezTo>
                <a:cubicBezTo>
                  <a:pt x="939786" y="1259770"/>
                  <a:pt x="925555" y="1247554"/>
                  <a:pt x="914818" y="1235475"/>
                </a:cubicBezTo>
                <a:cubicBezTo>
                  <a:pt x="889550" y="1207048"/>
                  <a:pt x="868155" y="1171801"/>
                  <a:pt x="834136" y="1154792"/>
                </a:cubicBezTo>
                <a:cubicBezTo>
                  <a:pt x="798277" y="1136863"/>
                  <a:pt x="765453" y="1110728"/>
                  <a:pt x="726559" y="1101004"/>
                </a:cubicBezTo>
                <a:cubicBezTo>
                  <a:pt x="690700" y="1092039"/>
                  <a:pt x="655228" y="1081359"/>
                  <a:pt x="618983" y="1074110"/>
                </a:cubicBezTo>
                <a:cubicBezTo>
                  <a:pt x="572766" y="1064867"/>
                  <a:pt x="542271" y="1059877"/>
                  <a:pt x="497959" y="1047216"/>
                </a:cubicBezTo>
                <a:cubicBezTo>
                  <a:pt x="434892" y="1029197"/>
                  <a:pt x="475542" y="1037609"/>
                  <a:pt x="403830" y="1006875"/>
                </a:cubicBezTo>
                <a:cubicBezTo>
                  <a:pt x="390802" y="1001291"/>
                  <a:pt x="376936" y="997910"/>
                  <a:pt x="363489" y="993427"/>
                </a:cubicBezTo>
                <a:cubicBezTo>
                  <a:pt x="350042" y="979980"/>
                  <a:pt x="335322" y="967695"/>
                  <a:pt x="323147" y="953086"/>
                </a:cubicBezTo>
                <a:cubicBezTo>
                  <a:pt x="312801" y="940671"/>
                  <a:pt x="306990" y="924824"/>
                  <a:pt x="296253" y="912745"/>
                </a:cubicBezTo>
                <a:cubicBezTo>
                  <a:pt x="270985" y="884318"/>
                  <a:pt x="236668" y="863709"/>
                  <a:pt x="215571" y="832063"/>
                </a:cubicBezTo>
                <a:cubicBezTo>
                  <a:pt x="206606" y="818616"/>
                  <a:pt x="198773" y="804342"/>
                  <a:pt x="188677" y="791722"/>
                </a:cubicBezTo>
                <a:cubicBezTo>
                  <a:pt x="164345" y="761307"/>
                  <a:pt x="139383" y="750642"/>
                  <a:pt x="107995" y="724486"/>
                </a:cubicBezTo>
                <a:cubicBezTo>
                  <a:pt x="31353" y="660618"/>
                  <a:pt x="140496" y="737189"/>
                  <a:pt x="40759" y="670698"/>
                </a:cubicBezTo>
                <a:cubicBezTo>
                  <a:pt x="31794" y="657251"/>
                  <a:pt x="20231" y="645212"/>
                  <a:pt x="13865" y="630357"/>
                </a:cubicBezTo>
                <a:cubicBezTo>
                  <a:pt x="-10504" y="573497"/>
                  <a:pt x="2344" y="532361"/>
                  <a:pt x="13865" y="468992"/>
                </a:cubicBezTo>
                <a:cubicBezTo>
                  <a:pt x="16401" y="455046"/>
                  <a:pt x="20973" y="441329"/>
                  <a:pt x="27312" y="428651"/>
                </a:cubicBezTo>
                <a:cubicBezTo>
                  <a:pt x="79447" y="324381"/>
                  <a:pt x="33854" y="449367"/>
                  <a:pt x="67653" y="347969"/>
                </a:cubicBezTo>
                <a:cubicBezTo>
                  <a:pt x="70368" y="331677"/>
                  <a:pt x="79268" y="252409"/>
                  <a:pt x="94547" y="226945"/>
                </a:cubicBezTo>
                <a:cubicBezTo>
                  <a:pt x="101070" y="216074"/>
                  <a:pt x="111299" y="207658"/>
                  <a:pt x="121442" y="200051"/>
                </a:cubicBezTo>
                <a:cubicBezTo>
                  <a:pt x="147300" y="180658"/>
                  <a:pt x="150577" y="130575"/>
                  <a:pt x="175230" y="119369"/>
                </a:cubicBezTo>
                <a:close/>
              </a:path>
            </a:pathLst>
          </a:custGeom>
          <a:solidFill>
            <a:srgbClr val="00B0F0">
              <a:alpha val="48936"/>
            </a:srgbClr>
          </a:solidFill>
          <a:ln w="635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 descr="Fish Silhouette Clip Art">
            <a:extLst>
              <a:ext uri="{FF2B5EF4-FFF2-40B4-BE49-F238E27FC236}">
                <a16:creationId xmlns:a16="http://schemas.microsoft.com/office/drawing/2014/main" id="{7B648708-E729-D93C-9343-E05CFCC2C2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5673" y="2998883"/>
            <a:ext cx="621632" cy="341898"/>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2" descr="Fish Silhouette Clip Art">
            <a:extLst>
              <a:ext uri="{FF2B5EF4-FFF2-40B4-BE49-F238E27FC236}">
                <a16:creationId xmlns:a16="http://schemas.microsoft.com/office/drawing/2014/main" id="{B528B48A-8AEF-661F-CE9F-FB352CA400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79294" y="4465458"/>
            <a:ext cx="621632" cy="341898"/>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 descr="Fish Silhouette Clip Art">
            <a:extLst>
              <a:ext uri="{FF2B5EF4-FFF2-40B4-BE49-F238E27FC236}">
                <a16:creationId xmlns:a16="http://schemas.microsoft.com/office/drawing/2014/main" id="{540BDF1A-F57E-89E8-9925-9B4ECC51FA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55465" y="3291902"/>
            <a:ext cx="621632" cy="341898"/>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2" descr="Fish Silhouette Clip Art">
            <a:extLst>
              <a:ext uri="{FF2B5EF4-FFF2-40B4-BE49-F238E27FC236}">
                <a16:creationId xmlns:a16="http://schemas.microsoft.com/office/drawing/2014/main" id="{115B4C42-453F-9CE3-A34E-07D243E850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90110" y="3633800"/>
            <a:ext cx="621632" cy="341898"/>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2" descr="Fish Silhouette Clip Art">
            <a:extLst>
              <a:ext uri="{FF2B5EF4-FFF2-40B4-BE49-F238E27FC236}">
                <a16:creationId xmlns:a16="http://schemas.microsoft.com/office/drawing/2014/main" id="{BA8B6A26-69BE-A21B-3AB8-34E0C565D4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32054" y="3087102"/>
            <a:ext cx="621632" cy="341898"/>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2" descr="Fish Silhouette Clip Art">
            <a:extLst>
              <a:ext uri="{FF2B5EF4-FFF2-40B4-BE49-F238E27FC236}">
                <a16:creationId xmlns:a16="http://schemas.microsoft.com/office/drawing/2014/main" id="{D7C48882-6368-A0D9-FC8F-F3C7446157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95733" y="3087102"/>
            <a:ext cx="621632" cy="341898"/>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2" descr="Fish Silhouette Clip Art">
            <a:extLst>
              <a:ext uri="{FF2B5EF4-FFF2-40B4-BE49-F238E27FC236}">
                <a16:creationId xmlns:a16="http://schemas.microsoft.com/office/drawing/2014/main" id="{7F5E68BB-9FFE-2025-F6E7-29A3D9802B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4599" y="3580647"/>
            <a:ext cx="621632" cy="341898"/>
          </a:xfrm>
          <a:prstGeom prst="rect">
            <a:avLst/>
          </a:prstGeom>
          <a:solidFill>
            <a:srgbClr val="FF0000"/>
          </a:solidFill>
          <a:ln>
            <a:solidFill>
              <a:schemeClr val="accent1">
                <a:shade val="15000"/>
              </a:schemeClr>
            </a:solidFill>
          </a:ln>
        </p:spPr>
      </p:pic>
      <p:pic>
        <p:nvPicPr>
          <p:cNvPr id="33" name="Picture 2" descr="Fish Silhouette Clip Art">
            <a:extLst>
              <a:ext uri="{FF2B5EF4-FFF2-40B4-BE49-F238E27FC236}">
                <a16:creationId xmlns:a16="http://schemas.microsoft.com/office/drawing/2014/main" id="{CCD74BA8-590A-CBBB-24A9-EEEC265904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33833" y="4108003"/>
            <a:ext cx="621632" cy="341898"/>
          </a:xfrm>
          <a:prstGeom prst="rect">
            <a:avLst/>
          </a:prstGeom>
          <a:solidFill>
            <a:srgbClr val="FF0000"/>
          </a:solidFill>
          <a:ln>
            <a:solidFill>
              <a:schemeClr val="accent1">
                <a:shade val="15000"/>
              </a:schemeClr>
            </a:solidFill>
          </a:ln>
        </p:spPr>
      </p:pic>
      <p:sp>
        <p:nvSpPr>
          <p:cNvPr id="37" name="TextBox 36">
            <a:extLst>
              <a:ext uri="{FF2B5EF4-FFF2-40B4-BE49-F238E27FC236}">
                <a16:creationId xmlns:a16="http://schemas.microsoft.com/office/drawing/2014/main" id="{0CB8305B-13E3-25E1-18E3-D1AF3F993493}"/>
              </a:ext>
            </a:extLst>
          </p:cNvPr>
          <p:cNvSpPr txBox="1"/>
          <p:nvPr/>
        </p:nvSpPr>
        <p:spPr>
          <a:xfrm>
            <a:off x="663741" y="1037736"/>
            <a:ext cx="8303795" cy="1015663"/>
          </a:xfrm>
          <a:prstGeom prst="rect">
            <a:avLst/>
          </a:prstGeom>
          <a:noFill/>
        </p:spPr>
        <p:txBody>
          <a:bodyPr wrap="square">
            <a:spAutoFit/>
          </a:bodyPr>
          <a:lstStyle/>
          <a:p>
            <a:r>
              <a:rPr lang="en-GB" sz="3000" dirty="0"/>
              <a:t>Closed-population: births and deaths happen in your sampling universe only</a:t>
            </a:r>
            <a:endParaRPr lang="en-US" sz="3000" dirty="0"/>
          </a:p>
        </p:txBody>
      </p:sp>
    </p:spTree>
    <p:extLst>
      <p:ext uri="{BB962C8B-B14F-4D97-AF65-F5344CB8AC3E}">
        <p14:creationId xmlns:p14="http://schemas.microsoft.com/office/powerpoint/2010/main" val="15109575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05293B-03CA-053F-0D7D-67480A3EA4CE}"/>
            </a:ext>
          </a:extLst>
        </p:cNvPr>
        <p:cNvGrpSpPr/>
        <p:nvPr/>
      </p:nvGrpSpPr>
      <p:grpSpPr>
        <a:xfrm>
          <a:off x="0" y="0"/>
          <a:ext cx="0" cy="0"/>
          <a:chOff x="0" y="0"/>
          <a:chExt cx="0" cy="0"/>
        </a:xfrm>
      </p:grpSpPr>
      <p:sp>
        <p:nvSpPr>
          <p:cNvPr id="21" name="Freeform 20">
            <a:extLst>
              <a:ext uri="{FF2B5EF4-FFF2-40B4-BE49-F238E27FC236}">
                <a16:creationId xmlns:a16="http://schemas.microsoft.com/office/drawing/2014/main" id="{D63EC5B8-2A37-C6D2-728E-EFE98F3DADB4}"/>
              </a:ext>
            </a:extLst>
          </p:cNvPr>
          <p:cNvSpPr/>
          <p:nvPr/>
        </p:nvSpPr>
        <p:spPr>
          <a:xfrm>
            <a:off x="470228" y="2543149"/>
            <a:ext cx="4342403" cy="2846998"/>
          </a:xfrm>
          <a:custGeom>
            <a:avLst/>
            <a:gdLst>
              <a:gd name="connsiteX0" fmla="*/ 175230 w 3026006"/>
              <a:gd name="connsiteY0" fmla="*/ 119369 h 1746463"/>
              <a:gd name="connsiteX1" fmla="*/ 269359 w 3026006"/>
              <a:gd name="connsiteY1" fmla="*/ 132816 h 1746463"/>
              <a:gd name="connsiteX2" fmla="*/ 323147 w 3026006"/>
              <a:gd name="connsiteY2" fmla="*/ 146263 h 1746463"/>
              <a:gd name="connsiteX3" fmla="*/ 417277 w 3026006"/>
              <a:gd name="connsiteY3" fmla="*/ 132816 h 1746463"/>
              <a:gd name="connsiteX4" fmla="*/ 511406 w 3026006"/>
              <a:gd name="connsiteY4" fmla="*/ 105922 h 1746463"/>
              <a:gd name="connsiteX5" fmla="*/ 793795 w 3026006"/>
              <a:gd name="connsiteY5" fmla="*/ 92475 h 1746463"/>
              <a:gd name="connsiteX6" fmla="*/ 928265 w 3026006"/>
              <a:gd name="connsiteY6" fmla="*/ 105922 h 1746463"/>
              <a:gd name="connsiteX7" fmla="*/ 995500 w 3026006"/>
              <a:gd name="connsiteY7" fmla="*/ 119369 h 1746463"/>
              <a:gd name="connsiteX8" fmla="*/ 1170312 w 3026006"/>
              <a:gd name="connsiteY8" fmla="*/ 105922 h 1746463"/>
              <a:gd name="connsiteX9" fmla="*/ 2057818 w 3026006"/>
              <a:gd name="connsiteY9" fmla="*/ 65580 h 1746463"/>
              <a:gd name="connsiteX10" fmla="*/ 2151947 w 3026006"/>
              <a:gd name="connsiteY10" fmla="*/ 79027 h 1746463"/>
              <a:gd name="connsiteX11" fmla="*/ 2192289 w 3026006"/>
              <a:gd name="connsiteY11" fmla="*/ 92475 h 1746463"/>
              <a:gd name="connsiteX12" fmla="*/ 2246077 w 3026006"/>
              <a:gd name="connsiteY12" fmla="*/ 105922 h 1746463"/>
              <a:gd name="connsiteX13" fmla="*/ 2286418 w 3026006"/>
              <a:gd name="connsiteY13" fmla="*/ 119369 h 1746463"/>
              <a:gd name="connsiteX14" fmla="*/ 2515018 w 3026006"/>
              <a:gd name="connsiteY14" fmla="*/ 132816 h 1746463"/>
              <a:gd name="connsiteX15" fmla="*/ 2568806 w 3026006"/>
              <a:gd name="connsiteY15" fmla="*/ 159710 h 1746463"/>
              <a:gd name="connsiteX16" fmla="*/ 2649489 w 3026006"/>
              <a:gd name="connsiteY16" fmla="*/ 173157 h 1746463"/>
              <a:gd name="connsiteX17" fmla="*/ 2972218 w 3026006"/>
              <a:gd name="connsiteY17" fmla="*/ 186604 h 1746463"/>
              <a:gd name="connsiteX18" fmla="*/ 2958771 w 3026006"/>
              <a:gd name="connsiteY18" fmla="*/ 374863 h 1746463"/>
              <a:gd name="connsiteX19" fmla="*/ 2985665 w 3026006"/>
              <a:gd name="connsiteY19" fmla="*/ 455545 h 1746463"/>
              <a:gd name="connsiteX20" fmla="*/ 2999112 w 3026006"/>
              <a:gd name="connsiteY20" fmla="*/ 509333 h 1746463"/>
              <a:gd name="connsiteX21" fmla="*/ 3026006 w 3026006"/>
              <a:gd name="connsiteY21" fmla="*/ 590016 h 1746463"/>
              <a:gd name="connsiteX22" fmla="*/ 3012559 w 3026006"/>
              <a:gd name="connsiteY22" fmla="*/ 872404 h 1746463"/>
              <a:gd name="connsiteX23" fmla="*/ 2999112 w 3026006"/>
              <a:gd name="connsiteY23" fmla="*/ 939639 h 1746463"/>
              <a:gd name="connsiteX24" fmla="*/ 2972218 w 3026006"/>
              <a:gd name="connsiteY24" fmla="*/ 979980 h 1746463"/>
              <a:gd name="connsiteX25" fmla="*/ 2891536 w 3026006"/>
              <a:gd name="connsiteY25" fmla="*/ 1087557 h 1746463"/>
              <a:gd name="connsiteX26" fmla="*/ 2824300 w 3026006"/>
              <a:gd name="connsiteY26" fmla="*/ 1141345 h 1746463"/>
              <a:gd name="connsiteX27" fmla="*/ 2703277 w 3026006"/>
              <a:gd name="connsiteY27" fmla="*/ 1208580 h 1746463"/>
              <a:gd name="connsiteX28" fmla="*/ 2582253 w 3026006"/>
              <a:gd name="connsiteY28" fmla="*/ 1248922 h 1746463"/>
              <a:gd name="connsiteX29" fmla="*/ 2541912 w 3026006"/>
              <a:gd name="connsiteY29" fmla="*/ 1262369 h 1746463"/>
              <a:gd name="connsiteX30" fmla="*/ 2488124 w 3026006"/>
              <a:gd name="connsiteY30" fmla="*/ 1289263 h 1746463"/>
              <a:gd name="connsiteX31" fmla="*/ 2393995 w 3026006"/>
              <a:gd name="connsiteY31" fmla="*/ 1343051 h 1746463"/>
              <a:gd name="connsiteX32" fmla="*/ 2326759 w 3026006"/>
              <a:gd name="connsiteY32" fmla="*/ 1383392 h 1746463"/>
              <a:gd name="connsiteX33" fmla="*/ 2286418 w 3026006"/>
              <a:gd name="connsiteY33" fmla="*/ 1410286 h 1746463"/>
              <a:gd name="connsiteX34" fmla="*/ 2232630 w 3026006"/>
              <a:gd name="connsiteY34" fmla="*/ 1437180 h 1746463"/>
              <a:gd name="connsiteX35" fmla="*/ 2205736 w 3026006"/>
              <a:gd name="connsiteY35" fmla="*/ 1464075 h 1746463"/>
              <a:gd name="connsiteX36" fmla="*/ 2111606 w 3026006"/>
              <a:gd name="connsiteY36" fmla="*/ 1504416 h 1746463"/>
              <a:gd name="connsiteX37" fmla="*/ 2071265 w 3026006"/>
              <a:gd name="connsiteY37" fmla="*/ 1531310 h 1746463"/>
              <a:gd name="connsiteX38" fmla="*/ 2017477 w 3026006"/>
              <a:gd name="connsiteY38" fmla="*/ 1544757 h 1746463"/>
              <a:gd name="connsiteX39" fmla="*/ 1936795 w 3026006"/>
              <a:gd name="connsiteY39" fmla="*/ 1571651 h 1746463"/>
              <a:gd name="connsiteX40" fmla="*/ 1896453 w 3026006"/>
              <a:gd name="connsiteY40" fmla="*/ 1585098 h 1746463"/>
              <a:gd name="connsiteX41" fmla="*/ 1829218 w 3026006"/>
              <a:gd name="connsiteY41" fmla="*/ 1611992 h 1746463"/>
              <a:gd name="connsiteX42" fmla="*/ 1775430 w 3026006"/>
              <a:gd name="connsiteY42" fmla="*/ 1638886 h 1746463"/>
              <a:gd name="connsiteX43" fmla="*/ 1735089 w 3026006"/>
              <a:gd name="connsiteY43" fmla="*/ 1652333 h 1746463"/>
              <a:gd name="connsiteX44" fmla="*/ 1694747 w 3026006"/>
              <a:gd name="connsiteY44" fmla="*/ 1679227 h 1746463"/>
              <a:gd name="connsiteX45" fmla="*/ 1587171 w 3026006"/>
              <a:gd name="connsiteY45" fmla="*/ 1706122 h 1746463"/>
              <a:gd name="connsiteX46" fmla="*/ 1533383 w 3026006"/>
              <a:gd name="connsiteY46" fmla="*/ 1719569 h 1746463"/>
              <a:gd name="connsiteX47" fmla="*/ 1197206 w 3026006"/>
              <a:gd name="connsiteY47" fmla="*/ 1733016 h 1746463"/>
              <a:gd name="connsiteX48" fmla="*/ 1156865 w 3026006"/>
              <a:gd name="connsiteY48" fmla="*/ 1746463 h 1746463"/>
              <a:gd name="connsiteX49" fmla="*/ 1008947 w 3026006"/>
              <a:gd name="connsiteY49" fmla="*/ 1706122 h 1746463"/>
              <a:gd name="connsiteX50" fmla="*/ 982053 w 3026006"/>
              <a:gd name="connsiteY50" fmla="*/ 1679227 h 1746463"/>
              <a:gd name="connsiteX51" fmla="*/ 955159 w 3026006"/>
              <a:gd name="connsiteY51" fmla="*/ 1571651 h 1746463"/>
              <a:gd name="connsiteX52" fmla="*/ 941712 w 3026006"/>
              <a:gd name="connsiteY52" fmla="*/ 1275816 h 1746463"/>
              <a:gd name="connsiteX53" fmla="*/ 914818 w 3026006"/>
              <a:gd name="connsiteY53" fmla="*/ 1235475 h 1746463"/>
              <a:gd name="connsiteX54" fmla="*/ 834136 w 3026006"/>
              <a:gd name="connsiteY54" fmla="*/ 1154792 h 1746463"/>
              <a:gd name="connsiteX55" fmla="*/ 726559 w 3026006"/>
              <a:gd name="connsiteY55" fmla="*/ 1101004 h 1746463"/>
              <a:gd name="connsiteX56" fmla="*/ 618983 w 3026006"/>
              <a:gd name="connsiteY56" fmla="*/ 1074110 h 1746463"/>
              <a:gd name="connsiteX57" fmla="*/ 497959 w 3026006"/>
              <a:gd name="connsiteY57" fmla="*/ 1047216 h 1746463"/>
              <a:gd name="connsiteX58" fmla="*/ 403830 w 3026006"/>
              <a:gd name="connsiteY58" fmla="*/ 1006875 h 1746463"/>
              <a:gd name="connsiteX59" fmla="*/ 363489 w 3026006"/>
              <a:gd name="connsiteY59" fmla="*/ 993427 h 1746463"/>
              <a:gd name="connsiteX60" fmla="*/ 323147 w 3026006"/>
              <a:gd name="connsiteY60" fmla="*/ 953086 h 1746463"/>
              <a:gd name="connsiteX61" fmla="*/ 296253 w 3026006"/>
              <a:gd name="connsiteY61" fmla="*/ 912745 h 1746463"/>
              <a:gd name="connsiteX62" fmla="*/ 215571 w 3026006"/>
              <a:gd name="connsiteY62" fmla="*/ 832063 h 1746463"/>
              <a:gd name="connsiteX63" fmla="*/ 188677 w 3026006"/>
              <a:gd name="connsiteY63" fmla="*/ 791722 h 1746463"/>
              <a:gd name="connsiteX64" fmla="*/ 107995 w 3026006"/>
              <a:gd name="connsiteY64" fmla="*/ 724486 h 1746463"/>
              <a:gd name="connsiteX65" fmla="*/ 40759 w 3026006"/>
              <a:gd name="connsiteY65" fmla="*/ 670698 h 1746463"/>
              <a:gd name="connsiteX66" fmla="*/ 13865 w 3026006"/>
              <a:gd name="connsiteY66" fmla="*/ 630357 h 1746463"/>
              <a:gd name="connsiteX67" fmla="*/ 13865 w 3026006"/>
              <a:gd name="connsiteY67" fmla="*/ 468992 h 1746463"/>
              <a:gd name="connsiteX68" fmla="*/ 27312 w 3026006"/>
              <a:gd name="connsiteY68" fmla="*/ 428651 h 1746463"/>
              <a:gd name="connsiteX69" fmla="*/ 67653 w 3026006"/>
              <a:gd name="connsiteY69" fmla="*/ 347969 h 1746463"/>
              <a:gd name="connsiteX70" fmla="*/ 94547 w 3026006"/>
              <a:gd name="connsiteY70" fmla="*/ 226945 h 1746463"/>
              <a:gd name="connsiteX71" fmla="*/ 121442 w 3026006"/>
              <a:gd name="connsiteY71" fmla="*/ 200051 h 1746463"/>
              <a:gd name="connsiteX72" fmla="*/ 175230 w 3026006"/>
              <a:gd name="connsiteY72" fmla="*/ 119369 h 1746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3026006" h="1746463">
                <a:moveTo>
                  <a:pt x="175230" y="119369"/>
                </a:moveTo>
                <a:cubicBezTo>
                  <a:pt x="199883" y="108163"/>
                  <a:pt x="238175" y="127146"/>
                  <a:pt x="269359" y="132816"/>
                </a:cubicBezTo>
                <a:cubicBezTo>
                  <a:pt x="287542" y="136122"/>
                  <a:pt x="304666" y="146263"/>
                  <a:pt x="323147" y="146263"/>
                </a:cubicBezTo>
                <a:cubicBezTo>
                  <a:pt x="354842" y="146263"/>
                  <a:pt x="385900" y="137298"/>
                  <a:pt x="417277" y="132816"/>
                </a:cubicBezTo>
                <a:cubicBezTo>
                  <a:pt x="440390" y="125112"/>
                  <a:pt x="489189" y="107699"/>
                  <a:pt x="511406" y="105922"/>
                </a:cubicBezTo>
                <a:cubicBezTo>
                  <a:pt x="605342" y="98407"/>
                  <a:pt x="699665" y="96957"/>
                  <a:pt x="793795" y="92475"/>
                </a:cubicBezTo>
                <a:cubicBezTo>
                  <a:pt x="838618" y="96957"/>
                  <a:pt x="883613" y="99968"/>
                  <a:pt x="928265" y="105922"/>
                </a:cubicBezTo>
                <a:cubicBezTo>
                  <a:pt x="950920" y="108943"/>
                  <a:pt x="972644" y="119369"/>
                  <a:pt x="995500" y="119369"/>
                </a:cubicBezTo>
                <a:cubicBezTo>
                  <a:pt x="1053943" y="119369"/>
                  <a:pt x="1112041" y="110404"/>
                  <a:pt x="1170312" y="105922"/>
                </a:cubicBezTo>
                <a:cubicBezTo>
                  <a:pt x="1474798" y="-97070"/>
                  <a:pt x="1218676" y="51594"/>
                  <a:pt x="2057818" y="65580"/>
                </a:cubicBezTo>
                <a:cubicBezTo>
                  <a:pt x="2089194" y="70062"/>
                  <a:pt x="2120868" y="72811"/>
                  <a:pt x="2151947" y="79027"/>
                </a:cubicBezTo>
                <a:cubicBezTo>
                  <a:pt x="2165847" y="81807"/>
                  <a:pt x="2178660" y="88581"/>
                  <a:pt x="2192289" y="92475"/>
                </a:cubicBezTo>
                <a:cubicBezTo>
                  <a:pt x="2210059" y="97552"/>
                  <a:pt x="2228307" y="100845"/>
                  <a:pt x="2246077" y="105922"/>
                </a:cubicBezTo>
                <a:cubicBezTo>
                  <a:pt x="2259706" y="109816"/>
                  <a:pt x="2272314" y="117959"/>
                  <a:pt x="2286418" y="119369"/>
                </a:cubicBezTo>
                <a:cubicBezTo>
                  <a:pt x="2362371" y="126964"/>
                  <a:pt x="2438818" y="128334"/>
                  <a:pt x="2515018" y="132816"/>
                </a:cubicBezTo>
                <a:cubicBezTo>
                  <a:pt x="2532947" y="141781"/>
                  <a:pt x="2549606" y="153950"/>
                  <a:pt x="2568806" y="159710"/>
                </a:cubicBezTo>
                <a:cubicBezTo>
                  <a:pt x="2594921" y="167545"/>
                  <a:pt x="2622284" y="171343"/>
                  <a:pt x="2649489" y="173157"/>
                </a:cubicBezTo>
                <a:cubicBezTo>
                  <a:pt x="2756920" y="180319"/>
                  <a:pt x="2864642" y="182122"/>
                  <a:pt x="2972218" y="186604"/>
                </a:cubicBezTo>
                <a:cubicBezTo>
                  <a:pt x="2945328" y="294164"/>
                  <a:pt x="2934367" y="277245"/>
                  <a:pt x="2958771" y="374863"/>
                </a:cubicBezTo>
                <a:cubicBezTo>
                  <a:pt x="2965647" y="402365"/>
                  <a:pt x="2978789" y="428043"/>
                  <a:pt x="2985665" y="455545"/>
                </a:cubicBezTo>
                <a:cubicBezTo>
                  <a:pt x="2990147" y="473474"/>
                  <a:pt x="2993802" y="491631"/>
                  <a:pt x="2999112" y="509333"/>
                </a:cubicBezTo>
                <a:cubicBezTo>
                  <a:pt x="3007258" y="536487"/>
                  <a:pt x="3026006" y="590016"/>
                  <a:pt x="3026006" y="590016"/>
                </a:cubicBezTo>
                <a:cubicBezTo>
                  <a:pt x="3021524" y="684145"/>
                  <a:pt x="3019787" y="778446"/>
                  <a:pt x="3012559" y="872404"/>
                </a:cubicBezTo>
                <a:cubicBezTo>
                  <a:pt x="3010806" y="895192"/>
                  <a:pt x="3007137" y="918239"/>
                  <a:pt x="2999112" y="939639"/>
                </a:cubicBezTo>
                <a:cubicBezTo>
                  <a:pt x="2993437" y="954771"/>
                  <a:pt x="2981724" y="966910"/>
                  <a:pt x="2972218" y="979980"/>
                </a:cubicBezTo>
                <a:cubicBezTo>
                  <a:pt x="2945854" y="1016231"/>
                  <a:pt x="2926538" y="1059556"/>
                  <a:pt x="2891536" y="1087557"/>
                </a:cubicBezTo>
                <a:cubicBezTo>
                  <a:pt x="2869124" y="1105486"/>
                  <a:pt x="2847261" y="1124124"/>
                  <a:pt x="2824300" y="1141345"/>
                </a:cubicBezTo>
                <a:cubicBezTo>
                  <a:pt x="2788063" y="1168523"/>
                  <a:pt x="2744231" y="1191515"/>
                  <a:pt x="2703277" y="1208580"/>
                </a:cubicBezTo>
                <a:cubicBezTo>
                  <a:pt x="2703252" y="1208591"/>
                  <a:pt x="2602436" y="1242194"/>
                  <a:pt x="2582253" y="1248922"/>
                </a:cubicBezTo>
                <a:cubicBezTo>
                  <a:pt x="2568806" y="1253404"/>
                  <a:pt x="2554590" y="1256030"/>
                  <a:pt x="2541912" y="1262369"/>
                </a:cubicBezTo>
                <a:cubicBezTo>
                  <a:pt x="2523983" y="1271334"/>
                  <a:pt x="2505123" y="1278639"/>
                  <a:pt x="2488124" y="1289263"/>
                </a:cubicBezTo>
                <a:cubicBezTo>
                  <a:pt x="2395085" y="1347413"/>
                  <a:pt x="2473251" y="1316632"/>
                  <a:pt x="2393995" y="1343051"/>
                </a:cubicBezTo>
                <a:cubicBezTo>
                  <a:pt x="2341462" y="1395582"/>
                  <a:pt x="2396585" y="1348479"/>
                  <a:pt x="2326759" y="1383392"/>
                </a:cubicBezTo>
                <a:cubicBezTo>
                  <a:pt x="2312304" y="1390620"/>
                  <a:pt x="2300450" y="1402268"/>
                  <a:pt x="2286418" y="1410286"/>
                </a:cubicBezTo>
                <a:cubicBezTo>
                  <a:pt x="2269014" y="1420231"/>
                  <a:pt x="2250559" y="1428215"/>
                  <a:pt x="2232630" y="1437180"/>
                </a:cubicBezTo>
                <a:cubicBezTo>
                  <a:pt x="2223665" y="1446145"/>
                  <a:pt x="2216285" y="1457042"/>
                  <a:pt x="2205736" y="1464075"/>
                </a:cubicBezTo>
                <a:cubicBezTo>
                  <a:pt x="2121795" y="1520036"/>
                  <a:pt x="2183320" y="1468559"/>
                  <a:pt x="2111606" y="1504416"/>
                </a:cubicBezTo>
                <a:cubicBezTo>
                  <a:pt x="2097151" y="1511644"/>
                  <a:pt x="2086120" y="1524944"/>
                  <a:pt x="2071265" y="1531310"/>
                </a:cubicBezTo>
                <a:cubicBezTo>
                  <a:pt x="2054278" y="1538590"/>
                  <a:pt x="2035179" y="1539446"/>
                  <a:pt x="2017477" y="1544757"/>
                </a:cubicBezTo>
                <a:cubicBezTo>
                  <a:pt x="1990324" y="1552903"/>
                  <a:pt x="1963689" y="1562686"/>
                  <a:pt x="1936795" y="1571651"/>
                </a:cubicBezTo>
                <a:cubicBezTo>
                  <a:pt x="1923348" y="1576133"/>
                  <a:pt x="1909614" y="1579834"/>
                  <a:pt x="1896453" y="1585098"/>
                </a:cubicBezTo>
                <a:cubicBezTo>
                  <a:pt x="1874041" y="1594063"/>
                  <a:pt x="1851276" y="1602189"/>
                  <a:pt x="1829218" y="1611992"/>
                </a:cubicBezTo>
                <a:cubicBezTo>
                  <a:pt x="1810900" y="1620133"/>
                  <a:pt x="1793855" y="1630990"/>
                  <a:pt x="1775430" y="1638886"/>
                </a:cubicBezTo>
                <a:cubicBezTo>
                  <a:pt x="1762402" y="1644470"/>
                  <a:pt x="1747767" y="1645994"/>
                  <a:pt x="1735089" y="1652333"/>
                </a:cubicBezTo>
                <a:cubicBezTo>
                  <a:pt x="1720634" y="1659561"/>
                  <a:pt x="1709936" y="1673704"/>
                  <a:pt x="1694747" y="1679227"/>
                </a:cubicBezTo>
                <a:cubicBezTo>
                  <a:pt x="1660010" y="1691859"/>
                  <a:pt x="1623030" y="1697157"/>
                  <a:pt x="1587171" y="1706122"/>
                </a:cubicBezTo>
                <a:cubicBezTo>
                  <a:pt x="1569242" y="1710604"/>
                  <a:pt x="1551849" y="1718830"/>
                  <a:pt x="1533383" y="1719569"/>
                </a:cubicBezTo>
                <a:lnTo>
                  <a:pt x="1197206" y="1733016"/>
                </a:lnTo>
                <a:cubicBezTo>
                  <a:pt x="1183759" y="1737498"/>
                  <a:pt x="1171039" y="1746463"/>
                  <a:pt x="1156865" y="1746463"/>
                </a:cubicBezTo>
                <a:cubicBezTo>
                  <a:pt x="1075456" y="1746463"/>
                  <a:pt x="1070489" y="1736892"/>
                  <a:pt x="1008947" y="1706122"/>
                </a:cubicBezTo>
                <a:cubicBezTo>
                  <a:pt x="999982" y="1697157"/>
                  <a:pt x="986762" y="1690998"/>
                  <a:pt x="982053" y="1679227"/>
                </a:cubicBezTo>
                <a:cubicBezTo>
                  <a:pt x="968326" y="1644908"/>
                  <a:pt x="955159" y="1571651"/>
                  <a:pt x="955159" y="1571651"/>
                </a:cubicBezTo>
                <a:cubicBezTo>
                  <a:pt x="950677" y="1473039"/>
                  <a:pt x="953473" y="1373826"/>
                  <a:pt x="941712" y="1275816"/>
                </a:cubicBezTo>
                <a:cubicBezTo>
                  <a:pt x="939786" y="1259770"/>
                  <a:pt x="925555" y="1247554"/>
                  <a:pt x="914818" y="1235475"/>
                </a:cubicBezTo>
                <a:cubicBezTo>
                  <a:pt x="889550" y="1207048"/>
                  <a:pt x="868155" y="1171801"/>
                  <a:pt x="834136" y="1154792"/>
                </a:cubicBezTo>
                <a:cubicBezTo>
                  <a:pt x="798277" y="1136863"/>
                  <a:pt x="765453" y="1110728"/>
                  <a:pt x="726559" y="1101004"/>
                </a:cubicBezTo>
                <a:cubicBezTo>
                  <a:pt x="690700" y="1092039"/>
                  <a:pt x="655228" y="1081359"/>
                  <a:pt x="618983" y="1074110"/>
                </a:cubicBezTo>
                <a:cubicBezTo>
                  <a:pt x="572766" y="1064867"/>
                  <a:pt x="542271" y="1059877"/>
                  <a:pt x="497959" y="1047216"/>
                </a:cubicBezTo>
                <a:cubicBezTo>
                  <a:pt x="434892" y="1029197"/>
                  <a:pt x="475542" y="1037609"/>
                  <a:pt x="403830" y="1006875"/>
                </a:cubicBezTo>
                <a:cubicBezTo>
                  <a:pt x="390802" y="1001291"/>
                  <a:pt x="376936" y="997910"/>
                  <a:pt x="363489" y="993427"/>
                </a:cubicBezTo>
                <a:cubicBezTo>
                  <a:pt x="350042" y="979980"/>
                  <a:pt x="335322" y="967695"/>
                  <a:pt x="323147" y="953086"/>
                </a:cubicBezTo>
                <a:cubicBezTo>
                  <a:pt x="312801" y="940671"/>
                  <a:pt x="306990" y="924824"/>
                  <a:pt x="296253" y="912745"/>
                </a:cubicBezTo>
                <a:cubicBezTo>
                  <a:pt x="270985" y="884318"/>
                  <a:pt x="236668" y="863709"/>
                  <a:pt x="215571" y="832063"/>
                </a:cubicBezTo>
                <a:cubicBezTo>
                  <a:pt x="206606" y="818616"/>
                  <a:pt x="198773" y="804342"/>
                  <a:pt x="188677" y="791722"/>
                </a:cubicBezTo>
                <a:cubicBezTo>
                  <a:pt x="164345" y="761307"/>
                  <a:pt x="139383" y="750642"/>
                  <a:pt x="107995" y="724486"/>
                </a:cubicBezTo>
                <a:cubicBezTo>
                  <a:pt x="31353" y="660618"/>
                  <a:pt x="140496" y="737189"/>
                  <a:pt x="40759" y="670698"/>
                </a:cubicBezTo>
                <a:cubicBezTo>
                  <a:pt x="31794" y="657251"/>
                  <a:pt x="20231" y="645212"/>
                  <a:pt x="13865" y="630357"/>
                </a:cubicBezTo>
                <a:cubicBezTo>
                  <a:pt x="-10504" y="573497"/>
                  <a:pt x="2344" y="532361"/>
                  <a:pt x="13865" y="468992"/>
                </a:cubicBezTo>
                <a:cubicBezTo>
                  <a:pt x="16401" y="455046"/>
                  <a:pt x="20973" y="441329"/>
                  <a:pt x="27312" y="428651"/>
                </a:cubicBezTo>
                <a:cubicBezTo>
                  <a:pt x="79447" y="324381"/>
                  <a:pt x="33854" y="449367"/>
                  <a:pt x="67653" y="347969"/>
                </a:cubicBezTo>
                <a:cubicBezTo>
                  <a:pt x="70368" y="331677"/>
                  <a:pt x="79268" y="252409"/>
                  <a:pt x="94547" y="226945"/>
                </a:cubicBezTo>
                <a:cubicBezTo>
                  <a:pt x="101070" y="216074"/>
                  <a:pt x="111299" y="207658"/>
                  <a:pt x="121442" y="200051"/>
                </a:cubicBezTo>
                <a:cubicBezTo>
                  <a:pt x="147300" y="180658"/>
                  <a:pt x="150577" y="130575"/>
                  <a:pt x="175230" y="119369"/>
                </a:cubicBezTo>
                <a:close/>
              </a:path>
            </a:pathLst>
          </a:custGeom>
          <a:solidFill>
            <a:srgbClr val="00B0F0">
              <a:alpha val="48936"/>
            </a:srgbClr>
          </a:solidFill>
          <a:ln w="635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21">
            <a:extLst>
              <a:ext uri="{FF2B5EF4-FFF2-40B4-BE49-F238E27FC236}">
                <a16:creationId xmlns:a16="http://schemas.microsoft.com/office/drawing/2014/main" id="{863639FE-573C-75A6-9592-AFE2EA1C058A}"/>
              </a:ext>
            </a:extLst>
          </p:cNvPr>
          <p:cNvSpPr/>
          <p:nvPr/>
        </p:nvSpPr>
        <p:spPr>
          <a:xfrm>
            <a:off x="6448927" y="2552199"/>
            <a:ext cx="4906462" cy="2846998"/>
          </a:xfrm>
          <a:custGeom>
            <a:avLst/>
            <a:gdLst>
              <a:gd name="connsiteX0" fmla="*/ 175230 w 3026006"/>
              <a:gd name="connsiteY0" fmla="*/ 119369 h 1746463"/>
              <a:gd name="connsiteX1" fmla="*/ 269359 w 3026006"/>
              <a:gd name="connsiteY1" fmla="*/ 132816 h 1746463"/>
              <a:gd name="connsiteX2" fmla="*/ 323147 w 3026006"/>
              <a:gd name="connsiteY2" fmla="*/ 146263 h 1746463"/>
              <a:gd name="connsiteX3" fmla="*/ 417277 w 3026006"/>
              <a:gd name="connsiteY3" fmla="*/ 132816 h 1746463"/>
              <a:gd name="connsiteX4" fmla="*/ 511406 w 3026006"/>
              <a:gd name="connsiteY4" fmla="*/ 105922 h 1746463"/>
              <a:gd name="connsiteX5" fmla="*/ 793795 w 3026006"/>
              <a:gd name="connsiteY5" fmla="*/ 92475 h 1746463"/>
              <a:gd name="connsiteX6" fmla="*/ 928265 w 3026006"/>
              <a:gd name="connsiteY6" fmla="*/ 105922 h 1746463"/>
              <a:gd name="connsiteX7" fmla="*/ 995500 w 3026006"/>
              <a:gd name="connsiteY7" fmla="*/ 119369 h 1746463"/>
              <a:gd name="connsiteX8" fmla="*/ 1170312 w 3026006"/>
              <a:gd name="connsiteY8" fmla="*/ 105922 h 1746463"/>
              <a:gd name="connsiteX9" fmla="*/ 2057818 w 3026006"/>
              <a:gd name="connsiteY9" fmla="*/ 65580 h 1746463"/>
              <a:gd name="connsiteX10" fmla="*/ 2151947 w 3026006"/>
              <a:gd name="connsiteY10" fmla="*/ 79027 h 1746463"/>
              <a:gd name="connsiteX11" fmla="*/ 2192289 w 3026006"/>
              <a:gd name="connsiteY11" fmla="*/ 92475 h 1746463"/>
              <a:gd name="connsiteX12" fmla="*/ 2246077 w 3026006"/>
              <a:gd name="connsiteY12" fmla="*/ 105922 h 1746463"/>
              <a:gd name="connsiteX13" fmla="*/ 2286418 w 3026006"/>
              <a:gd name="connsiteY13" fmla="*/ 119369 h 1746463"/>
              <a:gd name="connsiteX14" fmla="*/ 2515018 w 3026006"/>
              <a:gd name="connsiteY14" fmla="*/ 132816 h 1746463"/>
              <a:gd name="connsiteX15" fmla="*/ 2568806 w 3026006"/>
              <a:gd name="connsiteY15" fmla="*/ 159710 h 1746463"/>
              <a:gd name="connsiteX16" fmla="*/ 2649489 w 3026006"/>
              <a:gd name="connsiteY16" fmla="*/ 173157 h 1746463"/>
              <a:gd name="connsiteX17" fmla="*/ 2972218 w 3026006"/>
              <a:gd name="connsiteY17" fmla="*/ 186604 h 1746463"/>
              <a:gd name="connsiteX18" fmla="*/ 2958771 w 3026006"/>
              <a:gd name="connsiteY18" fmla="*/ 374863 h 1746463"/>
              <a:gd name="connsiteX19" fmla="*/ 2985665 w 3026006"/>
              <a:gd name="connsiteY19" fmla="*/ 455545 h 1746463"/>
              <a:gd name="connsiteX20" fmla="*/ 2999112 w 3026006"/>
              <a:gd name="connsiteY20" fmla="*/ 509333 h 1746463"/>
              <a:gd name="connsiteX21" fmla="*/ 3026006 w 3026006"/>
              <a:gd name="connsiteY21" fmla="*/ 590016 h 1746463"/>
              <a:gd name="connsiteX22" fmla="*/ 3012559 w 3026006"/>
              <a:gd name="connsiteY22" fmla="*/ 872404 h 1746463"/>
              <a:gd name="connsiteX23" fmla="*/ 2999112 w 3026006"/>
              <a:gd name="connsiteY23" fmla="*/ 939639 h 1746463"/>
              <a:gd name="connsiteX24" fmla="*/ 2972218 w 3026006"/>
              <a:gd name="connsiteY24" fmla="*/ 979980 h 1746463"/>
              <a:gd name="connsiteX25" fmla="*/ 2891536 w 3026006"/>
              <a:gd name="connsiteY25" fmla="*/ 1087557 h 1746463"/>
              <a:gd name="connsiteX26" fmla="*/ 2824300 w 3026006"/>
              <a:gd name="connsiteY26" fmla="*/ 1141345 h 1746463"/>
              <a:gd name="connsiteX27" fmla="*/ 2703277 w 3026006"/>
              <a:gd name="connsiteY27" fmla="*/ 1208580 h 1746463"/>
              <a:gd name="connsiteX28" fmla="*/ 2582253 w 3026006"/>
              <a:gd name="connsiteY28" fmla="*/ 1248922 h 1746463"/>
              <a:gd name="connsiteX29" fmla="*/ 2541912 w 3026006"/>
              <a:gd name="connsiteY29" fmla="*/ 1262369 h 1746463"/>
              <a:gd name="connsiteX30" fmla="*/ 2488124 w 3026006"/>
              <a:gd name="connsiteY30" fmla="*/ 1289263 h 1746463"/>
              <a:gd name="connsiteX31" fmla="*/ 2393995 w 3026006"/>
              <a:gd name="connsiteY31" fmla="*/ 1343051 h 1746463"/>
              <a:gd name="connsiteX32" fmla="*/ 2326759 w 3026006"/>
              <a:gd name="connsiteY32" fmla="*/ 1383392 h 1746463"/>
              <a:gd name="connsiteX33" fmla="*/ 2286418 w 3026006"/>
              <a:gd name="connsiteY33" fmla="*/ 1410286 h 1746463"/>
              <a:gd name="connsiteX34" fmla="*/ 2232630 w 3026006"/>
              <a:gd name="connsiteY34" fmla="*/ 1437180 h 1746463"/>
              <a:gd name="connsiteX35" fmla="*/ 2205736 w 3026006"/>
              <a:gd name="connsiteY35" fmla="*/ 1464075 h 1746463"/>
              <a:gd name="connsiteX36" fmla="*/ 2111606 w 3026006"/>
              <a:gd name="connsiteY36" fmla="*/ 1504416 h 1746463"/>
              <a:gd name="connsiteX37" fmla="*/ 2071265 w 3026006"/>
              <a:gd name="connsiteY37" fmla="*/ 1531310 h 1746463"/>
              <a:gd name="connsiteX38" fmla="*/ 2017477 w 3026006"/>
              <a:gd name="connsiteY38" fmla="*/ 1544757 h 1746463"/>
              <a:gd name="connsiteX39" fmla="*/ 1936795 w 3026006"/>
              <a:gd name="connsiteY39" fmla="*/ 1571651 h 1746463"/>
              <a:gd name="connsiteX40" fmla="*/ 1896453 w 3026006"/>
              <a:gd name="connsiteY40" fmla="*/ 1585098 h 1746463"/>
              <a:gd name="connsiteX41" fmla="*/ 1829218 w 3026006"/>
              <a:gd name="connsiteY41" fmla="*/ 1611992 h 1746463"/>
              <a:gd name="connsiteX42" fmla="*/ 1775430 w 3026006"/>
              <a:gd name="connsiteY42" fmla="*/ 1638886 h 1746463"/>
              <a:gd name="connsiteX43" fmla="*/ 1735089 w 3026006"/>
              <a:gd name="connsiteY43" fmla="*/ 1652333 h 1746463"/>
              <a:gd name="connsiteX44" fmla="*/ 1694747 w 3026006"/>
              <a:gd name="connsiteY44" fmla="*/ 1679227 h 1746463"/>
              <a:gd name="connsiteX45" fmla="*/ 1587171 w 3026006"/>
              <a:gd name="connsiteY45" fmla="*/ 1706122 h 1746463"/>
              <a:gd name="connsiteX46" fmla="*/ 1533383 w 3026006"/>
              <a:gd name="connsiteY46" fmla="*/ 1719569 h 1746463"/>
              <a:gd name="connsiteX47" fmla="*/ 1197206 w 3026006"/>
              <a:gd name="connsiteY47" fmla="*/ 1733016 h 1746463"/>
              <a:gd name="connsiteX48" fmla="*/ 1156865 w 3026006"/>
              <a:gd name="connsiteY48" fmla="*/ 1746463 h 1746463"/>
              <a:gd name="connsiteX49" fmla="*/ 1008947 w 3026006"/>
              <a:gd name="connsiteY49" fmla="*/ 1706122 h 1746463"/>
              <a:gd name="connsiteX50" fmla="*/ 982053 w 3026006"/>
              <a:gd name="connsiteY50" fmla="*/ 1679227 h 1746463"/>
              <a:gd name="connsiteX51" fmla="*/ 955159 w 3026006"/>
              <a:gd name="connsiteY51" fmla="*/ 1571651 h 1746463"/>
              <a:gd name="connsiteX52" fmla="*/ 941712 w 3026006"/>
              <a:gd name="connsiteY52" fmla="*/ 1275816 h 1746463"/>
              <a:gd name="connsiteX53" fmla="*/ 914818 w 3026006"/>
              <a:gd name="connsiteY53" fmla="*/ 1235475 h 1746463"/>
              <a:gd name="connsiteX54" fmla="*/ 834136 w 3026006"/>
              <a:gd name="connsiteY54" fmla="*/ 1154792 h 1746463"/>
              <a:gd name="connsiteX55" fmla="*/ 726559 w 3026006"/>
              <a:gd name="connsiteY55" fmla="*/ 1101004 h 1746463"/>
              <a:gd name="connsiteX56" fmla="*/ 618983 w 3026006"/>
              <a:gd name="connsiteY56" fmla="*/ 1074110 h 1746463"/>
              <a:gd name="connsiteX57" fmla="*/ 497959 w 3026006"/>
              <a:gd name="connsiteY57" fmla="*/ 1047216 h 1746463"/>
              <a:gd name="connsiteX58" fmla="*/ 403830 w 3026006"/>
              <a:gd name="connsiteY58" fmla="*/ 1006875 h 1746463"/>
              <a:gd name="connsiteX59" fmla="*/ 363489 w 3026006"/>
              <a:gd name="connsiteY59" fmla="*/ 993427 h 1746463"/>
              <a:gd name="connsiteX60" fmla="*/ 323147 w 3026006"/>
              <a:gd name="connsiteY60" fmla="*/ 953086 h 1746463"/>
              <a:gd name="connsiteX61" fmla="*/ 296253 w 3026006"/>
              <a:gd name="connsiteY61" fmla="*/ 912745 h 1746463"/>
              <a:gd name="connsiteX62" fmla="*/ 215571 w 3026006"/>
              <a:gd name="connsiteY62" fmla="*/ 832063 h 1746463"/>
              <a:gd name="connsiteX63" fmla="*/ 188677 w 3026006"/>
              <a:gd name="connsiteY63" fmla="*/ 791722 h 1746463"/>
              <a:gd name="connsiteX64" fmla="*/ 107995 w 3026006"/>
              <a:gd name="connsiteY64" fmla="*/ 724486 h 1746463"/>
              <a:gd name="connsiteX65" fmla="*/ 40759 w 3026006"/>
              <a:gd name="connsiteY65" fmla="*/ 670698 h 1746463"/>
              <a:gd name="connsiteX66" fmla="*/ 13865 w 3026006"/>
              <a:gd name="connsiteY66" fmla="*/ 630357 h 1746463"/>
              <a:gd name="connsiteX67" fmla="*/ 13865 w 3026006"/>
              <a:gd name="connsiteY67" fmla="*/ 468992 h 1746463"/>
              <a:gd name="connsiteX68" fmla="*/ 27312 w 3026006"/>
              <a:gd name="connsiteY68" fmla="*/ 428651 h 1746463"/>
              <a:gd name="connsiteX69" fmla="*/ 67653 w 3026006"/>
              <a:gd name="connsiteY69" fmla="*/ 347969 h 1746463"/>
              <a:gd name="connsiteX70" fmla="*/ 94547 w 3026006"/>
              <a:gd name="connsiteY70" fmla="*/ 226945 h 1746463"/>
              <a:gd name="connsiteX71" fmla="*/ 121442 w 3026006"/>
              <a:gd name="connsiteY71" fmla="*/ 200051 h 1746463"/>
              <a:gd name="connsiteX72" fmla="*/ 175230 w 3026006"/>
              <a:gd name="connsiteY72" fmla="*/ 119369 h 1746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3026006" h="1746463">
                <a:moveTo>
                  <a:pt x="175230" y="119369"/>
                </a:moveTo>
                <a:cubicBezTo>
                  <a:pt x="199883" y="108163"/>
                  <a:pt x="238175" y="127146"/>
                  <a:pt x="269359" y="132816"/>
                </a:cubicBezTo>
                <a:cubicBezTo>
                  <a:pt x="287542" y="136122"/>
                  <a:pt x="304666" y="146263"/>
                  <a:pt x="323147" y="146263"/>
                </a:cubicBezTo>
                <a:cubicBezTo>
                  <a:pt x="354842" y="146263"/>
                  <a:pt x="385900" y="137298"/>
                  <a:pt x="417277" y="132816"/>
                </a:cubicBezTo>
                <a:cubicBezTo>
                  <a:pt x="440390" y="125112"/>
                  <a:pt x="489189" y="107699"/>
                  <a:pt x="511406" y="105922"/>
                </a:cubicBezTo>
                <a:cubicBezTo>
                  <a:pt x="605342" y="98407"/>
                  <a:pt x="699665" y="96957"/>
                  <a:pt x="793795" y="92475"/>
                </a:cubicBezTo>
                <a:cubicBezTo>
                  <a:pt x="838618" y="96957"/>
                  <a:pt x="883613" y="99968"/>
                  <a:pt x="928265" y="105922"/>
                </a:cubicBezTo>
                <a:cubicBezTo>
                  <a:pt x="950920" y="108943"/>
                  <a:pt x="972644" y="119369"/>
                  <a:pt x="995500" y="119369"/>
                </a:cubicBezTo>
                <a:cubicBezTo>
                  <a:pt x="1053943" y="119369"/>
                  <a:pt x="1112041" y="110404"/>
                  <a:pt x="1170312" y="105922"/>
                </a:cubicBezTo>
                <a:cubicBezTo>
                  <a:pt x="1474798" y="-97070"/>
                  <a:pt x="1218676" y="51594"/>
                  <a:pt x="2057818" y="65580"/>
                </a:cubicBezTo>
                <a:cubicBezTo>
                  <a:pt x="2089194" y="70062"/>
                  <a:pt x="2120868" y="72811"/>
                  <a:pt x="2151947" y="79027"/>
                </a:cubicBezTo>
                <a:cubicBezTo>
                  <a:pt x="2165847" y="81807"/>
                  <a:pt x="2178660" y="88581"/>
                  <a:pt x="2192289" y="92475"/>
                </a:cubicBezTo>
                <a:cubicBezTo>
                  <a:pt x="2210059" y="97552"/>
                  <a:pt x="2228307" y="100845"/>
                  <a:pt x="2246077" y="105922"/>
                </a:cubicBezTo>
                <a:cubicBezTo>
                  <a:pt x="2259706" y="109816"/>
                  <a:pt x="2272314" y="117959"/>
                  <a:pt x="2286418" y="119369"/>
                </a:cubicBezTo>
                <a:cubicBezTo>
                  <a:pt x="2362371" y="126964"/>
                  <a:pt x="2438818" y="128334"/>
                  <a:pt x="2515018" y="132816"/>
                </a:cubicBezTo>
                <a:cubicBezTo>
                  <a:pt x="2532947" y="141781"/>
                  <a:pt x="2549606" y="153950"/>
                  <a:pt x="2568806" y="159710"/>
                </a:cubicBezTo>
                <a:cubicBezTo>
                  <a:pt x="2594921" y="167545"/>
                  <a:pt x="2622284" y="171343"/>
                  <a:pt x="2649489" y="173157"/>
                </a:cubicBezTo>
                <a:cubicBezTo>
                  <a:pt x="2756920" y="180319"/>
                  <a:pt x="2864642" y="182122"/>
                  <a:pt x="2972218" y="186604"/>
                </a:cubicBezTo>
                <a:cubicBezTo>
                  <a:pt x="2945328" y="294164"/>
                  <a:pt x="2934367" y="277245"/>
                  <a:pt x="2958771" y="374863"/>
                </a:cubicBezTo>
                <a:cubicBezTo>
                  <a:pt x="2965647" y="402365"/>
                  <a:pt x="2978789" y="428043"/>
                  <a:pt x="2985665" y="455545"/>
                </a:cubicBezTo>
                <a:cubicBezTo>
                  <a:pt x="2990147" y="473474"/>
                  <a:pt x="2993802" y="491631"/>
                  <a:pt x="2999112" y="509333"/>
                </a:cubicBezTo>
                <a:cubicBezTo>
                  <a:pt x="3007258" y="536487"/>
                  <a:pt x="3026006" y="590016"/>
                  <a:pt x="3026006" y="590016"/>
                </a:cubicBezTo>
                <a:cubicBezTo>
                  <a:pt x="3021524" y="684145"/>
                  <a:pt x="3019787" y="778446"/>
                  <a:pt x="3012559" y="872404"/>
                </a:cubicBezTo>
                <a:cubicBezTo>
                  <a:pt x="3010806" y="895192"/>
                  <a:pt x="3007137" y="918239"/>
                  <a:pt x="2999112" y="939639"/>
                </a:cubicBezTo>
                <a:cubicBezTo>
                  <a:pt x="2993437" y="954771"/>
                  <a:pt x="2981724" y="966910"/>
                  <a:pt x="2972218" y="979980"/>
                </a:cubicBezTo>
                <a:cubicBezTo>
                  <a:pt x="2945854" y="1016231"/>
                  <a:pt x="2926538" y="1059556"/>
                  <a:pt x="2891536" y="1087557"/>
                </a:cubicBezTo>
                <a:cubicBezTo>
                  <a:pt x="2869124" y="1105486"/>
                  <a:pt x="2847261" y="1124124"/>
                  <a:pt x="2824300" y="1141345"/>
                </a:cubicBezTo>
                <a:cubicBezTo>
                  <a:pt x="2788063" y="1168523"/>
                  <a:pt x="2744231" y="1191515"/>
                  <a:pt x="2703277" y="1208580"/>
                </a:cubicBezTo>
                <a:cubicBezTo>
                  <a:pt x="2703252" y="1208591"/>
                  <a:pt x="2602436" y="1242194"/>
                  <a:pt x="2582253" y="1248922"/>
                </a:cubicBezTo>
                <a:cubicBezTo>
                  <a:pt x="2568806" y="1253404"/>
                  <a:pt x="2554590" y="1256030"/>
                  <a:pt x="2541912" y="1262369"/>
                </a:cubicBezTo>
                <a:cubicBezTo>
                  <a:pt x="2523983" y="1271334"/>
                  <a:pt x="2505123" y="1278639"/>
                  <a:pt x="2488124" y="1289263"/>
                </a:cubicBezTo>
                <a:cubicBezTo>
                  <a:pt x="2395085" y="1347413"/>
                  <a:pt x="2473251" y="1316632"/>
                  <a:pt x="2393995" y="1343051"/>
                </a:cubicBezTo>
                <a:cubicBezTo>
                  <a:pt x="2341462" y="1395582"/>
                  <a:pt x="2396585" y="1348479"/>
                  <a:pt x="2326759" y="1383392"/>
                </a:cubicBezTo>
                <a:cubicBezTo>
                  <a:pt x="2312304" y="1390620"/>
                  <a:pt x="2300450" y="1402268"/>
                  <a:pt x="2286418" y="1410286"/>
                </a:cubicBezTo>
                <a:cubicBezTo>
                  <a:pt x="2269014" y="1420231"/>
                  <a:pt x="2250559" y="1428215"/>
                  <a:pt x="2232630" y="1437180"/>
                </a:cubicBezTo>
                <a:cubicBezTo>
                  <a:pt x="2223665" y="1446145"/>
                  <a:pt x="2216285" y="1457042"/>
                  <a:pt x="2205736" y="1464075"/>
                </a:cubicBezTo>
                <a:cubicBezTo>
                  <a:pt x="2121795" y="1520036"/>
                  <a:pt x="2183320" y="1468559"/>
                  <a:pt x="2111606" y="1504416"/>
                </a:cubicBezTo>
                <a:cubicBezTo>
                  <a:pt x="2097151" y="1511644"/>
                  <a:pt x="2086120" y="1524944"/>
                  <a:pt x="2071265" y="1531310"/>
                </a:cubicBezTo>
                <a:cubicBezTo>
                  <a:pt x="2054278" y="1538590"/>
                  <a:pt x="2035179" y="1539446"/>
                  <a:pt x="2017477" y="1544757"/>
                </a:cubicBezTo>
                <a:cubicBezTo>
                  <a:pt x="1990324" y="1552903"/>
                  <a:pt x="1963689" y="1562686"/>
                  <a:pt x="1936795" y="1571651"/>
                </a:cubicBezTo>
                <a:cubicBezTo>
                  <a:pt x="1923348" y="1576133"/>
                  <a:pt x="1909614" y="1579834"/>
                  <a:pt x="1896453" y="1585098"/>
                </a:cubicBezTo>
                <a:cubicBezTo>
                  <a:pt x="1874041" y="1594063"/>
                  <a:pt x="1851276" y="1602189"/>
                  <a:pt x="1829218" y="1611992"/>
                </a:cubicBezTo>
                <a:cubicBezTo>
                  <a:pt x="1810900" y="1620133"/>
                  <a:pt x="1793855" y="1630990"/>
                  <a:pt x="1775430" y="1638886"/>
                </a:cubicBezTo>
                <a:cubicBezTo>
                  <a:pt x="1762402" y="1644470"/>
                  <a:pt x="1747767" y="1645994"/>
                  <a:pt x="1735089" y="1652333"/>
                </a:cubicBezTo>
                <a:cubicBezTo>
                  <a:pt x="1720634" y="1659561"/>
                  <a:pt x="1709936" y="1673704"/>
                  <a:pt x="1694747" y="1679227"/>
                </a:cubicBezTo>
                <a:cubicBezTo>
                  <a:pt x="1660010" y="1691859"/>
                  <a:pt x="1623030" y="1697157"/>
                  <a:pt x="1587171" y="1706122"/>
                </a:cubicBezTo>
                <a:cubicBezTo>
                  <a:pt x="1569242" y="1710604"/>
                  <a:pt x="1551849" y="1718830"/>
                  <a:pt x="1533383" y="1719569"/>
                </a:cubicBezTo>
                <a:lnTo>
                  <a:pt x="1197206" y="1733016"/>
                </a:lnTo>
                <a:cubicBezTo>
                  <a:pt x="1183759" y="1737498"/>
                  <a:pt x="1171039" y="1746463"/>
                  <a:pt x="1156865" y="1746463"/>
                </a:cubicBezTo>
                <a:cubicBezTo>
                  <a:pt x="1075456" y="1746463"/>
                  <a:pt x="1070489" y="1736892"/>
                  <a:pt x="1008947" y="1706122"/>
                </a:cubicBezTo>
                <a:cubicBezTo>
                  <a:pt x="999982" y="1697157"/>
                  <a:pt x="986762" y="1690998"/>
                  <a:pt x="982053" y="1679227"/>
                </a:cubicBezTo>
                <a:cubicBezTo>
                  <a:pt x="968326" y="1644908"/>
                  <a:pt x="955159" y="1571651"/>
                  <a:pt x="955159" y="1571651"/>
                </a:cubicBezTo>
                <a:cubicBezTo>
                  <a:pt x="950677" y="1473039"/>
                  <a:pt x="953473" y="1373826"/>
                  <a:pt x="941712" y="1275816"/>
                </a:cubicBezTo>
                <a:cubicBezTo>
                  <a:pt x="939786" y="1259770"/>
                  <a:pt x="925555" y="1247554"/>
                  <a:pt x="914818" y="1235475"/>
                </a:cubicBezTo>
                <a:cubicBezTo>
                  <a:pt x="889550" y="1207048"/>
                  <a:pt x="868155" y="1171801"/>
                  <a:pt x="834136" y="1154792"/>
                </a:cubicBezTo>
                <a:cubicBezTo>
                  <a:pt x="798277" y="1136863"/>
                  <a:pt x="765453" y="1110728"/>
                  <a:pt x="726559" y="1101004"/>
                </a:cubicBezTo>
                <a:cubicBezTo>
                  <a:pt x="690700" y="1092039"/>
                  <a:pt x="655228" y="1081359"/>
                  <a:pt x="618983" y="1074110"/>
                </a:cubicBezTo>
                <a:cubicBezTo>
                  <a:pt x="572766" y="1064867"/>
                  <a:pt x="542271" y="1059877"/>
                  <a:pt x="497959" y="1047216"/>
                </a:cubicBezTo>
                <a:cubicBezTo>
                  <a:pt x="434892" y="1029197"/>
                  <a:pt x="475542" y="1037609"/>
                  <a:pt x="403830" y="1006875"/>
                </a:cubicBezTo>
                <a:cubicBezTo>
                  <a:pt x="390802" y="1001291"/>
                  <a:pt x="376936" y="997910"/>
                  <a:pt x="363489" y="993427"/>
                </a:cubicBezTo>
                <a:cubicBezTo>
                  <a:pt x="350042" y="979980"/>
                  <a:pt x="335322" y="967695"/>
                  <a:pt x="323147" y="953086"/>
                </a:cubicBezTo>
                <a:cubicBezTo>
                  <a:pt x="312801" y="940671"/>
                  <a:pt x="306990" y="924824"/>
                  <a:pt x="296253" y="912745"/>
                </a:cubicBezTo>
                <a:cubicBezTo>
                  <a:pt x="270985" y="884318"/>
                  <a:pt x="236668" y="863709"/>
                  <a:pt x="215571" y="832063"/>
                </a:cubicBezTo>
                <a:cubicBezTo>
                  <a:pt x="206606" y="818616"/>
                  <a:pt x="198773" y="804342"/>
                  <a:pt x="188677" y="791722"/>
                </a:cubicBezTo>
                <a:cubicBezTo>
                  <a:pt x="164345" y="761307"/>
                  <a:pt x="139383" y="750642"/>
                  <a:pt x="107995" y="724486"/>
                </a:cubicBezTo>
                <a:cubicBezTo>
                  <a:pt x="31353" y="660618"/>
                  <a:pt x="140496" y="737189"/>
                  <a:pt x="40759" y="670698"/>
                </a:cubicBezTo>
                <a:cubicBezTo>
                  <a:pt x="31794" y="657251"/>
                  <a:pt x="20231" y="645212"/>
                  <a:pt x="13865" y="630357"/>
                </a:cubicBezTo>
                <a:cubicBezTo>
                  <a:pt x="-10504" y="573497"/>
                  <a:pt x="2344" y="532361"/>
                  <a:pt x="13865" y="468992"/>
                </a:cubicBezTo>
                <a:cubicBezTo>
                  <a:pt x="16401" y="455046"/>
                  <a:pt x="20973" y="441329"/>
                  <a:pt x="27312" y="428651"/>
                </a:cubicBezTo>
                <a:cubicBezTo>
                  <a:pt x="79447" y="324381"/>
                  <a:pt x="33854" y="449367"/>
                  <a:pt x="67653" y="347969"/>
                </a:cubicBezTo>
                <a:cubicBezTo>
                  <a:pt x="70368" y="331677"/>
                  <a:pt x="79268" y="252409"/>
                  <a:pt x="94547" y="226945"/>
                </a:cubicBezTo>
                <a:cubicBezTo>
                  <a:pt x="101070" y="216074"/>
                  <a:pt x="111299" y="207658"/>
                  <a:pt x="121442" y="200051"/>
                </a:cubicBezTo>
                <a:cubicBezTo>
                  <a:pt x="147300" y="180658"/>
                  <a:pt x="150577" y="130575"/>
                  <a:pt x="175230" y="119369"/>
                </a:cubicBezTo>
                <a:close/>
              </a:path>
            </a:pathLst>
          </a:custGeom>
          <a:solidFill>
            <a:srgbClr val="00B0F0">
              <a:alpha val="48936"/>
            </a:srgbClr>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 descr="Fish Silhouette Clip Art">
            <a:extLst>
              <a:ext uri="{FF2B5EF4-FFF2-40B4-BE49-F238E27FC236}">
                <a16:creationId xmlns:a16="http://schemas.microsoft.com/office/drawing/2014/main" id="{55037AC8-F9B8-94A3-D520-90907CD8C2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5673" y="2998883"/>
            <a:ext cx="621632" cy="341898"/>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2" descr="Fish Silhouette Clip Art">
            <a:extLst>
              <a:ext uri="{FF2B5EF4-FFF2-40B4-BE49-F238E27FC236}">
                <a16:creationId xmlns:a16="http://schemas.microsoft.com/office/drawing/2014/main" id="{E2AD6558-0F4C-7BD5-AE9D-CBB5896B1C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79294" y="4465458"/>
            <a:ext cx="621632" cy="341898"/>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 descr="Fish Silhouette Clip Art">
            <a:extLst>
              <a:ext uri="{FF2B5EF4-FFF2-40B4-BE49-F238E27FC236}">
                <a16:creationId xmlns:a16="http://schemas.microsoft.com/office/drawing/2014/main" id="{0C392788-A897-6950-9FA6-E909CD2606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55465" y="3291902"/>
            <a:ext cx="621632" cy="341898"/>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2" descr="Fish Silhouette Clip Art">
            <a:extLst>
              <a:ext uri="{FF2B5EF4-FFF2-40B4-BE49-F238E27FC236}">
                <a16:creationId xmlns:a16="http://schemas.microsoft.com/office/drawing/2014/main" id="{2D82E471-1586-ADC0-543A-7E54B2092B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90110" y="3633800"/>
            <a:ext cx="621632" cy="341898"/>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2" descr="Fish Silhouette Clip Art">
            <a:extLst>
              <a:ext uri="{FF2B5EF4-FFF2-40B4-BE49-F238E27FC236}">
                <a16:creationId xmlns:a16="http://schemas.microsoft.com/office/drawing/2014/main" id="{34CFB22F-973B-4687-A5B0-32A32B2896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32054" y="3087102"/>
            <a:ext cx="621632" cy="341898"/>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2" descr="Fish Silhouette Clip Art">
            <a:extLst>
              <a:ext uri="{FF2B5EF4-FFF2-40B4-BE49-F238E27FC236}">
                <a16:creationId xmlns:a16="http://schemas.microsoft.com/office/drawing/2014/main" id="{2FDC3B3E-59C7-60EF-C6F7-F081AF6EA3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95733" y="3087102"/>
            <a:ext cx="621632" cy="341898"/>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2" descr="Fish Silhouette Clip Art">
            <a:extLst>
              <a:ext uri="{FF2B5EF4-FFF2-40B4-BE49-F238E27FC236}">
                <a16:creationId xmlns:a16="http://schemas.microsoft.com/office/drawing/2014/main" id="{1B91C575-CE41-6AC3-D538-BF2DAB18D7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4599" y="3580647"/>
            <a:ext cx="621632" cy="341898"/>
          </a:xfrm>
          <a:prstGeom prst="rect">
            <a:avLst/>
          </a:prstGeom>
          <a:solidFill>
            <a:srgbClr val="FF0000"/>
          </a:solidFill>
          <a:ln>
            <a:solidFill>
              <a:schemeClr val="accent1">
                <a:shade val="15000"/>
              </a:schemeClr>
            </a:solidFill>
          </a:ln>
        </p:spPr>
      </p:pic>
      <p:pic>
        <p:nvPicPr>
          <p:cNvPr id="33" name="Picture 2" descr="Fish Silhouette Clip Art">
            <a:extLst>
              <a:ext uri="{FF2B5EF4-FFF2-40B4-BE49-F238E27FC236}">
                <a16:creationId xmlns:a16="http://schemas.microsoft.com/office/drawing/2014/main" id="{1719B549-83D9-EF17-A026-EC9A38D578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33833" y="4108003"/>
            <a:ext cx="621632" cy="341898"/>
          </a:xfrm>
          <a:prstGeom prst="rect">
            <a:avLst/>
          </a:prstGeom>
          <a:solidFill>
            <a:srgbClr val="FF0000"/>
          </a:solidFill>
          <a:ln>
            <a:solidFill>
              <a:schemeClr val="accent1">
                <a:shade val="15000"/>
              </a:schemeClr>
            </a:solidFill>
          </a:ln>
        </p:spPr>
      </p:pic>
      <p:sp>
        <p:nvSpPr>
          <p:cNvPr id="37" name="TextBox 36">
            <a:extLst>
              <a:ext uri="{FF2B5EF4-FFF2-40B4-BE49-F238E27FC236}">
                <a16:creationId xmlns:a16="http://schemas.microsoft.com/office/drawing/2014/main" id="{46A9146E-48C3-E375-D6A1-83AF14A7F589}"/>
              </a:ext>
            </a:extLst>
          </p:cNvPr>
          <p:cNvSpPr txBox="1"/>
          <p:nvPr/>
        </p:nvSpPr>
        <p:spPr>
          <a:xfrm>
            <a:off x="663742" y="1037736"/>
            <a:ext cx="6096000" cy="553998"/>
          </a:xfrm>
          <a:prstGeom prst="rect">
            <a:avLst/>
          </a:prstGeom>
          <a:noFill/>
        </p:spPr>
        <p:txBody>
          <a:bodyPr wrap="square">
            <a:spAutoFit/>
          </a:bodyPr>
          <a:lstStyle/>
          <a:p>
            <a:r>
              <a:rPr lang="en-GB" sz="3000" dirty="0"/>
              <a:t>Open-population</a:t>
            </a:r>
            <a:endParaRPr lang="en-US" sz="3000" dirty="0"/>
          </a:p>
        </p:txBody>
      </p:sp>
      <p:pic>
        <p:nvPicPr>
          <p:cNvPr id="2" name="Picture 2" descr="Fish Silhouette Clip Art">
            <a:extLst>
              <a:ext uri="{FF2B5EF4-FFF2-40B4-BE49-F238E27FC236}">
                <a16:creationId xmlns:a16="http://schemas.microsoft.com/office/drawing/2014/main" id="{5E973198-468B-EA9D-AB50-8EBD92F36A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81632" y="3165821"/>
            <a:ext cx="621632" cy="34189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Fish Silhouette Clip Art">
            <a:extLst>
              <a:ext uri="{FF2B5EF4-FFF2-40B4-BE49-F238E27FC236}">
                <a16:creationId xmlns:a16="http://schemas.microsoft.com/office/drawing/2014/main" id="{DF61EF17-8796-D19E-48FC-3C2F7443D9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24110" y="3941302"/>
            <a:ext cx="621632" cy="341898"/>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Fish Silhouette Clip Art">
            <a:extLst>
              <a:ext uri="{FF2B5EF4-FFF2-40B4-BE49-F238E27FC236}">
                <a16:creationId xmlns:a16="http://schemas.microsoft.com/office/drawing/2014/main" id="{5F86AE96-ED76-4A12-4BD7-700F5EB94B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5319963" y="3515990"/>
            <a:ext cx="621632" cy="341898"/>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Fish Silhouette Clip Art">
            <a:extLst>
              <a:ext uri="{FF2B5EF4-FFF2-40B4-BE49-F238E27FC236}">
                <a16:creationId xmlns:a16="http://schemas.microsoft.com/office/drawing/2014/main" id="{986628A5-C262-B21C-0658-08FD3DEB50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25719" y="3185844"/>
            <a:ext cx="621632" cy="34189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Fish Silhouette Clip Art">
            <a:extLst>
              <a:ext uri="{FF2B5EF4-FFF2-40B4-BE49-F238E27FC236}">
                <a16:creationId xmlns:a16="http://schemas.microsoft.com/office/drawing/2014/main" id="{1673FDCD-007F-432F-2C49-2DBD3123B6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9460" y="3494683"/>
            <a:ext cx="621632" cy="34189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Fish Silhouette Clip Art">
            <a:extLst>
              <a:ext uri="{FF2B5EF4-FFF2-40B4-BE49-F238E27FC236}">
                <a16:creationId xmlns:a16="http://schemas.microsoft.com/office/drawing/2014/main" id="{BBC7C7AA-6A5B-2F08-1587-DB8A315AF1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21938" y="4270164"/>
            <a:ext cx="621632" cy="34189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Fish Silhouette Clip Art">
            <a:extLst>
              <a:ext uri="{FF2B5EF4-FFF2-40B4-BE49-F238E27FC236}">
                <a16:creationId xmlns:a16="http://schemas.microsoft.com/office/drawing/2014/main" id="{FE5F5329-3791-327A-DF9E-F47B95028F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23547" y="3514706"/>
            <a:ext cx="621632" cy="341898"/>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Fish Silhouette Clip Art">
            <a:extLst>
              <a:ext uri="{FF2B5EF4-FFF2-40B4-BE49-F238E27FC236}">
                <a16:creationId xmlns:a16="http://schemas.microsoft.com/office/drawing/2014/main" id="{82D40E6E-3889-5322-50E0-1F3FCB2A33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557965" y="3668390"/>
            <a:ext cx="621632" cy="341898"/>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Fish Silhouette Clip Art">
            <a:extLst>
              <a:ext uri="{FF2B5EF4-FFF2-40B4-BE49-F238E27FC236}">
                <a16:creationId xmlns:a16="http://schemas.microsoft.com/office/drawing/2014/main" id="{DFA3CAE0-A2FC-29DD-01CD-E51BDBAA2FD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04071" y="3836581"/>
            <a:ext cx="621632" cy="3418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752662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274799-BCE3-5A68-29CF-1E2A896813B7}"/>
              </a:ext>
            </a:extLst>
          </p:cNvPr>
          <p:cNvSpPr>
            <a:spLocks noGrp="1"/>
          </p:cNvSpPr>
          <p:nvPr>
            <p:ph type="title" idx="4294967295"/>
          </p:nvPr>
        </p:nvSpPr>
        <p:spPr>
          <a:xfrm>
            <a:off x="979713" y="365125"/>
            <a:ext cx="10515600" cy="1325563"/>
          </a:xfrm>
        </p:spPr>
        <p:txBody>
          <a:bodyPr/>
          <a:lstStyle/>
          <a:p>
            <a:r>
              <a:rPr lang="en-NO" dirty="0"/>
              <a:t>RT models</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A0E98F6B-B5F6-ADF2-4BE3-E6BA466E0F11}"/>
                  </a:ext>
                </a:extLst>
              </p:cNvPr>
              <p:cNvSpPr>
                <a:spLocks noGrp="1"/>
              </p:cNvSpPr>
              <p:nvPr>
                <p:ph sz="half" idx="4294967295"/>
              </p:nvPr>
            </p:nvSpPr>
            <p:spPr>
              <a:xfrm>
                <a:off x="979713" y="1690687"/>
                <a:ext cx="10652654" cy="4802187"/>
              </a:xfrm>
            </p:spPr>
            <p:txBody>
              <a:bodyPr>
                <a:normAutofit fontScale="92500" lnSpcReduction="20000"/>
              </a:bodyPr>
              <a:lstStyle/>
              <a:p>
                <a:pPr marL="0" indent="0">
                  <a:buNone/>
                </a:pPr>
                <a14:m>
                  <m:oMath xmlns:m="http://schemas.openxmlformats.org/officeDocument/2006/math">
                    <m:func>
                      <m:funcPr>
                        <m:ctrlPr>
                          <a:rPr lang="nb-NO" b="0" i="0" smtClean="0">
                            <a:latin typeface="Cambria Math" panose="02040503050406030204" pitchFamily="18" charset="0"/>
                          </a:rPr>
                        </m:ctrlPr>
                      </m:funcPr>
                      <m:fName>
                        <m:r>
                          <m:rPr>
                            <m:sty m:val="p"/>
                          </m:rPr>
                          <a:rPr lang="nb-NO" b="0" i="0" smtClean="0">
                            <a:latin typeface="Cambria Math" panose="02040503050406030204" pitchFamily="18" charset="0"/>
                          </a:rPr>
                          <m:t>Pr</m:t>
                        </m:r>
                      </m:fName>
                      <m:e>
                        <m:r>
                          <a:rPr lang="nb-NO" b="0" i="1" smtClean="0">
                            <a:latin typeface="Cambria Math" panose="02040503050406030204" pitchFamily="18" charset="0"/>
                          </a:rPr>
                          <m:t>.</m:t>
                        </m:r>
                        <m:r>
                          <a:rPr lang="nb-NO" b="0" i="1" smtClean="0">
                            <a:latin typeface="Cambria Math" panose="02040503050406030204" pitchFamily="18" charset="0"/>
                          </a:rPr>
                          <m:t>𝐶𝐽𝑆</m:t>
                        </m:r>
                        <m:d>
                          <m:dPr>
                            <m:ctrlPr>
                              <a:rPr lang="nb-NO" b="0" i="1" smtClean="0">
                                <a:latin typeface="Cambria Math" panose="02040503050406030204" pitchFamily="18" charset="0"/>
                              </a:rPr>
                            </m:ctrlPr>
                          </m:dPr>
                          <m:e>
                            <m:r>
                              <a:rPr lang="nb-NO" b="0" i="1" smtClean="0">
                                <a:latin typeface="Cambria Math" panose="02040503050406030204" pitchFamily="18" charset="0"/>
                              </a:rPr>
                              <m:t>01101|</m:t>
                            </m:r>
                            <m:r>
                              <a:rPr lang="nb-NO" b="0" i="1" smtClean="0">
                                <a:latin typeface="Cambria Math" panose="02040503050406030204" pitchFamily="18" charset="0"/>
                              </a:rPr>
                              <m:t>𝑟𝑒𝑙𝑒𝑎𝑠𝑒</m:t>
                            </m:r>
                            <m:r>
                              <a:rPr lang="nb-NO" b="0" i="1" smtClean="0">
                                <a:latin typeface="Cambria Math" panose="02040503050406030204" pitchFamily="18" charset="0"/>
                              </a:rPr>
                              <m:t> </m:t>
                            </m:r>
                            <m:r>
                              <a:rPr lang="nb-NO" b="0" i="1" smtClean="0">
                                <a:latin typeface="Cambria Math" panose="02040503050406030204" pitchFamily="18" charset="0"/>
                              </a:rPr>
                              <m:t>𝑖𝑛</m:t>
                            </m:r>
                            <m:r>
                              <a:rPr lang="nb-NO" b="0" i="1" smtClean="0">
                                <a:latin typeface="Cambria Math" panose="02040503050406030204" pitchFamily="18" charset="0"/>
                              </a:rPr>
                              <m:t> 2</m:t>
                            </m:r>
                          </m:e>
                        </m:d>
                        <m:r>
                          <a:rPr lang="nb-NO" b="0" i="1" smtClean="0">
                            <a:latin typeface="Cambria Math" panose="02040503050406030204" pitchFamily="18" charset="0"/>
                          </a:rPr>
                          <m:t>= </m:t>
                        </m:r>
                        <m:sSub>
                          <m:sSubPr>
                            <m:ctrlPr>
                              <a:rPr lang="nb-NO" b="0" i="1" smtClean="0">
                                <a:latin typeface="Cambria Math" panose="02040503050406030204" pitchFamily="18" charset="0"/>
                                <a:ea typeface="Cambria Math" panose="02040503050406030204" pitchFamily="18" charset="0"/>
                              </a:rPr>
                            </m:ctrlPr>
                          </m:sSubPr>
                          <m:e>
                            <m:r>
                              <a:rPr lang="nb-NO" b="0" i="1" smtClean="0">
                                <a:latin typeface="Cambria Math" panose="02040503050406030204" pitchFamily="18" charset="0"/>
                                <a:ea typeface="Cambria Math" panose="02040503050406030204" pitchFamily="18" charset="0"/>
                              </a:rPr>
                              <m:t>𝜙</m:t>
                            </m:r>
                          </m:e>
                          <m:sub>
                            <m:r>
                              <a:rPr lang="nb-NO" b="0" i="1" smtClean="0">
                                <a:latin typeface="Cambria Math" panose="02040503050406030204" pitchFamily="18" charset="0"/>
                              </a:rPr>
                              <m:t>2</m:t>
                            </m:r>
                          </m:sub>
                        </m:sSub>
                        <m:sSub>
                          <m:sSubPr>
                            <m:ctrlPr>
                              <a:rPr lang="nb-NO" b="0" i="1" smtClean="0">
                                <a:latin typeface="Cambria Math" panose="02040503050406030204" pitchFamily="18" charset="0"/>
                              </a:rPr>
                            </m:ctrlPr>
                          </m:sSubPr>
                          <m:e>
                            <m:r>
                              <a:rPr lang="nb-NO" b="0" i="1" smtClean="0">
                                <a:latin typeface="Cambria Math" panose="02040503050406030204" pitchFamily="18" charset="0"/>
                              </a:rPr>
                              <m:t>𝑝</m:t>
                            </m:r>
                          </m:e>
                          <m:sub>
                            <m:r>
                              <a:rPr lang="nb-NO" b="0" i="1" smtClean="0">
                                <a:latin typeface="Cambria Math" panose="02040503050406030204" pitchFamily="18" charset="0"/>
                              </a:rPr>
                              <m:t>3</m:t>
                            </m:r>
                          </m:sub>
                        </m:sSub>
                        <m:sSub>
                          <m:sSubPr>
                            <m:ctrlPr>
                              <a:rPr lang="nb-NO" i="1">
                                <a:latin typeface="Cambria Math" panose="02040503050406030204" pitchFamily="18" charset="0"/>
                                <a:ea typeface="Cambria Math" panose="02040503050406030204" pitchFamily="18" charset="0"/>
                              </a:rPr>
                            </m:ctrlPr>
                          </m:sSubPr>
                          <m:e>
                            <m:r>
                              <a:rPr lang="nb-NO" i="1">
                                <a:latin typeface="Cambria Math" panose="02040503050406030204" pitchFamily="18" charset="0"/>
                                <a:ea typeface="Cambria Math" panose="02040503050406030204" pitchFamily="18" charset="0"/>
                              </a:rPr>
                              <m:t>𝜙</m:t>
                            </m:r>
                          </m:e>
                          <m:sub>
                            <m:r>
                              <a:rPr lang="nb-NO" b="0" i="1" smtClean="0">
                                <a:latin typeface="Cambria Math" panose="02040503050406030204" pitchFamily="18" charset="0"/>
                                <a:ea typeface="Cambria Math" panose="02040503050406030204" pitchFamily="18" charset="0"/>
                              </a:rPr>
                              <m:t>3</m:t>
                            </m:r>
                          </m:sub>
                        </m:sSub>
                        <m:sSub>
                          <m:sSubPr>
                            <m:ctrlPr>
                              <a:rPr lang="nb-NO" b="0" i="1" smtClean="0">
                                <a:latin typeface="Cambria Math" panose="02040503050406030204" pitchFamily="18" charset="0"/>
                              </a:rPr>
                            </m:ctrlPr>
                          </m:sSubPr>
                          <m:e>
                            <m:r>
                              <a:rPr lang="nb-NO" b="0" i="1" smtClean="0">
                                <a:latin typeface="Cambria Math" panose="02040503050406030204" pitchFamily="18" charset="0"/>
                              </a:rPr>
                              <m:t>(1−</m:t>
                            </m:r>
                            <m:r>
                              <a:rPr lang="nb-NO" i="1">
                                <a:latin typeface="Cambria Math" panose="02040503050406030204" pitchFamily="18" charset="0"/>
                              </a:rPr>
                              <m:t>𝑝</m:t>
                            </m:r>
                          </m:e>
                          <m:sub>
                            <m:r>
                              <a:rPr lang="nb-NO" b="0" i="1" smtClean="0">
                                <a:latin typeface="Cambria Math" panose="02040503050406030204" pitchFamily="18" charset="0"/>
                              </a:rPr>
                              <m:t>4</m:t>
                            </m:r>
                          </m:sub>
                        </m:sSub>
                      </m:e>
                    </m:func>
                  </m:oMath>
                </a14:m>
                <a:r>
                  <a:rPr lang="en-NO" dirty="0"/>
                  <a:t>)</a:t>
                </a:r>
                <a:r>
                  <a:rPr lang="nb-NO" dirty="0"/>
                  <a:t> </a:t>
                </a:r>
                <a14:m>
                  <m:oMath xmlns:m="http://schemas.openxmlformats.org/officeDocument/2006/math">
                    <m:sSub>
                      <m:sSubPr>
                        <m:ctrlPr>
                          <a:rPr lang="nb-NO" i="1">
                            <a:latin typeface="Cambria Math" panose="02040503050406030204" pitchFamily="18" charset="0"/>
                            <a:ea typeface="Cambria Math" panose="02040503050406030204" pitchFamily="18" charset="0"/>
                          </a:rPr>
                        </m:ctrlPr>
                      </m:sSubPr>
                      <m:e>
                        <m:r>
                          <a:rPr lang="nb-NO" i="1">
                            <a:latin typeface="Cambria Math" panose="02040503050406030204" pitchFamily="18" charset="0"/>
                            <a:ea typeface="Cambria Math" panose="02040503050406030204" pitchFamily="18" charset="0"/>
                          </a:rPr>
                          <m:t>𝜙</m:t>
                        </m:r>
                      </m:e>
                      <m:sub>
                        <m:r>
                          <a:rPr lang="nb-NO" b="0" i="1" smtClean="0">
                            <a:latin typeface="Cambria Math" panose="02040503050406030204" pitchFamily="18" charset="0"/>
                            <a:ea typeface="Cambria Math" panose="02040503050406030204" pitchFamily="18" charset="0"/>
                          </a:rPr>
                          <m:t>4</m:t>
                        </m:r>
                      </m:sub>
                    </m:sSub>
                  </m:oMath>
                </a14:m>
                <a:r>
                  <a:rPr lang="nb-NO" dirty="0"/>
                  <a:t> </a:t>
                </a:r>
                <a14:m>
                  <m:oMath xmlns:m="http://schemas.openxmlformats.org/officeDocument/2006/math">
                    <m:sSub>
                      <m:sSubPr>
                        <m:ctrlPr>
                          <a:rPr lang="nb-NO" i="1">
                            <a:latin typeface="Cambria Math" panose="02040503050406030204" pitchFamily="18" charset="0"/>
                          </a:rPr>
                        </m:ctrlPr>
                      </m:sSubPr>
                      <m:e>
                        <m:r>
                          <a:rPr lang="nb-NO" i="1">
                            <a:latin typeface="Cambria Math" panose="02040503050406030204" pitchFamily="18" charset="0"/>
                          </a:rPr>
                          <m:t>𝑝</m:t>
                        </m:r>
                      </m:e>
                      <m:sub>
                        <m:r>
                          <a:rPr lang="nb-NO" b="0" i="1" smtClean="0">
                            <a:latin typeface="Cambria Math" panose="02040503050406030204" pitchFamily="18" charset="0"/>
                          </a:rPr>
                          <m:t>5</m:t>
                        </m:r>
                      </m:sub>
                    </m:sSub>
                  </m:oMath>
                </a14:m>
                <a:endParaRPr lang="nb-NO" dirty="0"/>
              </a:p>
              <a:p>
                <a:pPr marL="0" indent="0">
                  <a:buNone/>
                </a:pPr>
                <a:endParaRPr lang="nb-NO" dirty="0"/>
              </a:p>
              <a:p>
                <a:pPr marL="0" indent="0">
                  <a:buNone/>
                </a:pPr>
                <a14:m>
                  <m:oMathPara xmlns:m="http://schemas.openxmlformats.org/officeDocument/2006/math">
                    <m:oMathParaPr>
                      <m:jc m:val="left"/>
                    </m:oMathParaPr>
                    <m:oMath>
                      <m:sSub>
                        <m:sSubPr>
                          <m:ctrlPr>
                            <a:rPr lang="en-NO" i="1" dirty="0" smtClean="0">
                              <a:latin typeface="Cambria Math" panose="02040503050406030204" pitchFamily="18" charset="0"/>
                              <a:ea typeface="Cambria Math" panose="02040503050406030204" pitchFamily="18" charset="0"/>
                            </a:rPr>
                          </m:ctrlPr>
                        </m:sSubPr>
                        <m:e>
                          <m:r>
                            <a:rPr lang="en-NO" i="1" dirty="0" smtClean="0">
                              <a:latin typeface="Cambria Math" panose="02040503050406030204" pitchFamily="18" charset="0"/>
                              <a:ea typeface="Cambria Math" panose="02040503050406030204" pitchFamily="18" charset="0"/>
                            </a:rPr>
                            <m:t>𝜙</m:t>
                          </m:r>
                        </m:e>
                        <m:sub>
                          <m:r>
                            <a:rPr lang="nb-NO" b="0" i="1" dirty="0" smtClean="0">
                              <a:latin typeface="Cambria Math" panose="02040503050406030204" pitchFamily="18" charset="0"/>
                            </a:rPr>
                            <m:t>𝑖</m:t>
                          </m:r>
                        </m:sub>
                      </m:sSub>
                      <m:r>
                        <m:rPr>
                          <m:nor/>
                        </m:rPr>
                        <a:rPr lang="en-NO" i="0" dirty="0"/>
                        <m:t>= probablity that if alive in</m:t>
                      </m:r>
                      <m:r>
                        <a:rPr lang="nb-NO">
                          <a:latin typeface="Cambria Math" panose="02040503050406030204" pitchFamily="18" charset="0"/>
                        </a:rPr>
                        <m:t> </m:t>
                      </m:r>
                      <m:r>
                        <a:rPr lang="nb-NO" i="1">
                          <a:latin typeface="Cambria Math" panose="02040503050406030204" pitchFamily="18" charset="0"/>
                        </a:rPr>
                        <m:t>𝑖</m:t>
                      </m:r>
                      <m:r>
                        <m:rPr>
                          <m:nor/>
                        </m:rPr>
                        <a:rPr lang="en-NO" i="0" dirty="0"/>
                        <m:t>, also alive in </m:t>
                      </m:r>
                      <m:r>
                        <a:rPr lang="nb-NO" i="1">
                          <a:latin typeface="Cambria Math" panose="02040503050406030204" pitchFamily="18" charset="0"/>
                        </a:rPr>
                        <m:t>𝑖</m:t>
                      </m:r>
                      <m:r>
                        <a:rPr lang="nb-NO" b="0" i="1" smtClean="0">
                          <a:latin typeface="Cambria Math" panose="02040503050406030204" pitchFamily="18" charset="0"/>
                        </a:rPr>
                        <m:t>+</m:t>
                      </m:r>
                      <m:r>
                        <a:rPr lang="nb-NO" i="1">
                          <a:latin typeface="Cambria Math" panose="02040503050406030204" pitchFamily="18" charset="0"/>
                        </a:rPr>
                        <m:t>1</m:t>
                      </m:r>
                    </m:oMath>
                  </m:oMathPara>
                </a14:m>
                <a:endParaRPr lang="en-NO" baseline="-25000" dirty="0"/>
              </a:p>
              <a:p>
                <a:pPr marL="0" indent="0">
                  <a:buNone/>
                </a:pPr>
                <a:endParaRPr lang="en-NO" dirty="0"/>
              </a:p>
              <a:p>
                <a:pPr marL="0" indent="0">
                  <a:buNone/>
                </a:pPr>
                <a:r>
                  <a:rPr lang="en-GB" dirty="0"/>
                  <a:t>T</a:t>
                </a:r>
                <a:r>
                  <a:rPr lang="en-NO" dirty="0"/>
                  <a:t>urn 01101 around = 10110</a:t>
                </a:r>
              </a:p>
              <a:p>
                <a:pPr marL="0" indent="0">
                  <a:buNone/>
                </a:pPr>
                <a:endParaRPr lang="en-NO" dirty="0"/>
              </a:p>
              <a:p>
                <a:pPr marL="0" indent="0">
                  <a:buNone/>
                </a:pPr>
                <a14:m>
                  <m:oMath xmlns:m="http://schemas.openxmlformats.org/officeDocument/2006/math">
                    <m:r>
                      <a:rPr lang="nb-NO" i="1">
                        <a:latin typeface="Cambria Math" panose="02040503050406030204" pitchFamily="18" charset="0"/>
                        <a:ea typeface="Cambria Math" panose="02040503050406030204" pitchFamily="18" charset="0"/>
                      </a:rPr>
                      <m:t>𝛾</m:t>
                    </m:r>
                  </m:oMath>
                </a14:m>
                <a:r>
                  <a:rPr lang="en-NO" dirty="0"/>
                  <a:t> = seniority parameter (complement of origination probability in paleo speak)</a:t>
                </a:r>
              </a:p>
              <a:p>
                <a:pPr marL="0" indent="0">
                  <a:buNone/>
                </a:pPr>
                <a:endParaRPr lang="en-NO" dirty="0"/>
              </a:p>
              <a:p>
                <a:pPr marL="0" indent="0">
                  <a:buNone/>
                </a:pPr>
                <a14:m>
                  <m:oMath xmlns:m="http://schemas.openxmlformats.org/officeDocument/2006/math">
                    <m:sSub>
                      <m:sSubPr>
                        <m:ctrlPr>
                          <a:rPr lang="nb-NO" i="1" smtClean="0">
                            <a:latin typeface="Cambria Math" panose="02040503050406030204" pitchFamily="18" charset="0"/>
                            <a:ea typeface="Cambria Math" panose="02040503050406030204" pitchFamily="18" charset="0"/>
                          </a:rPr>
                        </m:ctrlPr>
                      </m:sSubPr>
                      <m:e>
                        <m:r>
                          <a:rPr lang="nb-NO" i="1" smtClean="0">
                            <a:latin typeface="Cambria Math" panose="02040503050406030204" pitchFamily="18" charset="0"/>
                            <a:ea typeface="Cambria Math" panose="02040503050406030204" pitchFamily="18" charset="0"/>
                          </a:rPr>
                          <m:t>𝛾</m:t>
                        </m:r>
                      </m:e>
                      <m:sub>
                        <m:r>
                          <a:rPr lang="nb-NO" b="0" i="1" smtClean="0">
                            <a:latin typeface="Cambria Math" panose="02040503050406030204" pitchFamily="18" charset="0"/>
                            <a:ea typeface="Cambria Math" panose="02040503050406030204" pitchFamily="18" charset="0"/>
                          </a:rPr>
                          <m:t>𝑖</m:t>
                        </m:r>
                      </m:sub>
                    </m:sSub>
                    <m:r>
                      <a:rPr lang="nb-NO" b="0" i="1" smtClean="0">
                        <a:latin typeface="Cambria Math" panose="02040503050406030204" pitchFamily="18" charset="0"/>
                        <a:ea typeface="Cambria Math" panose="02040503050406030204" pitchFamily="18" charset="0"/>
                      </a:rPr>
                      <m:t> </m:t>
                    </m:r>
                  </m:oMath>
                </a14:m>
                <a:r>
                  <a:rPr lang="en-NO" dirty="0"/>
                  <a:t>= probablity that if alive in</a:t>
                </a:r>
                <a14:m>
                  <m:oMath xmlns:m="http://schemas.openxmlformats.org/officeDocument/2006/math">
                    <m:r>
                      <a:rPr lang="nb-NO" b="0" i="0" smtClean="0">
                        <a:latin typeface="Cambria Math" panose="02040503050406030204" pitchFamily="18" charset="0"/>
                      </a:rPr>
                      <m:t> </m:t>
                    </m:r>
                    <m:r>
                      <a:rPr lang="nb-NO" b="0" i="1" smtClean="0">
                        <a:latin typeface="Cambria Math" panose="02040503050406030204" pitchFamily="18" charset="0"/>
                      </a:rPr>
                      <m:t>𝑖</m:t>
                    </m:r>
                  </m:oMath>
                </a14:m>
                <a:r>
                  <a:rPr lang="en-NO" dirty="0"/>
                  <a:t>, also alive in </a:t>
                </a:r>
                <a14:m>
                  <m:oMath xmlns:m="http://schemas.openxmlformats.org/officeDocument/2006/math">
                    <m:r>
                      <a:rPr lang="nb-NO" i="1">
                        <a:latin typeface="Cambria Math" panose="02040503050406030204" pitchFamily="18" charset="0"/>
                      </a:rPr>
                      <m:t>𝑖</m:t>
                    </m:r>
                    <m:r>
                      <a:rPr lang="nb-NO" b="0" i="1" smtClean="0">
                        <a:latin typeface="Cambria Math" panose="02040503050406030204" pitchFamily="18" charset="0"/>
                      </a:rPr>
                      <m:t>−1</m:t>
                    </m:r>
                  </m:oMath>
                </a14:m>
                <a:endParaRPr lang="en-NO" baseline="-25000" dirty="0"/>
              </a:p>
              <a:p>
                <a:pPr marL="0" indent="0">
                  <a:buNone/>
                </a:pPr>
                <a:endParaRPr lang="en-NO" baseline="-25000" dirty="0"/>
              </a:p>
              <a:p>
                <a:pPr marL="0" indent="0">
                  <a:buNone/>
                </a:pPr>
                <a14:m>
                  <m:oMath xmlns:m="http://schemas.openxmlformats.org/officeDocument/2006/math">
                    <m:func>
                      <m:funcPr>
                        <m:ctrlPr>
                          <a:rPr lang="nb-NO">
                            <a:latin typeface="Cambria Math" panose="02040503050406030204" pitchFamily="18" charset="0"/>
                          </a:rPr>
                        </m:ctrlPr>
                      </m:funcPr>
                      <m:fName>
                        <m:r>
                          <m:rPr>
                            <m:sty m:val="p"/>
                          </m:rPr>
                          <a:rPr lang="nb-NO">
                            <a:latin typeface="Cambria Math" panose="02040503050406030204" pitchFamily="18" charset="0"/>
                          </a:rPr>
                          <m:t>Pr</m:t>
                        </m:r>
                      </m:fName>
                      <m:e>
                        <m:r>
                          <a:rPr lang="nb-NO" i="1">
                            <a:latin typeface="Cambria Math" panose="02040503050406030204" pitchFamily="18" charset="0"/>
                          </a:rPr>
                          <m:t>.</m:t>
                        </m:r>
                        <m:r>
                          <a:rPr lang="nb-NO" b="0" i="1" smtClean="0">
                            <a:latin typeface="Cambria Math" panose="02040503050406030204" pitchFamily="18" charset="0"/>
                          </a:rPr>
                          <m:t>𝑅𝑇</m:t>
                        </m:r>
                        <m:d>
                          <m:dPr>
                            <m:ctrlPr>
                              <a:rPr lang="nb-NO" i="1">
                                <a:latin typeface="Cambria Math" panose="02040503050406030204" pitchFamily="18" charset="0"/>
                              </a:rPr>
                            </m:ctrlPr>
                          </m:dPr>
                          <m:e>
                            <m:r>
                              <a:rPr lang="nb-NO" i="1">
                                <a:latin typeface="Cambria Math" panose="02040503050406030204" pitchFamily="18" charset="0"/>
                              </a:rPr>
                              <m:t>01101|</m:t>
                            </m:r>
                            <m:r>
                              <a:rPr lang="nb-NO" b="0" i="1" smtClean="0">
                                <a:latin typeface="Cambria Math" panose="02040503050406030204" pitchFamily="18" charset="0"/>
                              </a:rPr>
                              <m:t>𝑙𝑎𝑠𝑡</m:t>
                            </m:r>
                            <m:r>
                              <a:rPr lang="nb-NO" b="0" i="1" smtClean="0">
                                <a:latin typeface="Cambria Math" panose="02040503050406030204" pitchFamily="18" charset="0"/>
                              </a:rPr>
                              <m:t> </m:t>
                            </m:r>
                            <m:r>
                              <a:rPr lang="nb-NO" b="0" i="1" smtClean="0">
                                <a:latin typeface="Cambria Math" panose="02040503050406030204" pitchFamily="18" charset="0"/>
                              </a:rPr>
                              <m:t>𝑐𝑎𝑝𝑡𝑢𝑟𝑒</m:t>
                            </m:r>
                            <m:r>
                              <a:rPr lang="nb-NO" i="1">
                                <a:latin typeface="Cambria Math" panose="02040503050406030204" pitchFamily="18" charset="0"/>
                              </a:rPr>
                              <m:t> </m:t>
                            </m:r>
                            <m:r>
                              <a:rPr lang="nb-NO" i="1">
                                <a:latin typeface="Cambria Math" panose="02040503050406030204" pitchFamily="18" charset="0"/>
                              </a:rPr>
                              <m:t>𝑖𝑛</m:t>
                            </m:r>
                            <m:r>
                              <a:rPr lang="nb-NO" i="1">
                                <a:latin typeface="Cambria Math" panose="02040503050406030204" pitchFamily="18" charset="0"/>
                              </a:rPr>
                              <m:t> 5</m:t>
                            </m:r>
                          </m:e>
                        </m:d>
                        <m:r>
                          <a:rPr lang="nb-NO" i="1">
                            <a:latin typeface="Cambria Math" panose="02040503050406030204" pitchFamily="18" charset="0"/>
                          </a:rPr>
                          <m:t>= </m:t>
                        </m:r>
                        <m:sSub>
                          <m:sSubPr>
                            <m:ctrlPr>
                              <a:rPr lang="nb-NO" i="1" smtClean="0">
                                <a:latin typeface="Cambria Math" panose="02040503050406030204" pitchFamily="18" charset="0"/>
                                <a:ea typeface="Cambria Math" panose="02040503050406030204" pitchFamily="18" charset="0"/>
                              </a:rPr>
                            </m:ctrlPr>
                          </m:sSubPr>
                          <m:e>
                            <m:r>
                              <a:rPr lang="nb-NO" i="1" smtClean="0">
                                <a:latin typeface="Cambria Math" panose="02040503050406030204" pitchFamily="18" charset="0"/>
                                <a:ea typeface="Cambria Math" panose="02040503050406030204" pitchFamily="18" charset="0"/>
                              </a:rPr>
                              <m:t>𝛾</m:t>
                            </m:r>
                          </m:e>
                          <m:sub>
                            <m:r>
                              <a:rPr lang="nb-NO" b="0" i="1" smtClean="0">
                                <a:latin typeface="Cambria Math" panose="02040503050406030204" pitchFamily="18" charset="0"/>
                                <a:ea typeface="Cambria Math" panose="02040503050406030204" pitchFamily="18" charset="0"/>
                              </a:rPr>
                              <m:t>5</m:t>
                            </m:r>
                          </m:sub>
                        </m:sSub>
                        <m:sSub>
                          <m:sSubPr>
                            <m:ctrlPr>
                              <a:rPr lang="nb-NO" i="1">
                                <a:latin typeface="Cambria Math" panose="02040503050406030204" pitchFamily="18" charset="0"/>
                              </a:rPr>
                            </m:ctrlPr>
                          </m:sSubPr>
                          <m:e>
                            <m:r>
                              <a:rPr lang="nb-NO" i="1">
                                <a:latin typeface="Cambria Math" panose="02040503050406030204" pitchFamily="18" charset="0"/>
                              </a:rPr>
                              <m:t>(1−</m:t>
                            </m:r>
                            <m:r>
                              <a:rPr lang="nb-NO" i="1">
                                <a:latin typeface="Cambria Math" panose="02040503050406030204" pitchFamily="18" charset="0"/>
                              </a:rPr>
                              <m:t>𝑝</m:t>
                            </m:r>
                          </m:e>
                          <m:sub>
                            <m:r>
                              <a:rPr lang="nb-NO" i="1">
                                <a:latin typeface="Cambria Math" panose="02040503050406030204" pitchFamily="18" charset="0"/>
                              </a:rPr>
                              <m:t>4</m:t>
                            </m:r>
                          </m:sub>
                        </m:sSub>
                      </m:e>
                    </m:func>
                  </m:oMath>
                </a14:m>
                <a:r>
                  <a:rPr lang="en-NO" dirty="0"/>
                  <a:t>)</a:t>
                </a:r>
                <a:r>
                  <a:rPr lang="nb-NO" dirty="0"/>
                  <a:t> </a:t>
                </a:r>
                <a14:m>
                  <m:oMath xmlns:m="http://schemas.openxmlformats.org/officeDocument/2006/math">
                    <m:sSub>
                      <m:sSubPr>
                        <m:ctrlPr>
                          <a:rPr lang="nb-NO" i="1">
                            <a:latin typeface="Cambria Math" panose="02040503050406030204" pitchFamily="18" charset="0"/>
                            <a:ea typeface="Cambria Math" panose="02040503050406030204" pitchFamily="18" charset="0"/>
                          </a:rPr>
                        </m:ctrlPr>
                      </m:sSubPr>
                      <m:e>
                        <m:r>
                          <a:rPr lang="nb-NO" i="1">
                            <a:latin typeface="Cambria Math" panose="02040503050406030204" pitchFamily="18" charset="0"/>
                            <a:ea typeface="Cambria Math" panose="02040503050406030204" pitchFamily="18" charset="0"/>
                          </a:rPr>
                          <m:t>𝛾</m:t>
                        </m:r>
                      </m:e>
                      <m:sub>
                        <m:r>
                          <a:rPr lang="nb-NO" b="0" i="1" smtClean="0">
                            <a:latin typeface="Cambria Math" panose="02040503050406030204" pitchFamily="18" charset="0"/>
                            <a:ea typeface="Cambria Math" panose="02040503050406030204" pitchFamily="18" charset="0"/>
                          </a:rPr>
                          <m:t>4</m:t>
                        </m:r>
                      </m:sub>
                    </m:sSub>
                    <m:r>
                      <a:rPr lang="nb-NO" i="1">
                        <a:latin typeface="Cambria Math" panose="02040503050406030204" pitchFamily="18" charset="0"/>
                        <a:ea typeface="Cambria Math" panose="02040503050406030204" pitchFamily="18" charset="0"/>
                      </a:rPr>
                      <m:t> </m:t>
                    </m:r>
                    <m:sSub>
                      <m:sSubPr>
                        <m:ctrlPr>
                          <a:rPr lang="nb-NO" i="1">
                            <a:latin typeface="Cambria Math" panose="02040503050406030204" pitchFamily="18" charset="0"/>
                          </a:rPr>
                        </m:ctrlPr>
                      </m:sSubPr>
                      <m:e>
                        <m:r>
                          <a:rPr lang="nb-NO" i="1">
                            <a:latin typeface="Cambria Math" panose="02040503050406030204" pitchFamily="18" charset="0"/>
                          </a:rPr>
                          <m:t>𝑝</m:t>
                        </m:r>
                      </m:e>
                      <m:sub>
                        <m:r>
                          <a:rPr lang="nb-NO" i="1">
                            <a:latin typeface="Cambria Math" panose="02040503050406030204" pitchFamily="18" charset="0"/>
                          </a:rPr>
                          <m:t>3</m:t>
                        </m:r>
                      </m:sub>
                    </m:sSub>
                    <m:sSub>
                      <m:sSubPr>
                        <m:ctrlPr>
                          <a:rPr lang="nb-NO" i="1">
                            <a:latin typeface="Cambria Math" panose="02040503050406030204" pitchFamily="18" charset="0"/>
                            <a:ea typeface="Cambria Math" panose="02040503050406030204" pitchFamily="18" charset="0"/>
                          </a:rPr>
                        </m:ctrlPr>
                      </m:sSubPr>
                      <m:e>
                        <m:r>
                          <a:rPr lang="nb-NO" i="1">
                            <a:latin typeface="Cambria Math" panose="02040503050406030204" pitchFamily="18" charset="0"/>
                            <a:ea typeface="Cambria Math" panose="02040503050406030204" pitchFamily="18" charset="0"/>
                          </a:rPr>
                          <m:t>𝛾</m:t>
                        </m:r>
                      </m:e>
                      <m:sub>
                        <m:r>
                          <a:rPr lang="nb-NO" b="0" i="1" smtClean="0">
                            <a:latin typeface="Cambria Math" panose="02040503050406030204" pitchFamily="18" charset="0"/>
                            <a:ea typeface="Cambria Math" panose="02040503050406030204" pitchFamily="18" charset="0"/>
                          </a:rPr>
                          <m:t>3</m:t>
                        </m:r>
                      </m:sub>
                    </m:sSub>
                    <m:sSub>
                      <m:sSubPr>
                        <m:ctrlPr>
                          <a:rPr lang="nb-NO" i="1">
                            <a:latin typeface="Cambria Math" panose="02040503050406030204" pitchFamily="18" charset="0"/>
                          </a:rPr>
                        </m:ctrlPr>
                      </m:sSubPr>
                      <m:e>
                        <m:r>
                          <a:rPr lang="nb-NO" i="1">
                            <a:latin typeface="Cambria Math" panose="02040503050406030204" pitchFamily="18" charset="0"/>
                          </a:rPr>
                          <m:t>𝑝</m:t>
                        </m:r>
                      </m:e>
                      <m:sub>
                        <m:r>
                          <a:rPr lang="nb-NO" b="0" i="1" smtClean="0">
                            <a:latin typeface="Cambria Math" panose="02040503050406030204" pitchFamily="18" charset="0"/>
                          </a:rPr>
                          <m:t>2</m:t>
                        </m:r>
                      </m:sub>
                    </m:sSub>
                  </m:oMath>
                </a14:m>
                <a:r>
                  <a:rPr lang="nb-NO" dirty="0"/>
                  <a:t>(1- </a:t>
                </a:r>
                <a14:m>
                  <m:oMath xmlns:m="http://schemas.openxmlformats.org/officeDocument/2006/math">
                    <m:sSub>
                      <m:sSubPr>
                        <m:ctrlPr>
                          <a:rPr lang="nb-NO" i="1">
                            <a:latin typeface="Cambria Math" panose="02040503050406030204" pitchFamily="18" charset="0"/>
                            <a:ea typeface="Cambria Math" panose="02040503050406030204" pitchFamily="18" charset="0"/>
                          </a:rPr>
                        </m:ctrlPr>
                      </m:sSubPr>
                      <m:e>
                        <m:r>
                          <a:rPr lang="nb-NO" i="1">
                            <a:latin typeface="Cambria Math" panose="02040503050406030204" pitchFamily="18" charset="0"/>
                            <a:ea typeface="Cambria Math" panose="02040503050406030204" pitchFamily="18" charset="0"/>
                          </a:rPr>
                          <m:t>𝛾</m:t>
                        </m:r>
                      </m:e>
                      <m:sub>
                        <m:r>
                          <a:rPr lang="nb-NO" b="0" i="1" smtClean="0">
                            <a:latin typeface="Cambria Math" panose="02040503050406030204" pitchFamily="18" charset="0"/>
                            <a:ea typeface="Cambria Math" panose="02040503050406030204" pitchFamily="18" charset="0"/>
                          </a:rPr>
                          <m:t>2</m:t>
                        </m:r>
                      </m:sub>
                    </m:sSub>
                  </m:oMath>
                </a14:m>
                <a:r>
                  <a:rPr lang="nb-NO" dirty="0"/>
                  <a:t> </a:t>
                </a:r>
                <a14:m>
                  <m:oMath xmlns:m="http://schemas.openxmlformats.org/officeDocument/2006/math">
                    <m:sSub>
                      <m:sSubPr>
                        <m:ctrlPr>
                          <a:rPr lang="nb-NO" i="1">
                            <a:latin typeface="Cambria Math" panose="02040503050406030204" pitchFamily="18" charset="0"/>
                          </a:rPr>
                        </m:ctrlPr>
                      </m:sSubPr>
                      <m:e>
                        <m:r>
                          <a:rPr lang="nb-NO" i="1">
                            <a:latin typeface="Cambria Math" panose="02040503050406030204" pitchFamily="18" charset="0"/>
                          </a:rPr>
                          <m:t>𝑝</m:t>
                        </m:r>
                      </m:e>
                      <m:sub>
                        <m:r>
                          <a:rPr lang="nb-NO" b="0" i="1" smtClean="0">
                            <a:latin typeface="Cambria Math" panose="02040503050406030204" pitchFamily="18" charset="0"/>
                          </a:rPr>
                          <m:t>1</m:t>
                        </m:r>
                      </m:sub>
                    </m:sSub>
                  </m:oMath>
                </a14:m>
                <a:r>
                  <a:rPr lang="nb-NO" dirty="0"/>
                  <a:t>)</a:t>
                </a:r>
              </a:p>
              <a:p>
                <a:pPr marL="0" indent="0">
                  <a:buNone/>
                </a:pPr>
                <a:endParaRPr lang="en-NO" dirty="0"/>
              </a:p>
              <a:p>
                <a:pPr marL="0" indent="0">
                  <a:buNone/>
                </a:pPr>
                <a:endParaRPr lang="en-NO" dirty="0"/>
              </a:p>
            </p:txBody>
          </p:sp>
        </mc:Choice>
        <mc:Fallback xmlns="">
          <p:sp>
            <p:nvSpPr>
              <p:cNvPr id="4" name="Content Placeholder 3">
                <a:extLst>
                  <a:ext uri="{FF2B5EF4-FFF2-40B4-BE49-F238E27FC236}">
                    <a16:creationId xmlns:a16="http://schemas.microsoft.com/office/drawing/2014/main" id="{A0E98F6B-B5F6-ADF2-4BE3-E6BA466E0F11}"/>
                  </a:ext>
                </a:extLst>
              </p:cNvPr>
              <p:cNvSpPr>
                <a:spLocks noGrp="1" noRot="1" noChangeAspect="1" noMove="1" noResize="1" noEditPoints="1" noAdjustHandles="1" noChangeArrowheads="1" noChangeShapeType="1" noTextEdit="1"/>
              </p:cNvSpPr>
              <p:nvPr>
                <p:ph sz="half" idx="4294967295"/>
              </p:nvPr>
            </p:nvSpPr>
            <p:spPr>
              <a:xfrm>
                <a:off x="979713" y="1690687"/>
                <a:ext cx="10652654" cy="4802187"/>
              </a:xfrm>
              <a:blipFill>
                <a:blip r:embed="rId3"/>
                <a:stretch>
                  <a:fillRect l="-1073" t="-3158"/>
                </a:stretch>
              </a:blipFill>
            </p:spPr>
            <p:txBody>
              <a:bodyPr/>
              <a:lstStyle/>
              <a:p>
                <a:r>
                  <a:rPr lang="en-NO">
                    <a:noFill/>
                  </a:rPr>
                  <a:t> </a:t>
                </a:r>
              </a:p>
            </p:txBody>
          </p:sp>
        </mc:Fallback>
      </mc:AlternateContent>
    </p:spTree>
    <p:extLst>
      <p:ext uri="{BB962C8B-B14F-4D97-AF65-F5344CB8AC3E}">
        <p14:creationId xmlns:p14="http://schemas.microsoft.com/office/powerpoint/2010/main" val="29554460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096FC95-C6A8-EB1A-96F0-579A5556EDC2}"/>
              </a:ext>
            </a:extLst>
          </p:cNvPr>
          <p:cNvSpPr>
            <a:spLocks noGrp="1"/>
          </p:cNvSpPr>
          <p:nvPr>
            <p:ph type="title"/>
          </p:nvPr>
        </p:nvSpPr>
        <p:spPr/>
        <p:txBody>
          <a:bodyPr/>
          <a:lstStyle/>
          <a:p>
            <a:r>
              <a:rPr lang="en-GB" dirty="0" err="1"/>
              <a:t>Pradel</a:t>
            </a:r>
            <a:r>
              <a:rPr lang="en-GB" dirty="0"/>
              <a:t> seniority model</a:t>
            </a:r>
            <a:endParaRPr lang="en-NO" dirty="0"/>
          </a:p>
        </p:txBody>
      </p:sp>
      <mc:AlternateContent xmlns:mc="http://schemas.openxmlformats.org/markup-compatibility/2006" xmlns:a14="http://schemas.microsoft.com/office/drawing/2010/main">
        <mc:Choice Requires="a14">
          <p:sp>
            <p:nvSpPr>
              <p:cNvPr id="3" name="Vertical Text Placeholder 2">
                <a:extLst>
                  <a:ext uri="{FF2B5EF4-FFF2-40B4-BE49-F238E27FC236}">
                    <a16:creationId xmlns:a16="http://schemas.microsoft.com/office/drawing/2014/main" id="{5F247F89-1083-91CB-6890-659447FC28C4}"/>
                  </a:ext>
                </a:extLst>
              </p:cNvPr>
              <p:cNvSpPr>
                <a:spLocks noGrp="1"/>
              </p:cNvSpPr>
              <p:nvPr>
                <p:ph idx="1"/>
              </p:nvPr>
            </p:nvSpPr>
            <p:spPr/>
            <p:txBody>
              <a:bodyPr/>
              <a:lstStyle/>
              <a:p>
                <a:pPr marL="0" indent="0">
                  <a:buNone/>
                </a:pPr>
                <a:r>
                  <a:rPr lang="en-GB" dirty="0"/>
                  <a:t>The </a:t>
                </a:r>
                <a:r>
                  <a:rPr lang="en-GB" dirty="0" err="1"/>
                  <a:t>Pradel</a:t>
                </a:r>
                <a:r>
                  <a:rPr lang="en-GB" dirty="0"/>
                  <a:t> seniority (1996) model (</a:t>
                </a:r>
                <a14:m>
                  <m:oMath xmlns:m="http://schemas.openxmlformats.org/officeDocument/2006/math">
                    <m:sSub>
                      <m:sSubPr>
                        <m:ctrlPr>
                          <a:rPr lang="en-GB" i="1" smtClean="0">
                            <a:latin typeface="Cambria Math" panose="02040503050406030204" pitchFamily="18" charset="0"/>
                            <a:ea typeface="Cambria Math" panose="02040503050406030204" pitchFamily="18" charset="0"/>
                          </a:rPr>
                        </m:ctrlPr>
                      </m:sSubPr>
                      <m:e>
                        <m:r>
                          <a:rPr lang="en-GB" i="1" smtClean="0">
                            <a:latin typeface="Cambria Math" panose="02040503050406030204" pitchFamily="18" charset="0"/>
                            <a:ea typeface="Cambria Math" panose="02040503050406030204" pitchFamily="18" charset="0"/>
                          </a:rPr>
                          <m:t>𝜙</m:t>
                        </m:r>
                      </m:e>
                      <m:sub>
                        <m:r>
                          <a:rPr lang="nb-NO" b="0" i="1" smtClean="0">
                            <a:latin typeface="Cambria Math" panose="02040503050406030204" pitchFamily="18" charset="0"/>
                          </a:rPr>
                          <m:t>𝑡</m:t>
                        </m:r>
                      </m:sub>
                    </m:sSub>
                  </m:oMath>
                </a14:m>
                <a:r>
                  <a:rPr lang="nb-NO" dirty="0"/>
                  <a:t>,</a:t>
                </a:r>
                <a:r>
                  <a:rPr lang="en-GB" dirty="0"/>
                  <a:t> </a:t>
                </a:r>
                <a14:m>
                  <m:oMath xmlns:m="http://schemas.openxmlformats.org/officeDocument/2006/math">
                    <m:sSub>
                      <m:sSubPr>
                        <m:ctrlPr>
                          <a:rPr lang="en-GB" i="1" smtClean="0">
                            <a:latin typeface="Cambria Math" panose="02040503050406030204" pitchFamily="18" charset="0"/>
                            <a:ea typeface="Cambria Math" panose="02040503050406030204" pitchFamily="18" charset="0"/>
                          </a:rPr>
                        </m:ctrlPr>
                      </m:sSubPr>
                      <m:e>
                        <m:r>
                          <a:rPr lang="en-GB" i="1" smtClean="0">
                            <a:latin typeface="Cambria Math" panose="02040503050406030204" pitchFamily="18" charset="0"/>
                            <a:ea typeface="Cambria Math" panose="02040503050406030204" pitchFamily="18" charset="0"/>
                          </a:rPr>
                          <m:t>𝛾</m:t>
                        </m:r>
                      </m:e>
                      <m:sub>
                        <m:r>
                          <a:rPr lang="nb-NO" b="0" i="1" smtClean="0">
                            <a:latin typeface="Cambria Math" panose="02040503050406030204" pitchFamily="18" charset="0"/>
                          </a:rPr>
                          <m:t>𝑡</m:t>
                        </m:r>
                      </m:sub>
                    </m:sSub>
                  </m:oMath>
                </a14:m>
                <a:r>
                  <a:rPr lang="nb-NO" dirty="0"/>
                  <a:t>, </a:t>
                </a:r>
                <a14:m>
                  <m:oMath xmlns:m="http://schemas.openxmlformats.org/officeDocument/2006/math">
                    <m:sSub>
                      <m:sSubPr>
                        <m:ctrlPr>
                          <a:rPr lang="nb-NO" b="0" i="1" smtClean="0">
                            <a:latin typeface="Cambria Math" panose="02040503050406030204" pitchFamily="18" charset="0"/>
                          </a:rPr>
                        </m:ctrlPr>
                      </m:sSubPr>
                      <m:e>
                        <m:r>
                          <a:rPr lang="nb-NO" b="0" i="1" smtClean="0">
                            <a:latin typeface="Cambria Math" panose="02040503050406030204" pitchFamily="18" charset="0"/>
                          </a:rPr>
                          <m:t>𝑝</m:t>
                        </m:r>
                      </m:e>
                      <m:sub>
                        <m:r>
                          <a:rPr lang="nb-NO" b="0" i="1" smtClean="0">
                            <a:latin typeface="Cambria Math" panose="02040503050406030204" pitchFamily="18" charset="0"/>
                          </a:rPr>
                          <m:t>𝑡</m:t>
                        </m:r>
                      </m:sub>
                    </m:sSub>
                  </m:oMath>
                </a14:m>
                <a:r>
                  <a:rPr lang="en-GB" dirty="0"/>
                  <a:t>) can</a:t>
                </a:r>
              </a:p>
              <a:p>
                <a:pPr marL="0" indent="0">
                  <a:buNone/>
                </a:pPr>
                <a:r>
                  <a:rPr lang="en-GB" dirty="0"/>
                  <a:t>be </a:t>
                </a:r>
                <a:r>
                  <a:rPr lang="en-GB" dirty="0" err="1"/>
                  <a:t>reparameterized</a:t>
                </a:r>
                <a:r>
                  <a:rPr lang="en-GB" dirty="0"/>
                  <a:t> in multiple ways, </a:t>
                </a:r>
              </a:p>
              <a:p>
                <a:pPr marL="0" indent="0">
                  <a:buNone/>
                </a:pPr>
                <a:r>
                  <a:rPr lang="en-GB" dirty="0"/>
                  <a:t>including</a:t>
                </a:r>
              </a:p>
              <a:p>
                <a:pPr marL="0" indent="0">
                  <a:buNone/>
                </a:pPr>
                <a:r>
                  <a:rPr lang="en-GB" dirty="0"/>
                  <a:t>(</a:t>
                </a:r>
                <a14:m>
                  <m:oMath xmlns:m="http://schemas.openxmlformats.org/officeDocument/2006/math">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𝜙</m:t>
                        </m:r>
                      </m:e>
                      <m:sub>
                        <m:r>
                          <a:rPr lang="nb-NO" i="1">
                            <a:latin typeface="Cambria Math" panose="02040503050406030204" pitchFamily="18" charset="0"/>
                          </a:rPr>
                          <m:t>𝑡</m:t>
                        </m:r>
                      </m:sub>
                    </m:sSub>
                  </m:oMath>
                </a14:m>
                <a:r>
                  <a:rPr lang="nb-NO" dirty="0"/>
                  <a:t>,</a:t>
                </a:r>
                <a:r>
                  <a:rPr lang="en-GB" dirty="0"/>
                  <a:t> </a:t>
                </a:r>
                <a14:m>
                  <m:oMath xmlns:m="http://schemas.openxmlformats.org/officeDocument/2006/math">
                    <m:sSub>
                      <m:sSubPr>
                        <m:ctrlPr>
                          <a:rPr lang="en-GB" i="1" smtClean="0">
                            <a:latin typeface="Cambria Math" panose="02040503050406030204" pitchFamily="18" charset="0"/>
                            <a:ea typeface="Cambria Math" panose="02040503050406030204" pitchFamily="18" charset="0"/>
                          </a:rPr>
                        </m:ctrlPr>
                      </m:sSubPr>
                      <m:e>
                        <m:r>
                          <a:rPr lang="en-GB" i="1" smtClean="0">
                            <a:latin typeface="Cambria Math" panose="02040503050406030204" pitchFamily="18" charset="0"/>
                            <a:ea typeface="Cambria Math" panose="02040503050406030204" pitchFamily="18" charset="0"/>
                          </a:rPr>
                          <m:t>𝜆</m:t>
                        </m:r>
                      </m:e>
                      <m:sub>
                        <m:r>
                          <a:rPr lang="nb-NO" i="1">
                            <a:latin typeface="Cambria Math" panose="02040503050406030204" pitchFamily="18" charset="0"/>
                          </a:rPr>
                          <m:t>𝑡</m:t>
                        </m:r>
                      </m:sub>
                    </m:sSub>
                  </m:oMath>
                </a14:m>
                <a:r>
                  <a:rPr lang="nb-NO" dirty="0"/>
                  <a:t>, </a:t>
                </a:r>
                <a14:m>
                  <m:oMath xmlns:m="http://schemas.openxmlformats.org/officeDocument/2006/math">
                    <m:sSub>
                      <m:sSubPr>
                        <m:ctrlPr>
                          <a:rPr lang="nb-NO" i="1">
                            <a:latin typeface="Cambria Math" panose="02040503050406030204" pitchFamily="18" charset="0"/>
                          </a:rPr>
                        </m:ctrlPr>
                      </m:sSubPr>
                      <m:e>
                        <m:r>
                          <a:rPr lang="nb-NO" i="1">
                            <a:latin typeface="Cambria Math" panose="02040503050406030204" pitchFamily="18" charset="0"/>
                          </a:rPr>
                          <m:t>𝑝</m:t>
                        </m:r>
                      </m:e>
                      <m:sub>
                        <m:r>
                          <a:rPr lang="nb-NO" i="1">
                            <a:latin typeface="Cambria Math" panose="02040503050406030204" pitchFamily="18" charset="0"/>
                          </a:rPr>
                          <m:t>𝑡</m:t>
                        </m:r>
                      </m:sub>
                    </m:sSub>
                  </m:oMath>
                </a14:m>
                <a:r>
                  <a:rPr lang="en-GB" dirty="0"/>
                  <a:t>) population growth rate </a:t>
                </a:r>
              </a:p>
              <a:p>
                <a:pPr marL="0" indent="0">
                  <a:buNone/>
                </a:pPr>
                <a:r>
                  <a:rPr lang="en-GB" dirty="0"/>
                  <a:t>(</a:t>
                </a:r>
                <a14:m>
                  <m:oMath xmlns:m="http://schemas.openxmlformats.org/officeDocument/2006/math">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𝜙</m:t>
                        </m:r>
                      </m:e>
                      <m:sub>
                        <m:r>
                          <a:rPr lang="nb-NO" i="1">
                            <a:latin typeface="Cambria Math" panose="02040503050406030204" pitchFamily="18" charset="0"/>
                          </a:rPr>
                          <m:t>𝑡</m:t>
                        </m:r>
                      </m:sub>
                    </m:sSub>
                  </m:oMath>
                </a14:m>
                <a:r>
                  <a:rPr lang="nb-NO" dirty="0"/>
                  <a:t>,</a:t>
                </a:r>
                <a:r>
                  <a:rPr lang="en-GB" dirty="0"/>
                  <a:t> </a:t>
                </a:r>
                <a14:m>
                  <m:oMath xmlns:m="http://schemas.openxmlformats.org/officeDocument/2006/math">
                    <m:sSub>
                      <m:sSubPr>
                        <m:ctrlPr>
                          <a:rPr lang="nb-NO" b="0" i="1" smtClean="0">
                            <a:latin typeface="Cambria Math" panose="02040503050406030204" pitchFamily="18" charset="0"/>
                          </a:rPr>
                        </m:ctrlPr>
                      </m:sSubPr>
                      <m:e>
                        <m:r>
                          <a:rPr lang="nb-NO" b="0" i="1" smtClean="0">
                            <a:latin typeface="Cambria Math" panose="02040503050406030204" pitchFamily="18" charset="0"/>
                          </a:rPr>
                          <m:t>𝑓</m:t>
                        </m:r>
                      </m:e>
                      <m:sub>
                        <m:r>
                          <a:rPr lang="nb-NO" i="1">
                            <a:latin typeface="Cambria Math" panose="02040503050406030204" pitchFamily="18" charset="0"/>
                          </a:rPr>
                          <m:t>𝑡</m:t>
                        </m:r>
                      </m:sub>
                    </m:sSub>
                  </m:oMath>
                </a14:m>
                <a:r>
                  <a:rPr lang="nb-NO" dirty="0"/>
                  <a:t>, </a:t>
                </a:r>
                <a14:m>
                  <m:oMath xmlns:m="http://schemas.openxmlformats.org/officeDocument/2006/math">
                    <m:sSub>
                      <m:sSubPr>
                        <m:ctrlPr>
                          <a:rPr lang="nb-NO" i="1">
                            <a:latin typeface="Cambria Math" panose="02040503050406030204" pitchFamily="18" charset="0"/>
                          </a:rPr>
                        </m:ctrlPr>
                      </m:sSubPr>
                      <m:e>
                        <m:r>
                          <a:rPr lang="nb-NO" i="1">
                            <a:latin typeface="Cambria Math" panose="02040503050406030204" pitchFamily="18" charset="0"/>
                          </a:rPr>
                          <m:t>𝑝</m:t>
                        </m:r>
                      </m:e>
                      <m:sub>
                        <m:r>
                          <a:rPr lang="nb-NO" i="1">
                            <a:latin typeface="Cambria Math" panose="02040503050406030204" pitchFamily="18" charset="0"/>
                          </a:rPr>
                          <m:t>𝑡</m:t>
                        </m:r>
                      </m:sub>
                    </m:sSub>
                  </m:oMath>
                </a14:m>
                <a:r>
                  <a:rPr lang="en-GB" dirty="0"/>
                  <a:t>), recruitment as functions of covariates, for example</a:t>
                </a:r>
              </a:p>
              <a:p>
                <a:pPr marL="0" indent="0">
                  <a:buNone/>
                </a:pPr>
                <a:endParaRPr lang="en-GB" dirty="0"/>
              </a:p>
              <a:p>
                <a:pPr marL="0" indent="0">
                  <a:buNone/>
                </a:pPr>
                <a:r>
                  <a:rPr lang="en-GB" dirty="0"/>
                  <a:t>Note that the POPAN; the Link-Barker and </a:t>
                </a:r>
                <a:r>
                  <a:rPr lang="en-GB" dirty="0" err="1"/>
                  <a:t>Pradel</a:t>
                </a:r>
                <a:r>
                  <a:rPr lang="en-GB" dirty="0"/>
                  <a:t>-recruitment; and the Burnham JS and </a:t>
                </a:r>
                <a:r>
                  <a:rPr lang="en-GB" dirty="0" err="1"/>
                  <a:t>Pradel</a:t>
                </a:r>
                <a:r>
                  <a:rPr lang="en-GB" dirty="0"/>
                  <a:t>-</a:t>
                </a:r>
                <a:r>
                  <a:rPr lang="nb-NO" dirty="0"/>
                  <a:t>lambda</a:t>
                </a:r>
                <a:r>
                  <a:rPr lang="ko-KR" altLang="en-US" dirty="0"/>
                  <a:t> </a:t>
                </a:r>
                <a:r>
                  <a:rPr lang="en-GB" dirty="0"/>
                  <a:t>formulations.</a:t>
                </a:r>
              </a:p>
              <a:p>
                <a:pPr marL="0" indent="0">
                  <a:buNone/>
                </a:pPr>
                <a:endParaRPr lang="en-GB" dirty="0"/>
              </a:p>
              <a:p>
                <a:pPr marL="0" indent="0">
                  <a:buNone/>
                </a:pPr>
                <a:endParaRPr lang="en-GB" dirty="0"/>
              </a:p>
              <a:p>
                <a:pPr marL="0" indent="0">
                  <a:buNone/>
                </a:pPr>
                <a:endParaRPr lang="en-NO" dirty="0"/>
              </a:p>
              <a:p>
                <a:endParaRPr lang="en-NO" dirty="0"/>
              </a:p>
            </p:txBody>
          </p:sp>
        </mc:Choice>
        <mc:Fallback xmlns="">
          <p:sp>
            <p:nvSpPr>
              <p:cNvPr id="3" name="Vertical Text Placeholder 2">
                <a:extLst>
                  <a:ext uri="{FF2B5EF4-FFF2-40B4-BE49-F238E27FC236}">
                    <a16:creationId xmlns:a16="http://schemas.microsoft.com/office/drawing/2014/main" id="{5F247F89-1083-91CB-6890-659447FC28C4}"/>
                  </a:ext>
                </a:extLst>
              </p:cNvPr>
              <p:cNvSpPr>
                <a:spLocks noGrp="1" noRot="1" noChangeAspect="1" noMove="1" noResize="1" noEditPoints="1" noAdjustHandles="1" noChangeArrowheads="1" noChangeShapeType="1" noTextEdit="1"/>
              </p:cNvSpPr>
              <p:nvPr>
                <p:ph idx="1"/>
              </p:nvPr>
            </p:nvSpPr>
            <p:spPr>
              <a:blipFill>
                <a:blip r:embed="rId2"/>
                <a:stretch>
                  <a:fillRect l="-1206" t="-2326"/>
                </a:stretch>
              </a:blipFill>
            </p:spPr>
            <p:txBody>
              <a:bodyPr/>
              <a:lstStyle/>
              <a:p>
                <a:r>
                  <a:rPr lang="en-NO">
                    <a:noFill/>
                  </a:rPr>
                  <a:t> </a:t>
                </a:r>
              </a:p>
            </p:txBody>
          </p:sp>
        </mc:Fallback>
      </mc:AlternateContent>
    </p:spTree>
    <p:extLst>
      <p:ext uri="{BB962C8B-B14F-4D97-AF65-F5344CB8AC3E}">
        <p14:creationId xmlns:p14="http://schemas.microsoft.com/office/powerpoint/2010/main" val="31925264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9C5A2C3-D79D-D80B-014A-DC4078A40931}"/>
              </a:ext>
            </a:extLst>
          </p:cNvPr>
          <p:cNvPicPr>
            <a:picLocks noChangeAspect="1"/>
          </p:cNvPicPr>
          <p:nvPr/>
        </p:nvPicPr>
        <p:blipFill rotWithShape="1">
          <a:blip r:embed="rId3"/>
          <a:srcRect l="15691" t="29237" r="14630" b="36546"/>
          <a:stretch/>
        </p:blipFill>
        <p:spPr>
          <a:xfrm>
            <a:off x="104930" y="1595416"/>
            <a:ext cx="11948416" cy="3667167"/>
          </a:xfrm>
          <a:prstGeom prst="rect">
            <a:avLst/>
          </a:prstGeom>
        </p:spPr>
      </p:pic>
      <p:sp>
        <p:nvSpPr>
          <p:cNvPr id="13" name="TextBox 12">
            <a:extLst>
              <a:ext uri="{FF2B5EF4-FFF2-40B4-BE49-F238E27FC236}">
                <a16:creationId xmlns:a16="http://schemas.microsoft.com/office/drawing/2014/main" id="{E1EB93B0-A942-EC36-0389-DE97D188623B}"/>
              </a:ext>
            </a:extLst>
          </p:cNvPr>
          <p:cNvSpPr txBox="1"/>
          <p:nvPr/>
        </p:nvSpPr>
        <p:spPr>
          <a:xfrm>
            <a:off x="1476260" y="6081311"/>
            <a:ext cx="1300421" cy="369332"/>
          </a:xfrm>
          <a:prstGeom prst="rect">
            <a:avLst/>
          </a:prstGeom>
          <a:noFill/>
        </p:spPr>
        <p:txBody>
          <a:bodyPr wrap="none" rtlCol="0">
            <a:spAutoFit/>
          </a:bodyPr>
          <a:lstStyle/>
          <a:p>
            <a:r>
              <a:rPr lang="en-NO"/>
              <a:t>Pradel 1996</a:t>
            </a:r>
          </a:p>
        </p:txBody>
      </p:sp>
      <p:sp>
        <p:nvSpPr>
          <p:cNvPr id="2" name="Title 1">
            <a:extLst>
              <a:ext uri="{FF2B5EF4-FFF2-40B4-BE49-F238E27FC236}">
                <a16:creationId xmlns:a16="http://schemas.microsoft.com/office/drawing/2014/main" id="{A54234BE-0A67-C0AF-CC02-0B25A3A0DBF3}"/>
              </a:ext>
            </a:extLst>
          </p:cNvPr>
          <p:cNvSpPr txBox="1">
            <a:spLocks/>
          </p:cNvSpPr>
          <p:nvPr/>
        </p:nvSpPr>
        <p:spPr>
          <a:xfrm>
            <a:off x="838200" y="36512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NO" dirty="0"/>
              <a:t>Pradel (1996): Likelihood expression to maximize</a:t>
            </a:r>
          </a:p>
        </p:txBody>
      </p:sp>
    </p:spTree>
    <p:extLst>
      <p:ext uri="{BB962C8B-B14F-4D97-AF65-F5344CB8AC3E}">
        <p14:creationId xmlns:p14="http://schemas.microsoft.com/office/powerpoint/2010/main" val="3100507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64E3F5-2616-EDD3-28AA-7BBB12ED7BA0}"/>
              </a:ext>
            </a:extLst>
          </p:cNvPr>
          <p:cNvSpPr>
            <a:spLocks noGrp="1"/>
          </p:cNvSpPr>
          <p:nvPr>
            <p:ph type="title"/>
          </p:nvPr>
        </p:nvSpPr>
        <p:spPr/>
        <p:txBody>
          <a:bodyPr/>
          <a:lstStyle/>
          <a:p>
            <a:r>
              <a:rPr lang="en-GB" dirty="0" err="1">
                <a:solidFill>
                  <a:srgbClr val="0432FF"/>
                </a:solidFill>
              </a:rPr>
              <a:t>openCR</a:t>
            </a:r>
            <a:r>
              <a:rPr lang="en-GB" dirty="0">
                <a:solidFill>
                  <a:srgbClr val="0432FF"/>
                </a:solidFill>
              </a:rPr>
              <a:t> to the rescue</a:t>
            </a:r>
          </a:p>
        </p:txBody>
      </p:sp>
    </p:spTree>
    <p:extLst>
      <p:ext uri="{BB962C8B-B14F-4D97-AF65-F5344CB8AC3E}">
        <p14:creationId xmlns:p14="http://schemas.microsoft.com/office/powerpoint/2010/main" val="74688964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54FFC561-33A8-5052-0251-9C277086C173}"/>
              </a:ext>
            </a:extLst>
          </p:cNvPr>
          <p:cNvPicPr>
            <a:picLocks noChangeAspect="1"/>
          </p:cNvPicPr>
          <p:nvPr/>
        </p:nvPicPr>
        <p:blipFill rotWithShape="1">
          <a:blip r:embed="rId3"/>
          <a:srcRect l="27528" t="22714" r="40845" b="22410"/>
          <a:stretch/>
        </p:blipFill>
        <p:spPr>
          <a:xfrm>
            <a:off x="-1" y="242047"/>
            <a:ext cx="6602507" cy="6444231"/>
          </a:xfrm>
          <a:prstGeom prst="rect">
            <a:avLst/>
          </a:prstGeom>
        </p:spPr>
      </p:pic>
      <p:sp>
        <p:nvSpPr>
          <p:cNvPr id="14" name="TextBox 13">
            <a:extLst>
              <a:ext uri="{FF2B5EF4-FFF2-40B4-BE49-F238E27FC236}">
                <a16:creationId xmlns:a16="http://schemas.microsoft.com/office/drawing/2014/main" id="{058C1987-AC38-1312-6AEA-A2D020465CB5}"/>
              </a:ext>
            </a:extLst>
          </p:cNvPr>
          <p:cNvSpPr txBox="1"/>
          <p:nvPr/>
        </p:nvSpPr>
        <p:spPr>
          <a:xfrm>
            <a:off x="4131" y="6547779"/>
            <a:ext cx="10435728" cy="276999"/>
          </a:xfrm>
          <a:prstGeom prst="rect">
            <a:avLst/>
          </a:prstGeom>
          <a:noFill/>
        </p:spPr>
        <p:txBody>
          <a:bodyPr wrap="square">
            <a:spAutoFit/>
          </a:bodyPr>
          <a:lstStyle/>
          <a:p>
            <a:r>
              <a:rPr lang="en-NO" sz="1200" dirty="0"/>
              <a:t>https://cran.r-project.org/web/packages/openCR/vignettes/openCR-vignette.pdf</a:t>
            </a:r>
          </a:p>
        </p:txBody>
      </p:sp>
      <p:graphicFrame>
        <p:nvGraphicFramePr>
          <p:cNvPr id="6" name="Table 6">
            <a:extLst>
              <a:ext uri="{FF2B5EF4-FFF2-40B4-BE49-F238E27FC236}">
                <a16:creationId xmlns:a16="http://schemas.microsoft.com/office/drawing/2014/main" id="{B79953DD-6D56-F6B4-DAAC-39BAB0EAED65}"/>
              </a:ext>
            </a:extLst>
          </p:cNvPr>
          <p:cNvGraphicFramePr>
            <a:graphicFrameLocks noGrp="1"/>
          </p:cNvGraphicFramePr>
          <p:nvPr/>
        </p:nvGraphicFramePr>
        <p:xfrm>
          <a:off x="6344375" y="1060251"/>
          <a:ext cx="5045284" cy="2468880"/>
        </p:xfrm>
        <a:graphic>
          <a:graphicData uri="http://schemas.openxmlformats.org/drawingml/2006/table">
            <a:tbl>
              <a:tblPr>
                <a:tableStyleId>{5940675A-B579-460E-94D1-54222C63F5DA}</a:tableStyleId>
              </a:tblPr>
              <a:tblGrid>
                <a:gridCol w="1331277">
                  <a:extLst>
                    <a:ext uri="{9D8B030D-6E8A-4147-A177-3AD203B41FA5}">
                      <a16:colId xmlns:a16="http://schemas.microsoft.com/office/drawing/2014/main" val="3064502915"/>
                    </a:ext>
                  </a:extLst>
                </a:gridCol>
                <a:gridCol w="3714007">
                  <a:extLst>
                    <a:ext uri="{9D8B030D-6E8A-4147-A177-3AD203B41FA5}">
                      <a16:colId xmlns:a16="http://schemas.microsoft.com/office/drawing/2014/main" val="3571864296"/>
                    </a:ext>
                  </a:extLst>
                </a:gridCol>
              </a:tblGrid>
              <a:tr h="273600">
                <a:tc>
                  <a:txBody>
                    <a:bodyPr/>
                    <a:lstStyle/>
                    <a:p>
                      <a:r>
                        <a:rPr lang="en-NO" sz="1200" dirty="0"/>
                        <a:t>p</a:t>
                      </a:r>
                    </a:p>
                  </a:txBody>
                  <a:tcPr/>
                </a:tc>
                <a:tc>
                  <a:txBody>
                    <a:bodyPr/>
                    <a:lstStyle/>
                    <a:p>
                      <a:r>
                        <a:rPr lang="en-GB" sz="1200" dirty="0"/>
                        <a:t>S</a:t>
                      </a:r>
                      <a:r>
                        <a:rPr lang="en-NO" sz="1200" dirty="0"/>
                        <a:t>ampling probability</a:t>
                      </a:r>
                    </a:p>
                  </a:txBody>
                  <a:tcPr/>
                </a:tc>
                <a:extLst>
                  <a:ext uri="{0D108BD9-81ED-4DB2-BD59-A6C34878D82A}">
                    <a16:rowId xmlns:a16="http://schemas.microsoft.com/office/drawing/2014/main" val="2284309504"/>
                  </a:ext>
                </a:extLst>
              </a:tr>
              <a:tr h="273600">
                <a:tc>
                  <a:txBody>
                    <a:bodyPr/>
                    <a:lstStyle/>
                    <a:p>
                      <a:r>
                        <a:rPr lang="en-NO" sz="1200" dirty="0"/>
                        <a:t>phi</a:t>
                      </a:r>
                    </a:p>
                  </a:txBody>
                  <a:tcPr/>
                </a:tc>
                <a:tc>
                  <a:txBody>
                    <a:bodyPr/>
                    <a:lstStyle/>
                    <a:p>
                      <a:r>
                        <a:rPr lang="en-GB" sz="1200" dirty="0"/>
                        <a:t>S</a:t>
                      </a:r>
                      <a:r>
                        <a:rPr lang="en-NO" sz="1200" dirty="0"/>
                        <a:t>urvival probability (1-phi is extinction probability)</a:t>
                      </a:r>
                    </a:p>
                  </a:txBody>
                  <a:tcPr/>
                </a:tc>
                <a:extLst>
                  <a:ext uri="{0D108BD9-81ED-4DB2-BD59-A6C34878D82A}">
                    <a16:rowId xmlns:a16="http://schemas.microsoft.com/office/drawing/2014/main" val="4019225937"/>
                  </a:ext>
                </a:extLst>
              </a:tr>
              <a:tr h="273600">
                <a:tc>
                  <a:txBody>
                    <a:bodyPr/>
                    <a:lstStyle/>
                    <a:p>
                      <a:r>
                        <a:rPr lang="en-NO" sz="1200" dirty="0"/>
                        <a:t>b</a:t>
                      </a:r>
                    </a:p>
                  </a:txBody>
                  <a:tcPr/>
                </a:tc>
                <a:tc>
                  <a:txBody>
                    <a:bodyPr/>
                    <a:lstStyle/>
                    <a:p>
                      <a:r>
                        <a:rPr lang="en-GB" sz="1200" dirty="0"/>
                        <a:t>S</a:t>
                      </a:r>
                      <a:r>
                        <a:rPr lang="en-NO" sz="1200" dirty="0"/>
                        <a:t>imilar to 1-gamma but not “scaled”</a:t>
                      </a:r>
                    </a:p>
                  </a:txBody>
                  <a:tcPr/>
                </a:tc>
                <a:extLst>
                  <a:ext uri="{0D108BD9-81ED-4DB2-BD59-A6C34878D82A}">
                    <a16:rowId xmlns:a16="http://schemas.microsoft.com/office/drawing/2014/main" val="922099213"/>
                  </a:ext>
                </a:extLst>
              </a:tr>
              <a:tr h="273600">
                <a:tc>
                  <a:txBody>
                    <a:bodyPr/>
                    <a:lstStyle/>
                    <a:p>
                      <a:r>
                        <a:rPr lang="en-GB" sz="1200" dirty="0"/>
                        <a:t>f</a:t>
                      </a:r>
                      <a:endParaRPr lang="en-NO" sz="1200" dirty="0"/>
                    </a:p>
                  </a:txBody>
                  <a:tcPr/>
                </a:tc>
                <a:tc>
                  <a:txBody>
                    <a:bodyPr/>
                    <a:lstStyle/>
                    <a:p>
                      <a:r>
                        <a:rPr lang="en-GB" sz="1200" dirty="0"/>
                        <a:t>P</a:t>
                      </a:r>
                      <a:r>
                        <a:rPr lang="en-NO" sz="1200" dirty="0"/>
                        <a:t>er capita origination/speciation</a:t>
                      </a:r>
                    </a:p>
                  </a:txBody>
                  <a:tcPr/>
                </a:tc>
                <a:extLst>
                  <a:ext uri="{0D108BD9-81ED-4DB2-BD59-A6C34878D82A}">
                    <a16:rowId xmlns:a16="http://schemas.microsoft.com/office/drawing/2014/main" val="831623060"/>
                  </a:ext>
                </a:extLst>
              </a:tr>
              <a:tr h="273600">
                <a:tc>
                  <a:txBody>
                    <a:bodyPr/>
                    <a:lstStyle/>
                    <a:p>
                      <a:r>
                        <a:rPr lang="en-NO" sz="1200" dirty="0"/>
                        <a:t>gamma</a:t>
                      </a:r>
                    </a:p>
                  </a:txBody>
                  <a:tcPr/>
                </a:tc>
                <a:tc>
                  <a:txBody>
                    <a:bodyPr/>
                    <a:lstStyle/>
                    <a:p>
                      <a:r>
                        <a:rPr lang="en-GB" sz="1200" dirty="0"/>
                        <a:t>S</a:t>
                      </a:r>
                      <a:r>
                        <a:rPr lang="en-NO" sz="1200" dirty="0"/>
                        <a:t>eniority probability (1-gamma is origination probability)</a:t>
                      </a:r>
                    </a:p>
                  </a:txBody>
                  <a:tcPr/>
                </a:tc>
                <a:extLst>
                  <a:ext uri="{0D108BD9-81ED-4DB2-BD59-A6C34878D82A}">
                    <a16:rowId xmlns:a16="http://schemas.microsoft.com/office/drawing/2014/main" val="524742171"/>
                  </a:ext>
                </a:extLst>
              </a:tr>
              <a:tr h="273600">
                <a:tc>
                  <a:txBody>
                    <a:bodyPr/>
                    <a:lstStyle/>
                    <a:p>
                      <a:r>
                        <a:rPr lang="en-NO" sz="1200" dirty="0"/>
                        <a:t>lamda</a:t>
                      </a:r>
                    </a:p>
                  </a:txBody>
                  <a:tcPr/>
                </a:tc>
                <a:tc>
                  <a:txBody>
                    <a:bodyPr/>
                    <a:lstStyle/>
                    <a:p>
                      <a:r>
                        <a:rPr lang="en-GB" sz="1200" dirty="0"/>
                        <a:t>N</a:t>
                      </a:r>
                      <a:r>
                        <a:rPr lang="en-NO" sz="1200" dirty="0"/>
                        <a:t>et diversification rate</a:t>
                      </a:r>
                    </a:p>
                  </a:txBody>
                  <a:tcPr/>
                </a:tc>
                <a:extLst>
                  <a:ext uri="{0D108BD9-81ED-4DB2-BD59-A6C34878D82A}">
                    <a16:rowId xmlns:a16="http://schemas.microsoft.com/office/drawing/2014/main" val="82025227"/>
                  </a:ext>
                </a:extLst>
              </a:tr>
              <a:tr h="273600">
                <a:tc>
                  <a:txBody>
                    <a:bodyPr/>
                    <a:lstStyle/>
                    <a:p>
                      <a:r>
                        <a:rPr lang="en-NO" sz="1200" dirty="0"/>
                        <a:t>superN</a:t>
                      </a:r>
                    </a:p>
                  </a:txBody>
                  <a:tcPr/>
                </a:tc>
                <a:tc>
                  <a:txBody>
                    <a:bodyPr/>
                    <a:lstStyle/>
                    <a:p>
                      <a:r>
                        <a:rPr lang="en-GB" sz="1200" dirty="0"/>
                        <a:t>Richness of the whole “data” (including those not seen)</a:t>
                      </a:r>
                      <a:endParaRPr lang="en-NO" sz="1200" dirty="0"/>
                    </a:p>
                  </a:txBody>
                  <a:tcPr/>
                </a:tc>
                <a:extLst>
                  <a:ext uri="{0D108BD9-81ED-4DB2-BD59-A6C34878D82A}">
                    <a16:rowId xmlns:a16="http://schemas.microsoft.com/office/drawing/2014/main" val="137045494"/>
                  </a:ext>
                </a:extLst>
              </a:tr>
              <a:tr h="273600">
                <a:tc>
                  <a:txBody>
                    <a:bodyPr/>
                    <a:lstStyle/>
                    <a:p>
                      <a:r>
                        <a:rPr lang="en-NO" sz="1200" dirty="0"/>
                        <a:t>BN</a:t>
                      </a:r>
                    </a:p>
                  </a:txBody>
                  <a:tcPr/>
                </a:tc>
                <a:tc>
                  <a:txBody>
                    <a:bodyPr/>
                    <a:lstStyle/>
                    <a:p>
                      <a:r>
                        <a:rPr lang="en-NO" sz="1200" dirty="0"/>
                        <a:t>Number of new taxa appearning</a:t>
                      </a:r>
                    </a:p>
                  </a:txBody>
                  <a:tcPr/>
                </a:tc>
                <a:extLst>
                  <a:ext uri="{0D108BD9-81ED-4DB2-BD59-A6C34878D82A}">
                    <a16:rowId xmlns:a16="http://schemas.microsoft.com/office/drawing/2014/main" val="865032615"/>
                  </a:ext>
                </a:extLst>
              </a:tr>
              <a:tr h="273600">
                <a:tc>
                  <a:txBody>
                    <a:bodyPr/>
                    <a:lstStyle/>
                    <a:p>
                      <a:r>
                        <a:rPr lang="en-NO" sz="1200" dirty="0"/>
                        <a:t>N</a:t>
                      </a:r>
                    </a:p>
                  </a:txBody>
                  <a:tcPr/>
                </a:tc>
                <a:tc>
                  <a:txBody>
                    <a:bodyPr/>
                    <a:lstStyle/>
                    <a:p>
                      <a:r>
                        <a:rPr lang="en-NO" sz="1200" dirty="0"/>
                        <a:t>Number of taxa in time interval</a:t>
                      </a:r>
                    </a:p>
                  </a:txBody>
                  <a:tcPr/>
                </a:tc>
                <a:extLst>
                  <a:ext uri="{0D108BD9-81ED-4DB2-BD59-A6C34878D82A}">
                    <a16:rowId xmlns:a16="http://schemas.microsoft.com/office/drawing/2014/main" val="1129290155"/>
                  </a:ext>
                </a:extLst>
              </a:tr>
            </a:tbl>
          </a:graphicData>
        </a:graphic>
      </p:graphicFrame>
      <p:cxnSp>
        <p:nvCxnSpPr>
          <p:cNvPr id="11" name="Straight Connector 10">
            <a:extLst>
              <a:ext uri="{FF2B5EF4-FFF2-40B4-BE49-F238E27FC236}">
                <a16:creationId xmlns:a16="http://schemas.microsoft.com/office/drawing/2014/main" id="{8D0B84AE-0A23-6898-F73D-9C6BF3798C36}"/>
              </a:ext>
            </a:extLst>
          </p:cNvPr>
          <p:cNvCxnSpPr>
            <a:cxnSpLocks/>
          </p:cNvCxnSpPr>
          <p:nvPr/>
        </p:nvCxnSpPr>
        <p:spPr>
          <a:xfrm>
            <a:off x="0" y="4825951"/>
            <a:ext cx="6481482"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B796410-859B-9771-2FE2-A5F2471F0669}"/>
              </a:ext>
            </a:extLst>
          </p:cNvPr>
          <p:cNvCxnSpPr>
            <a:cxnSpLocks/>
          </p:cNvCxnSpPr>
          <p:nvPr/>
        </p:nvCxnSpPr>
        <p:spPr>
          <a:xfrm>
            <a:off x="0" y="4166384"/>
            <a:ext cx="6481482"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953D86ED-2F44-DB5C-A020-BF5C8D239F7F}"/>
              </a:ext>
            </a:extLst>
          </p:cNvPr>
          <p:cNvSpPr txBox="1"/>
          <p:nvPr/>
        </p:nvSpPr>
        <p:spPr>
          <a:xfrm>
            <a:off x="5984548" y="4318119"/>
            <a:ext cx="3221844" cy="369332"/>
          </a:xfrm>
          <a:prstGeom prst="rect">
            <a:avLst/>
          </a:prstGeom>
          <a:noFill/>
        </p:spPr>
        <p:txBody>
          <a:bodyPr wrap="none" rtlCol="0">
            <a:spAutoFit/>
          </a:bodyPr>
          <a:lstStyle/>
          <a:p>
            <a:r>
              <a:rPr lang="en-GB" dirty="0">
                <a:solidFill>
                  <a:srgbClr val="FF0000"/>
                </a:solidFill>
              </a:rPr>
              <a:t>C</a:t>
            </a:r>
            <a:r>
              <a:rPr lang="en-NO" dirty="0">
                <a:solidFill>
                  <a:srgbClr val="FF0000"/>
                </a:solidFill>
              </a:rPr>
              <a:t>onditional (closed populations)</a:t>
            </a:r>
          </a:p>
        </p:txBody>
      </p:sp>
      <p:sp>
        <p:nvSpPr>
          <p:cNvPr id="17" name="TextBox 16">
            <a:extLst>
              <a:ext uri="{FF2B5EF4-FFF2-40B4-BE49-F238E27FC236}">
                <a16:creationId xmlns:a16="http://schemas.microsoft.com/office/drawing/2014/main" id="{15808561-30FD-DB9B-D52B-63F6DB843E6B}"/>
              </a:ext>
            </a:extLst>
          </p:cNvPr>
          <p:cNvSpPr txBox="1"/>
          <p:nvPr/>
        </p:nvSpPr>
        <p:spPr>
          <a:xfrm>
            <a:off x="5984548" y="5070833"/>
            <a:ext cx="5630324" cy="369332"/>
          </a:xfrm>
          <a:prstGeom prst="rect">
            <a:avLst/>
          </a:prstGeom>
          <a:noFill/>
        </p:spPr>
        <p:txBody>
          <a:bodyPr wrap="none" rtlCol="0">
            <a:spAutoFit/>
          </a:bodyPr>
          <a:lstStyle/>
          <a:p>
            <a:r>
              <a:rPr lang="nb-NO" dirty="0">
                <a:solidFill>
                  <a:srgbClr val="FF0000"/>
                </a:solidFill>
              </a:rPr>
              <a:t>Open </a:t>
            </a:r>
            <a:r>
              <a:rPr lang="en-NO" dirty="0">
                <a:solidFill>
                  <a:srgbClr val="FF0000"/>
                </a:solidFill>
              </a:rPr>
              <a:t>populations, hence the estimates of some form of N</a:t>
            </a:r>
          </a:p>
        </p:txBody>
      </p:sp>
      <p:sp>
        <p:nvSpPr>
          <p:cNvPr id="2" name="TextBox 1">
            <a:extLst>
              <a:ext uri="{FF2B5EF4-FFF2-40B4-BE49-F238E27FC236}">
                <a16:creationId xmlns:a16="http://schemas.microsoft.com/office/drawing/2014/main" id="{724470F9-C0F0-96E8-12F4-0EBA0F0108E2}"/>
              </a:ext>
            </a:extLst>
          </p:cNvPr>
          <p:cNvSpPr txBox="1"/>
          <p:nvPr/>
        </p:nvSpPr>
        <p:spPr>
          <a:xfrm>
            <a:off x="6481482" y="690919"/>
            <a:ext cx="1504258" cy="369332"/>
          </a:xfrm>
          <a:prstGeom prst="rect">
            <a:avLst/>
          </a:prstGeom>
          <a:noFill/>
        </p:spPr>
        <p:txBody>
          <a:bodyPr wrap="none" rtlCol="0">
            <a:spAutoFit/>
          </a:bodyPr>
          <a:lstStyle/>
          <a:p>
            <a:r>
              <a:rPr lang="en-NO" dirty="0">
                <a:solidFill>
                  <a:srgbClr val="0432FF"/>
                </a:solidFill>
              </a:rPr>
              <a:t>“Translations”</a:t>
            </a:r>
          </a:p>
        </p:txBody>
      </p:sp>
    </p:spTree>
    <p:extLst>
      <p:ext uri="{BB962C8B-B14F-4D97-AF65-F5344CB8AC3E}">
        <p14:creationId xmlns:p14="http://schemas.microsoft.com/office/powerpoint/2010/main" val="23864538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A6F85CA-A102-27BE-4404-0F9B34C116F3}"/>
              </a:ext>
            </a:extLst>
          </p:cNvPr>
          <p:cNvPicPr>
            <a:picLocks noChangeAspect="1"/>
          </p:cNvPicPr>
          <p:nvPr/>
        </p:nvPicPr>
        <p:blipFill rotWithShape="1">
          <a:blip r:embed="rId3"/>
          <a:srcRect l="36" t="7933" r="386" b="6499"/>
          <a:stretch/>
        </p:blipFill>
        <p:spPr>
          <a:xfrm>
            <a:off x="1616944" y="1089396"/>
            <a:ext cx="9253114" cy="4969629"/>
          </a:xfrm>
          <a:prstGeom prst="rect">
            <a:avLst/>
          </a:prstGeom>
        </p:spPr>
      </p:pic>
      <p:sp>
        <p:nvSpPr>
          <p:cNvPr id="4" name="TextBox 3">
            <a:extLst>
              <a:ext uri="{FF2B5EF4-FFF2-40B4-BE49-F238E27FC236}">
                <a16:creationId xmlns:a16="http://schemas.microsoft.com/office/drawing/2014/main" id="{B0638604-D497-AD7B-55A3-FBE205849C7E}"/>
              </a:ext>
            </a:extLst>
          </p:cNvPr>
          <p:cNvSpPr txBox="1"/>
          <p:nvPr/>
        </p:nvSpPr>
        <p:spPr>
          <a:xfrm>
            <a:off x="149177" y="6059025"/>
            <a:ext cx="6094324" cy="677108"/>
          </a:xfrm>
          <a:prstGeom prst="rect">
            <a:avLst/>
          </a:prstGeom>
          <a:noFill/>
        </p:spPr>
        <p:txBody>
          <a:bodyPr wrap="square">
            <a:spAutoFit/>
          </a:bodyPr>
          <a:lstStyle/>
          <a:p>
            <a:r>
              <a:rPr lang="nb-NO" sz="1800" dirty="0">
                <a:hlinkClick r:id="rId4"/>
              </a:rPr>
              <a:t>http://www.phidot.org/software/mark/docs/book/</a:t>
            </a:r>
            <a:endParaRPr lang="nb-NO" sz="1800" dirty="0"/>
          </a:p>
          <a:p>
            <a:r>
              <a:rPr lang="nb-NO" sz="2000" dirty="0"/>
              <a:t>Gary White</a:t>
            </a:r>
            <a:endParaRPr lang="en-US" sz="2000" dirty="0"/>
          </a:p>
        </p:txBody>
      </p:sp>
      <p:sp>
        <p:nvSpPr>
          <p:cNvPr id="6" name="Title 1">
            <a:extLst>
              <a:ext uri="{FF2B5EF4-FFF2-40B4-BE49-F238E27FC236}">
                <a16:creationId xmlns:a16="http://schemas.microsoft.com/office/drawing/2014/main" id="{94CF8AAE-1112-FC49-2EBF-D9BC3E5A0AC3}"/>
              </a:ext>
            </a:extLst>
          </p:cNvPr>
          <p:cNvSpPr txBox="1">
            <a:spLocks/>
          </p:cNvSpPr>
          <p:nvPr/>
        </p:nvSpPr>
        <p:spPr>
          <a:xfrm>
            <a:off x="355531" y="124205"/>
            <a:ext cx="11480298" cy="66278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NO" sz="3200" dirty="0"/>
              <a:t>MARK is the “main” software and easy to read reference (but you must “translate”)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4679175-AB5A-99B0-6DA1-FAA3EECEF7AD}"/>
              </a:ext>
            </a:extLst>
          </p:cNvPr>
          <p:cNvSpPr>
            <a:spLocks noGrp="1"/>
          </p:cNvSpPr>
          <p:nvPr>
            <p:ph type="title"/>
          </p:nvPr>
        </p:nvSpPr>
        <p:spPr/>
        <p:txBody>
          <a:bodyPr/>
          <a:lstStyle/>
          <a:p>
            <a:r>
              <a:rPr lang="en-NO" dirty="0"/>
              <a:t>Self learning material and software</a:t>
            </a:r>
          </a:p>
        </p:txBody>
      </p:sp>
      <p:sp>
        <p:nvSpPr>
          <p:cNvPr id="5" name="Content Placeholder 4">
            <a:extLst>
              <a:ext uri="{FF2B5EF4-FFF2-40B4-BE49-F238E27FC236}">
                <a16:creationId xmlns:a16="http://schemas.microsoft.com/office/drawing/2014/main" id="{2435ED22-D993-B8C9-93D5-9250F8D2C46C}"/>
              </a:ext>
            </a:extLst>
          </p:cNvPr>
          <p:cNvSpPr>
            <a:spLocks noGrp="1"/>
          </p:cNvSpPr>
          <p:nvPr>
            <p:ph sz="half" idx="1"/>
          </p:nvPr>
        </p:nvSpPr>
        <p:spPr/>
        <p:txBody>
          <a:bodyPr>
            <a:normAutofit/>
          </a:bodyPr>
          <a:lstStyle/>
          <a:p>
            <a:pPr marL="0" indent="0">
              <a:buNone/>
            </a:pPr>
            <a:r>
              <a:rPr lang="en-GB" sz="1800" dirty="0"/>
              <a:t>Gary White MARK </a:t>
            </a:r>
          </a:p>
          <a:p>
            <a:pPr marL="0" indent="0">
              <a:buNone/>
            </a:pPr>
            <a:r>
              <a:rPr lang="en-GB" sz="1800" dirty="0">
                <a:hlinkClick r:id="rId2"/>
              </a:rPr>
              <a:t>http://www.phidot.org/software/mark/</a:t>
            </a:r>
            <a:endParaRPr lang="en-GB" sz="1800" dirty="0"/>
          </a:p>
          <a:p>
            <a:pPr marL="0" indent="0">
              <a:buNone/>
            </a:pPr>
            <a:r>
              <a:rPr lang="en-GB" sz="1800" dirty="0"/>
              <a:t>(great if you are windows user, a bit more involved if you us Mac) great to pair with </a:t>
            </a:r>
            <a:r>
              <a:rPr lang="en-GB" sz="1800" dirty="0" err="1"/>
              <a:t>Rmark</a:t>
            </a:r>
            <a:r>
              <a:rPr lang="en-GB" sz="1800" dirty="0"/>
              <a:t> (Jeff </a:t>
            </a:r>
            <a:r>
              <a:rPr lang="en-GB" sz="1800" dirty="0" err="1"/>
              <a:t>Laake</a:t>
            </a:r>
            <a:r>
              <a:rPr lang="en-GB" sz="1800" dirty="0"/>
              <a:t>)</a:t>
            </a:r>
          </a:p>
          <a:p>
            <a:pPr marL="0" indent="0">
              <a:buNone/>
            </a:pPr>
            <a:endParaRPr lang="en-GB" sz="1800" dirty="0"/>
          </a:p>
          <a:p>
            <a:pPr marL="0" indent="0">
              <a:buNone/>
            </a:pPr>
            <a:r>
              <a:rPr lang="en-GB" sz="1800" dirty="0"/>
              <a:t>Gary White MARK book</a:t>
            </a:r>
          </a:p>
          <a:p>
            <a:pPr marL="0" indent="0">
              <a:buNone/>
            </a:pPr>
            <a:r>
              <a:rPr lang="en-GB" sz="1800" dirty="0">
                <a:hlinkClick r:id="rId3"/>
              </a:rPr>
              <a:t>http://www.phidot.org/software/mark/docs/book/</a:t>
            </a:r>
            <a:endParaRPr lang="en-GB" sz="1800" dirty="0"/>
          </a:p>
          <a:p>
            <a:pPr marL="0" indent="0">
              <a:buNone/>
            </a:pPr>
            <a:endParaRPr lang="en-GB" sz="1800" dirty="0"/>
          </a:p>
          <a:p>
            <a:pPr marL="0" indent="0">
              <a:buNone/>
            </a:pPr>
            <a:r>
              <a:rPr lang="en-GB" sz="1800" dirty="0"/>
              <a:t>Michael Conroy lecture notes (bare bones description of models; useful for Mark/</a:t>
            </a:r>
            <a:r>
              <a:rPr lang="en-GB" sz="1800" dirty="0" err="1"/>
              <a:t>Rmark</a:t>
            </a:r>
            <a:r>
              <a:rPr lang="en-GB" sz="1800" dirty="0"/>
              <a:t> code and data) https://</a:t>
            </a:r>
            <a:r>
              <a:rPr lang="en-GB" sz="1800" dirty="0" err="1"/>
              <a:t>sites.google.com</a:t>
            </a:r>
            <a:r>
              <a:rPr lang="en-GB" sz="1800" dirty="0"/>
              <a:t>/site/</a:t>
            </a:r>
            <a:r>
              <a:rPr lang="en-GB" sz="1800" dirty="0" err="1"/>
              <a:t>cmrsoftware</a:t>
            </a:r>
            <a:r>
              <a:rPr lang="en-GB" sz="1800" dirty="0"/>
              <a:t>/</a:t>
            </a:r>
            <a:endParaRPr lang="en-NO" sz="1800" dirty="0"/>
          </a:p>
        </p:txBody>
      </p:sp>
      <p:sp>
        <p:nvSpPr>
          <p:cNvPr id="6" name="Content Placeholder 5">
            <a:extLst>
              <a:ext uri="{FF2B5EF4-FFF2-40B4-BE49-F238E27FC236}">
                <a16:creationId xmlns:a16="http://schemas.microsoft.com/office/drawing/2014/main" id="{3723BF2A-B953-B5D8-ABEE-4E3DC1F540D5}"/>
              </a:ext>
            </a:extLst>
          </p:cNvPr>
          <p:cNvSpPr>
            <a:spLocks noGrp="1"/>
          </p:cNvSpPr>
          <p:nvPr>
            <p:ph sz="half" idx="2"/>
          </p:nvPr>
        </p:nvSpPr>
        <p:spPr/>
        <p:txBody>
          <a:bodyPr/>
          <a:lstStyle/>
          <a:p>
            <a:pPr marL="0" indent="0">
              <a:buNone/>
            </a:pPr>
            <a:r>
              <a:rPr lang="en-NO" sz="1800" dirty="0"/>
              <a:t>Burnham and Anderson 2022:</a:t>
            </a:r>
          </a:p>
          <a:p>
            <a:pPr marL="0" indent="0">
              <a:buNone/>
            </a:pPr>
            <a:r>
              <a:rPr lang="en-GB" sz="1800" b="1" dirty="0"/>
              <a:t>Model Selection and </a:t>
            </a:r>
            <a:r>
              <a:rPr lang="en-GB" sz="1800" b="1" dirty="0" err="1"/>
              <a:t>Multimodel</a:t>
            </a:r>
            <a:r>
              <a:rPr lang="en-GB" sz="1800" b="1" dirty="0"/>
              <a:t> Inference: A Practical Information-Theoretic Approach</a:t>
            </a:r>
          </a:p>
          <a:p>
            <a:pPr marL="0" indent="0">
              <a:buNone/>
            </a:pPr>
            <a:endParaRPr lang="en-NO" dirty="0"/>
          </a:p>
        </p:txBody>
      </p:sp>
      <p:pic>
        <p:nvPicPr>
          <p:cNvPr id="1026" name="Picture 2" descr="Model Selection and Multimodel Inference: A Practical Information-Theoretic  Approach: 9780387953649: Medicine &amp; Health Science Books @ Amazon.com">
            <a:extLst>
              <a:ext uri="{FF2B5EF4-FFF2-40B4-BE49-F238E27FC236}">
                <a16:creationId xmlns:a16="http://schemas.microsoft.com/office/drawing/2014/main" id="{EFA04EE0-CA91-4FC5-8F9B-B7B1EAF9B00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01248" y="2912807"/>
            <a:ext cx="1447800" cy="2286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663889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08B0CC-6C18-5774-3430-448D58D89374}"/>
              </a:ext>
            </a:extLst>
          </p:cNvPr>
          <p:cNvSpPr>
            <a:spLocks noGrp="1"/>
          </p:cNvSpPr>
          <p:nvPr>
            <p:ph type="title"/>
          </p:nvPr>
        </p:nvSpPr>
        <p:spPr/>
        <p:txBody>
          <a:bodyPr/>
          <a:lstStyle/>
          <a:p>
            <a:r>
              <a:rPr lang="en-US" b="1" dirty="0"/>
              <a:t>R packages for CMR</a:t>
            </a:r>
            <a:br>
              <a:rPr lang="en-NO" dirty="0"/>
            </a:br>
            <a:endParaRPr lang="en-NO" dirty="0"/>
          </a:p>
        </p:txBody>
      </p:sp>
      <p:sp>
        <p:nvSpPr>
          <p:cNvPr id="3" name="Content Placeholder 2">
            <a:extLst>
              <a:ext uri="{FF2B5EF4-FFF2-40B4-BE49-F238E27FC236}">
                <a16:creationId xmlns:a16="http://schemas.microsoft.com/office/drawing/2014/main" id="{6B906692-1AAD-3493-6305-0ACB879F2073}"/>
              </a:ext>
            </a:extLst>
          </p:cNvPr>
          <p:cNvSpPr>
            <a:spLocks noGrp="1"/>
          </p:cNvSpPr>
          <p:nvPr>
            <p:ph sz="half" idx="1"/>
          </p:nvPr>
        </p:nvSpPr>
        <p:spPr/>
        <p:txBody>
          <a:bodyPr>
            <a:normAutofit/>
          </a:bodyPr>
          <a:lstStyle/>
          <a:p>
            <a:r>
              <a:rPr lang="en-US" dirty="0" err="1">
                <a:solidFill>
                  <a:srgbClr val="0432FF"/>
                </a:solidFill>
              </a:rPr>
              <a:t>RMark</a:t>
            </a:r>
            <a:r>
              <a:rPr lang="en-US" dirty="0"/>
              <a:t> (runs MARK from R, works best with Windows)</a:t>
            </a:r>
          </a:p>
          <a:p>
            <a:r>
              <a:rPr lang="en-GB" dirty="0">
                <a:solidFill>
                  <a:srgbClr val="0432FF"/>
                </a:solidFill>
              </a:rPr>
              <a:t>s</a:t>
            </a:r>
            <a:r>
              <a:rPr lang="en-NO" dirty="0">
                <a:solidFill>
                  <a:srgbClr val="0432FF"/>
                </a:solidFill>
              </a:rPr>
              <a:t>erc </a:t>
            </a:r>
            <a:r>
              <a:rPr lang="en-NO" dirty="0"/>
              <a:t>and </a:t>
            </a:r>
            <a:r>
              <a:rPr lang="en-NO" dirty="0">
                <a:solidFill>
                  <a:srgbClr val="0432FF"/>
                </a:solidFill>
              </a:rPr>
              <a:t>openCR</a:t>
            </a:r>
          </a:p>
          <a:p>
            <a:r>
              <a:rPr lang="en-US" dirty="0">
                <a:solidFill>
                  <a:srgbClr val="0432FF"/>
                </a:solidFill>
              </a:rPr>
              <a:t>Marked </a:t>
            </a:r>
            <a:r>
              <a:rPr lang="en-US" dirty="0"/>
              <a:t>(some overlap with </a:t>
            </a:r>
            <a:r>
              <a:rPr lang="en-US" dirty="0" err="1"/>
              <a:t>openCR</a:t>
            </a:r>
            <a:r>
              <a:rPr lang="en-US" dirty="0"/>
              <a:t> and MARK but this doesn’t have </a:t>
            </a:r>
            <a:r>
              <a:rPr lang="en-US" dirty="0" err="1"/>
              <a:t>Pradel</a:t>
            </a:r>
            <a:r>
              <a:rPr lang="en-US" dirty="0"/>
              <a:t> models)</a:t>
            </a:r>
          </a:p>
          <a:p>
            <a:r>
              <a:rPr lang="en-US" dirty="0">
                <a:solidFill>
                  <a:srgbClr val="0432FF"/>
                </a:solidFill>
              </a:rPr>
              <a:t>R2ucare </a:t>
            </a:r>
            <a:r>
              <a:rPr lang="en-US" dirty="0"/>
              <a:t>(for goodness of fit tests and simulations for CMR)</a:t>
            </a:r>
          </a:p>
          <a:p>
            <a:endParaRPr lang="en-US" dirty="0"/>
          </a:p>
          <a:p>
            <a:endParaRPr lang="en-NO" dirty="0">
              <a:solidFill>
                <a:srgbClr val="0432FF"/>
              </a:solidFill>
            </a:endParaRPr>
          </a:p>
          <a:p>
            <a:endParaRPr lang="en-NO" dirty="0"/>
          </a:p>
        </p:txBody>
      </p:sp>
      <p:sp>
        <p:nvSpPr>
          <p:cNvPr id="4" name="Content Placeholder 3">
            <a:extLst>
              <a:ext uri="{FF2B5EF4-FFF2-40B4-BE49-F238E27FC236}">
                <a16:creationId xmlns:a16="http://schemas.microsoft.com/office/drawing/2014/main" id="{ECE73ADD-237E-3DFD-85B9-CB709B08603F}"/>
              </a:ext>
            </a:extLst>
          </p:cNvPr>
          <p:cNvSpPr>
            <a:spLocks noGrp="1"/>
          </p:cNvSpPr>
          <p:nvPr>
            <p:ph sz="half" idx="2"/>
          </p:nvPr>
        </p:nvSpPr>
        <p:spPr/>
        <p:txBody>
          <a:bodyPr>
            <a:normAutofit/>
          </a:bodyPr>
          <a:lstStyle/>
          <a:p>
            <a:r>
              <a:rPr lang="en-US" dirty="0" err="1">
                <a:solidFill>
                  <a:srgbClr val="0432FF"/>
                </a:solidFill>
              </a:rPr>
              <a:t>mra</a:t>
            </a:r>
            <a:r>
              <a:rPr lang="en-US" dirty="0">
                <a:solidFill>
                  <a:srgbClr val="0432FF"/>
                </a:solidFill>
              </a:rPr>
              <a:t>, </a:t>
            </a:r>
            <a:r>
              <a:rPr lang="en-US" dirty="0" err="1">
                <a:solidFill>
                  <a:srgbClr val="0432FF"/>
                </a:solidFill>
              </a:rPr>
              <a:t>Rcapture</a:t>
            </a:r>
            <a:r>
              <a:rPr lang="en-US" dirty="0">
                <a:solidFill>
                  <a:srgbClr val="0432FF"/>
                </a:solidFill>
              </a:rPr>
              <a:t>, </a:t>
            </a:r>
            <a:r>
              <a:rPr lang="en-NO" dirty="0">
                <a:solidFill>
                  <a:srgbClr val="0432FF"/>
                </a:solidFill>
              </a:rPr>
              <a:t>BaSTA</a:t>
            </a:r>
            <a:endParaRPr lang="en-NO" dirty="0"/>
          </a:p>
          <a:p>
            <a:pPr marL="0" indent="0">
              <a:buNone/>
            </a:pPr>
            <a:endParaRPr lang="en-GB" dirty="0"/>
          </a:p>
          <a:p>
            <a:endParaRPr lang="en-NO" b="1" dirty="0"/>
          </a:p>
          <a:p>
            <a:endParaRPr lang="en-NO" b="1" dirty="0"/>
          </a:p>
          <a:p>
            <a:endParaRPr lang="en-NO" dirty="0"/>
          </a:p>
        </p:txBody>
      </p:sp>
    </p:spTree>
    <p:extLst>
      <p:ext uri="{BB962C8B-B14F-4D97-AF65-F5344CB8AC3E}">
        <p14:creationId xmlns:p14="http://schemas.microsoft.com/office/powerpoint/2010/main" val="15321771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93292-BFAF-08E4-5BE8-D999E5FCDA2C}"/>
              </a:ext>
            </a:extLst>
          </p:cNvPr>
          <p:cNvSpPr txBox="1">
            <a:spLocks/>
          </p:cNvSpPr>
          <p:nvPr/>
        </p:nvSpPr>
        <p:spPr>
          <a:xfrm>
            <a:off x="838200" y="194049"/>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NO" dirty="0"/>
              <a:t>Brief comparisons of CMR with other approaches (paleo context)</a:t>
            </a:r>
          </a:p>
        </p:txBody>
      </p:sp>
    </p:spTree>
    <p:extLst>
      <p:ext uri="{BB962C8B-B14F-4D97-AF65-F5344CB8AC3E}">
        <p14:creationId xmlns:p14="http://schemas.microsoft.com/office/powerpoint/2010/main" val="395597808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p:txBody>
          <a:bodyPr/>
          <a:lstStyle/>
          <a:p>
            <a:br>
              <a:rPr lang="en-US" sz="2800" dirty="0"/>
            </a:br>
            <a:r>
              <a:rPr lang="en-US" sz="2800" dirty="0"/>
              <a:t>Foote’s per capita origination and extinction rates (boundary crossers)</a:t>
            </a:r>
          </a:p>
        </p:txBody>
      </p:sp>
      <p:grpSp>
        <p:nvGrpSpPr>
          <p:cNvPr id="64515" name="Group 3"/>
          <p:cNvGrpSpPr>
            <a:grpSpLocks/>
          </p:cNvGrpSpPr>
          <p:nvPr/>
        </p:nvGrpSpPr>
        <p:grpSpPr bwMode="auto">
          <a:xfrm>
            <a:off x="1659429" y="2106830"/>
            <a:ext cx="2607075" cy="1600200"/>
            <a:chOff x="1438" y="840"/>
            <a:chExt cx="3355" cy="1832"/>
          </a:xfrm>
        </p:grpSpPr>
        <p:sp>
          <p:nvSpPr>
            <p:cNvPr id="64516" name="Line 4"/>
            <p:cNvSpPr>
              <a:spLocks noChangeShapeType="1"/>
            </p:cNvSpPr>
            <p:nvPr/>
          </p:nvSpPr>
          <p:spPr bwMode="auto">
            <a:xfrm flipH="1">
              <a:off x="1813" y="2098"/>
              <a:ext cx="2603" cy="2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4517" name="Line 5"/>
            <p:cNvSpPr>
              <a:spLocks noChangeShapeType="1"/>
            </p:cNvSpPr>
            <p:nvPr/>
          </p:nvSpPr>
          <p:spPr bwMode="auto">
            <a:xfrm>
              <a:off x="3807" y="840"/>
              <a:ext cx="0" cy="1600"/>
            </a:xfrm>
            <a:prstGeom prst="line">
              <a:avLst/>
            </a:prstGeom>
            <a:noFill/>
            <a:ln w="1270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4518" name="Line 6"/>
            <p:cNvSpPr>
              <a:spLocks noChangeShapeType="1"/>
            </p:cNvSpPr>
            <p:nvPr/>
          </p:nvSpPr>
          <p:spPr bwMode="auto">
            <a:xfrm>
              <a:off x="2506" y="885"/>
              <a:ext cx="5" cy="1555"/>
            </a:xfrm>
            <a:prstGeom prst="line">
              <a:avLst/>
            </a:prstGeom>
            <a:noFill/>
            <a:ln w="1270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4519" name="Line 7"/>
            <p:cNvSpPr>
              <a:spLocks noChangeShapeType="1"/>
            </p:cNvSpPr>
            <p:nvPr/>
          </p:nvSpPr>
          <p:spPr bwMode="auto">
            <a:xfrm flipH="1">
              <a:off x="3202" y="1866"/>
              <a:ext cx="1216"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4520" name="Line 8"/>
            <p:cNvSpPr>
              <a:spLocks noChangeShapeType="1"/>
            </p:cNvSpPr>
            <p:nvPr/>
          </p:nvSpPr>
          <p:spPr bwMode="auto">
            <a:xfrm flipH="1">
              <a:off x="1824" y="1178"/>
              <a:ext cx="1298" cy="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4521" name="Line 9"/>
            <p:cNvSpPr>
              <a:spLocks noChangeShapeType="1"/>
            </p:cNvSpPr>
            <p:nvPr/>
          </p:nvSpPr>
          <p:spPr bwMode="auto">
            <a:xfrm flipH="1">
              <a:off x="2762" y="1522"/>
              <a:ext cx="736"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4522" name="Rectangle 10"/>
            <p:cNvSpPr>
              <a:spLocks/>
            </p:cNvSpPr>
            <p:nvPr/>
          </p:nvSpPr>
          <p:spPr bwMode="auto">
            <a:xfrm>
              <a:off x="1438" y="1007"/>
              <a:ext cx="349" cy="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latin typeface="Optima" charset="0"/>
                  <a:sym typeface="Optima" charset="0"/>
                </a:rPr>
                <a:t>bL</a:t>
              </a:r>
            </a:p>
          </p:txBody>
        </p:sp>
        <p:sp>
          <p:nvSpPr>
            <p:cNvPr id="64523" name="Rectangle 11"/>
            <p:cNvSpPr>
              <a:spLocks/>
            </p:cNvSpPr>
            <p:nvPr/>
          </p:nvSpPr>
          <p:spPr bwMode="auto">
            <a:xfrm>
              <a:off x="4537" y="1687"/>
              <a:ext cx="256" cy="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latin typeface="Optima" charset="0"/>
                  <a:sym typeface="Optima" charset="0"/>
                </a:rPr>
                <a:t>Ft</a:t>
              </a:r>
            </a:p>
          </p:txBody>
        </p:sp>
        <p:sp>
          <p:nvSpPr>
            <p:cNvPr id="64524" name="Rectangle 12"/>
            <p:cNvSpPr>
              <a:spLocks/>
            </p:cNvSpPr>
            <p:nvPr/>
          </p:nvSpPr>
          <p:spPr bwMode="auto">
            <a:xfrm>
              <a:off x="1482" y="1938"/>
              <a:ext cx="272"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latin typeface="Optima" charset="0"/>
                  <a:sym typeface="Optima" charset="0"/>
                </a:rPr>
                <a:t>bt</a:t>
              </a:r>
            </a:p>
          </p:txBody>
        </p:sp>
        <p:sp>
          <p:nvSpPr>
            <p:cNvPr id="64525" name="Rectangle 13"/>
            <p:cNvSpPr>
              <a:spLocks/>
            </p:cNvSpPr>
            <p:nvPr/>
          </p:nvSpPr>
          <p:spPr bwMode="auto">
            <a:xfrm>
              <a:off x="3343" y="1191"/>
              <a:ext cx="330" cy="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latin typeface="Optima" charset="0"/>
                  <a:sym typeface="Optima" charset="0"/>
                </a:rPr>
                <a:t>FL</a:t>
              </a:r>
            </a:p>
          </p:txBody>
        </p:sp>
        <p:sp>
          <p:nvSpPr>
            <p:cNvPr id="64526" name="AutoShape 14"/>
            <p:cNvSpPr>
              <a:spLocks/>
            </p:cNvSpPr>
            <p:nvPr/>
          </p:nvSpPr>
          <p:spPr bwMode="auto">
            <a:xfrm>
              <a:off x="2496" y="2456"/>
              <a:ext cx="1248" cy="216"/>
            </a:xfrm>
            <a:prstGeom prst="leftRightArrow">
              <a:avLst>
                <a:gd name="adj1" fmla="val 32000"/>
                <a:gd name="adj2" fmla="val 162955"/>
              </a:avLst>
            </a:prstGeom>
            <a:solidFill>
              <a:srgbClr val="7F007F"/>
            </a:solidFill>
            <a:ln>
              <a:noFill/>
            </a:ln>
            <a:extLst>
              <a:ext uri="{91240B29-F687-4F45-9708-019B960494DF}">
                <a14:hiddenLine xmlns:a14="http://schemas.microsoft.com/office/drawing/2010/main" w="25400">
                  <a:solidFill>
                    <a:srgbClr val="000000"/>
                  </a:solidFill>
                  <a:miter lim="800000"/>
                  <a:headEnd/>
                  <a:tailEnd/>
                </a14:hiddenLine>
              </a:ext>
            </a:extLst>
          </p:spPr>
          <p:txBody>
            <a:bodyPr/>
            <a:lstStyle/>
            <a:p>
              <a:endParaRPr lang="en-US"/>
            </a:p>
          </p:txBody>
        </p:sp>
        <p:sp>
          <p:nvSpPr>
            <p:cNvPr id="64527" name="Rectangle 15"/>
            <p:cNvSpPr>
              <a:spLocks/>
            </p:cNvSpPr>
            <p:nvPr/>
          </p:nvSpPr>
          <p:spPr bwMode="auto">
            <a:xfrm>
              <a:off x="3194" y="914"/>
              <a:ext cx="0" cy="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7F007F"/>
                  </a:solidFill>
                  <a:miter lim="800000"/>
                  <a:headEnd/>
                  <a:tailEnd/>
                </a14:hiddenLine>
              </a:ext>
            </a:extLst>
          </p:spPr>
          <p:txBody>
            <a:bodyPr wrap="none" lIns="0" tIns="0" rIns="0" bIns="0" anchor="ctr">
              <a:spAutoFit/>
            </a:bodyPr>
            <a:lstStyle/>
            <a:p>
              <a:pPr algn="ctr"/>
              <a:endParaRPr lang="nb-NO" sz="900">
                <a:solidFill>
                  <a:srgbClr val="7F007F"/>
                </a:solidFill>
                <a:latin typeface="Optima" charset="0"/>
                <a:sym typeface="Optima" charset="0"/>
              </a:endParaRPr>
            </a:p>
          </p:txBody>
        </p:sp>
      </p:grpSp>
      <p:pic>
        <p:nvPicPr>
          <p:cNvPr id="64528" name="Picture 16" descr="Pages from LiowQuentalMarshall_6_11_09_L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5857" y="4270929"/>
            <a:ext cx="4792663" cy="2217738"/>
          </a:xfrm>
          <a:prstGeom prst="rect">
            <a:avLst/>
          </a:prstGeom>
          <a:noFill/>
          <a:extLst>
            <a:ext uri="{909E8E84-426E-40DD-AFC4-6F175D3DCCD1}">
              <a14:hiddenFill xmlns:a14="http://schemas.microsoft.com/office/drawing/2010/main">
                <a:solidFill>
                  <a:srgbClr val="FFFFFF"/>
                </a:solidFill>
              </a14:hiddenFill>
            </a:ext>
          </a:extLst>
        </p:spPr>
      </p:pic>
      <p:sp>
        <p:nvSpPr>
          <p:cNvPr id="64529" name="Text Box 17"/>
          <p:cNvSpPr txBox="1">
            <a:spLocks noChangeArrowheads="1"/>
          </p:cNvSpPr>
          <p:nvPr/>
        </p:nvSpPr>
        <p:spPr bwMode="auto">
          <a:xfrm>
            <a:off x="329708" y="6488668"/>
            <a:ext cx="105156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nb-NO" sz="1400" b="1" dirty="0"/>
              <a:t>Foote, M. 2000</a:t>
            </a:r>
            <a:r>
              <a:rPr lang="nb-NO" sz="1400" dirty="0"/>
              <a:t>. </a:t>
            </a:r>
            <a:r>
              <a:rPr lang="nb-NO" sz="1400" dirty="0" err="1"/>
              <a:t>Origination</a:t>
            </a:r>
            <a:r>
              <a:rPr lang="nb-NO" sz="1400" dirty="0"/>
              <a:t> and </a:t>
            </a:r>
            <a:r>
              <a:rPr lang="nb-NO" sz="1400" dirty="0" err="1"/>
              <a:t>extinction</a:t>
            </a:r>
            <a:r>
              <a:rPr lang="nb-NO" sz="1400" dirty="0"/>
              <a:t> </a:t>
            </a:r>
            <a:r>
              <a:rPr lang="nb-NO" sz="1400" dirty="0" err="1"/>
              <a:t>components</a:t>
            </a:r>
            <a:r>
              <a:rPr lang="nb-NO" sz="1400" dirty="0"/>
              <a:t> </a:t>
            </a:r>
            <a:r>
              <a:rPr lang="nb-NO" sz="1400" dirty="0" err="1"/>
              <a:t>of</a:t>
            </a:r>
            <a:r>
              <a:rPr lang="nb-NO" sz="1400" dirty="0"/>
              <a:t> </a:t>
            </a:r>
            <a:r>
              <a:rPr lang="nb-NO" sz="1400" dirty="0" err="1"/>
              <a:t>taxonomic</a:t>
            </a:r>
            <a:r>
              <a:rPr lang="nb-NO" sz="1400" dirty="0"/>
              <a:t> </a:t>
            </a:r>
            <a:r>
              <a:rPr lang="nb-NO" sz="1400" dirty="0" err="1"/>
              <a:t>diversity</a:t>
            </a:r>
            <a:r>
              <a:rPr lang="nb-NO" sz="1400" dirty="0"/>
              <a:t>: general problems. </a:t>
            </a:r>
            <a:r>
              <a:rPr lang="nb-NO" sz="1400" b="1" dirty="0" err="1"/>
              <a:t>Paleobiology</a:t>
            </a:r>
            <a:r>
              <a:rPr lang="nb-NO" sz="1400" b="1" dirty="0"/>
              <a:t> 26:74-102.</a:t>
            </a:r>
          </a:p>
          <a:p>
            <a:endParaRPr lang="nb-NO" sz="1400" b="1" dirty="0"/>
          </a:p>
        </p:txBody>
      </p:sp>
      <p:sp>
        <p:nvSpPr>
          <p:cNvPr id="2" name="Title 1">
            <a:extLst>
              <a:ext uri="{FF2B5EF4-FFF2-40B4-BE49-F238E27FC236}">
                <a16:creationId xmlns:a16="http://schemas.microsoft.com/office/drawing/2014/main" id="{9CF93292-BFAF-08E4-5BE8-D999E5FCDA2C}"/>
              </a:ext>
            </a:extLst>
          </p:cNvPr>
          <p:cNvSpPr txBox="1">
            <a:spLocks/>
          </p:cNvSpPr>
          <p:nvPr/>
        </p:nvSpPr>
        <p:spPr>
          <a:xfrm>
            <a:off x="786633" y="-1752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NO" dirty="0"/>
              <a:t>Comparisons with other approaches </a:t>
            </a:r>
          </a:p>
        </p:txBody>
      </p:sp>
      <p:sp>
        <p:nvSpPr>
          <p:cNvPr id="3" name="TextBox 2">
            <a:extLst>
              <a:ext uri="{FF2B5EF4-FFF2-40B4-BE49-F238E27FC236}">
                <a16:creationId xmlns:a16="http://schemas.microsoft.com/office/drawing/2014/main" id="{87EA4BFF-63B4-6958-8A13-29CF6205E3AD}"/>
              </a:ext>
            </a:extLst>
          </p:cNvPr>
          <p:cNvSpPr txBox="1"/>
          <p:nvPr/>
        </p:nvSpPr>
        <p:spPr>
          <a:xfrm>
            <a:off x="4955197" y="2548898"/>
            <a:ext cx="7078220" cy="1631216"/>
          </a:xfrm>
          <a:prstGeom prst="rect">
            <a:avLst/>
          </a:prstGeom>
          <a:noFill/>
        </p:spPr>
        <p:txBody>
          <a:bodyPr wrap="none" rtlCol="0">
            <a:spAutoFit/>
          </a:bodyPr>
          <a:lstStyle/>
          <a:p>
            <a:pPr marL="285750" indent="-285750">
              <a:buFont typeface="Arial" panose="020B0604020202020204" pitchFamily="34" charset="0"/>
              <a:buChar char="•"/>
            </a:pPr>
            <a:r>
              <a:rPr lang="en-NO" sz="2000" dirty="0"/>
              <a:t>Easy to use</a:t>
            </a:r>
          </a:p>
          <a:p>
            <a:pPr marL="285750" indent="-285750">
              <a:buFont typeface="Arial" panose="020B0604020202020204" pitchFamily="34" charset="0"/>
              <a:buChar char="•"/>
            </a:pPr>
            <a:endParaRPr lang="en-NO" sz="2000" dirty="0"/>
          </a:p>
          <a:p>
            <a:pPr marL="285750" indent="-285750">
              <a:buFont typeface="Arial" panose="020B0604020202020204" pitchFamily="34" charset="0"/>
              <a:buChar char="•"/>
            </a:pPr>
            <a:r>
              <a:rPr lang="en-NO" sz="2000" dirty="0"/>
              <a:t>Lose information of “singletons” (FL class information not used)</a:t>
            </a:r>
          </a:p>
          <a:p>
            <a:pPr marL="285750" indent="-285750">
              <a:buFont typeface="Arial" panose="020B0604020202020204" pitchFamily="34" charset="0"/>
              <a:buChar char="•"/>
            </a:pPr>
            <a:endParaRPr lang="en-NO" sz="2000" dirty="0"/>
          </a:p>
          <a:p>
            <a:pPr marL="285750" indent="-285750">
              <a:buFont typeface="Arial" panose="020B0604020202020204" pitchFamily="34" charset="0"/>
              <a:buChar char="•"/>
            </a:pPr>
            <a:r>
              <a:rPr lang="en-GB" sz="2000" dirty="0"/>
              <a:t>H</a:t>
            </a:r>
            <a:r>
              <a:rPr lang="en-NO" sz="2000" dirty="0"/>
              <a:t>ard to compare different models </a:t>
            </a:r>
          </a:p>
        </p:txBody>
      </p:sp>
    </p:spTree>
    <p:extLst>
      <p:ext uri="{BB962C8B-B14F-4D97-AF65-F5344CB8AC3E}">
        <p14:creationId xmlns:p14="http://schemas.microsoft.com/office/powerpoint/2010/main" val="99192388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p:txBody>
          <a:bodyPr/>
          <a:lstStyle/>
          <a:p>
            <a:br>
              <a:rPr lang="en-US" sz="2800" dirty="0"/>
            </a:br>
            <a:r>
              <a:rPr lang="en-US" sz="2800" dirty="0"/>
              <a:t>Sampling standardization approaches (including SQS)</a:t>
            </a:r>
          </a:p>
        </p:txBody>
      </p:sp>
      <p:sp>
        <p:nvSpPr>
          <p:cNvPr id="2" name="Title 1">
            <a:extLst>
              <a:ext uri="{FF2B5EF4-FFF2-40B4-BE49-F238E27FC236}">
                <a16:creationId xmlns:a16="http://schemas.microsoft.com/office/drawing/2014/main" id="{9CF93292-BFAF-08E4-5BE8-D999E5FCDA2C}"/>
              </a:ext>
            </a:extLst>
          </p:cNvPr>
          <p:cNvSpPr txBox="1">
            <a:spLocks/>
          </p:cNvSpPr>
          <p:nvPr/>
        </p:nvSpPr>
        <p:spPr>
          <a:xfrm>
            <a:off x="786633" y="-1752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NO" dirty="0"/>
              <a:t>Comparisons with other approaches </a:t>
            </a:r>
          </a:p>
        </p:txBody>
      </p:sp>
      <p:sp>
        <p:nvSpPr>
          <p:cNvPr id="3" name="TextBox 2">
            <a:extLst>
              <a:ext uri="{FF2B5EF4-FFF2-40B4-BE49-F238E27FC236}">
                <a16:creationId xmlns:a16="http://schemas.microsoft.com/office/drawing/2014/main" id="{87EA4BFF-63B4-6958-8A13-29CF6205E3AD}"/>
              </a:ext>
            </a:extLst>
          </p:cNvPr>
          <p:cNvSpPr txBox="1"/>
          <p:nvPr/>
        </p:nvSpPr>
        <p:spPr>
          <a:xfrm>
            <a:off x="5893360" y="2612767"/>
            <a:ext cx="6018314" cy="2862322"/>
          </a:xfrm>
          <a:prstGeom prst="rect">
            <a:avLst/>
          </a:prstGeom>
          <a:noFill/>
        </p:spPr>
        <p:txBody>
          <a:bodyPr wrap="none" rtlCol="0">
            <a:spAutoFit/>
          </a:bodyPr>
          <a:lstStyle/>
          <a:p>
            <a:pPr marL="285750" indent="-285750">
              <a:buFont typeface="Arial" panose="020B0604020202020204" pitchFamily="34" charset="0"/>
              <a:buChar char="•"/>
            </a:pPr>
            <a:r>
              <a:rPr lang="en-NO" sz="2000" dirty="0"/>
              <a:t>Easy to use</a:t>
            </a:r>
          </a:p>
          <a:p>
            <a:pPr marL="285750" indent="-285750">
              <a:buFont typeface="Arial" panose="020B0604020202020204" pitchFamily="34" charset="0"/>
              <a:buChar char="•"/>
            </a:pPr>
            <a:endParaRPr lang="en-NO" sz="2000" dirty="0"/>
          </a:p>
          <a:p>
            <a:pPr marL="285750" indent="-285750">
              <a:buFont typeface="Arial" panose="020B0604020202020204" pitchFamily="34" charset="0"/>
              <a:buChar char="•"/>
            </a:pPr>
            <a:r>
              <a:rPr lang="en-GB" sz="2000" dirty="0"/>
              <a:t>A</a:t>
            </a:r>
            <a:r>
              <a:rPr lang="en-NO" sz="2000" dirty="0"/>
              <a:t>ssume that even sample or quorums will allow </a:t>
            </a:r>
          </a:p>
          <a:p>
            <a:r>
              <a:rPr lang="en-NO" sz="2000" dirty="0"/>
              <a:t>unbiased relative change to be estimated</a:t>
            </a:r>
          </a:p>
          <a:p>
            <a:pPr marL="285750" indent="-285750">
              <a:buFont typeface="Arial" panose="020B0604020202020204" pitchFamily="34" charset="0"/>
              <a:buChar char="•"/>
            </a:pPr>
            <a:endParaRPr lang="en-NO" sz="2000" dirty="0"/>
          </a:p>
          <a:p>
            <a:pPr marL="285750" indent="-285750">
              <a:buFont typeface="Arial" panose="020B0604020202020204" pitchFamily="34" charset="0"/>
              <a:buChar char="•"/>
            </a:pPr>
            <a:r>
              <a:rPr lang="en-GB" sz="2000" dirty="0"/>
              <a:t>Ad hoc rather than modelling approach (preservation</a:t>
            </a:r>
          </a:p>
          <a:p>
            <a:r>
              <a:rPr lang="en-GB" sz="2000" dirty="0"/>
              <a:t>is not modelled although it is part of the process)</a:t>
            </a:r>
          </a:p>
          <a:p>
            <a:pPr marL="285750" indent="-285750">
              <a:buFont typeface="Arial" panose="020B0604020202020204" pitchFamily="34" charset="0"/>
              <a:buChar char="•"/>
            </a:pPr>
            <a:endParaRPr lang="en-GB" sz="2000" dirty="0"/>
          </a:p>
          <a:p>
            <a:pPr marL="285750" indent="-285750">
              <a:buFont typeface="Arial" panose="020B0604020202020204" pitchFamily="34" charset="0"/>
              <a:buChar char="•"/>
            </a:pPr>
            <a:r>
              <a:rPr lang="en-GB" sz="2000" dirty="0"/>
              <a:t>H</a:t>
            </a:r>
            <a:r>
              <a:rPr lang="en-NO" sz="2000" dirty="0"/>
              <a:t>ard to compare different models </a:t>
            </a:r>
          </a:p>
        </p:txBody>
      </p:sp>
      <p:pic>
        <p:nvPicPr>
          <p:cNvPr id="4" name="Picture 2">
            <a:extLst>
              <a:ext uri="{FF2B5EF4-FFF2-40B4-BE49-F238E27FC236}">
                <a16:creationId xmlns:a16="http://schemas.microsoft.com/office/drawing/2014/main" id="{92EE070F-B6B7-3144-FA0A-46335BCA0C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2073336"/>
            <a:ext cx="4707828" cy="39391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1990779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p:txBody>
          <a:bodyPr/>
          <a:lstStyle/>
          <a:p>
            <a:br>
              <a:rPr lang="en-US" sz="2800" dirty="0"/>
            </a:br>
            <a:r>
              <a:rPr lang="en-US" sz="2800" dirty="0"/>
              <a:t>CMR-like approaches in paleo independently developed</a:t>
            </a:r>
          </a:p>
        </p:txBody>
      </p:sp>
      <p:sp>
        <p:nvSpPr>
          <p:cNvPr id="2" name="Title 1">
            <a:extLst>
              <a:ext uri="{FF2B5EF4-FFF2-40B4-BE49-F238E27FC236}">
                <a16:creationId xmlns:a16="http://schemas.microsoft.com/office/drawing/2014/main" id="{9CF93292-BFAF-08E4-5BE8-D999E5FCDA2C}"/>
              </a:ext>
            </a:extLst>
          </p:cNvPr>
          <p:cNvSpPr txBox="1">
            <a:spLocks/>
          </p:cNvSpPr>
          <p:nvPr/>
        </p:nvSpPr>
        <p:spPr>
          <a:xfrm>
            <a:off x="786633" y="-1752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NO" dirty="0"/>
              <a:t>Comparisons with other approaches </a:t>
            </a:r>
          </a:p>
        </p:txBody>
      </p:sp>
      <p:sp>
        <p:nvSpPr>
          <p:cNvPr id="3" name="TextBox 2">
            <a:extLst>
              <a:ext uri="{FF2B5EF4-FFF2-40B4-BE49-F238E27FC236}">
                <a16:creationId xmlns:a16="http://schemas.microsoft.com/office/drawing/2014/main" id="{87EA4BFF-63B4-6958-8A13-29CF6205E3AD}"/>
              </a:ext>
            </a:extLst>
          </p:cNvPr>
          <p:cNvSpPr txBox="1"/>
          <p:nvPr/>
        </p:nvSpPr>
        <p:spPr>
          <a:xfrm>
            <a:off x="5821642" y="2230119"/>
            <a:ext cx="6031523" cy="1631216"/>
          </a:xfrm>
          <a:prstGeom prst="rect">
            <a:avLst/>
          </a:prstGeom>
          <a:noFill/>
        </p:spPr>
        <p:txBody>
          <a:bodyPr wrap="none" rtlCol="0">
            <a:spAutoFit/>
          </a:bodyPr>
          <a:lstStyle/>
          <a:p>
            <a:pPr marL="285750" indent="-285750">
              <a:buFont typeface="Arial" panose="020B0604020202020204" pitchFamily="34" charset="0"/>
              <a:buChar char="•"/>
            </a:pPr>
            <a:r>
              <a:rPr lang="en-NO" sz="2000" dirty="0"/>
              <a:t>Some hard, some easy to use, not easy to understand</a:t>
            </a:r>
          </a:p>
          <a:p>
            <a:endParaRPr lang="en-GB" sz="2000" dirty="0"/>
          </a:p>
          <a:p>
            <a:pPr marL="285750" indent="-285750">
              <a:buFont typeface="Arial" panose="020B0604020202020204" pitchFamily="34" charset="0"/>
              <a:buChar char="•"/>
            </a:pPr>
            <a:r>
              <a:rPr lang="en-GB" sz="2000" dirty="0"/>
              <a:t>H</a:t>
            </a:r>
            <a:r>
              <a:rPr lang="en-NO" sz="2000" dirty="0"/>
              <a:t>ard to compare different models </a:t>
            </a:r>
          </a:p>
          <a:p>
            <a:pPr marL="285750" indent="-285750">
              <a:buFont typeface="Arial" panose="020B0604020202020204" pitchFamily="34" charset="0"/>
              <a:buChar char="•"/>
            </a:pPr>
            <a:endParaRPr lang="en-NO" sz="2000" dirty="0"/>
          </a:p>
          <a:p>
            <a:pPr marL="285750" indent="-285750">
              <a:buFont typeface="Arial" panose="020B0604020202020204" pitchFamily="34" charset="0"/>
              <a:buChar char="•"/>
            </a:pPr>
            <a:r>
              <a:rPr lang="en-GB" sz="2000" dirty="0"/>
              <a:t>(very) S</a:t>
            </a:r>
            <a:r>
              <a:rPr lang="en-NO" sz="2000" dirty="0"/>
              <a:t>pecial cases of CMR</a:t>
            </a:r>
          </a:p>
        </p:txBody>
      </p:sp>
      <p:sp>
        <p:nvSpPr>
          <p:cNvPr id="6" name="TextBox 5">
            <a:extLst>
              <a:ext uri="{FF2B5EF4-FFF2-40B4-BE49-F238E27FC236}">
                <a16:creationId xmlns:a16="http://schemas.microsoft.com/office/drawing/2014/main" id="{64229001-5D55-0F52-6299-5F6ABB36F8F6}"/>
              </a:ext>
            </a:extLst>
          </p:cNvPr>
          <p:cNvSpPr txBox="1"/>
          <p:nvPr/>
        </p:nvSpPr>
        <p:spPr>
          <a:xfrm>
            <a:off x="1349188" y="2230119"/>
            <a:ext cx="3922059" cy="1477328"/>
          </a:xfrm>
          <a:prstGeom prst="rect">
            <a:avLst/>
          </a:prstGeom>
          <a:noFill/>
        </p:spPr>
        <p:txBody>
          <a:bodyPr wrap="square">
            <a:spAutoFit/>
          </a:bodyPr>
          <a:lstStyle/>
          <a:p>
            <a:r>
              <a:rPr lang="en-NO" dirty="0"/>
              <a:t>Foote 2003 Journal of  Geology</a:t>
            </a:r>
          </a:p>
          <a:p>
            <a:endParaRPr lang="en-NO" dirty="0"/>
          </a:p>
          <a:p>
            <a:r>
              <a:rPr lang="en-NO" dirty="0"/>
              <a:t>Alroy “three-timer” and related methods</a:t>
            </a:r>
          </a:p>
          <a:p>
            <a:endParaRPr lang="en-NO" dirty="0"/>
          </a:p>
        </p:txBody>
      </p:sp>
    </p:spTree>
    <p:extLst>
      <p:ext uri="{BB962C8B-B14F-4D97-AF65-F5344CB8AC3E}">
        <p14:creationId xmlns:p14="http://schemas.microsoft.com/office/powerpoint/2010/main" val="232707704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p:txBody>
          <a:bodyPr/>
          <a:lstStyle/>
          <a:p>
            <a:br>
              <a:rPr lang="en-US" sz="2800" dirty="0"/>
            </a:br>
            <a:endParaRPr lang="en-US" sz="2800" dirty="0"/>
          </a:p>
        </p:txBody>
      </p:sp>
      <p:sp>
        <p:nvSpPr>
          <p:cNvPr id="2" name="Title 1">
            <a:extLst>
              <a:ext uri="{FF2B5EF4-FFF2-40B4-BE49-F238E27FC236}">
                <a16:creationId xmlns:a16="http://schemas.microsoft.com/office/drawing/2014/main" id="{9CF93292-BFAF-08E4-5BE8-D999E5FCDA2C}"/>
              </a:ext>
            </a:extLst>
          </p:cNvPr>
          <p:cNvSpPr txBox="1">
            <a:spLocks/>
          </p:cNvSpPr>
          <p:nvPr/>
        </p:nvSpPr>
        <p:spPr>
          <a:xfrm>
            <a:off x="786633" y="-1752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NO" dirty="0"/>
              <a:t>Comparisons with other approaches </a:t>
            </a:r>
          </a:p>
        </p:txBody>
      </p:sp>
      <p:sp>
        <p:nvSpPr>
          <p:cNvPr id="6" name="TextBox 5">
            <a:extLst>
              <a:ext uri="{FF2B5EF4-FFF2-40B4-BE49-F238E27FC236}">
                <a16:creationId xmlns:a16="http://schemas.microsoft.com/office/drawing/2014/main" id="{64229001-5D55-0F52-6299-5F6ABB36F8F6}"/>
              </a:ext>
            </a:extLst>
          </p:cNvPr>
          <p:cNvSpPr txBox="1"/>
          <p:nvPr/>
        </p:nvSpPr>
        <p:spPr>
          <a:xfrm>
            <a:off x="838200" y="981020"/>
            <a:ext cx="4259580" cy="4801314"/>
          </a:xfrm>
          <a:prstGeom prst="rect">
            <a:avLst/>
          </a:prstGeom>
          <a:noFill/>
        </p:spPr>
        <p:txBody>
          <a:bodyPr wrap="square">
            <a:spAutoFit/>
          </a:bodyPr>
          <a:lstStyle/>
          <a:p>
            <a:r>
              <a:rPr lang="en-NO" dirty="0"/>
              <a:t>PyRate (Silvestro et al. Sys Bio 2014)</a:t>
            </a:r>
          </a:p>
          <a:p>
            <a:endParaRPr lang="en-NO" dirty="0"/>
          </a:p>
          <a:p>
            <a:r>
              <a:rPr lang="en-NO" dirty="0"/>
              <a:t>Key preservation assumption (different) is the shape of species observations (beta distribution based on “hat”)</a:t>
            </a:r>
          </a:p>
          <a:p>
            <a:endParaRPr lang="en-NO" dirty="0"/>
          </a:p>
          <a:p>
            <a:r>
              <a:rPr lang="en-NO" dirty="0"/>
              <a:t>Smooths out temporal information</a:t>
            </a:r>
          </a:p>
          <a:p>
            <a:endParaRPr lang="en-NO" dirty="0"/>
          </a:p>
          <a:p>
            <a:r>
              <a:rPr lang="en-AU" dirty="0"/>
              <a:t>Conditioned on at least one observation per taxon (like the CMR models conditioned on first observation)</a:t>
            </a:r>
          </a:p>
          <a:p>
            <a:endParaRPr lang="en-NO" dirty="0"/>
          </a:p>
          <a:p>
            <a:endParaRPr lang="en-NO" dirty="0"/>
          </a:p>
          <a:p>
            <a:endParaRPr lang="en-NO" dirty="0"/>
          </a:p>
          <a:p>
            <a:endParaRPr lang="en-NO" dirty="0"/>
          </a:p>
          <a:p>
            <a:endParaRPr lang="en-NO" dirty="0"/>
          </a:p>
          <a:p>
            <a:endParaRPr lang="en-NO" dirty="0"/>
          </a:p>
        </p:txBody>
      </p:sp>
      <p:pic>
        <p:nvPicPr>
          <p:cNvPr id="5" name="Picture 4">
            <a:extLst>
              <a:ext uri="{FF2B5EF4-FFF2-40B4-BE49-F238E27FC236}">
                <a16:creationId xmlns:a16="http://schemas.microsoft.com/office/drawing/2014/main" id="{5809C0D6-62F7-05FA-054E-EA4A42FD0C9C}"/>
              </a:ext>
            </a:extLst>
          </p:cNvPr>
          <p:cNvPicPr>
            <a:picLocks noChangeAspect="1"/>
          </p:cNvPicPr>
          <p:nvPr/>
        </p:nvPicPr>
        <p:blipFill rotWithShape="1">
          <a:blip r:embed="rId3"/>
          <a:srcRect l="21797" t="24652" r="18526" b="11720"/>
          <a:stretch/>
        </p:blipFill>
        <p:spPr>
          <a:xfrm>
            <a:off x="838200" y="4165531"/>
            <a:ext cx="3530168" cy="2352368"/>
          </a:xfrm>
          <a:prstGeom prst="rect">
            <a:avLst/>
          </a:prstGeom>
        </p:spPr>
      </p:pic>
    </p:spTree>
    <p:extLst>
      <p:ext uri="{BB962C8B-B14F-4D97-AF65-F5344CB8AC3E}">
        <p14:creationId xmlns:p14="http://schemas.microsoft.com/office/powerpoint/2010/main" val="159271164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FEACD-5A5F-DEBF-85A2-5A98C0A0A6FD}"/>
              </a:ext>
            </a:extLst>
          </p:cNvPr>
          <p:cNvSpPr txBox="1">
            <a:spLocks/>
          </p:cNvSpPr>
          <p:nvPr/>
        </p:nvSpPr>
        <p:spPr>
          <a:xfrm>
            <a:off x="422787" y="4196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NO" dirty="0"/>
              <a:t>Some paleo papers using CMR  </a:t>
            </a:r>
          </a:p>
        </p:txBody>
      </p:sp>
      <p:pic>
        <p:nvPicPr>
          <p:cNvPr id="9" name="Picture 8">
            <a:extLst>
              <a:ext uri="{FF2B5EF4-FFF2-40B4-BE49-F238E27FC236}">
                <a16:creationId xmlns:a16="http://schemas.microsoft.com/office/drawing/2014/main" id="{7AF08FAF-0CEF-7BD0-D070-35507567E999}"/>
              </a:ext>
            </a:extLst>
          </p:cNvPr>
          <p:cNvPicPr>
            <a:picLocks noChangeAspect="1"/>
          </p:cNvPicPr>
          <p:nvPr/>
        </p:nvPicPr>
        <p:blipFill rotWithShape="1">
          <a:blip r:embed="rId2"/>
          <a:srcRect l="26614" t="13333" r="25241"/>
          <a:stretch/>
        </p:blipFill>
        <p:spPr>
          <a:xfrm>
            <a:off x="558112" y="1197916"/>
            <a:ext cx="5422358" cy="5490477"/>
          </a:xfrm>
          <a:prstGeom prst="rect">
            <a:avLst/>
          </a:prstGeom>
        </p:spPr>
      </p:pic>
      <p:sp>
        <p:nvSpPr>
          <p:cNvPr id="11" name="TextBox 10">
            <a:extLst>
              <a:ext uri="{FF2B5EF4-FFF2-40B4-BE49-F238E27FC236}">
                <a16:creationId xmlns:a16="http://schemas.microsoft.com/office/drawing/2014/main" id="{6C0FD666-C1D7-29D9-58FC-652E272649D1}"/>
              </a:ext>
            </a:extLst>
          </p:cNvPr>
          <p:cNvSpPr txBox="1"/>
          <p:nvPr/>
        </p:nvSpPr>
        <p:spPr>
          <a:xfrm>
            <a:off x="5980470" y="3303072"/>
            <a:ext cx="6094770" cy="2462213"/>
          </a:xfrm>
          <a:prstGeom prst="rect">
            <a:avLst/>
          </a:prstGeom>
          <a:noFill/>
        </p:spPr>
        <p:txBody>
          <a:bodyPr wrap="square">
            <a:spAutoFit/>
          </a:bodyPr>
          <a:lstStyle/>
          <a:p>
            <a:pPr marL="406400" indent="-406400"/>
            <a:r>
              <a:rPr lang="en-GB" sz="1400" dirty="0"/>
              <a:t>Nichols, J.D. and Pollock, K.H. (1983) Estimating taxonomic diversity, extinction rates, and speciation rates from fossil data using capture-recapture models. </a:t>
            </a:r>
            <a:r>
              <a:rPr lang="en-GB" sz="1400" i="1" dirty="0"/>
              <a:t>Paleobiology</a:t>
            </a:r>
            <a:r>
              <a:rPr lang="en-GB" sz="1400" dirty="0"/>
              <a:t> 9, 150–163</a:t>
            </a:r>
          </a:p>
          <a:p>
            <a:pPr marL="406400" indent="-406400"/>
            <a:endParaRPr lang="en-GB" sz="1400" dirty="0">
              <a:effectLst/>
            </a:endParaRPr>
          </a:p>
          <a:p>
            <a:pPr marL="406400" indent="-406400"/>
            <a:r>
              <a:rPr lang="en-GB" sz="1400" dirty="0">
                <a:effectLst/>
              </a:rPr>
              <a:t>Connolly, S.R. and Miller, A.I. (2001) Joint estimation of sampling and turnover rates from fossil databases: Capture-Mark-Recapture methods revisited. </a:t>
            </a:r>
            <a:r>
              <a:rPr lang="en-GB" sz="1400" i="1" dirty="0">
                <a:effectLst/>
              </a:rPr>
              <a:t>Paleobiology</a:t>
            </a:r>
            <a:r>
              <a:rPr lang="en-GB" sz="1400" dirty="0">
                <a:effectLst/>
              </a:rPr>
              <a:t> 27, 751–767</a:t>
            </a:r>
          </a:p>
          <a:p>
            <a:pPr marL="406400" indent="-406400"/>
            <a:r>
              <a:rPr lang="en-GB" sz="1400" dirty="0">
                <a:effectLst/>
              </a:rPr>
              <a:t>Connolly, S.R. and Miller, A.I. (2001) Global Ordovician faunal transitions in the marine benthos: proximate causes. </a:t>
            </a:r>
            <a:r>
              <a:rPr lang="en-GB" sz="1400" i="1" dirty="0">
                <a:effectLst/>
              </a:rPr>
              <a:t>Paleobiology</a:t>
            </a:r>
            <a:r>
              <a:rPr lang="en-GB" sz="1400" dirty="0">
                <a:effectLst/>
              </a:rPr>
              <a:t> 27, 779–795</a:t>
            </a:r>
          </a:p>
          <a:p>
            <a:pPr marL="406400" indent="-406400"/>
            <a:r>
              <a:rPr lang="en-GB" sz="1400" dirty="0">
                <a:effectLst/>
              </a:rPr>
              <a:t>Connolly, S.R. and Miller, A.I. (2002) Global Ordovician faunal transitions in the marine benthos: ultimate causes. </a:t>
            </a:r>
            <a:r>
              <a:rPr lang="en-GB" sz="1400" i="1" dirty="0">
                <a:effectLst/>
              </a:rPr>
              <a:t>Paleobiology</a:t>
            </a:r>
            <a:r>
              <a:rPr lang="en-GB" sz="1400" dirty="0">
                <a:effectLst/>
              </a:rPr>
              <a:t> 28, 26–40</a:t>
            </a:r>
          </a:p>
        </p:txBody>
      </p:sp>
      <p:pic>
        <p:nvPicPr>
          <p:cNvPr id="2052" name="Picture 4" descr="Jim Nichols reflects on winning TWS highest honor - The Wildlife Society">
            <a:extLst>
              <a:ext uri="{FF2B5EF4-FFF2-40B4-BE49-F238E27FC236}">
                <a16:creationId xmlns:a16="http://schemas.microsoft.com/office/drawing/2014/main" id="{152DEE62-42CA-79E8-B152-9388228547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52735" y="405581"/>
            <a:ext cx="3549445" cy="26620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5952508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Figure 2. ">
            <a:extLst>
              <a:ext uri="{FF2B5EF4-FFF2-40B4-BE49-F238E27FC236}">
                <a16:creationId xmlns:a16="http://schemas.microsoft.com/office/drawing/2014/main" id="{1EFE0387-1415-8ADB-EC93-E4C561B24D7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9589" y="2218670"/>
            <a:ext cx="6885039" cy="354740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57412290-3EDC-2107-845B-64C848C9EDDE}"/>
              </a:ext>
            </a:extLst>
          </p:cNvPr>
          <p:cNvSpPr txBox="1"/>
          <p:nvPr/>
        </p:nvSpPr>
        <p:spPr>
          <a:xfrm>
            <a:off x="739589" y="6169709"/>
            <a:ext cx="11479306" cy="646331"/>
          </a:xfrm>
          <a:prstGeom prst="rect">
            <a:avLst/>
          </a:prstGeom>
          <a:noFill/>
        </p:spPr>
        <p:txBody>
          <a:bodyPr wrap="square">
            <a:spAutoFit/>
          </a:bodyPr>
          <a:lstStyle/>
          <a:p>
            <a:pPr marL="406400" indent="-406400"/>
            <a:r>
              <a:rPr lang="en-GB" dirty="0">
                <a:effectLst/>
              </a:rPr>
              <a:t>Sibert, E. </a:t>
            </a:r>
            <a:r>
              <a:rPr lang="en-GB" i="1" dirty="0">
                <a:effectLst/>
              </a:rPr>
              <a:t>et al.</a:t>
            </a:r>
            <a:r>
              <a:rPr lang="en-GB" dirty="0">
                <a:effectLst/>
              </a:rPr>
              <a:t> (2018) Two pulses of morphological diversification in Pacific pelagic fishes following the Cretaceous - Palaeogene mass extinction. </a:t>
            </a:r>
            <a:r>
              <a:rPr lang="en-GB" i="1" dirty="0">
                <a:effectLst/>
              </a:rPr>
              <a:t>Proc. R. Soc. B-BIOLOGICAL Sci.</a:t>
            </a:r>
            <a:r>
              <a:rPr lang="en-GB" dirty="0">
                <a:effectLst/>
              </a:rPr>
              <a:t> 285, </a:t>
            </a:r>
          </a:p>
        </p:txBody>
      </p:sp>
      <p:sp>
        <p:nvSpPr>
          <p:cNvPr id="2" name="Title 1">
            <a:extLst>
              <a:ext uri="{FF2B5EF4-FFF2-40B4-BE49-F238E27FC236}">
                <a16:creationId xmlns:a16="http://schemas.microsoft.com/office/drawing/2014/main" id="{F86FEACD-5A5F-DEBF-85A2-5A98C0A0A6FD}"/>
              </a:ext>
            </a:extLst>
          </p:cNvPr>
          <p:cNvSpPr txBox="1">
            <a:spLocks/>
          </p:cNvSpPr>
          <p:nvPr/>
        </p:nvSpPr>
        <p:spPr>
          <a:xfrm>
            <a:off x="422787" y="4196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NO" dirty="0"/>
              <a:t>Some paleo papers using CMR  </a:t>
            </a:r>
          </a:p>
        </p:txBody>
      </p:sp>
      <p:pic>
        <p:nvPicPr>
          <p:cNvPr id="3" name="Picture 2" descr="Tiny teeth tell the story of two fish species' rapid evolution – Harvard  Gazette">
            <a:extLst>
              <a:ext uri="{FF2B5EF4-FFF2-40B4-BE49-F238E27FC236}">
                <a16:creationId xmlns:a16="http://schemas.microsoft.com/office/drawing/2014/main" id="{0F234D92-EEA3-AED8-26E5-217C597E99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97098" y="2128765"/>
            <a:ext cx="3706976" cy="2471317"/>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9FB3C9AB-8DAA-2ECC-CF3A-DCB421C9B515}"/>
              </a:ext>
            </a:extLst>
          </p:cNvPr>
          <p:cNvSpPr txBox="1"/>
          <p:nvPr/>
        </p:nvSpPr>
        <p:spPr>
          <a:xfrm>
            <a:off x="7457154" y="4600082"/>
            <a:ext cx="6109518" cy="215444"/>
          </a:xfrm>
          <a:prstGeom prst="rect">
            <a:avLst/>
          </a:prstGeom>
          <a:noFill/>
        </p:spPr>
        <p:txBody>
          <a:bodyPr wrap="square">
            <a:spAutoFit/>
          </a:bodyPr>
          <a:lstStyle/>
          <a:p>
            <a:r>
              <a:rPr lang="en-NO" sz="800" dirty="0"/>
              <a:t>https://news.harvard.edu/gazette/story/2018/11/tiny-teeth-tell-the-story-of-two-fish-species-rapid-evolution/</a:t>
            </a:r>
          </a:p>
        </p:txBody>
      </p:sp>
    </p:spTree>
    <p:extLst>
      <p:ext uri="{BB962C8B-B14F-4D97-AF65-F5344CB8AC3E}">
        <p14:creationId xmlns:p14="http://schemas.microsoft.com/office/powerpoint/2010/main" val="388772389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Fig. 2">
            <a:extLst>
              <a:ext uri="{FF2B5EF4-FFF2-40B4-BE49-F238E27FC236}">
                <a16:creationId xmlns:a16="http://schemas.microsoft.com/office/drawing/2014/main" id="{5F884106-3B96-56D3-3036-4DE58309CC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6147" y="1271657"/>
            <a:ext cx="5319853" cy="4784877"/>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A13B9184-44CB-C10C-2993-86ABFE4218BB}"/>
              </a:ext>
            </a:extLst>
          </p:cNvPr>
          <p:cNvSpPr txBox="1"/>
          <p:nvPr/>
        </p:nvSpPr>
        <p:spPr>
          <a:xfrm>
            <a:off x="591670" y="6244751"/>
            <a:ext cx="11116235" cy="369332"/>
          </a:xfrm>
          <a:prstGeom prst="rect">
            <a:avLst/>
          </a:prstGeom>
          <a:noFill/>
        </p:spPr>
        <p:txBody>
          <a:bodyPr wrap="square">
            <a:spAutoFit/>
          </a:bodyPr>
          <a:lstStyle/>
          <a:p>
            <a:pPr marL="406400" indent="-406400"/>
            <a:r>
              <a:rPr lang="en-GB" dirty="0">
                <a:effectLst/>
              </a:rPr>
              <a:t>Martins, M.J.F. </a:t>
            </a:r>
            <a:r>
              <a:rPr lang="en-GB" i="1" dirty="0">
                <a:effectLst/>
              </a:rPr>
              <a:t>et al.</a:t>
            </a:r>
            <a:r>
              <a:rPr lang="en-GB" dirty="0">
                <a:effectLst/>
              </a:rPr>
              <a:t> (2018) High male sexual investment as a driver of extinction in fossil ostracods. </a:t>
            </a:r>
            <a:r>
              <a:rPr lang="en-GB" i="1" dirty="0">
                <a:effectLst/>
              </a:rPr>
              <a:t>Nature</a:t>
            </a:r>
            <a:endParaRPr lang="en-GB" dirty="0">
              <a:effectLst/>
            </a:endParaRPr>
          </a:p>
        </p:txBody>
      </p:sp>
      <p:sp>
        <p:nvSpPr>
          <p:cNvPr id="2" name="Title 1">
            <a:extLst>
              <a:ext uri="{FF2B5EF4-FFF2-40B4-BE49-F238E27FC236}">
                <a16:creationId xmlns:a16="http://schemas.microsoft.com/office/drawing/2014/main" id="{29E82AEE-E42D-0745-1BBF-A31E776BAE9B}"/>
              </a:ext>
            </a:extLst>
          </p:cNvPr>
          <p:cNvSpPr txBox="1">
            <a:spLocks/>
          </p:cNvSpPr>
          <p:nvPr/>
        </p:nvSpPr>
        <p:spPr>
          <a:xfrm>
            <a:off x="422787" y="4196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NO" dirty="0"/>
              <a:t>Some paleo papers using CMR  </a:t>
            </a:r>
          </a:p>
        </p:txBody>
      </p:sp>
      <p:pic>
        <p:nvPicPr>
          <p:cNvPr id="4" name="Picture 2">
            <a:extLst>
              <a:ext uri="{FF2B5EF4-FFF2-40B4-BE49-F238E27FC236}">
                <a16:creationId xmlns:a16="http://schemas.microsoft.com/office/drawing/2014/main" id="{57F432E2-D1E7-CF44-0788-DF009175575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2415" b="45904"/>
          <a:stretch/>
        </p:blipFill>
        <p:spPr bwMode="auto">
          <a:xfrm>
            <a:off x="6713654" y="1907143"/>
            <a:ext cx="4502122" cy="275742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F698519F-BD12-96AC-47BB-40845B29E6CD}"/>
              </a:ext>
            </a:extLst>
          </p:cNvPr>
          <p:cNvSpPr txBox="1"/>
          <p:nvPr/>
        </p:nvSpPr>
        <p:spPr>
          <a:xfrm>
            <a:off x="6713654" y="4664563"/>
            <a:ext cx="2104718" cy="215444"/>
          </a:xfrm>
          <a:prstGeom prst="rect">
            <a:avLst/>
          </a:prstGeom>
          <a:noFill/>
        </p:spPr>
        <p:txBody>
          <a:bodyPr wrap="square">
            <a:spAutoFit/>
          </a:bodyPr>
          <a:lstStyle/>
          <a:p>
            <a:r>
              <a:rPr lang="en-GB" sz="800" dirty="0"/>
              <a:t>Ozawa (2012)</a:t>
            </a:r>
            <a:endParaRPr lang="en-NO" sz="800" dirty="0"/>
          </a:p>
        </p:txBody>
      </p:sp>
    </p:spTree>
    <p:extLst>
      <p:ext uri="{BB962C8B-B14F-4D97-AF65-F5344CB8AC3E}">
        <p14:creationId xmlns:p14="http://schemas.microsoft.com/office/powerpoint/2010/main" val="14590676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B6D55544-8748-E1BE-C333-D5B848FD6307}"/>
              </a:ext>
            </a:extLst>
          </p:cNvPr>
          <p:cNvSpPr txBox="1">
            <a:spLocks/>
          </p:cNvSpPr>
          <p:nvPr/>
        </p:nvSpPr>
        <p:spPr>
          <a:xfrm>
            <a:off x="422787" y="4196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NO" dirty="0"/>
              <a:t>Some paleo papers using CMR  </a:t>
            </a:r>
          </a:p>
        </p:txBody>
      </p:sp>
      <p:sp>
        <p:nvSpPr>
          <p:cNvPr id="4" name="TextBox 3">
            <a:extLst>
              <a:ext uri="{FF2B5EF4-FFF2-40B4-BE49-F238E27FC236}">
                <a16:creationId xmlns:a16="http://schemas.microsoft.com/office/drawing/2014/main" id="{817411EF-B6F1-53A4-900B-F31D8014FC6F}"/>
              </a:ext>
            </a:extLst>
          </p:cNvPr>
          <p:cNvSpPr txBox="1"/>
          <p:nvPr/>
        </p:nvSpPr>
        <p:spPr>
          <a:xfrm>
            <a:off x="484187" y="1120676"/>
            <a:ext cx="10511852" cy="3693319"/>
          </a:xfrm>
          <a:prstGeom prst="rect">
            <a:avLst/>
          </a:prstGeom>
          <a:noFill/>
        </p:spPr>
        <p:txBody>
          <a:bodyPr wrap="none" rtlCol="0">
            <a:spAutoFit/>
          </a:bodyPr>
          <a:lstStyle/>
          <a:p>
            <a:endParaRPr lang="en-GB" dirty="0"/>
          </a:p>
          <a:p>
            <a:r>
              <a:rPr lang="en-GB" dirty="0"/>
              <a:t>Payne, J., &amp; Heim, N. (2020). Body size, sampling completeness, and extinction risk in the marine fossil record. </a:t>
            </a:r>
          </a:p>
          <a:p>
            <a:r>
              <a:rPr lang="en-GB" i="1" dirty="0"/>
              <a:t>Paleobiology,</a:t>
            </a:r>
            <a:r>
              <a:rPr lang="en-GB" dirty="0"/>
              <a:t> </a:t>
            </a:r>
            <a:r>
              <a:rPr lang="en-GB" i="1" dirty="0"/>
              <a:t>46</a:t>
            </a:r>
            <a:r>
              <a:rPr lang="en-GB" dirty="0"/>
              <a:t>(1), 23-40. doi:10.1017/pab.2019.43</a:t>
            </a:r>
          </a:p>
          <a:p>
            <a:endParaRPr lang="en-GB" dirty="0"/>
          </a:p>
          <a:p>
            <a:r>
              <a:rPr lang="en-GB" dirty="0"/>
              <a:t>Pedro M. </a:t>
            </a:r>
            <a:r>
              <a:rPr lang="en-GB" dirty="0" err="1"/>
              <a:t>Monarrez</a:t>
            </a:r>
            <a:r>
              <a:rPr lang="en-GB" dirty="0"/>
              <a:t>, Noel A. Heim and Jonathan L. Payne 2021</a:t>
            </a:r>
          </a:p>
          <a:p>
            <a:r>
              <a:rPr lang="en-GB" dirty="0">
                <a:hlinkClick r:id="rId2"/>
              </a:rPr>
              <a:t>Mass extinctions alter extinction and origination dynamics with respect to body size</a:t>
            </a:r>
            <a:r>
              <a:rPr lang="en-GB" dirty="0"/>
              <a:t> </a:t>
            </a:r>
          </a:p>
          <a:p>
            <a:r>
              <a:rPr lang="en-GB" dirty="0"/>
              <a:t>Proc B</a:t>
            </a:r>
          </a:p>
          <a:p>
            <a:endParaRPr lang="en-GB" dirty="0"/>
          </a:p>
          <a:p>
            <a:endParaRPr lang="en-GB" dirty="0"/>
          </a:p>
          <a:p>
            <a:endParaRPr lang="en-GB" dirty="0"/>
          </a:p>
          <a:p>
            <a:r>
              <a:rPr lang="en-GB" dirty="0"/>
              <a:t>“CMR analysis of the fossil record reveals a</a:t>
            </a:r>
          </a:p>
          <a:p>
            <a:r>
              <a:rPr lang="en-GB" dirty="0"/>
              <a:t>against the sampling of smaller-bodied </a:t>
            </a:r>
          </a:p>
          <a:p>
            <a:r>
              <a:rPr lang="en-GB" dirty="0"/>
              <a:t>genera within classes “</a:t>
            </a:r>
            <a:endParaRPr lang="en-NO" dirty="0"/>
          </a:p>
        </p:txBody>
      </p:sp>
      <p:pic>
        <p:nvPicPr>
          <p:cNvPr id="2052" name="Picture 4" descr="Figure 2. ">
            <a:extLst>
              <a:ext uri="{FF2B5EF4-FFF2-40B4-BE49-F238E27FC236}">
                <a16:creationId xmlns:a16="http://schemas.microsoft.com/office/drawing/2014/main" id="{9EB79A5F-3163-030F-F3C0-7BECB12902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22616" y="3263350"/>
            <a:ext cx="5415771" cy="31012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942260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8964896-ECEB-D041-449A-D336F7DBCBDD}"/>
              </a:ext>
            </a:extLst>
          </p:cNvPr>
          <p:cNvPicPr>
            <a:picLocks noChangeAspect="1" noChangeArrowheads="1"/>
          </p:cNvPicPr>
          <p:nvPr/>
        </p:nvPicPr>
        <p:blipFill>
          <a:blip r:embed="rId2" cstate="print"/>
          <a:srcRect/>
          <a:stretch>
            <a:fillRect/>
          </a:stretch>
        </p:blipFill>
        <p:spPr bwMode="auto">
          <a:xfrm>
            <a:off x="3244645" y="1315597"/>
            <a:ext cx="5270766" cy="4378423"/>
          </a:xfrm>
          <a:prstGeom prst="rect">
            <a:avLst/>
          </a:prstGeom>
          <a:noFill/>
          <a:ln w="9525">
            <a:noFill/>
            <a:round/>
            <a:headEnd/>
            <a:tailEnd/>
          </a:ln>
        </p:spPr>
      </p:pic>
      <p:sp>
        <p:nvSpPr>
          <p:cNvPr id="4" name="TextBox 3">
            <a:extLst>
              <a:ext uri="{FF2B5EF4-FFF2-40B4-BE49-F238E27FC236}">
                <a16:creationId xmlns:a16="http://schemas.microsoft.com/office/drawing/2014/main" id="{EA71C67D-31F8-24BE-147A-747B9BC679B8}"/>
              </a:ext>
            </a:extLst>
          </p:cNvPr>
          <p:cNvSpPr txBox="1"/>
          <p:nvPr/>
        </p:nvSpPr>
        <p:spPr>
          <a:xfrm>
            <a:off x="221193" y="5985042"/>
            <a:ext cx="11264153" cy="646331"/>
          </a:xfrm>
          <a:prstGeom prst="rect">
            <a:avLst/>
          </a:prstGeom>
          <a:noFill/>
        </p:spPr>
        <p:txBody>
          <a:bodyPr wrap="square">
            <a:spAutoFit/>
          </a:bodyPr>
          <a:lstStyle/>
          <a:p>
            <a:pPr marL="406400" indent="-406400"/>
            <a:r>
              <a:rPr lang="en-GB" dirty="0">
                <a:effectLst/>
              </a:rPr>
              <a:t>Liow, L.H. </a:t>
            </a:r>
            <a:r>
              <a:rPr lang="en-GB" i="1" dirty="0">
                <a:effectLst/>
              </a:rPr>
              <a:t>et al.</a:t>
            </a:r>
            <a:r>
              <a:rPr lang="en-GB" dirty="0">
                <a:effectLst/>
              </a:rPr>
              <a:t> (2015) Ecological interactions on macroevolutionary time scales: clams and brachiopods are more than ships that pass in the night. </a:t>
            </a:r>
            <a:r>
              <a:rPr lang="en-GB" i="1" dirty="0">
                <a:effectLst/>
              </a:rPr>
              <a:t>Ecol. Lett.</a:t>
            </a:r>
            <a:r>
              <a:rPr lang="en-GB" dirty="0">
                <a:effectLst/>
              </a:rPr>
              <a:t> 18, 1030–1039</a:t>
            </a:r>
          </a:p>
        </p:txBody>
      </p:sp>
      <p:sp>
        <p:nvSpPr>
          <p:cNvPr id="2" name="Title 1">
            <a:extLst>
              <a:ext uri="{FF2B5EF4-FFF2-40B4-BE49-F238E27FC236}">
                <a16:creationId xmlns:a16="http://schemas.microsoft.com/office/drawing/2014/main" id="{3FA8FBC1-6A99-6892-3BEF-17B52A2B952E}"/>
              </a:ext>
            </a:extLst>
          </p:cNvPr>
          <p:cNvSpPr txBox="1">
            <a:spLocks/>
          </p:cNvSpPr>
          <p:nvPr/>
        </p:nvSpPr>
        <p:spPr>
          <a:xfrm>
            <a:off x="422787" y="4196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NO" dirty="0"/>
              <a:t>Some paleo papers using CMR  </a:t>
            </a:r>
          </a:p>
        </p:txBody>
      </p:sp>
    </p:spTree>
    <p:extLst>
      <p:ext uri="{BB962C8B-B14F-4D97-AF65-F5344CB8AC3E}">
        <p14:creationId xmlns:p14="http://schemas.microsoft.com/office/powerpoint/2010/main" val="377348422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C51E420-D066-0F02-092A-D129F28426CB}"/>
              </a:ext>
            </a:extLst>
          </p:cNvPr>
          <p:cNvSpPr>
            <a:spLocks noGrp="1"/>
          </p:cNvSpPr>
          <p:nvPr>
            <p:ph idx="1"/>
          </p:nvPr>
        </p:nvSpPr>
        <p:spPr>
          <a:xfrm>
            <a:off x="838200" y="1799121"/>
            <a:ext cx="10515600" cy="4351338"/>
          </a:xfrm>
        </p:spPr>
        <p:txBody>
          <a:bodyPr>
            <a:normAutofit fontScale="92500"/>
          </a:bodyPr>
          <a:lstStyle/>
          <a:p>
            <a:r>
              <a:rPr lang="en-GB" sz="2400" dirty="0" err="1"/>
              <a:t>Schachat</a:t>
            </a:r>
            <a:r>
              <a:rPr lang="en-GB" sz="2400" dirty="0"/>
              <a:t> et al. </a:t>
            </a:r>
            <a:r>
              <a:rPr lang="en-GB" sz="2400" b="1" dirty="0"/>
              <a:t>2021. </a:t>
            </a:r>
            <a:r>
              <a:rPr lang="en-GB" sz="2400" dirty="0"/>
              <a:t>A Cretaceous peak in family-level insect diversity estimated with mark–recapture methodology. Proceedings of the Royal Society, B 286:20192054.</a:t>
            </a:r>
          </a:p>
          <a:p>
            <a:pPr marL="0" indent="0">
              <a:buNone/>
            </a:pPr>
            <a:endParaRPr lang="en-GB" sz="2400" dirty="0"/>
          </a:p>
          <a:p>
            <a:r>
              <a:rPr lang="en-GB" sz="2400" dirty="0"/>
              <a:t>Cohen et al. </a:t>
            </a:r>
            <a:r>
              <a:rPr lang="en-GB" sz="2400" b="1" dirty="0"/>
              <a:t>2022</a:t>
            </a:r>
            <a:r>
              <a:rPr lang="en-GB" sz="2400" dirty="0"/>
              <a:t>  </a:t>
            </a:r>
            <a:r>
              <a:rPr lang="en-GB" sz="2400" dirty="0" err="1"/>
              <a:t>Plio</a:t>
            </a:r>
            <a:r>
              <a:rPr lang="en-GB" sz="2400" dirty="0"/>
              <a:t>-Pleistocene environmental variability in Africa and its implications for mammalian evolution, PNAS 119 (16) e2107393119</a:t>
            </a:r>
          </a:p>
          <a:p>
            <a:endParaRPr lang="en-GB" sz="2400" dirty="0"/>
          </a:p>
          <a:p>
            <a:r>
              <a:rPr lang="en-GB" sz="2400" dirty="0"/>
              <a:t>Wilson et al.</a:t>
            </a:r>
            <a:r>
              <a:rPr lang="en-GB" sz="2400" b="1" dirty="0"/>
              <a:t> 2024</a:t>
            </a:r>
            <a:r>
              <a:rPr lang="en-GB" sz="2400" dirty="0"/>
              <a:t>. Unveiling the underlying drivers of Phanerozoic marine diversification. Proceedings of the Royal Society, B 291: 20240165</a:t>
            </a:r>
          </a:p>
          <a:p>
            <a:endParaRPr lang="en-GB" sz="2400" dirty="0"/>
          </a:p>
          <a:p>
            <a:r>
              <a:rPr lang="en-GB" sz="2400" dirty="0"/>
              <a:t>Leventhal S, Samuels-Fair M. </a:t>
            </a:r>
            <a:r>
              <a:rPr lang="en-GB" sz="2400" b="1" dirty="0"/>
              <a:t>2025</a:t>
            </a:r>
            <a:r>
              <a:rPr lang="en-GB" sz="2400" dirty="0"/>
              <a:t> Larval brooding correlated with high early origination rates in </a:t>
            </a:r>
            <a:r>
              <a:rPr lang="en-GB" sz="2400" dirty="0" err="1"/>
              <a:t>cheilostome</a:t>
            </a:r>
            <a:r>
              <a:rPr lang="en-GB" sz="2400" dirty="0"/>
              <a:t> Bryozoa. </a:t>
            </a:r>
            <a:r>
              <a:rPr lang="en-GB" sz="2400" i="1" dirty="0"/>
              <a:t>Paleobiology</a:t>
            </a:r>
            <a:r>
              <a:rPr lang="en-GB" sz="2400" dirty="0"/>
              <a:t>. 51(2):261-267</a:t>
            </a:r>
          </a:p>
          <a:p>
            <a:endParaRPr lang="en-GB" dirty="0"/>
          </a:p>
          <a:p>
            <a:endParaRPr lang="en-GB" dirty="0"/>
          </a:p>
          <a:p>
            <a:endParaRPr lang="en-US" dirty="0"/>
          </a:p>
        </p:txBody>
      </p:sp>
      <p:sp>
        <p:nvSpPr>
          <p:cNvPr id="4" name="Title 1">
            <a:extLst>
              <a:ext uri="{FF2B5EF4-FFF2-40B4-BE49-F238E27FC236}">
                <a16:creationId xmlns:a16="http://schemas.microsoft.com/office/drawing/2014/main" id="{629640A1-3955-CEAE-AFA8-A8486C0D3FF4}"/>
              </a:ext>
            </a:extLst>
          </p:cNvPr>
          <p:cNvSpPr>
            <a:spLocks noGrp="1"/>
          </p:cNvSpPr>
          <p:nvPr>
            <p:ph type="title"/>
          </p:nvPr>
        </p:nvSpPr>
        <p:spPr>
          <a:xfrm>
            <a:off x="838200" y="44759"/>
            <a:ext cx="10515600" cy="1325563"/>
          </a:xfrm>
        </p:spPr>
        <p:txBody>
          <a:bodyPr/>
          <a:lstStyle/>
          <a:p>
            <a:r>
              <a:rPr lang="en-NO" dirty="0"/>
              <a:t>Some newer fossil papers using CMR</a:t>
            </a:r>
          </a:p>
        </p:txBody>
      </p:sp>
    </p:spTree>
    <p:extLst>
      <p:ext uri="{BB962C8B-B14F-4D97-AF65-F5344CB8AC3E}">
        <p14:creationId xmlns:p14="http://schemas.microsoft.com/office/powerpoint/2010/main" val="29845716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2640</TotalTime>
  <Words>3953</Words>
  <Application>Microsoft Macintosh PowerPoint</Application>
  <PresentationFormat>Widescreen</PresentationFormat>
  <Paragraphs>620</Paragraphs>
  <Slides>45</Slides>
  <Notes>33</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1</vt:i4>
      </vt:variant>
      <vt:variant>
        <vt:lpstr>Slide Titles</vt:lpstr>
      </vt:variant>
      <vt:variant>
        <vt:i4>45</vt:i4>
      </vt:variant>
    </vt:vector>
  </HeadingPairs>
  <TitlesOfParts>
    <vt:vector size="57" baseType="lpstr">
      <vt:lpstr>-apple-system</vt:lpstr>
      <vt:lpstr>STIXGeneral-Italic</vt:lpstr>
      <vt:lpstr>STIXGeneral-Regular</vt:lpstr>
      <vt:lpstr>Arial</vt:lpstr>
      <vt:lpstr>Calibri</vt:lpstr>
      <vt:lpstr>Calibri Light</vt:lpstr>
      <vt:lpstr>Cambria Math</vt:lpstr>
      <vt:lpstr>Lucida Calligraphy</vt:lpstr>
      <vt:lpstr>Optima</vt:lpstr>
      <vt:lpstr>Wingdings</vt:lpstr>
      <vt:lpstr>Office Theme</vt:lpstr>
      <vt:lpstr>Equation</vt:lpstr>
      <vt:lpstr>PowerPoint Presentation</vt:lpstr>
      <vt:lpstr>Representing detection/encounter histories</vt:lpstr>
      <vt:lpstr>Representing detection/encounter histories</vt:lpstr>
      <vt:lpstr>Representing detection/encounter histories</vt:lpstr>
      <vt:lpstr>Representing detection/encounter histories</vt:lpstr>
      <vt:lpstr>Representing detection/encounter histories</vt:lpstr>
      <vt:lpstr>Representing detection/encounter histories</vt:lpstr>
      <vt:lpstr>PowerPoint Presentation</vt:lpstr>
      <vt:lpstr>PowerPoint Presentation</vt:lpstr>
      <vt:lpstr>Likelihood of Detection histories</vt:lpstr>
      <vt:lpstr>Assumptions of the CJS model</vt:lpstr>
      <vt:lpstr>Assumptions of the CJS model</vt:lpstr>
      <vt:lpstr>Assumptions of the CJS model</vt:lpstr>
      <vt:lpstr>Assumptions of the CJS model</vt:lpstr>
      <vt:lpstr>Assumptions of the CJS model</vt:lpstr>
      <vt:lpstr>PowerPoint Presentation</vt:lpstr>
      <vt:lpstr>PowerPoint Presentation</vt:lpstr>
      <vt:lpstr>PowerPoint Presentation</vt:lpstr>
      <vt:lpstr>PowerPoint Presentation</vt:lpstr>
      <vt:lpstr>PowerPoint Presentation</vt:lpstr>
      <vt:lpstr>PowerPoint Presentation</vt:lpstr>
      <vt:lpstr>Why Capture-Mark-Recapture (CMR) ?</vt:lpstr>
      <vt:lpstr>Chapters in MARK book most relevant (if not using MARK)</vt:lpstr>
      <vt:lpstr>Different classes of CMR (MR) models</vt:lpstr>
      <vt:lpstr>PowerPoint Presentation</vt:lpstr>
      <vt:lpstr>PowerPoint Presentation</vt:lpstr>
      <vt:lpstr>RT models</vt:lpstr>
      <vt:lpstr>Pradel seniority model</vt:lpstr>
      <vt:lpstr>PowerPoint Presentation</vt:lpstr>
      <vt:lpstr>openCR to the rescue</vt:lpstr>
      <vt:lpstr>PowerPoint Presentation</vt:lpstr>
      <vt:lpstr>PowerPoint Presentation</vt:lpstr>
      <vt:lpstr>Self learning material and software</vt:lpstr>
      <vt:lpstr>R packages for CMR </vt:lpstr>
      <vt:lpstr>PowerPoint Presentation</vt:lpstr>
      <vt:lpstr> Foote’s per capita origination and extinction rates (boundary crossers)</vt:lpstr>
      <vt:lpstr> Sampling standardization approaches (including SQS)</vt:lpstr>
      <vt:lpstr> CMR-like approaches in paleo independently developed</vt:lpstr>
      <vt:lpstr> </vt:lpstr>
      <vt:lpstr>PowerPoint Presentation</vt:lpstr>
      <vt:lpstr>PowerPoint Presentation</vt:lpstr>
      <vt:lpstr>PowerPoint Presentation</vt:lpstr>
      <vt:lpstr>PowerPoint Presentation</vt:lpstr>
      <vt:lpstr>PowerPoint Presentation</vt:lpstr>
      <vt:lpstr>Some newer fossil papers using CMR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CMR for paleobiology</dc:title>
  <dc:creator>Lee Hsiang Liow</dc:creator>
  <cp:lastModifiedBy>Lee Hsiang Liow</cp:lastModifiedBy>
  <cp:revision>89</cp:revision>
  <cp:lastPrinted>2024-08-02T11:18:44Z</cp:lastPrinted>
  <dcterms:created xsi:type="dcterms:W3CDTF">2022-08-04T08:13:01Z</dcterms:created>
  <dcterms:modified xsi:type="dcterms:W3CDTF">2026-09-02T09:01:09Z</dcterms:modified>
</cp:coreProperties>
</file>