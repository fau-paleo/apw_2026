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304" r:id="rId2"/>
    <p:sldId id="319" r:id="rId3"/>
    <p:sldId id="521" r:id="rId4"/>
    <p:sldId id="306" r:id="rId5"/>
    <p:sldId id="305" r:id="rId6"/>
    <p:sldId id="517" r:id="rId7"/>
    <p:sldId id="309" r:id="rId8"/>
    <p:sldId id="310" r:id="rId9"/>
    <p:sldId id="311" r:id="rId10"/>
    <p:sldId id="515" r:id="rId11"/>
    <p:sldId id="520" r:id="rId12"/>
    <p:sldId id="516" r:id="rId13"/>
    <p:sldId id="312" r:id="rId14"/>
    <p:sldId id="522" r:id="rId15"/>
    <p:sldId id="334" r:id="rId16"/>
    <p:sldId id="523" r:id="rId17"/>
    <p:sldId id="321" r:id="rId18"/>
    <p:sldId id="322" r:id="rId19"/>
    <p:sldId id="323" r:id="rId20"/>
    <p:sldId id="324" r:id="rId21"/>
    <p:sldId id="329" r:id="rId22"/>
    <p:sldId id="325" r:id="rId23"/>
    <p:sldId id="313" r:id="rId24"/>
    <p:sldId id="265" r:id="rId25"/>
    <p:sldId id="286" r:id="rId26"/>
    <p:sldId id="287" r:id="rId27"/>
    <p:sldId id="335" r:id="rId28"/>
    <p:sldId id="288" r:id="rId29"/>
    <p:sldId id="314" r:id="rId30"/>
    <p:sldId id="317" r:id="rId31"/>
  </p:sldIdLst>
  <p:sldSz cx="12192000" cy="6858000"/>
  <p:notesSz cx="6858000" cy="9144000"/>
  <p:defaultTextStyle>
    <a:defPPr>
      <a:defRPr lang="en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342"/>
    <p:restoredTop sz="89658"/>
  </p:normalViewPr>
  <p:slideViewPr>
    <p:cSldViewPr snapToGrid="0" snapToObjects="1">
      <p:cViewPr varScale="1">
        <p:scale>
          <a:sx n="99" d="100"/>
          <a:sy n="99" d="100"/>
        </p:scale>
        <p:origin x="200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843E12-3183-E441-9B1B-231D1D8113E2}" type="datetimeFigureOut">
              <a:rPr lang="en-NO" smtClean="0"/>
              <a:t>02/09/2026</a:t>
            </a:fld>
            <a:endParaRPr lang="en-N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5E07DC-9C77-9140-9F21-906444E46D9E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970074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fau.zoom-x.de/j/62518891071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O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https://fau.zoom-x.de/j/62518891071"/>
              </a:rPr>
              <a:t>https://fau.zoom-x.de/j/62518891071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E978F0-3449-4AB0-892E-AB3EBC289124}" type="slidenum">
              <a:rPr lang="nb-NO" smtClean="0"/>
              <a:t>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1202048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B0046C7-3FE8-4E9C-AD1C-4C83EF5A98DB}" type="slidenum">
              <a:rPr lang="de-DE" altLang="de-DE" smtClean="0"/>
              <a:pPr>
                <a:spcBef>
                  <a:spcPct val="0"/>
                </a:spcBef>
              </a:pPr>
              <a:t>3</a:t>
            </a:fld>
            <a:endParaRPr lang="de-DE" altLang="de-DE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de-DE" dirty="0">
                <a:latin typeface="Arial" panose="020B0604020202020204" pitchFamily="34" charset="0"/>
              </a:rPr>
              <a:t>2, 4,(5) , 2(4), 4?</a:t>
            </a:r>
          </a:p>
          <a:p>
            <a:pPr eaLnBrk="1" hangingPunct="1"/>
            <a:r>
              <a:rPr lang="en-US" altLang="de-DE" dirty="0">
                <a:latin typeface="Arial" panose="020B0604020202020204" pitchFamily="34" charset="0"/>
              </a:rPr>
              <a:t>5,5,5,5?</a:t>
            </a:r>
          </a:p>
        </p:txBody>
      </p:sp>
    </p:spTree>
    <p:extLst>
      <p:ext uri="{BB962C8B-B14F-4D97-AF65-F5344CB8AC3E}">
        <p14:creationId xmlns:p14="http://schemas.microsoft.com/office/powerpoint/2010/main" val="39988377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Hard to do complete census in any situation, mostly in we are doing sampling!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E978F0-3449-4AB0-892E-AB3EBC289124}" type="slidenum">
              <a:rPr lang="nb-NO" smtClean="0"/>
              <a:t>4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7709884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5E07DC-9C77-9140-9F21-906444E46D9E}" type="slidenum">
              <a:rPr lang="en-NO" smtClean="0"/>
              <a:t>7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33397116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NO" dirty="0"/>
              <a:t>Parallel history in CMR (population estimation)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80E13EE-9C6F-4A69-973C-94AD4CE30238}" type="slidenum">
              <a:rPr lang="nb-NO" smtClean="0"/>
              <a:pPr>
                <a:defRPr/>
              </a:pPr>
              <a:t>8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1876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80E13EE-9C6F-4A69-973C-94AD4CE30238}" type="slidenum">
              <a:rPr lang="nb-NO" smtClean="0"/>
              <a:pPr>
                <a:defRPr/>
              </a:pPr>
              <a:t>9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2784820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9E694-9EAD-AFBB-F3F6-CC93D32EB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BC8E74-75B9-CE62-FBD8-E9C7122A6F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69D5BB-4987-6F6D-0A3D-C5B5903716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F2050-87B5-C731-BF3A-A1CE3BA202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80E13EE-9C6F-4A69-973C-94AD4CE30238}" type="slidenum">
              <a:rPr lang="nb-NO" smtClean="0"/>
              <a:pPr>
                <a:defRPr/>
              </a:pPr>
              <a:t>10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7476760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26FFC-3EAF-1F7D-D31C-2750A7081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B52B8B-78CA-163E-CCE4-4896CAC11E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136902-E81A-19EB-2D1E-754CC6C3CA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B29B70-4554-1702-AADF-B5356FC18D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80E13EE-9C6F-4A69-973C-94AD4CE30238}" type="slidenum">
              <a:rPr lang="nb-NO" smtClean="0"/>
              <a:pPr>
                <a:defRPr/>
              </a:pPr>
              <a:t>11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1546543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98068-63BB-CF4D-70E6-26E1CE316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3145E1-BC25-B672-469C-65FA0E6755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115269-4E36-090E-C108-AC01DE83C0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2/10=10/x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7AEF3D-4219-8B8F-FB44-879CCDCE28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80E13EE-9C6F-4A69-973C-94AD4CE30238}" type="slidenum">
              <a:rPr lang="nb-NO" smtClean="0"/>
              <a:pPr>
                <a:defRPr/>
              </a:pPr>
              <a:t>12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556141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80E13EE-9C6F-4A69-973C-94AD4CE30238}" type="slidenum">
              <a:rPr lang="nb-NO" smtClean="0"/>
              <a:pPr>
                <a:defRPr/>
              </a:pPr>
              <a:t>13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9870170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https://</a:t>
            </a:r>
            <a:r>
              <a:rPr lang="en-GB" dirty="0" err="1"/>
              <a:t>rss.onlinelibrary.wiley.com</a:t>
            </a:r>
            <a:r>
              <a:rPr lang="en-GB" dirty="0"/>
              <a:t>/</a:t>
            </a:r>
            <a:r>
              <a:rPr lang="en-GB" dirty="0" err="1"/>
              <a:t>doi</a:t>
            </a:r>
            <a:r>
              <a:rPr lang="en-GB" dirty="0"/>
              <a:t>/pdf/10.1111/j.1740-9713.2014.00754.x Laplace estimates population of France in 1783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80E13EE-9C6F-4A69-973C-94AD4CE30238}" type="slidenum">
              <a:rPr lang="nb-NO" smtClean="0"/>
              <a:pPr>
                <a:defRPr/>
              </a:pPr>
              <a:t>14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2784820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50DFF-6F41-4895-E483-3C43E0ADC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817D2E-6712-3462-5217-9145A50CD5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EEB254-4C87-3D84-4551-7BC917D6D8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https://</a:t>
            </a:r>
            <a:r>
              <a:rPr lang="en-GB" dirty="0" err="1"/>
              <a:t>rss.onlinelibrary.wiley.com</a:t>
            </a:r>
            <a:r>
              <a:rPr lang="en-GB" dirty="0"/>
              <a:t>/</a:t>
            </a:r>
            <a:r>
              <a:rPr lang="en-GB" dirty="0" err="1"/>
              <a:t>doi</a:t>
            </a:r>
            <a:r>
              <a:rPr lang="en-GB" dirty="0"/>
              <a:t>/pdf/10.1111/j.1740-9713.2014.00754.x Laplace estimates population of France in 1783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0893C3-F4CB-669C-441A-762209E577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80E13EE-9C6F-4A69-973C-94AD4CE30238}" type="slidenum">
              <a:rPr lang="nb-NO" smtClean="0"/>
              <a:pPr>
                <a:defRPr/>
              </a:pPr>
              <a:t>15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6662463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9E5AAC-A109-3940-B021-2778AC43C4CC}" type="slidenum">
              <a:rPr lang="en-NO" smtClean="0"/>
              <a:t>16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5648539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D459E-454B-A9D9-3EA0-6F1AD58A9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3A7173-B976-04CA-BE9C-D8212FE6A8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292B9B-B9CA-47CB-FECE-2889AAF409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DEEA28-B6FD-2CCC-74DA-E1AAAB7E79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9E5AAC-A109-3940-B021-2778AC43C4CC}" type="slidenum">
              <a:rPr lang="en-NO" smtClean="0"/>
              <a:t>17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4973838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00C63-7807-CBF7-08E9-6EAE76682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357626-28FA-0747-8978-31528D0E29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D9833D-9B0A-75B6-FDB8-F400478C98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56DFAB-C5F3-5A42-AAF2-F430679F29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9E5AAC-A109-3940-B021-2778AC43C4CC}" type="slidenum">
              <a:rPr lang="en-NO" smtClean="0"/>
              <a:t>18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33163482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50C35-561B-BEBA-D098-44C0C4288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808060-F975-AECF-D61B-4109C1FDB8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4FB276-503A-7F36-D38B-6663899269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4B8ADC-AEAB-C0D4-133C-8B5A6A7868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9E5AAC-A109-3940-B021-2778AC43C4CC}" type="slidenum">
              <a:rPr lang="en-NO" smtClean="0"/>
              <a:t>19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30682180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00A07-3FB1-25BD-7D9E-4E1FB3559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991D75-4C92-EA5D-82B9-7F6D519B4B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0802AE-1671-68B1-853E-ADC0694366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D8EB52-1897-F0E0-C4E4-EC51C2C9EA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9E5AAC-A109-3940-B021-2778AC43C4CC}" type="slidenum">
              <a:rPr lang="en-NO" smtClean="0"/>
              <a:t>20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8710729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B04FA-9502-F5FE-C463-D39694C65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6781F0-D1F3-11E9-09AB-EA819B5E89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7C7162-CC75-1F23-3088-8F122BA02F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6ABB0E-6C05-D01B-500C-B6691416DB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9E5AAC-A109-3940-B021-2778AC43C4CC}" type="slidenum">
              <a:rPr lang="en-NO" smtClean="0"/>
              <a:t>21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39253711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9BF7C-B91A-3CF9-7FB1-83391D12A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8F9612-7CD7-F97B-F06E-69F8F5BAAB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C564E3-27CA-5057-F2F6-893E247F96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5D5906-273D-E9CA-F727-1BF03D002D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9E5AAC-A109-3940-B021-2778AC43C4CC}" type="slidenum">
              <a:rPr lang="en-NO" smtClean="0"/>
              <a:t>22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8671133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Global sampling</a:t>
            </a:r>
          </a:p>
          <a:p>
            <a:r>
              <a:rPr lang="en-US" noProof="0" dirty="0"/>
              <a:t>Some relative homogenous clade we are interested in</a:t>
            </a:r>
          </a:p>
          <a:p>
            <a:r>
              <a:rPr lang="en-US" noProof="0" dirty="0"/>
              <a:t>Time intervals are well-defined (we know the ranges and let’s say for now that they are equal)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80E13EE-9C6F-4A69-973C-94AD4CE30238}" type="slidenum">
              <a:rPr lang="nb-NO" smtClean="0"/>
              <a:pPr>
                <a:defRPr/>
              </a:pPr>
              <a:t>23</a:t>
            </a:fld>
            <a:endParaRPr lang="nb-NO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A5754CD-DA05-437D-8043-4AD327FF69F0}" type="slidenum">
              <a:rPr lang="nb-NO" smtClean="0"/>
              <a:pPr>
                <a:defRPr/>
              </a:pPr>
              <a:t>24</a:t>
            </a:fld>
            <a:endParaRPr lang="nb-NO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nb-NO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47620" indent="-247620">
              <a:buAutoNum type="arabicParenR"/>
            </a:pPr>
            <a:r>
              <a:rPr lang="en-US" noProof="0" dirty="0"/>
              <a:t>Condition</a:t>
            </a:r>
            <a:r>
              <a:rPr lang="en-US" baseline="0" noProof="0" dirty="0"/>
              <a:t> on those that are both sampled before and after time interval 6</a:t>
            </a:r>
          </a:p>
          <a:p>
            <a:pPr marL="247620" indent="-247620">
              <a:buAutoNum type="arabicParenR"/>
            </a:pPr>
            <a:r>
              <a:rPr lang="en-US" baseline="0" noProof="0" dirty="0"/>
              <a:t>Count up ones</a:t>
            </a:r>
          </a:p>
          <a:p>
            <a:pPr marL="247620" indent="-247620">
              <a:buAutoNum type="arabicParenR"/>
            </a:pPr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80E13EE-9C6F-4A69-973C-94AD4CE30238}" type="slidenum">
              <a:rPr lang="nb-NO" smtClean="0"/>
              <a:pPr>
                <a:defRPr/>
              </a:pPr>
              <a:t>25</a:t>
            </a:fld>
            <a:endParaRPr lang="nb-NO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80E13EE-9C6F-4A69-973C-94AD4CE30238}" type="slidenum">
              <a:rPr lang="nb-NO" smtClean="0"/>
              <a:pPr>
                <a:defRPr/>
              </a:pPr>
              <a:t>26</a:t>
            </a:fld>
            <a:endParaRPr lang="nb-NO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04C99-A56A-5308-451F-5E1815380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EA17DA-1166-88EA-ABA2-2B7728A533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F68835-EF65-AFFB-03C8-122AAE81A5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67EB91-F9AC-DF2D-EFB0-56353CF04C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80E13EE-9C6F-4A69-973C-94AD4CE30238}" type="slidenum">
              <a:rPr lang="nb-NO" smtClean="0"/>
              <a:pPr>
                <a:defRPr/>
              </a:pPr>
              <a:t>27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76547738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Extinction from time interval 5 to 6 is the complement of those that didn’t die (remember a few slides</a:t>
            </a:r>
            <a:r>
              <a:rPr lang="en-US" baseline="0" noProof="0" dirty="0"/>
              <a:t> ago: zeros are not reliable, only ones are!)</a:t>
            </a:r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80E13EE-9C6F-4A69-973C-94AD4CE30238}" type="slidenum">
              <a:rPr lang="nb-NO" smtClean="0"/>
              <a:pPr>
                <a:defRPr/>
              </a:pPr>
              <a:t>28</a:t>
            </a:fld>
            <a:endParaRPr lang="nb-NO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Extinction from time interval 5 to 6 is the complement of those that didn’t die (remember a few slides</a:t>
            </a:r>
            <a:r>
              <a:rPr lang="en-US" baseline="0" noProof="0" dirty="0"/>
              <a:t> ago: zeros are not reliable, only ones are!)</a:t>
            </a:r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80E13EE-9C6F-4A69-973C-94AD4CE30238}" type="slidenum">
              <a:rPr lang="nb-NO" smtClean="0"/>
              <a:pPr>
                <a:defRPr/>
              </a:pPr>
              <a:t>29</a:t>
            </a:fld>
            <a:endParaRPr lang="nb-NO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Extinction from time interval 5 to 6 is the complement of those that didn’t die (remember a few slides</a:t>
            </a:r>
            <a:r>
              <a:rPr lang="en-US" baseline="0" noProof="0" dirty="0"/>
              <a:t> ago: zeros are not reliable, only ones are!)</a:t>
            </a:r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80E13EE-9C6F-4A69-973C-94AD4CE30238}" type="slidenum">
              <a:rPr lang="nb-NO" smtClean="0"/>
              <a:pPr>
                <a:defRPr/>
              </a:pPr>
              <a:t>30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2451957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B0F13-14C4-649F-AB9B-2FC9E7C71F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D041D3-1415-9554-A8EF-05CC10C88F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A7640F-8DF9-B957-8E0C-A7765E556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EA413-1C03-A04D-88FB-E061BF360584}" type="datetimeFigureOut">
              <a:rPr lang="en-NO" smtClean="0"/>
              <a:t>02/09/2026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9FA35-CAEC-A986-88E8-393F4F8C2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985D70-2959-605E-6E1B-87655E624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50C50-FC8C-904F-B3A1-1EFEC8C9608B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57043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3B0A4-3D5D-DB5B-50A0-4009DD125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CE5E9-E506-C844-4FF1-B81B7CB1B9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04AFCD-4A1A-35C0-8E12-01FCEE350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EA413-1C03-A04D-88FB-E061BF360584}" type="datetimeFigureOut">
              <a:rPr lang="en-NO" smtClean="0"/>
              <a:t>02/09/2026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3FAE37-B32B-DB64-4FA7-C116F5EF2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7191DF-79F5-8EA6-2F99-6FE8681B9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50C50-FC8C-904F-B3A1-1EFEC8C9608B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4164624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8CAFC-2311-566D-AF5F-3DF434069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C28252-3A4F-77D2-818B-8D42F3F2B1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E2FDFD-C719-B757-3C83-485690B40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EA413-1C03-A04D-88FB-E061BF360584}" type="datetimeFigureOut">
              <a:rPr lang="en-NO" smtClean="0"/>
              <a:t>02/09/2026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B22436-4433-82F9-9322-6602A3BC3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4F1096-498F-6850-7313-110277B7E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50C50-FC8C-904F-B3A1-1EFEC8C9608B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846477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14230-0DC9-4FA3-97F2-DD8937DBB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29590-3FA6-7584-4702-FE2AFAA9A3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A6070F-490B-6F0F-BB16-581B8BD997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CCB88C-99EE-A7E3-92DE-4BF5B5BF1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EA413-1C03-A04D-88FB-E061BF360584}" type="datetimeFigureOut">
              <a:rPr lang="en-NO" smtClean="0"/>
              <a:t>02/09/2026</a:t>
            </a:fld>
            <a:endParaRPr lang="en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A80821-3C20-97DD-79A0-29D8ADA77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DDFB8C-0293-B415-30CA-30C1F49F2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50C50-FC8C-904F-B3A1-1EFEC8C9608B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965124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ACA41-233A-D5B2-CBD3-748826015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E1856-A368-4A1C-04DC-81F9D00B94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918CE-5A8A-40A4-0A99-AD209B28EB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5CF13F-8B62-D4BD-D85C-96445E3714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52FE94-D786-3DAD-CBC9-DC974B12FC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8E4512-36F5-10C2-D285-69FF650E6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EA413-1C03-A04D-88FB-E061BF360584}" type="datetimeFigureOut">
              <a:rPr lang="en-NO" smtClean="0"/>
              <a:t>02/09/2026</a:t>
            </a:fld>
            <a:endParaRPr lang="en-N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417488-7AF5-0623-365D-11CCA505D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885501-C271-C833-7844-C2B6DDF46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50C50-FC8C-904F-B3A1-1EFEC8C9608B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768296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795F3-E6B5-D8EF-BF4C-918D7352B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1EAA39-CDA6-5AD0-5FF0-9B109DFC3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EA413-1C03-A04D-88FB-E061BF360584}" type="datetimeFigureOut">
              <a:rPr lang="en-NO" smtClean="0"/>
              <a:t>02/09/2026</a:t>
            </a:fld>
            <a:endParaRPr lang="en-N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DF3AB0-5D87-3F08-A2BB-04B01EB0F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A1ACB6-9BC1-9180-D999-A8954FBC3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50C50-FC8C-904F-B3A1-1EFEC8C9608B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3004324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AA8417-47C6-7C26-5F97-3AC58C5F4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EA413-1C03-A04D-88FB-E061BF360584}" type="datetimeFigureOut">
              <a:rPr lang="en-NO" smtClean="0"/>
              <a:t>02/09/2026</a:t>
            </a:fld>
            <a:endParaRPr lang="en-N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9922CB-AB9D-4841-8C19-19ACCCCE3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6F489C-D2EC-4792-B1B1-936DF637F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50C50-FC8C-904F-B3A1-1EFEC8C9608B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497073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12745-7EDE-9113-EB5C-BFE0FEB15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4E813-1E49-FDF2-D9E6-E6C9C87D9C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462C9B-B5FD-DF3F-C5D4-EE7DEAB9A6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B84680-CB0E-4772-15F8-CAE027D8E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EA413-1C03-A04D-88FB-E061BF360584}" type="datetimeFigureOut">
              <a:rPr lang="en-NO" smtClean="0"/>
              <a:t>02/09/2026</a:t>
            </a:fld>
            <a:endParaRPr lang="en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40D6D5-3D0C-3334-1C4B-4BBE4207F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5B63FF-D98E-8C95-00CA-F6650EBCC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50C50-FC8C-904F-B3A1-1EFEC8C9608B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398523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BBF8B-5F0E-1CB3-161D-6743ACFEF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A3DE74-957B-381B-DF87-826179B43C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DBDE23-C56A-90C1-CECE-42CDFFA503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FD311B-75AD-659F-4AC2-620EDE415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EA413-1C03-A04D-88FB-E061BF360584}" type="datetimeFigureOut">
              <a:rPr lang="en-NO" smtClean="0"/>
              <a:t>02/09/2026</a:t>
            </a:fld>
            <a:endParaRPr lang="en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6AF585-E55C-A466-B82D-1FE49644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DDBAF5-143A-A0BD-DD5B-24815EDB5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50C50-FC8C-904F-B3A1-1EFEC8C9608B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539528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8F432-E004-D1BB-A834-A1EADA420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5642C2-218E-F336-3196-6798A54F5D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FDBDC-76F5-52DD-BEF0-A427DD400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EA413-1C03-A04D-88FB-E061BF360584}" type="datetimeFigureOut">
              <a:rPr lang="en-NO" smtClean="0"/>
              <a:t>02/09/2026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D9F45-72BB-B80A-68F1-E4EF45E09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C2E841-DA94-E418-BD70-40D8AEB7F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50C50-FC8C-904F-B3A1-1EFEC8C9608B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755254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A89D0E-02E3-8A7C-8AAE-0A7A7A8D09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301A47-95CD-EC16-0851-52FDCA12B4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D36BC5-F929-7029-C294-26BFB2A82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EA413-1C03-A04D-88FB-E061BF360584}" type="datetimeFigureOut">
              <a:rPr lang="en-NO" smtClean="0"/>
              <a:t>02/09/2026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5C83A-5BBA-2AE8-AB5E-27BEE3979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2E83D0-B88A-1965-1AC3-C6F578201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50C50-FC8C-904F-B3A1-1EFEC8C9608B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4100185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el und vier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sz="quarter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>
          <a:xfrm>
            <a:off x="609600" y="1719264"/>
            <a:ext cx="5384800" cy="2128837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quarter" idx="2"/>
          </p:nvPr>
        </p:nvSpPr>
        <p:spPr>
          <a:xfrm>
            <a:off x="6197600" y="1719264"/>
            <a:ext cx="5384800" cy="2128837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3"/>
          </p:nvPr>
        </p:nvSpPr>
        <p:spPr>
          <a:xfrm>
            <a:off x="609600" y="4000501"/>
            <a:ext cx="5384800" cy="2130425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97600" y="4000501"/>
            <a:ext cx="5384800" cy="2130425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687EC9-73C7-499F-9F07-2A08BDC887A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43095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pPr lvl="0"/>
            <a:endParaRPr lang="nb-NO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FFE48EC-A6A8-4D41-BE57-A97B02D657F5}" type="slidenum">
              <a:rPr lang="nb-NO"/>
              <a:pPr>
                <a:defRPr/>
              </a:pPr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263555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2B9037-3663-7360-7183-B3707387F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57EF0-1DFB-083C-7630-A6F791203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6C402F-96A0-FEAD-6581-86CB09A9E4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EEA413-1C03-A04D-88FB-E061BF360584}" type="datetimeFigureOut">
              <a:rPr lang="en-NO" smtClean="0"/>
              <a:t>02/09/2026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3BB38D-ABAE-48BA-C8CF-0CF11DAAFA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A8EE3E-E8E2-B1C8-CC8C-77170DA5D2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C50C50-FC8C-904F-B3A1-1EFEC8C9608B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143207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3D632FA-1FC1-C75F-030E-1CB652C8B00D}"/>
              </a:ext>
            </a:extLst>
          </p:cNvPr>
          <p:cNvSpPr txBox="1">
            <a:spLocks/>
          </p:cNvSpPr>
          <p:nvPr/>
        </p:nvSpPr>
        <p:spPr>
          <a:xfrm>
            <a:off x="1524000" y="802746"/>
            <a:ext cx="9144000" cy="1690764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/>
              <a:t>Capture-mark-recapture approaches I</a:t>
            </a:r>
            <a:endParaRPr lang="en-GB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6130FA83-93A9-2B91-A7CD-CBEDC896D79B}"/>
              </a:ext>
            </a:extLst>
          </p:cNvPr>
          <p:cNvSpPr txBox="1">
            <a:spLocks/>
          </p:cNvSpPr>
          <p:nvPr/>
        </p:nvSpPr>
        <p:spPr>
          <a:xfrm>
            <a:off x="1524000" y="2650900"/>
            <a:ext cx="9144000" cy="4925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/>
              <a:t>Lee Hsiang Liow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2232C5B3-9F43-34D7-615B-1AA02F12B6F6}"/>
              </a:ext>
            </a:extLst>
          </p:cNvPr>
          <p:cNvSpPr txBox="1">
            <a:spLocks/>
          </p:cNvSpPr>
          <p:nvPr/>
        </p:nvSpPr>
        <p:spPr>
          <a:xfrm>
            <a:off x="1524000" y="3394348"/>
            <a:ext cx="9144000" cy="4925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NO" sz="1600" dirty="0"/>
              <a:t>Natural History Museum and Centre for Planetary Habitability, University of Oslo, Norway</a:t>
            </a:r>
          </a:p>
          <a:p>
            <a:endParaRPr lang="en-GB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46E800AC-9889-7223-5E3F-8161A3C32B1C}"/>
              </a:ext>
            </a:extLst>
          </p:cNvPr>
          <p:cNvSpPr txBox="1">
            <a:spLocks/>
          </p:cNvSpPr>
          <p:nvPr/>
        </p:nvSpPr>
        <p:spPr>
          <a:xfrm>
            <a:off x="4459264" y="4082732"/>
            <a:ext cx="3273469" cy="11358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400" dirty="0"/>
              <a:t>Analytical Paleobiology Workshop (</a:t>
            </a:r>
            <a:r>
              <a:rPr lang="en-GB" sz="1400" dirty="0" err="1"/>
              <a:t>Paleosynthesis</a:t>
            </a:r>
            <a:r>
              <a:rPr lang="en-GB" sz="1400" dirty="0"/>
              <a:t>, FAU, Erlangen)</a:t>
            </a:r>
          </a:p>
          <a:p>
            <a:pPr algn="ctr"/>
            <a:r>
              <a:rPr lang="en-GB" sz="1400" dirty="0"/>
              <a:t>2.9.2026 (Online lecture)</a:t>
            </a:r>
          </a:p>
        </p:txBody>
      </p:sp>
    </p:spTree>
    <p:extLst>
      <p:ext uri="{BB962C8B-B14F-4D97-AF65-F5344CB8AC3E}">
        <p14:creationId xmlns:p14="http://schemas.microsoft.com/office/powerpoint/2010/main" val="3910257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5CDD86B-4D33-6899-D541-1EB33C37AB46}"/>
              </a:ext>
            </a:extLst>
          </p:cNvPr>
          <p:cNvSpPr txBox="1"/>
          <p:nvPr/>
        </p:nvSpPr>
        <p:spPr>
          <a:xfrm>
            <a:off x="192881" y="119748"/>
            <a:ext cx="1019413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https://</a:t>
            </a:r>
            <a:r>
              <a:rPr lang="en-US" sz="1000" dirty="0" err="1"/>
              <a:t>www.penn.museum</a:t>
            </a:r>
            <a:r>
              <a:rPr lang="en-US" sz="1000" dirty="0"/>
              <a:t>/</a:t>
            </a:r>
            <a:r>
              <a:rPr lang="en-US" sz="1000" dirty="0" err="1"/>
              <a:t>img</a:t>
            </a:r>
            <a:r>
              <a:rPr lang="en-US" sz="1000" dirty="0"/>
              <a:t>/homepage/reskin/mind-</a:t>
            </a:r>
            <a:r>
              <a:rPr lang="en-US" sz="1000" dirty="0" err="1"/>
              <a:t>mood.jpg</a:t>
            </a:r>
            <a:endParaRPr lang="en-US" sz="100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4BC5774A-94B2-1196-07C7-CEA449F50B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8267" y="447973"/>
            <a:ext cx="9539287" cy="5962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1786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1981200" y="122238"/>
            <a:ext cx="7931150" cy="952500"/>
          </a:xfrm>
        </p:spPr>
        <p:txBody>
          <a:bodyPr/>
          <a:lstStyle/>
          <a:p>
            <a:pPr eaLnBrk="1" hangingPunct="1"/>
            <a:r>
              <a:rPr lang="en-US" altLang="de-DE"/>
              <a:t>Measuring Diversity Through Time</a:t>
            </a:r>
          </a:p>
        </p:txBody>
      </p:sp>
      <p:graphicFrame>
        <p:nvGraphicFramePr>
          <p:cNvPr id="18435" name="Object 3"/>
          <p:cNvGraphicFramePr>
            <a:graphicFrameLocks noChangeAspect="1"/>
          </p:cNvGraphicFramePr>
          <p:nvPr/>
        </p:nvGraphicFramePr>
        <p:xfrm>
          <a:off x="2855913" y="1412876"/>
          <a:ext cx="5688012" cy="404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3" imgW="6348984" imgH="4236720" progId="CorelDRAW.Graphic.13">
                  <p:embed/>
                </p:oleObj>
              </mc:Choice>
              <mc:Fallback>
                <p:oleObj name="CorelDRAW" r:id="rId3" imgW="6348984" imgH="4236720" progId="CorelDRAW.Graphic.13">
                  <p:embed/>
                  <p:pic>
                    <p:nvPicPr>
                      <p:cNvPr id="1843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913" y="1412876"/>
                        <a:ext cx="5688012" cy="4048125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2063751" y="5661026"/>
            <a:ext cx="73453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de-DE" sz="18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AE4C34-B6B6-26FA-3402-B4F7EB259E35}"/>
              </a:ext>
            </a:extLst>
          </p:cNvPr>
          <p:cNvSpPr txBox="1"/>
          <p:nvPr/>
        </p:nvSpPr>
        <p:spPr>
          <a:xfrm>
            <a:off x="1149178" y="5661026"/>
            <a:ext cx="4492897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/>
              <a:t>How many taxa in each time bin?</a:t>
            </a:r>
          </a:p>
        </p:txBody>
      </p:sp>
    </p:spTree>
    <p:extLst>
      <p:ext uri="{BB962C8B-B14F-4D97-AF65-F5344CB8AC3E}">
        <p14:creationId xmlns:p14="http://schemas.microsoft.com/office/powerpoint/2010/main" val="981302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53755" y="389467"/>
            <a:ext cx="31165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Census and samples</a:t>
            </a:r>
          </a:p>
        </p:txBody>
      </p:sp>
      <p:pic>
        <p:nvPicPr>
          <p:cNvPr id="2056" name="Picture 8" descr="Coronavirus in Oslo: Information on travel and specific measures">
            <a:extLst>
              <a:ext uri="{FF2B5EF4-FFF2-40B4-BE49-F238E27FC236}">
                <a16:creationId xmlns:a16="http://schemas.microsoft.com/office/drawing/2014/main" id="{A05577D1-9037-C589-12DB-BE0F00CFD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23864"/>
            <a:ext cx="12192000" cy="60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B145646-967B-1F1E-09C5-37461E6F16F9}"/>
              </a:ext>
            </a:extLst>
          </p:cNvPr>
          <p:cNvSpPr txBox="1"/>
          <p:nvPr/>
        </p:nvSpPr>
        <p:spPr>
          <a:xfrm>
            <a:off x="6494708" y="912687"/>
            <a:ext cx="530542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dirty="0">
                <a:solidFill>
                  <a:srgbClr val="0070C0"/>
                </a:solidFill>
              </a:rPr>
              <a:t>Q What is the difference between a census and a sample?</a:t>
            </a:r>
          </a:p>
          <a:p>
            <a:endParaRPr lang="en-NO" dirty="0">
              <a:solidFill>
                <a:srgbClr val="0070C0"/>
              </a:solidFill>
            </a:endParaRPr>
          </a:p>
          <a:p>
            <a:r>
              <a:rPr lang="en-NO" dirty="0">
                <a:solidFill>
                  <a:srgbClr val="0070C0"/>
                </a:solidFill>
              </a:rPr>
              <a:t>Q Why not always do a census?</a:t>
            </a:r>
          </a:p>
          <a:p>
            <a:endParaRPr lang="en-NO" dirty="0">
              <a:solidFill>
                <a:srgbClr val="0070C0"/>
              </a:solidFill>
            </a:endParaRPr>
          </a:p>
          <a:p>
            <a:r>
              <a:rPr lang="en-NO" dirty="0">
                <a:solidFill>
                  <a:srgbClr val="0070C0"/>
                </a:solidFill>
              </a:rPr>
              <a:t>Q Why are the UN and SSB and 202334 numbers different?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6B69BF-F633-D9A1-8599-52AA322722EB}"/>
              </a:ext>
            </a:extLst>
          </p:cNvPr>
          <p:cNvSpPr txBox="1"/>
          <p:nvPr/>
        </p:nvSpPr>
        <p:spPr>
          <a:xfrm>
            <a:off x="0" y="0"/>
            <a:ext cx="42008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sz="2800" dirty="0"/>
              <a:t>CENSUS VERSUS SAMPLING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51EFDE-FBF6-7C70-6D58-2F14F38AA2FE}"/>
              </a:ext>
            </a:extLst>
          </p:cNvPr>
          <p:cNvSpPr txBox="1"/>
          <p:nvPr/>
        </p:nvSpPr>
        <p:spPr>
          <a:xfrm>
            <a:off x="914400" y="912687"/>
            <a:ext cx="526567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dirty="0"/>
              <a:t>1920 Census 2,649,775 persons in Norway</a:t>
            </a:r>
          </a:p>
          <a:p>
            <a:endParaRPr lang="en-NO" dirty="0"/>
          </a:p>
          <a:p>
            <a:r>
              <a:rPr lang="en-NO" dirty="0"/>
              <a:t>2022 </a:t>
            </a:r>
            <a:r>
              <a:rPr lang="en-GB" dirty="0"/>
              <a:t>UN estimates 5,434,319</a:t>
            </a:r>
          </a:p>
          <a:p>
            <a:r>
              <a:rPr lang="en-NO" dirty="0"/>
              <a:t>2022 </a:t>
            </a:r>
            <a:r>
              <a:rPr lang="en-GB" dirty="0"/>
              <a:t>SSB estimates </a:t>
            </a:r>
            <a:r>
              <a:rPr lang="en-NO" dirty="0"/>
              <a:t>5,435,536</a:t>
            </a:r>
          </a:p>
          <a:p>
            <a:r>
              <a:rPr lang="en-NO" dirty="0"/>
              <a:t>2024 (AI generated based on listed sources) 5,590,000</a:t>
            </a:r>
            <a:endParaRPr lang="en-GB" dirty="0"/>
          </a:p>
          <a:p>
            <a:endParaRPr lang="en-NO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BBD7DDB8-48F8-07FB-FE0D-CF9F8F7243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19064" y="0"/>
            <a:ext cx="672935" cy="357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3178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C98A06E-B29C-AFCC-B6B6-900372DBBC1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491" t="15833" r="53248" b="12594"/>
          <a:stretch/>
        </p:blipFill>
        <p:spPr>
          <a:xfrm>
            <a:off x="612389" y="784633"/>
            <a:ext cx="3459548" cy="52887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5FF0DAE-BD3D-C7BB-A748-CF7D89733BEF}"/>
              </a:ext>
            </a:extLst>
          </p:cNvPr>
          <p:cNvSpPr txBox="1"/>
          <p:nvPr/>
        </p:nvSpPr>
        <p:spPr>
          <a:xfrm>
            <a:off x="4434824" y="1544841"/>
            <a:ext cx="77919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04800" indent="-304800"/>
            <a:r>
              <a:rPr lang="en-GB" dirty="0" err="1">
                <a:effectLst/>
              </a:rPr>
              <a:t>Raup</a:t>
            </a:r>
            <a:r>
              <a:rPr lang="en-GB" dirty="0"/>
              <a:t> </a:t>
            </a:r>
            <a:r>
              <a:rPr lang="en-GB" dirty="0">
                <a:effectLst/>
              </a:rPr>
              <a:t>1972: Taxonomic diversity during the Phanerozoic</a:t>
            </a:r>
            <a:r>
              <a:rPr lang="en-GB" i="1" dirty="0">
                <a:effectLst/>
              </a:rPr>
              <a:t>. Science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86E510-1BFD-F324-3320-3C88CC8A264D}"/>
              </a:ext>
            </a:extLst>
          </p:cNvPr>
          <p:cNvSpPr txBox="1"/>
          <p:nvPr/>
        </p:nvSpPr>
        <p:spPr>
          <a:xfrm>
            <a:off x="4614863" y="2443163"/>
            <a:ext cx="743190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GB" dirty="0"/>
              <a:t>“systematic biases exist in the raw data ….. actual diversity picture may be </a:t>
            </a:r>
          </a:p>
          <a:p>
            <a:r>
              <a:rPr lang="en-GB" dirty="0"/>
              <a:t>quite different from that afforded by a direct reading of the raw data.”</a:t>
            </a:r>
          </a:p>
          <a:p>
            <a:endParaRPr lang="en-GB" dirty="0"/>
          </a:p>
          <a:p>
            <a:pPr marL="285750" indent="-285750">
              <a:buFontTx/>
              <a:buChar char="-"/>
            </a:pPr>
            <a:r>
              <a:rPr lang="en-GB" dirty="0"/>
              <a:t>“﻿In spite of the fact that the patterns ﻿in Fig. 1 are correlated, a</a:t>
            </a:r>
          </a:p>
          <a:p>
            <a:r>
              <a:rPr lang="en-GB" dirty="0"/>
              <a:t>a causal relationship ﻿is by no means demonstrated.”</a:t>
            </a:r>
            <a:endParaRPr lang="en-NO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CD039F-F451-A2CC-15F2-E988FC7DE9F5}"/>
              </a:ext>
            </a:extLst>
          </p:cNvPr>
          <p:cNvSpPr txBox="1"/>
          <p:nvPr/>
        </p:nvSpPr>
        <p:spPr>
          <a:xfrm>
            <a:off x="0" y="0"/>
            <a:ext cx="51488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sz="2800" dirty="0"/>
              <a:t>SAMPLING IN THE FOSSIL RECORD</a:t>
            </a:r>
          </a:p>
        </p:txBody>
      </p:sp>
    </p:spTree>
    <p:extLst>
      <p:ext uri="{BB962C8B-B14F-4D97-AF65-F5344CB8AC3E}">
        <p14:creationId xmlns:p14="http://schemas.microsoft.com/office/powerpoint/2010/main" val="2822140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A8A4DB6-28C6-4ADB-5C22-DDEC24BDC185}"/>
              </a:ext>
            </a:extLst>
          </p:cNvPr>
          <p:cNvSpPr txBox="1"/>
          <p:nvPr/>
        </p:nvSpPr>
        <p:spPr>
          <a:xfrm>
            <a:off x="0" y="0"/>
            <a:ext cx="68706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sz="2800" dirty="0"/>
              <a:t>Some sampling gaps are not recoverable, ever</a:t>
            </a:r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1EF5FDE9-43F1-6BD1-0596-FE96163BA3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6312" y="808298"/>
            <a:ext cx="7862106" cy="5241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70F2286-3129-15DC-2597-E90021696815}"/>
              </a:ext>
            </a:extLst>
          </p:cNvPr>
          <p:cNvSpPr txBox="1"/>
          <p:nvPr/>
        </p:nvSpPr>
        <p:spPr>
          <a:xfrm>
            <a:off x="6959581" y="6396441"/>
            <a:ext cx="6156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en.wikipedia.org</a:t>
            </a:r>
            <a:r>
              <a:rPr lang="en-US" dirty="0"/>
              <a:t>/wiki/</a:t>
            </a:r>
            <a:r>
              <a:rPr lang="en-US" dirty="0" err="1"/>
              <a:t>Great_Unconformity</a:t>
            </a:r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0062BCB-21AE-16BD-E78D-D258FB1AFBFE}"/>
              </a:ext>
            </a:extLst>
          </p:cNvPr>
          <p:cNvCxnSpPr/>
          <p:nvPr/>
        </p:nvCxnSpPr>
        <p:spPr>
          <a:xfrm flipH="1">
            <a:off x="10284031" y="3429000"/>
            <a:ext cx="819398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D3CB2EF-4649-29A1-F466-98BF904FA2D5}"/>
              </a:ext>
            </a:extLst>
          </p:cNvPr>
          <p:cNvSpPr txBox="1"/>
          <p:nvPr/>
        </p:nvSpPr>
        <p:spPr>
          <a:xfrm>
            <a:off x="10216199" y="3775740"/>
            <a:ext cx="1806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175 million years</a:t>
            </a:r>
          </a:p>
        </p:txBody>
      </p:sp>
    </p:spTree>
    <p:extLst>
      <p:ext uri="{BB962C8B-B14F-4D97-AF65-F5344CB8AC3E}">
        <p14:creationId xmlns:p14="http://schemas.microsoft.com/office/powerpoint/2010/main" val="1607039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A brown rat sniffs leftovers on a plate in the kitchen">
            <a:extLst>
              <a:ext uri="{FF2B5EF4-FFF2-40B4-BE49-F238E27FC236}">
                <a16:creationId xmlns:a16="http://schemas.microsoft.com/office/drawing/2014/main" id="{90164C55-3B07-CCC4-08CE-BC9A726ECE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000" y="572410"/>
            <a:ext cx="8736013" cy="5815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D6B14AA-0446-D30D-59E4-28ED02F947B0}"/>
              </a:ext>
            </a:extLst>
          </p:cNvPr>
          <p:cNvSpPr txBox="1"/>
          <p:nvPr/>
        </p:nvSpPr>
        <p:spPr>
          <a:xfrm>
            <a:off x="0" y="0"/>
            <a:ext cx="51187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sz="2800" dirty="0"/>
              <a:t>SWTICHING GEARS TO RATS/MICE</a:t>
            </a:r>
          </a:p>
        </p:txBody>
      </p:sp>
    </p:spTree>
    <p:extLst>
      <p:ext uri="{BB962C8B-B14F-4D97-AF65-F5344CB8AC3E}">
        <p14:creationId xmlns:p14="http://schemas.microsoft.com/office/powerpoint/2010/main" val="2278505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330" name="Picture 2" descr="http://imgc.allpostersimages.com/images/P-473-488-90/60/6005/OAFB100Z/posters/mike-twohy-careful-it-might-be-a-trap--new-yorker-cartoo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1192" y="1258883"/>
            <a:ext cx="5986648" cy="449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775520" y="476672"/>
            <a:ext cx="559819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caught 10 rats</a:t>
            </a:r>
          </a:p>
          <a:p>
            <a:r>
              <a:rPr lang="en-US" sz="2400" dirty="0"/>
              <a:t>How many rats are there in the apartment?</a:t>
            </a:r>
          </a:p>
          <a:p>
            <a:endParaRPr lang="en-US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922E3B-DBB2-6310-E5E2-5708190C6EB4}"/>
              </a:ext>
            </a:extLst>
          </p:cNvPr>
          <p:cNvSpPr txBox="1"/>
          <p:nvPr/>
        </p:nvSpPr>
        <p:spPr>
          <a:xfrm>
            <a:off x="0" y="0"/>
            <a:ext cx="51187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sz="2800" dirty="0"/>
              <a:t>SWTICHING GEARS TO RATS/MICE</a:t>
            </a:r>
          </a:p>
        </p:txBody>
      </p:sp>
    </p:spTree>
    <p:extLst>
      <p:ext uri="{BB962C8B-B14F-4D97-AF65-F5344CB8AC3E}">
        <p14:creationId xmlns:p14="http://schemas.microsoft.com/office/powerpoint/2010/main" val="31485144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330" name="Picture 2" descr="http://imgc.allpostersimages.com/images/P-473-488-90/60/6005/OAFB100Z/posters/mike-twohy-careful-it-might-be-a-trap--new-yorker-cartoo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1192" y="1258883"/>
            <a:ext cx="5986648" cy="449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775520" y="476672"/>
            <a:ext cx="832586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Day 1: caught 10 rats, put tags on them</a:t>
            </a:r>
          </a:p>
          <a:p>
            <a:r>
              <a:rPr lang="en-US" sz="2400" dirty="0"/>
              <a:t>Day 2: caught rats in the same place. 2 had your tags, but 8 didn’t</a:t>
            </a:r>
          </a:p>
          <a:p>
            <a:endParaRPr lang="en-US" sz="2400" dirty="0"/>
          </a:p>
          <a:p>
            <a:r>
              <a:rPr lang="en-US" sz="2400" dirty="0"/>
              <a:t>What is the capture probability?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2D033D-0344-C0B8-DE33-E6720B4ACB3B}"/>
              </a:ext>
            </a:extLst>
          </p:cNvPr>
          <p:cNvSpPr txBox="1"/>
          <p:nvPr/>
        </p:nvSpPr>
        <p:spPr>
          <a:xfrm>
            <a:off x="0" y="0"/>
            <a:ext cx="78912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sz="2800" dirty="0"/>
              <a:t>THE ESSENCE OF CAPTURE RECAPTURE APPROACHES</a:t>
            </a:r>
          </a:p>
        </p:txBody>
      </p:sp>
    </p:spTree>
    <p:extLst>
      <p:ext uri="{BB962C8B-B14F-4D97-AF65-F5344CB8AC3E}">
        <p14:creationId xmlns:p14="http://schemas.microsoft.com/office/powerpoint/2010/main" val="19293084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53078-2971-6F5E-EDE8-5BC212029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330" name="Picture 2" descr="http://imgc.allpostersimages.com/images/P-473-488-90/60/6005/OAFB100Z/posters/mike-twohy-careful-it-might-be-a-trap--new-yorker-cartoon.jpg">
            <a:extLst>
              <a:ext uri="{FF2B5EF4-FFF2-40B4-BE49-F238E27FC236}">
                <a16:creationId xmlns:a16="http://schemas.microsoft.com/office/drawing/2014/main" id="{2A274FFB-FD29-79C2-2BD4-7855DD4A2E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1192" y="1258883"/>
            <a:ext cx="5986648" cy="449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F9EF093-3FC1-1686-5456-FBABDBA9708F}"/>
              </a:ext>
            </a:extLst>
          </p:cNvPr>
          <p:cNvSpPr txBox="1"/>
          <p:nvPr/>
        </p:nvSpPr>
        <p:spPr>
          <a:xfrm>
            <a:off x="1775520" y="476672"/>
            <a:ext cx="832586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Day 1: caught 10 rats, put tags on them</a:t>
            </a:r>
          </a:p>
          <a:p>
            <a:r>
              <a:rPr lang="en-US" sz="2400" dirty="0"/>
              <a:t>Day 2: caught rats in the same place. 2 had your tags, but 8 didn’t</a:t>
            </a:r>
          </a:p>
          <a:p>
            <a:endParaRPr lang="en-US" sz="2400" dirty="0"/>
          </a:p>
          <a:p>
            <a:r>
              <a:rPr lang="en-US" sz="2400" dirty="0"/>
              <a:t>What is the capture probability?</a:t>
            </a:r>
          </a:p>
          <a:p>
            <a:r>
              <a:rPr lang="en-US" sz="2400" dirty="0"/>
              <a:t>2/10=0.2</a:t>
            </a:r>
          </a:p>
          <a:p>
            <a:r>
              <a:rPr lang="en-US" sz="2400" dirty="0"/>
              <a:t>How many rats are there in that “place?”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F381F1-BD4F-00B8-B589-BCFD926B4691}"/>
              </a:ext>
            </a:extLst>
          </p:cNvPr>
          <p:cNvSpPr txBox="1"/>
          <p:nvPr/>
        </p:nvSpPr>
        <p:spPr>
          <a:xfrm>
            <a:off x="0" y="0"/>
            <a:ext cx="78912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sz="2800" dirty="0"/>
              <a:t>THE ESSENCE OF CAPTURE RECAPTURE APPROACHES</a:t>
            </a:r>
          </a:p>
        </p:txBody>
      </p:sp>
    </p:spTree>
    <p:extLst>
      <p:ext uri="{BB962C8B-B14F-4D97-AF65-F5344CB8AC3E}">
        <p14:creationId xmlns:p14="http://schemas.microsoft.com/office/powerpoint/2010/main" val="20346040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8D504-C817-CCE7-1CFF-4DB7D5A6A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330" name="Picture 2" descr="http://imgc.allpostersimages.com/images/P-473-488-90/60/6005/OAFB100Z/posters/mike-twohy-careful-it-might-be-a-trap--new-yorker-cartoon.jpg">
            <a:extLst>
              <a:ext uri="{FF2B5EF4-FFF2-40B4-BE49-F238E27FC236}">
                <a16:creationId xmlns:a16="http://schemas.microsoft.com/office/drawing/2014/main" id="{2FA3FCAF-D56E-3F48-8DB3-C894DEEEEC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1192" y="1258883"/>
            <a:ext cx="5986648" cy="449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3F63575-2BEB-A938-E609-6554C6E4F101}"/>
              </a:ext>
            </a:extLst>
          </p:cNvPr>
          <p:cNvSpPr txBox="1"/>
          <p:nvPr/>
        </p:nvSpPr>
        <p:spPr>
          <a:xfrm>
            <a:off x="1775520" y="476672"/>
            <a:ext cx="832586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Day 1: caught 10 rats, put tags on them</a:t>
            </a:r>
          </a:p>
          <a:p>
            <a:r>
              <a:rPr lang="en-US" sz="2400" dirty="0"/>
              <a:t>Day 2: caught rats in the same place. 2 had your tags, but 8 didn’t</a:t>
            </a:r>
          </a:p>
          <a:p>
            <a:endParaRPr lang="en-US" sz="2400" dirty="0"/>
          </a:p>
          <a:p>
            <a:r>
              <a:rPr lang="en-US" sz="2400" dirty="0"/>
              <a:t>What is the capture probability?</a:t>
            </a:r>
          </a:p>
          <a:p>
            <a:r>
              <a:rPr lang="en-US" sz="2400" dirty="0"/>
              <a:t>2/10=0.2</a:t>
            </a:r>
          </a:p>
          <a:p>
            <a:r>
              <a:rPr lang="en-US" sz="2400" dirty="0"/>
              <a:t>How many rats are there in that “place?”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8D6F946-175B-24F1-BF8A-D9FFE34C229C}"/>
                  </a:ext>
                </a:extLst>
              </p:cNvPr>
              <p:cNvSpPr txBox="1"/>
              <p:nvPr/>
            </p:nvSpPr>
            <p:spPr>
              <a:xfrm>
                <a:off x="1114424" y="4900613"/>
                <a:ext cx="6663041" cy="8514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nb-NO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nb-NO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𝒎𝒂𝒓𝒌𝒆𝒅</m:t>
                          </m:r>
                          <m:r>
                            <a:rPr lang="nb-NO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nb-NO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𝑫𝒂𝒚</m:t>
                          </m:r>
                          <m:r>
                            <a:rPr lang="nb-NO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nb-NO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𝟐</m:t>
                          </m:r>
                        </m:num>
                        <m:den>
                          <m:r>
                            <a:rPr lang="nb-NO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𝒕𝒐𝒕𝒂𝒍</m:t>
                          </m:r>
                          <m:r>
                            <a:rPr lang="nb-NO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nb-NO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𝒇𝒐𝒓</m:t>
                          </m:r>
                          <m:r>
                            <a:rPr lang="nb-NO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nb-NO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𝑫𝒂𝒚</m:t>
                          </m:r>
                          <m:r>
                            <a:rPr lang="nb-NO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𝟐</m:t>
                          </m:r>
                        </m:den>
                      </m:f>
                      <m:r>
                        <a:rPr lang="nb-NO" sz="2400" b="1" i="1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nb-NO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nb-NO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𝒎𝒂𝒓𝒌𝒆𝒅</m:t>
                          </m:r>
                          <m:r>
                            <a:rPr lang="nb-NO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nb-NO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𝑫𝒂𝒚</m:t>
                          </m:r>
                          <m:r>
                            <a:rPr lang="nb-NO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𝟏</m:t>
                          </m:r>
                        </m:num>
                        <m:den>
                          <m:r>
                            <a:rPr lang="nb-NO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𝑬𝒔𝒕𝒊𝒎𝒂𝒕𝒆𝒅</m:t>
                          </m:r>
                          <m:r>
                            <a:rPr lang="nb-NO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nb-NO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𝑻𝒐𝒕𝒂𝒍</m:t>
                          </m:r>
                        </m:den>
                      </m:f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8D6F946-175B-24F1-BF8A-D9FFE34C22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4424" y="4900613"/>
                <a:ext cx="6663041" cy="851420"/>
              </a:xfrm>
              <a:prstGeom prst="rect">
                <a:avLst/>
              </a:prstGeom>
              <a:blipFill>
                <a:blip r:embed="rId4"/>
                <a:stretch>
                  <a:fillRect t="-1449" b="-115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59280880-5A46-9D87-48A2-BD40CB587C0A}"/>
              </a:ext>
            </a:extLst>
          </p:cNvPr>
          <p:cNvSpPr txBox="1"/>
          <p:nvPr/>
        </p:nvSpPr>
        <p:spPr>
          <a:xfrm>
            <a:off x="0" y="0"/>
            <a:ext cx="78912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sz="2800" dirty="0"/>
              <a:t>THE ESSENCE OF CAPTURE RECAPTURE APPROACHES</a:t>
            </a:r>
          </a:p>
        </p:txBody>
      </p:sp>
    </p:spTree>
    <p:extLst>
      <p:ext uri="{BB962C8B-B14F-4D97-AF65-F5344CB8AC3E}">
        <p14:creationId xmlns:p14="http://schemas.microsoft.com/office/powerpoint/2010/main" val="1832440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512D3-972B-2424-ED2F-D468D11A5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330" name="Picture 2" descr="http://imgc.allpostersimages.com/images/P-473-488-90/60/6005/OAFB100Z/posters/mike-twohy-careful-it-might-be-a-trap--new-yorker-cartoon.jpg">
            <a:extLst>
              <a:ext uri="{FF2B5EF4-FFF2-40B4-BE49-F238E27FC236}">
                <a16:creationId xmlns:a16="http://schemas.microsoft.com/office/drawing/2014/main" id="{97CAD079-3B11-4F3B-0832-D31F485CF9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1192" y="1258883"/>
            <a:ext cx="5986648" cy="449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197EDE6-DCBE-9455-DA10-BB735406BFAD}"/>
              </a:ext>
            </a:extLst>
          </p:cNvPr>
          <p:cNvSpPr txBox="1"/>
          <p:nvPr/>
        </p:nvSpPr>
        <p:spPr>
          <a:xfrm>
            <a:off x="1775520" y="476672"/>
            <a:ext cx="8325869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Day 1: caught 10 rats, put tags on them</a:t>
            </a:r>
          </a:p>
          <a:p>
            <a:r>
              <a:rPr lang="en-US" sz="2400" dirty="0"/>
              <a:t>Day 2: caught rats in the same place. 2 had your tags, but 8 didn’t</a:t>
            </a:r>
          </a:p>
          <a:p>
            <a:endParaRPr lang="en-US" sz="2400" dirty="0"/>
          </a:p>
          <a:p>
            <a:r>
              <a:rPr lang="en-US" sz="2400" dirty="0"/>
              <a:t>What is the capture probability?</a:t>
            </a:r>
          </a:p>
          <a:p>
            <a:r>
              <a:rPr lang="en-US" sz="2400" dirty="0"/>
              <a:t>2/10=0.2</a:t>
            </a:r>
          </a:p>
          <a:p>
            <a:r>
              <a:rPr lang="en-US" sz="2400" dirty="0"/>
              <a:t>How many rats are there in that “place?”</a:t>
            </a:r>
          </a:p>
          <a:p>
            <a:r>
              <a:rPr lang="en-US" sz="2400" dirty="0"/>
              <a:t>50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4C7EC5A-F053-03AA-B0D5-BCA9FF55BA12}"/>
                  </a:ext>
                </a:extLst>
              </p:cNvPr>
              <p:cNvSpPr txBox="1"/>
              <p:nvPr/>
            </p:nvSpPr>
            <p:spPr>
              <a:xfrm>
                <a:off x="1114424" y="4900613"/>
                <a:ext cx="6663041" cy="8514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nb-NO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nb-NO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𝒎𝒂𝒓𝒌𝒆𝒅</m:t>
                          </m:r>
                          <m:r>
                            <a:rPr lang="nb-NO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nb-NO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𝑫𝒂𝒚</m:t>
                          </m:r>
                          <m:r>
                            <a:rPr lang="nb-NO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nb-NO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𝟐</m:t>
                          </m:r>
                        </m:num>
                        <m:den>
                          <m:r>
                            <a:rPr lang="nb-NO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𝒕𝒐𝒕𝒂𝒍</m:t>
                          </m:r>
                          <m:r>
                            <a:rPr lang="nb-NO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nb-NO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𝒇𝒐𝒓</m:t>
                          </m:r>
                          <m:r>
                            <a:rPr lang="nb-NO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nb-NO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𝑫𝒂𝒚</m:t>
                          </m:r>
                          <m:r>
                            <a:rPr lang="nb-NO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𝟐</m:t>
                          </m:r>
                        </m:den>
                      </m:f>
                      <m:r>
                        <a:rPr lang="nb-NO" sz="2400" b="1" i="1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nb-NO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nb-NO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𝒎𝒂𝒓𝒌𝒆𝒅</m:t>
                          </m:r>
                          <m:r>
                            <a:rPr lang="nb-NO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nb-NO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𝑫𝒂𝒚</m:t>
                          </m:r>
                          <m:r>
                            <a:rPr lang="nb-NO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𝟏</m:t>
                          </m:r>
                        </m:num>
                        <m:den>
                          <m:r>
                            <a:rPr lang="nb-NO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𝑬𝒔𝒕𝒊𝒎𝒂𝒕𝒆𝒅</m:t>
                          </m:r>
                          <m:r>
                            <a:rPr lang="nb-NO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nb-NO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𝑻𝒐𝒕𝒂𝒍</m:t>
                          </m:r>
                        </m:den>
                      </m:f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4C7EC5A-F053-03AA-B0D5-BCA9FF55B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4424" y="4900613"/>
                <a:ext cx="6663041" cy="851420"/>
              </a:xfrm>
              <a:prstGeom prst="rect">
                <a:avLst/>
              </a:prstGeom>
              <a:blipFill>
                <a:blip r:embed="rId4"/>
                <a:stretch>
                  <a:fillRect t="-1449" b="-115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F609EA79-F836-E698-2A10-1F72D9DAE06B}"/>
              </a:ext>
            </a:extLst>
          </p:cNvPr>
          <p:cNvSpPr txBox="1"/>
          <p:nvPr/>
        </p:nvSpPr>
        <p:spPr>
          <a:xfrm>
            <a:off x="431086" y="6058162"/>
            <a:ext cx="100188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The </a:t>
            </a:r>
            <a:r>
              <a:rPr lang="en-GB" b="1" dirty="0"/>
              <a:t>Lincoln–Petersen method (</a:t>
            </a:r>
            <a:r>
              <a:rPr lang="en-GB" dirty="0"/>
              <a:t>Petersen–Lincoln index) </a:t>
            </a:r>
          </a:p>
          <a:p>
            <a:endParaRPr lang="en-NO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BB74F8-968F-C485-09A1-89D3A6AFC5A4}"/>
              </a:ext>
            </a:extLst>
          </p:cNvPr>
          <p:cNvSpPr txBox="1"/>
          <p:nvPr/>
        </p:nvSpPr>
        <p:spPr>
          <a:xfrm>
            <a:off x="0" y="0"/>
            <a:ext cx="78912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sz="2800" dirty="0"/>
              <a:t>THE ESSENCE OF CAPTURE RECAPTURE APPROACHES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BECCBC-CCF5-B0ED-E672-A928647DDF5A}"/>
              </a:ext>
            </a:extLst>
          </p:cNvPr>
          <p:cNvSpPr txBox="1"/>
          <p:nvPr/>
        </p:nvSpPr>
        <p:spPr>
          <a:xfrm>
            <a:off x="6096000" y="5939046"/>
            <a:ext cx="61632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Short fun read: Laplace estimates population of France in 1783 https://</a:t>
            </a:r>
            <a:r>
              <a:rPr lang="en-GB" dirty="0" err="1"/>
              <a:t>rss.onlinelibrary.wiley.com</a:t>
            </a:r>
            <a:r>
              <a:rPr lang="en-GB" dirty="0"/>
              <a:t>/</a:t>
            </a:r>
            <a:r>
              <a:rPr lang="en-GB" dirty="0" err="1"/>
              <a:t>doi</a:t>
            </a:r>
            <a:r>
              <a:rPr lang="en-GB" dirty="0"/>
              <a:t>/pdf/10.1111/j.1740-9713.2014.00754.x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54864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330" name="Picture 2" descr="http://imgc.allpostersimages.com/images/P-473-488-90/60/6005/OAFB100Z/posters/mike-twohy-careful-it-might-be-a-trap--new-yorker-cartoo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1192" y="1258883"/>
            <a:ext cx="5986648" cy="449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775520" y="476672"/>
            <a:ext cx="8325869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Day 1: caught 10 rats, put tags on them</a:t>
            </a:r>
          </a:p>
          <a:p>
            <a:r>
              <a:rPr lang="en-US" sz="2400" dirty="0"/>
              <a:t>Day 2: caught rats in the same place. 2 had your tags, but 8 didn’t</a:t>
            </a:r>
          </a:p>
          <a:p>
            <a:endParaRPr lang="en-US" sz="2400" dirty="0"/>
          </a:p>
          <a:p>
            <a:r>
              <a:rPr lang="en-US" sz="2400" dirty="0"/>
              <a:t>What is the capture probability?</a:t>
            </a:r>
          </a:p>
          <a:p>
            <a:r>
              <a:rPr lang="en-US" sz="2400" dirty="0"/>
              <a:t>2/10=0.2</a:t>
            </a:r>
          </a:p>
          <a:p>
            <a:r>
              <a:rPr lang="en-US" sz="2400" dirty="0"/>
              <a:t>How many rats are there in that “place?”</a:t>
            </a:r>
          </a:p>
          <a:p>
            <a:r>
              <a:rPr lang="en-US" sz="2400" dirty="0"/>
              <a:t>50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CFD96D-AFCD-3DC7-5F06-552D3582E39B}"/>
              </a:ext>
            </a:extLst>
          </p:cNvPr>
          <p:cNvSpPr txBox="1"/>
          <p:nvPr/>
        </p:nvSpPr>
        <p:spPr>
          <a:xfrm>
            <a:off x="1775520" y="5414451"/>
            <a:ext cx="5711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dirty="0">
                <a:solidFill>
                  <a:srgbClr val="0070C0"/>
                </a:solidFill>
              </a:rPr>
              <a:t>Q What are the assumptions here made in this approach?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76FAEF-13EF-1102-9FB5-C2FED3CE4AA0}"/>
              </a:ext>
            </a:extLst>
          </p:cNvPr>
          <p:cNvSpPr txBox="1"/>
          <p:nvPr/>
        </p:nvSpPr>
        <p:spPr>
          <a:xfrm>
            <a:off x="0" y="0"/>
            <a:ext cx="78912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sz="2800" dirty="0"/>
              <a:t>THE ESSENCE OF CAPTURE RECAPTURE APPROACHES</a:t>
            </a:r>
          </a:p>
        </p:txBody>
      </p:sp>
    </p:spTree>
    <p:extLst>
      <p:ext uri="{BB962C8B-B14F-4D97-AF65-F5344CB8AC3E}">
        <p14:creationId xmlns:p14="http://schemas.microsoft.com/office/powerpoint/2010/main" val="35315357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330" name="Picture 2" descr="http://imgc.allpostersimages.com/images/P-473-488-90/60/6005/OAFB100Z/posters/mike-twohy-careful-it-might-be-a-trap--new-yorker-cartoo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1192" y="1258883"/>
            <a:ext cx="5986648" cy="449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334AF26-32F8-A431-9542-DBE198BC62F0}"/>
              </a:ext>
            </a:extLst>
          </p:cNvPr>
          <p:cNvSpPr txBox="1"/>
          <p:nvPr/>
        </p:nvSpPr>
        <p:spPr>
          <a:xfrm>
            <a:off x="431086" y="6058162"/>
            <a:ext cx="100188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The </a:t>
            </a:r>
            <a:r>
              <a:rPr lang="en-GB" b="1" dirty="0"/>
              <a:t>Lincoln–Petersen method (</a:t>
            </a:r>
            <a:r>
              <a:rPr lang="en-GB" dirty="0"/>
              <a:t>Petersen–Lincoln index) </a:t>
            </a:r>
          </a:p>
          <a:p>
            <a:endParaRPr lang="en-NO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2D033D-0344-C0B8-DE33-E6720B4ACB3B}"/>
              </a:ext>
            </a:extLst>
          </p:cNvPr>
          <p:cNvSpPr txBox="1"/>
          <p:nvPr/>
        </p:nvSpPr>
        <p:spPr>
          <a:xfrm>
            <a:off x="0" y="0"/>
            <a:ext cx="78912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sz="2800" dirty="0"/>
              <a:t>THE ESSENCE OF CAPTURE RECAPTURE APPROACHES</a:t>
            </a:r>
          </a:p>
        </p:txBody>
      </p:sp>
    </p:spTree>
    <p:extLst>
      <p:ext uri="{BB962C8B-B14F-4D97-AF65-F5344CB8AC3E}">
        <p14:creationId xmlns:p14="http://schemas.microsoft.com/office/powerpoint/2010/main" val="33800443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3EBF7-4F1D-E714-48CD-BADE0CED6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F6C0A9-377E-F26E-6159-5E7C4EA0993F}"/>
              </a:ext>
            </a:extLst>
          </p:cNvPr>
          <p:cNvSpPr txBox="1"/>
          <p:nvPr/>
        </p:nvSpPr>
        <p:spPr>
          <a:xfrm>
            <a:off x="1550505" y="964243"/>
            <a:ext cx="9028625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Capture recapture approaches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Diversity / Richness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Survival (extinction)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Birth (origination or speciation)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Rate of population growth (diversification rate)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err="1"/>
              <a:t>Etc</a:t>
            </a: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Includes the observation process (data generating process)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480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A0FDF02-C48F-C585-056E-80549251B054}"/>
              </a:ext>
            </a:extLst>
          </p:cNvPr>
          <p:cNvSpPr txBox="1"/>
          <p:nvPr/>
        </p:nvSpPr>
        <p:spPr>
          <a:xfrm>
            <a:off x="196646" y="6308209"/>
            <a:ext cx="833775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http://</a:t>
            </a:r>
            <a:r>
              <a:rPr lang="en-US" sz="1000" dirty="0" err="1"/>
              <a:t>www.phidot.org</a:t>
            </a:r>
            <a:r>
              <a:rPr lang="en-US" sz="1000" dirty="0"/>
              <a:t>/software/mark/docs/book/pdf/chap1.pdf</a:t>
            </a: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D63CE28-C132-DE33-316B-6FDC0CC863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027" t="36782" r="32162" b="51017"/>
          <a:stretch>
            <a:fillRect/>
          </a:stretch>
        </p:blipFill>
        <p:spPr>
          <a:xfrm>
            <a:off x="3888473" y="404358"/>
            <a:ext cx="7413674" cy="168989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F5571A8-835E-A39D-0AAE-6A94C3BC22FA}"/>
              </a:ext>
            </a:extLst>
          </p:cNvPr>
          <p:cNvSpPr txBox="1"/>
          <p:nvPr/>
        </p:nvSpPr>
        <p:spPr>
          <a:xfrm>
            <a:off x="1589649" y="786946"/>
            <a:ext cx="300704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solidFill>
                  <a:srgbClr val="FF0000"/>
                </a:solidFill>
              </a:rPr>
              <a:t>Encounter history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F5F391-1ED4-33C2-3FF0-94CF9C98797A}"/>
              </a:ext>
            </a:extLst>
          </p:cNvPr>
          <p:cNvSpPr/>
          <p:nvPr/>
        </p:nvSpPr>
        <p:spPr>
          <a:xfrm>
            <a:off x="1195754" y="464234"/>
            <a:ext cx="9406597" cy="1630016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EA96EA-1E1F-F4E6-C536-20DDB5FAF007}"/>
              </a:ext>
            </a:extLst>
          </p:cNvPr>
          <p:cNvSpPr/>
          <p:nvPr/>
        </p:nvSpPr>
        <p:spPr>
          <a:xfrm>
            <a:off x="6274191" y="786946"/>
            <a:ext cx="506437" cy="276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AE35E1-B4A0-9232-C753-01E7083D518E}"/>
              </a:ext>
            </a:extLst>
          </p:cNvPr>
          <p:cNvSpPr/>
          <p:nvPr/>
        </p:nvSpPr>
        <p:spPr>
          <a:xfrm>
            <a:off x="8204909" y="856742"/>
            <a:ext cx="506437" cy="276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B16FC08-4495-B3C4-DCB4-753E27791317}"/>
              </a:ext>
            </a:extLst>
          </p:cNvPr>
          <p:cNvSpPr/>
          <p:nvPr/>
        </p:nvSpPr>
        <p:spPr>
          <a:xfrm>
            <a:off x="7342092" y="1648814"/>
            <a:ext cx="506437" cy="276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44389F-1E0A-5F25-051A-F984F97F8A4B}"/>
              </a:ext>
            </a:extLst>
          </p:cNvPr>
          <p:cNvSpPr/>
          <p:nvPr/>
        </p:nvSpPr>
        <p:spPr>
          <a:xfrm>
            <a:off x="9196682" y="1594533"/>
            <a:ext cx="506437" cy="276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85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3F74D-5225-9AB7-511B-65E3D656A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C80C662-1C7D-02F5-E1B1-2030F8833D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22597" t="44364" r="24209" b="29772"/>
          <a:stretch>
            <a:fillRect/>
          </a:stretch>
        </p:blipFill>
        <p:spPr>
          <a:xfrm>
            <a:off x="196646" y="2094250"/>
            <a:ext cx="11700637" cy="3699805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AF861E7-9743-006E-E673-AF1EE5C025EE}"/>
              </a:ext>
            </a:extLst>
          </p:cNvPr>
          <p:cNvSpPr txBox="1"/>
          <p:nvPr/>
        </p:nvSpPr>
        <p:spPr>
          <a:xfrm>
            <a:off x="196646" y="6308209"/>
            <a:ext cx="833775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http://</a:t>
            </a:r>
            <a:r>
              <a:rPr lang="en-US" sz="1000" dirty="0" err="1"/>
              <a:t>www.phidot.org</a:t>
            </a:r>
            <a:r>
              <a:rPr lang="en-US" sz="1000" dirty="0"/>
              <a:t>/software/mark/docs/book/pdf/chap1.pdf</a:t>
            </a: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C001FEF-2B1E-29EB-38C0-BE704F72F10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027" t="36782" r="32162" b="51017"/>
          <a:stretch>
            <a:fillRect/>
          </a:stretch>
        </p:blipFill>
        <p:spPr>
          <a:xfrm>
            <a:off x="3888473" y="404358"/>
            <a:ext cx="7413674" cy="168989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6CC4A28-800D-DF4E-84BF-82C5898BC4D7}"/>
              </a:ext>
            </a:extLst>
          </p:cNvPr>
          <p:cNvSpPr txBox="1"/>
          <p:nvPr/>
        </p:nvSpPr>
        <p:spPr>
          <a:xfrm>
            <a:off x="1589649" y="786946"/>
            <a:ext cx="300704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solidFill>
                  <a:srgbClr val="FF0000"/>
                </a:solidFill>
              </a:rPr>
              <a:t>Encounter history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31B73F-862D-CCAC-378B-826957B6715F}"/>
              </a:ext>
            </a:extLst>
          </p:cNvPr>
          <p:cNvSpPr/>
          <p:nvPr/>
        </p:nvSpPr>
        <p:spPr>
          <a:xfrm>
            <a:off x="1195754" y="464234"/>
            <a:ext cx="9406597" cy="1630016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2CCE6F-A717-3338-7AC2-E30ADCCB6F79}"/>
              </a:ext>
            </a:extLst>
          </p:cNvPr>
          <p:cNvSpPr/>
          <p:nvPr/>
        </p:nvSpPr>
        <p:spPr>
          <a:xfrm>
            <a:off x="1589649" y="3278830"/>
            <a:ext cx="9256542" cy="236505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9616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6020F-6A94-570F-C429-2C8033EEC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389B4CE-BDF2-BDF2-AE32-E9EBA70446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22597" t="44364" r="24209" b="29772"/>
          <a:stretch>
            <a:fillRect/>
          </a:stretch>
        </p:blipFill>
        <p:spPr>
          <a:xfrm>
            <a:off x="196646" y="2094250"/>
            <a:ext cx="11700637" cy="3699805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EA1D5DB-31B3-D745-DFEA-8B522AEF42EE}"/>
              </a:ext>
            </a:extLst>
          </p:cNvPr>
          <p:cNvSpPr txBox="1"/>
          <p:nvPr/>
        </p:nvSpPr>
        <p:spPr>
          <a:xfrm>
            <a:off x="196646" y="6308209"/>
            <a:ext cx="833775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http://</a:t>
            </a:r>
            <a:r>
              <a:rPr lang="en-US" sz="1000" dirty="0" err="1"/>
              <a:t>www.phidot.org</a:t>
            </a:r>
            <a:r>
              <a:rPr lang="en-US" sz="1000" dirty="0"/>
              <a:t>/software/mark/docs/book/pdf/chap1.pdf</a:t>
            </a: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4A4AE8F-1119-AC43-AE2B-7CE8E01DF07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027" t="36782" r="32162" b="51017"/>
          <a:stretch>
            <a:fillRect/>
          </a:stretch>
        </p:blipFill>
        <p:spPr>
          <a:xfrm>
            <a:off x="3888473" y="404358"/>
            <a:ext cx="7413674" cy="168989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0E7C04E-F0F4-1701-4958-AA58DCB7C5A7}"/>
              </a:ext>
            </a:extLst>
          </p:cNvPr>
          <p:cNvSpPr txBox="1"/>
          <p:nvPr/>
        </p:nvSpPr>
        <p:spPr>
          <a:xfrm>
            <a:off x="1589649" y="786946"/>
            <a:ext cx="300704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solidFill>
                  <a:srgbClr val="FF0000"/>
                </a:solidFill>
              </a:rPr>
              <a:t>Encounter history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0D9E5D-3119-0F80-88E5-27990FE0C6C8}"/>
              </a:ext>
            </a:extLst>
          </p:cNvPr>
          <p:cNvSpPr/>
          <p:nvPr/>
        </p:nvSpPr>
        <p:spPr>
          <a:xfrm>
            <a:off x="1195754" y="464234"/>
            <a:ext cx="9406597" cy="1630016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AD1F70-A8B7-1AB8-0A2C-7729C5045968}"/>
              </a:ext>
            </a:extLst>
          </p:cNvPr>
          <p:cNvSpPr/>
          <p:nvPr/>
        </p:nvSpPr>
        <p:spPr>
          <a:xfrm>
            <a:off x="1589649" y="4262510"/>
            <a:ext cx="9256542" cy="13813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7833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E7FCC-4AC4-ADF3-8AC2-B10B3BC45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759B6FA-ACF6-DC18-827B-84DA2D4D10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22597" t="44364" r="24209" b="29772"/>
          <a:stretch>
            <a:fillRect/>
          </a:stretch>
        </p:blipFill>
        <p:spPr>
          <a:xfrm>
            <a:off x="196646" y="2094250"/>
            <a:ext cx="11700637" cy="3699805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BAC7FAC-CBA5-273E-212F-294731B6ADFC}"/>
              </a:ext>
            </a:extLst>
          </p:cNvPr>
          <p:cNvSpPr txBox="1"/>
          <p:nvPr/>
        </p:nvSpPr>
        <p:spPr>
          <a:xfrm>
            <a:off x="196646" y="6308209"/>
            <a:ext cx="833775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http://</a:t>
            </a:r>
            <a:r>
              <a:rPr lang="en-US" sz="1000" dirty="0" err="1"/>
              <a:t>www.phidot.org</a:t>
            </a:r>
            <a:r>
              <a:rPr lang="en-US" sz="1000" dirty="0"/>
              <a:t>/software/mark/docs/book/pdf/chap1.pdf</a:t>
            </a: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748ED4E-AD6D-9600-3F2D-5A6108989D5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027" t="36782" r="32162" b="51017"/>
          <a:stretch>
            <a:fillRect/>
          </a:stretch>
        </p:blipFill>
        <p:spPr>
          <a:xfrm>
            <a:off x="3888473" y="404358"/>
            <a:ext cx="7413674" cy="168989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2646AD1-5B30-28D8-57CE-5C9DB7924421}"/>
              </a:ext>
            </a:extLst>
          </p:cNvPr>
          <p:cNvSpPr txBox="1"/>
          <p:nvPr/>
        </p:nvSpPr>
        <p:spPr>
          <a:xfrm>
            <a:off x="1589649" y="786946"/>
            <a:ext cx="300704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solidFill>
                  <a:srgbClr val="FF0000"/>
                </a:solidFill>
              </a:rPr>
              <a:t>Encounter history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DBE776F-ED66-1FEA-77FB-08AB9E08204B}"/>
              </a:ext>
            </a:extLst>
          </p:cNvPr>
          <p:cNvSpPr/>
          <p:nvPr/>
        </p:nvSpPr>
        <p:spPr>
          <a:xfrm>
            <a:off x="1195754" y="464234"/>
            <a:ext cx="9406597" cy="1630016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69D4EA-DAA8-5967-BAAD-C94E2C6F2DC5}"/>
              </a:ext>
            </a:extLst>
          </p:cNvPr>
          <p:cNvSpPr/>
          <p:nvPr/>
        </p:nvSpPr>
        <p:spPr>
          <a:xfrm>
            <a:off x="1589649" y="4642338"/>
            <a:ext cx="9256542" cy="100154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1312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5CCDA-C86F-6C9B-41B3-49D07988E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BCF45A3-97A1-FBBB-BDBD-D874DCD738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22597" t="44364" r="24209" b="29772"/>
          <a:stretch>
            <a:fillRect/>
          </a:stretch>
        </p:blipFill>
        <p:spPr>
          <a:xfrm>
            <a:off x="196646" y="2094250"/>
            <a:ext cx="11700637" cy="3699805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143B495-5D25-5CDF-3C6C-A5B34BD04242}"/>
              </a:ext>
            </a:extLst>
          </p:cNvPr>
          <p:cNvSpPr txBox="1"/>
          <p:nvPr/>
        </p:nvSpPr>
        <p:spPr>
          <a:xfrm>
            <a:off x="196646" y="6308209"/>
            <a:ext cx="833775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http://</a:t>
            </a:r>
            <a:r>
              <a:rPr lang="en-US" sz="1000" dirty="0" err="1"/>
              <a:t>www.phidot.org</a:t>
            </a:r>
            <a:r>
              <a:rPr lang="en-US" sz="1000" dirty="0"/>
              <a:t>/software/mark/docs/book/pdf/chap1.pdf</a:t>
            </a: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7A928DC-2066-E667-2BDF-36D5CDF839A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027" t="36782" r="32162" b="51017"/>
          <a:stretch>
            <a:fillRect/>
          </a:stretch>
        </p:blipFill>
        <p:spPr>
          <a:xfrm>
            <a:off x="3888473" y="404358"/>
            <a:ext cx="7413674" cy="168989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16898CB-4079-8B91-BFBA-524B03B6A338}"/>
              </a:ext>
            </a:extLst>
          </p:cNvPr>
          <p:cNvSpPr txBox="1"/>
          <p:nvPr/>
        </p:nvSpPr>
        <p:spPr>
          <a:xfrm>
            <a:off x="1589649" y="786946"/>
            <a:ext cx="300704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solidFill>
                  <a:srgbClr val="FF0000"/>
                </a:solidFill>
              </a:rPr>
              <a:t>Encounter history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458F58-53D2-1872-D49E-704FDD3AA5CA}"/>
              </a:ext>
            </a:extLst>
          </p:cNvPr>
          <p:cNvSpPr/>
          <p:nvPr/>
        </p:nvSpPr>
        <p:spPr>
          <a:xfrm>
            <a:off x="1195754" y="464234"/>
            <a:ext cx="9406597" cy="1630016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95A6ED1B-C258-8E22-2A0F-08FBE60D43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541" y="667712"/>
            <a:ext cx="559312" cy="792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3F48C6-599C-17D3-2250-C74704BECD6C}"/>
              </a:ext>
            </a:extLst>
          </p:cNvPr>
          <p:cNvSpPr txBox="1"/>
          <p:nvPr/>
        </p:nvSpPr>
        <p:spPr>
          <a:xfrm>
            <a:off x="33422" y="-5644"/>
            <a:ext cx="13962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Trilobite taxa</a:t>
            </a:r>
          </a:p>
        </p:txBody>
      </p:sp>
    </p:spTree>
    <p:extLst>
      <p:ext uri="{BB962C8B-B14F-4D97-AF65-F5344CB8AC3E}">
        <p14:creationId xmlns:p14="http://schemas.microsoft.com/office/powerpoint/2010/main" val="1374112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80B99-1D53-FA2A-DFBF-E9E690E8B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21DF407-B9F0-9AA6-15EB-FA4658CBD6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22597" t="44364" r="24209" b="29772"/>
          <a:stretch>
            <a:fillRect/>
          </a:stretch>
        </p:blipFill>
        <p:spPr>
          <a:xfrm>
            <a:off x="196646" y="2094250"/>
            <a:ext cx="11700637" cy="3699805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0741F8C-44AF-DBAD-5BF1-9074B48AA290}"/>
              </a:ext>
            </a:extLst>
          </p:cNvPr>
          <p:cNvSpPr txBox="1"/>
          <p:nvPr/>
        </p:nvSpPr>
        <p:spPr>
          <a:xfrm>
            <a:off x="196646" y="6308209"/>
            <a:ext cx="833775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http://</a:t>
            </a:r>
            <a:r>
              <a:rPr lang="en-US" sz="1000" dirty="0" err="1"/>
              <a:t>www.phidot.org</a:t>
            </a:r>
            <a:r>
              <a:rPr lang="en-US" sz="1000" dirty="0"/>
              <a:t>/software/mark/docs/book/pdf/chap1.pdf</a:t>
            </a: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333025E-B51F-F3CF-EA51-EB4FDE575A0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027" t="36782" r="32162" b="51017"/>
          <a:stretch>
            <a:fillRect/>
          </a:stretch>
        </p:blipFill>
        <p:spPr>
          <a:xfrm>
            <a:off x="3888473" y="404358"/>
            <a:ext cx="7413674" cy="168989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1955C66-F8DC-DFA9-D2CA-3A0E28FD6341}"/>
              </a:ext>
            </a:extLst>
          </p:cNvPr>
          <p:cNvSpPr txBox="1"/>
          <p:nvPr/>
        </p:nvSpPr>
        <p:spPr>
          <a:xfrm>
            <a:off x="1589649" y="786946"/>
            <a:ext cx="300704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solidFill>
                  <a:srgbClr val="FF0000"/>
                </a:solidFill>
              </a:rPr>
              <a:t>Encounter history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0CB43D-C422-6A91-DD23-F07292102B23}"/>
              </a:ext>
            </a:extLst>
          </p:cNvPr>
          <p:cNvSpPr/>
          <p:nvPr/>
        </p:nvSpPr>
        <p:spPr>
          <a:xfrm>
            <a:off x="1195754" y="464234"/>
            <a:ext cx="9406597" cy="1630016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1F14A26D-BDCA-3BE0-B9B3-3E120106E9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541" y="667712"/>
            <a:ext cx="559312" cy="792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8913BB3-89D6-C364-9FB7-66595D6B7B99}"/>
              </a:ext>
            </a:extLst>
          </p:cNvPr>
          <p:cNvSpPr txBox="1"/>
          <p:nvPr/>
        </p:nvSpPr>
        <p:spPr>
          <a:xfrm>
            <a:off x="33422" y="-5644"/>
            <a:ext cx="13962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Trilobite taxa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8B081D-E7B7-A7CF-6D18-4CE1FE38F5EF}"/>
              </a:ext>
            </a:extLst>
          </p:cNvPr>
          <p:cNvSpPr txBox="1"/>
          <p:nvPr/>
        </p:nvSpPr>
        <p:spPr>
          <a:xfrm>
            <a:off x="750916" y="2819083"/>
            <a:ext cx="1758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Trilobite taxon 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D9B3C5-72B3-53AA-A789-05B200349A04}"/>
              </a:ext>
            </a:extLst>
          </p:cNvPr>
          <p:cNvSpPr txBox="1"/>
          <p:nvPr/>
        </p:nvSpPr>
        <p:spPr>
          <a:xfrm>
            <a:off x="750916" y="3382771"/>
            <a:ext cx="17488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Trilobite taxon 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00A170-B626-FBFE-AE4B-06A14938D9D6}"/>
              </a:ext>
            </a:extLst>
          </p:cNvPr>
          <p:cNvSpPr txBox="1"/>
          <p:nvPr/>
        </p:nvSpPr>
        <p:spPr>
          <a:xfrm>
            <a:off x="750916" y="4201509"/>
            <a:ext cx="1740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Trilobite taxon C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C4EBF7-6AC4-A21B-64C4-982FB8BAAFF0}"/>
              </a:ext>
            </a:extLst>
          </p:cNvPr>
          <p:cNvSpPr txBox="1"/>
          <p:nvPr/>
        </p:nvSpPr>
        <p:spPr>
          <a:xfrm>
            <a:off x="750916" y="4633765"/>
            <a:ext cx="17649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Trilobite taxon D</a:t>
            </a:r>
          </a:p>
        </p:txBody>
      </p:sp>
    </p:spTree>
    <p:extLst>
      <p:ext uri="{BB962C8B-B14F-4D97-AF65-F5344CB8AC3E}">
        <p14:creationId xmlns:p14="http://schemas.microsoft.com/office/powerpoint/2010/main" val="32859526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728B1-98CE-5121-716A-D45E6B067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AB5EA30-886C-5D50-729F-06BB4FACC3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22597" t="44364" r="24209" b="29772"/>
          <a:stretch>
            <a:fillRect/>
          </a:stretch>
        </p:blipFill>
        <p:spPr>
          <a:xfrm>
            <a:off x="196646" y="2094250"/>
            <a:ext cx="11700637" cy="3699805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CC8F0E4-A9B9-8A7E-94B7-138EFA2B8FF9}"/>
              </a:ext>
            </a:extLst>
          </p:cNvPr>
          <p:cNvSpPr txBox="1"/>
          <p:nvPr/>
        </p:nvSpPr>
        <p:spPr>
          <a:xfrm>
            <a:off x="196646" y="6308209"/>
            <a:ext cx="833775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http://</a:t>
            </a:r>
            <a:r>
              <a:rPr lang="en-US" sz="1000" dirty="0" err="1"/>
              <a:t>www.phidot.org</a:t>
            </a:r>
            <a:r>
              <a:rPr lang="en-US" sz="1000" dirty="0"/>
              <a:t>/software/mark/docs/book/pdf/chap1.pdf</a:t>
            </a: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12A985E-2CBA-866B-6DEC-8002787C195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027" t="36782" r="32162" b="51017"/>
          <a:stretch>
            <a:fillRect/>
          </a:stretch>
        </p:blipFill>
        <p:spPr>
          <a:xfrm>
            <a:off x="3888473" y="404358"/>
            <a:ext cx="7413674" cy="168989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EC0B733-A5B9-518E-9A37-541628B6F517}"/>
              </a:ext>
            </a:extLst>
          </p:cNvPr>
          <p:cNvSpPr txBox="1"/>
          <p:nvPr/>
        </p:nvSpPr>
        <p:spPr>
          <a:xfrm>
            <a:off x="1589649" y="786946"/>
            <a:ext cx="300704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solidFill>
                  <a:srgbClr val="FF0000"/>
                </a:solidFill>
              </a:rPr>
              <a:t>Encounter history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509F2C-574F-2AFA-15AB-49FCA4C0BA71}"/>
              </a:ext>
            </a:extLst>
          </p:cNvPr>
          <p:cNvSpPr/>
          <p:nvPr/>
        </p:nvSpPr>
        <p:spPr>
          <a:xfrm>
            <a:off x="1195754" y="464234"/>
            <a:ext cx="9406597" cy="1630016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4C00C688-4B7A-6F05-6793-52B906BEAD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541" y="667712"/>
            <a:ext cx="559312" cy="792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475DBA6-BA56-F2EC-9F3D-B6EAF6DB9661}"/>
              </a:ext>
            </a:extLst>
          </p:cNvPr>
          <p:cNvSpPr txBox="1"/>
          <p:nvPr/>
        </p:nvSpPr>
        <p:spPr>
          <a:xfrm>
            <a:off x="33422" y="-5644"/>
            <a:ext cx="13962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Trilobite taxa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88E464-04BE-9FCF-FB88-F4C66F3E2302}"/>
              </a:ext>
            </a:extLst>
          </p:cNvPr>
          <p:cNvSpPr txBox="1"/>
          <p:nvPr/>
        </p:nvSpPr>
        <p:spPr>
          <a:xfrm>
            <a:off x="750916" y="2819083"/>
            <a:ext cx="801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A, X, 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0506F9-8182-D467-F28C-9633E410DED0}"/>
              </a:ext>
            </a:extLst>
          </p:cNvPr>
          <p:cNvSpPr txBox="1"/>
          <p:nvPr/>
        </p:nvSpPr>
        <p:spPr>
          <a:xfrm>
            <a:off x="750916" y="3382771"/>
            <a:ext cx="5361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B, 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40C52D-43B7-0899-C2FD-F14C986B5DDF}"/>
              </a:ext>
            </a:extLst>
          </p:cNvPr>
          <p:cNvSpPr txBox="1"/>
          <p:nvPr/>
        </p:nvSpPr>
        <p:spPr>
          <a:xfrm>
            <a:off x="750916" y="4201509"/>
            <a:ext cx="1646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C, Q R, T, S, X, Z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5D1D586-91FC-25F7-9B2A-83446D86F44D}"/>
              </a:ext>
            </a:extLst>
          </p:cNvPr>
          <p:cNvSpPr txBox="1"/>
          <p:nvPr/>
        </p:nvSpPr>
        <p:spPr>
          <a:xfrm>
            <a:off x="750916" y="4633765"/>
            <a:ext cx="1442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D, G H, J, K, Y</a:t>
            </a:r>
          </a:p>
        </p:txBody>
      </p:sp>
    </p:spTree>
    <p:extLst>
      <p:ext uri="{BB962C8B-B14F-4D97-AF65-F5344CB8AC3E}">
        <p14:creationId xmlns:p14="http://schemas.microsoft.com/office/powerpoint/2010/main" val="5366890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909981" y="300989"/>
          <a:ext cx="6312024" cy="617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5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13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13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13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13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133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133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133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42000">
                <a:tc rowSpan="2">
                  <a:txBody>
                    <a:bodyPr/>
                    <a:lstStyle/>
                    <a:p>
                      <a:r>
                        <a:rPr lang="nb-NO" dirty="0" err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Taxon</a:t>
                      </a:r>
                      <a:endParaRPr lang="nb-NO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b">
                    <a:noFill/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noProof="0" dirty="0">
                          <a:solidFill>
                            <a:srgbClr val="FF0000"/>
                          </a:solidFill>
                        </a:rPr>
                        <a:t>Time intervals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nb-N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b-N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b-N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b-N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b-N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b-N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b-N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 vMerge="1">
                  <a:txBody>
                    <a:bodyPr/>
                    <a:lstStyle/>
                    <a:p>
                      <a:endParaRPr lang="nb-N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1400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400" b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400" b="1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400" b="1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400" b="1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400" b="1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400" b="1" dirty="0"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400" b="1" dirty="0">
                          <a:solidFill>
                            <a:srgbClr val="FF0000"/>
                          </a:solidFill>
                        </a:rPr>
                        <a:t>8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C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D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E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F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G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H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I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J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L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M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N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O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P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Q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R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S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T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855640" y="3991617"/>
            <a:ext cx="6408712" cy="57606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BA2049-894F-D4FC-5C8E-1523E240EC91}"/>
              </a:ext>
            </a:extLst>
          </p:cNvPr>
          <p:cNvSpPr txBox="1"/>
          <p:nvPr/>
        </p:nvSpPr>
        <p:spPr>
          <a:xfrm>
            <a:off x="0" y="0"/>
            <a:ext cx="15915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sz="2800" dirty="0"/>
              <a:t>THE 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E3D4F6-7735-2A7F-CC85-D5A88BA7DA59}"/>
              </a:ext>
            </a:extLst>
          </p:cNvPr>
          <p:cNvSpPr txBox="1"/>
          <p:nvPr/>
        </p:nvSpPr>
        <p:spPr>
          <a:xfrm>
            <a:off x="161471" y="6352992"/>
            <a:ext cx="118690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dirty="0"/>
              <a:t>Liow L.H</a:t>
            </a:r>
            <a:r>
              <a:rPr lang="en-GB" sz="1400" dirty="0"/>
              <a:t>. &amp; Nichols, J.D. </a:t>
            </a:r>
            <a:r>
              <a:rPr lang="en-GB" sz="1400" b="1" dirty="0"/>
              <a:t>2010</a:t>
            </a:r>
            <a:r>
              <a:rPr lang="en-GB" sz="1400" dirty="0"/>
              <a:t> Estimating rates and probabilities of origination and extinction using taxonomic occurrence data: Capture-recapture approaches. In Quantitative Paleobiology Short Course. Eds. </a:t>
            </a:r>
            <a:r>
              <a:rPr lang="en-GB" sz="1400" dirty="0" err="1"/>
              <a:t>Alroy</a:t>
            </a:r>
            <a:r>
              <a:rPr lang="en-GB" sz="1400" dirty="0"/>
              <a:t> J. &amp; Hunt G. Paleontological Society pp. 81-94</a:t>
            </a:r>
            <a:endParaRPr lang="en-NO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444" name="Group 180"/>
          <p:cNvGraphicFramePr>
            <a:graphicFrameLocks noGrp="1"/>
          </p:cNvGraphicFramePr>
          <p:nvPr>
            <p:ph idx="1"/>
          </p:nvPr>
        </p:nvGraphicFramePr>
        <p:xfrm>
          <a:off x="1953836" y="1627098"/>
          <a:ext cx="8102604" cy="1891030"/>
        </p:xfrm>
        <a:graphic>
          <a:graphicData uri="http://schemas.openxmlformats.org/drawingml/2006/table">
            <a:tbl>
              <a:tblPr/>
              <a:tblGrid>
                <a:gridCol w="144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1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19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19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19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19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19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3191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3191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Time interval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b-NO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b-NO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b-NO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b-NO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b-NO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b-NO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b-NO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b-NO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5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latin typeface="Arial" charset="0"/>
                        </a:rPr>
                        <a:t>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b-NO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b-NO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b-NO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b-NO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b-NO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b-NO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b-NO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b-NO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5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latin typeface="Arial" charset="0"/>
                        </a:rPr>
                        <a:t>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b-NO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b-NO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b-NO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b-NO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b-NO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b-NO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b-NO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b-NO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437" name="Rectangle 173"/>
          <p:cNvSpPr>
            <a:spLocks noChangeArrowheads="1"/>
          </p:cNvSpPr>
          <p:nvPr/>
        </p:nvSpPr>
        <p:spPr bwMode="auto">
          <a:xfrm>
            <a:off x="3408532" y="2298580"/>
            <a:ext cx="842392" cy="602958"/>
          </a:xfrm>
          <a:prstGeom prst="rect">
            <a:avLst/>
          </a:prstGeom>
          <a:noFill/>
          <a:ln w="38100">
            <a:solidFill>
              <a:srgbClr val="0033CC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nb-NO"/>
          </a:p>
        </p:txBody>
      </p:sp>
      <p:sp>
        <p:nvSpPr>
          <p:cNvPr id="11439" name="Rectangle 175"/>
          <p:cNvSpPr>
            <a:spLocks noChangeArrowheads="1"/>
          </p:cNvSpPr>
          <p:nvPr/>
        </p:nvSpPr>
        <p:spPr bwMode="auto">
          <a:xfrm>
            <a:off x="5928812" y="2285133"/>
            <a:ext cx="4104456" cy="576064"/>
          </a:xfrm>
          <a:prstGeom prst="rect">
            <a:avLst/>
          </a:prstGeom>
          <a:noFill/>
          <a:ln w="38100">
            <a:solidFill>
              <a:srgbClr val="0033CC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nb-NO"/>
          </a:p>
        </p:txBody>
      </p:sp>
      <p:sp>
        <p:nvSpPr>
          <p:cNvPr id="11441" name="Rectangle 177"/>
          <p:cNvSpPr>
            <a:spLocks noChangeArrowheads="1"/>
          </p:cNvSpPr>
          <p:nvPr/>
        </p:nvSpPr>
        <p:spPr bwMode="auto">
          <a:xfrm>
            <a:off x="5064716" y="2914985"/>
            <a:ext cx="792088" cy="576064"/>
          </a:xfrm>
          <a:prstGeom prst="rect">
            <a:avLst/>
          </a:prstGeom>
          <a:noFill/>
          <a:ln w="38100">
            <a:solidFill>
              <a:srgbClr val="008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nb-NO"/>
          </a:p>
        </p:txBody>
      </p:sp>
      <p:sp>
        <p:nvSpPr>
          <p:cNvPr id="10" name="Rectangle 173"/>
          <p:cNvSpPr>
            <a:spLocks noChangeArrowheads="1"/>
          </p:cNvSpPr>
          <p:nvPr/>
        </p:nvSpPr>
        <p:spPr bwMode="auto">
          <a:xfrm>
            <a:off x="3408532" y="2924944"/>
            <a:ext cx="842392" cy="579552"/>
          </a:xfrm>
          <a:prstGeom prst="rect">
            <a:avLst/>
          </a:prstGeom>
          <a:noFill/>
          <a:ln w="38100">
            <a:solidFill>
              <a:srgbClr val="0033CC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nb-NO"/>
          </a:p>
        </p:txBody>
      </p:sp>
      <p:sp>
        <p:nvSpPr>
          <p:cNvPr id="11" name="Rectangle 175"/>
          <p:cNvSpPr>
            <a:spLocks noChangeArrowheads="1"/>
          </p:cNvSpPr>
          <p:nvPr/>
        </p:nvSpPr>
        <p:spPr bwMode="auto">
          <a:xfrm>
            <a:off x="7593380" y="2928432"/>
            <a:ext cx="2439888" cy="576064"/>
          </a:xfrm>
          <a:prstGeom prst="rect">
            <a:avLst/>
          </a:prstGeom>
          <a:noFill/>
          <a:ln w="38100">
            <a:solidFill>
              <a:srgbClr val="0033CC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nb-NO"/>
          </a:p>
        </p:txBody>
      </p:sp>
      <p:sp>
        <p:nvSpPr>
          <p:cNvPr id="16" name="TextBox 15"/>
          <p:cNvSpPr txBox="1"/>
          <p:nvPr/>
        </p:nvSpPr>
        <p:spPr>
          <a:xfrm>
            <a:off x="3359696" y="3933057"/>
            <a:ext cx="6336704" cy="221599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b="1" dirty="0"/>
              <a:t>Encounter/detection histories</a:t>
            </a:r>
          </a:p>
          <a:p>
            <a:r>
              <a:rPr lang="en-US" sz="2000" b="1" dirty="0"/>
              <a:t>	- Series of ones and zeros</a:t>
            </a:r>
          </a:p>
          <a:p>
            <a:r>
              <a:rPr lang="en-US" sz="2000" b="1" dirty="0"/>
              <a:t>	- Ones are taken as true presences</a:t>
            </a:r>
          </a:p>
          <a:p>
            <a:r>
              <a:rPr lang="en-US" sz="2000" b="1" dirty="0"/>
              <a:t>	- Two types of zeros</a:t>
            </a:r>
          </a:p>
          <a:p>
            <a:r>
              <a:rPr lang="en-US" sz="2000" b="1" dirty="0"/>
              <a:t>		- </a:t>
            </a:r>
            <a:r>
              <a:rPr lang="en-US" sz="2000" b="1" dirty="0">
                <a:solidFill>
                  <a:srgbClr val="008000"/>
                </a:solidFill>
              </a:rPr>
              <a:t>Not sampled</a:t>
            </a:r>
          </a:p>
          <a:p>
            <a:r>
              <a:rPr lang="en-US" sz="2000" b="1" dirty="0"/>
              <a:t>		- </a:t>
            </a:r>
            <a:r>
              <a:rPr lang="en-US" sz="2000" b="1" dirty="0">
                <a:solidFill>
                  <a:srgbClr val="0033CC"/>
                </a:solidFill>
              </a:rPr>
              <a:t>Not sampled or truly absent </a:t>
            </a:r>
          </a:p>
          <a:p>
            <a:endParaRPr lang="nb-NO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2743FE-C8E1-A27F-E69A-FD8285E61FB3}"/>
              </a:ext>
            </a:extLst>
          </p:cNvPr>
          <p:cNvSpPr txBox="1"/>
          <p:nvPr/>
        </p:nvSpPr>
        <p:spPr>
          <a:xfrm>
            <a:off x="0" y="0"/>
            <a:ext cx="36227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sz="2800" dirty="0"/>
              <a:t>DECTECTION HISTORIES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37" grpId="0" animBg="1"/>
      <p:bldP spid="11439" grpId="0" animBg="1"/>
      <p:bldP spid="11441" grpId="0" animBg="1"/>
      <p:bldP spid="10" grpId="0" animBg="1"/>
      <p:bldP spid="1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909981" y="300989"/>
          <a:ext cx="6312024" cy="617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5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13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13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13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13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133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133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133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42000">
                <a:tc rowSpan="2">
                  <a:txBody>
                    <a:bodyPr/>
                    <a:lstStyle/>
                    <a:p>
                      <a:r>
                        <a:rPr lang="nb-NO" dirty="0" err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Taxon</a:t>
                      </a:r>
                      <a:endParaRPr lang="nb-NO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b">
                    <a:noFill/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noProof="0" dirty="0">
                          <a:solidFill>
                            <a:srgbClr val="FF0000"/>
                          </a:solidFill>
                        </a:rPr>
                        <a:t>Time intervals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nb-N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b-N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b-N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b-N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b-N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b-N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b-N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 vMerge="1">
                  <a:txBody>
                    <a:bodyPr/>
                    <a:lstStyle/>
                    <a:p>
                      <a:endParaRPr lang="nb-N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1400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400" b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400" b="1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400" b="1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400" b="1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400" b="1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400" b="1" dirty="0"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400" b="1" dirty="0">
                          <a:solidFill>
                            <a:srgbClr val="FF0000"/>
                          </a:solidFill>
                        </a:rPr>
                        <a:t>8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C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D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E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F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G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H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I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J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L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M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N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O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P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Q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R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S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T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960096" y="692696"/>
            <a:ext cx="576064" cy="590465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grpSp>
        <p:nvGrpSpPr>
          <p:cNvPr id="17" name="Group 16"/>
          <p:cNvGrpSpPr/>
          <p:nvPr/>
        </p:nvGrpSpPr>
        <p:grpSpPr>
          <a:xfrm>
            <a:off x="2927648" y="1052736"/>
            <a:ext cx="6408712" cy="4824536"/>
            <a:chOff x="1403648" y="1052736"/>
            <a:chExt cx="6408712" cy="4824536"/>
          </a:xfrm>
        </p:grpSpPr>
        <p:sp>
          <p:nvSpPr>
            <p:cNvPr id="6" name="Rectangle 5"/>
            <p:cNvSpPr/>
            <p:nvPr/>
          </p:nvSpPr>
          <p:spPr>
            <a:xfrm>
              <a:off x="1403648" y="1052736"/>
              <a:ext cx="6336704" cy="216024"/>
            </a:xfrm>
            <a:prstGeom prst="rect">
              <a:avLst/>
            </a:prstGeom>
            <a:solidFill>
              <a:srgbClr val="FFFF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b-NO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475656" y="2132856"/>
              <a:ext cx="6336704" cy="216024"/>
            </a:xfrm>
            <a:prstGeom prst="rect">
              <a:avLst/>
            </a:prstGeom>
            <a:solidFill>
              <a:srgbClr val="FFFF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b-NO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475656" y="2420888"/>
              <a:ext cx="6336704" cy="216024"/>
            </a:xfrm>
            <a:prstGeom prst="rect">
              <a:avLst/>
            </a:prstGeom>
            <a:solidFill>
              <a:srgbClr val="FFFF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b-NO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475656" y="2708920"/>
              <a:ext cx="6336704" cy="216024"/>
            </a:xfrm>
            <a:prstGeom prst="rect">
              <a:avLst/>
            </a:prstGeom>
            <a:solidFill>
              <a:srgbClr val="FFFF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b-NO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475656" y="3212976"/>
              <a:ext cx="6336704" cy="216024"/>
            </a:xfrm>
            <a:prstGeom prst="rect">
              <a:avLst/>
            </a:prstGeom>
            <a:solidFill>
              <a:srgbClr val="FFFF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b-NO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475656" y="3789040"/>
              <a:ext cx="6336704" cy="216024"/>
            </a:xfrm>
            <a:prstGeom prst="rect">
              <a:avLst/>
            </a:prstGeom>
            <a:solidFill>
              <a:srgbClr val="FFFF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b-NO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475656" y="4869160"/>
              <a:ext cx="6336704" cy="216024"/>
            </a:xfrm>
            <a:prstGeom prst="rect">
              <a:avLst/>
            </a:prstGeom>
            <a:solidFill>
              <a:srgbClr val="FFFF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b-NO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475656" y="4581128"/>
              <a:ext cx="6336704" cy="216024"/>
            </a:xfrm>
            <a:prstGeom prst="rect">
              <a:avLst/>
            </a:prstGeom>
            <a:solidFill>
              <a:srgbClr val="FFFF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b-NO" dirty="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475656" y="5661248"/>
              <a:ext cx="6336704" cy="216024"/>
            </a:xfrm>
            <a:prstGeom prst="rect">
              <a:avLst/>
            </a:prstGeom>
            <a:solidFill>
              <a:srgbClr val="FFFF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b-NO" dirty="0"/>
            </a:p>
          </p:txBody>
        </p:sp>
      </p:grpSp>
      <p:sp>
        <p:nvSpPr>
          <p:cNvPr id="18" name="Oval 17"/>
          <p:cNvSpPr/>
          <p:nvPr/>
        </p:nvSpPr>
        <p:spPr>
          <a:xfrm>
            <a:off x="7104112" y="2348880"/>
            <a:ext cx="288032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" name="Oval 18"/>
          <p:cNvSpPr/>
          <p:nvPr/>
        </p:nvSpPr>
        <p:spPr>
          <a:xfrm>
            <a:off x="7104112" y="2636912"/>
            <a:ext cx="288032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" name="Oval 19"/>
          <p:cNvSpPr/>
          <p:nvPr/>
        </p:nvSpPr>
        <p:spPr>
          <a:xfrm>
            <a:off x="7104112" y="3186082"/>
            <a:ext cx="288032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" name="Oval 20"/>
          <p:cNvSpPr/>
          <p:nvPr/>
        </p:nvSpPr>
        <p:spPr>
          <a:xfrm>
            <a:off x="7117559" y="4824046"/>
            <a:ext cx="288032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2" name="Oval 21"/>
          <p:cNvSpPr/>
          <p:nvPr/>
        </p:nvSpPr>
        <p:spPr>
          <a:xfrm>
            <a:off x="7104112" y="5661248"/>
            <a:ext cx="288032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graphicFrame>
        <p:nvGraphicFramePr>
          <p:cNvPr id="23" name="Object 22"/>
          <p:cNvGraphicFramePr>
            <a:graphicFrameLocks noChangeAspect="1"/>
          </p:cNvGraphicFramePr>
          <p:nvPr/>
        </p:nvGraphicFramePr>
        <p:xfrm>
          <a:off x="2063552" y="2780929"/>
          <a:ext cx="4464496" cy="10172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02960" imgH="228600" progId="Equation.DSMT4">
                  <p:embed/>
                </p:oleObj>
              </mc:Choice>
              <mc:Fallback>
                <p:oleObj name="Equation" r:id="rId3" imgW="1002960" imgH="228600" progId="Equation.DSMT4">
                  <p:embed/>
                  <p:pic>
                    <p:nvPicPr>
                      <p:cNvPr id="23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552" y="2780929"/>
                        <a:ext cx="4464496" cy="101722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63500">
                        <a:solidFill>
                          <a:srgbClr val="008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ctangle 23"/>
          <p:cNvSpPr/>
          <p:nvPr/>
        </p:nvSpPr>
        <p:spPr>
          <a:xfrm>
            <a:off x="4223792" y="2996952"/>
            <a:ext cx="648072" cy="504056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" name="Oval 24"/>
          <p:cNvSpPr/>
          <p:nvPr/>
        </p:nvSpPr>
        <p:spPr>
          <a:xfrm>
            <a:off x="3359696" y="2924944"/>
            <a:ext cx="576064" cy="576064"/>
          </a:xfrm>
          <a:prstGeom prst="ellipse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" name="TextBox 25"/>
          <p:cNvSpPr txBox="1"/>
          <p:nvPr/>
        </p:nvSpPr>
        <p:spPr>
          <a:xfrm>
            <a:off x="1524000" y="2098132"/>
            <a:ext cx="1403648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Detection </a:t>
            </a:r>
          </a:p>
          <a:p>
            <a:r>
              <a:rPr lang="en-US" b="1" dirty="0"/>
              <a:t>probability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D8D140D-BFEB-9FB5-39DF-FC487D1B467F}"/>
              </a:ext>
            </a:extLst>
          </p:cNvPr>
          <p:cNvSpPr/>
          <p:nvPr/>
        </p:nvSpPr>
        <p:spPr>
          <a:xfrm>
            <a:off x="2938309" y="5961186"/>
            <a:ext cx="6336704" cy="216024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4" grpId="0" animBg="1"/>
      <p:bldP spid="2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909981" y="300989"/>
          <a:ext cx="6312024" cy="617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5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13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13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13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13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133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133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133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42000">
                <a:tc rowSpan="2">
                  <a:txBody>
                    <a:bodyPr/>
                    <a:lstStyle/>
                    <a:p>
                      <a:r>
                        <a:rPr lang="nb-NO" dirty="0" err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Taxon</a:t>
                      </a:r>
                      <a:endParaRPr lang="nb-NO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b">
                    <a:noFill/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noProof="0" dirty="0">
                          <a:solidFill>
                            <a:srgbClr val="FF0000"/>
                          </a:solidFill>
                        </a:rPr>
                        <a:t>Time intervals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nb-N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b-N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b-N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b-N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b-N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b-N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b-N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 vMerge="1">
                  <a:txBody>
                    <a:bodyPr/>
                    <a:lstStyle/>
                    <a:p>
                      <a:endParaRPr lang="nb-N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1400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400" b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400" b="1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400" b="1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400" b="1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400" b="1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400" b="1" dirty="0"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400" b="1" dirty="0">
                          <a:solidFill>
                            <a:srgbClr val="FF0000"/>
                          </a:solidFill>
                        </a:rPr>
                        <a:t>8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C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D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E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F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G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H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I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J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L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M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N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O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P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Q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R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S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T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960096" y="692696"/>
            <a:ext cx="576064" cy="590465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1775520" y="2391861"/>
          <a:ext cx="4885630" cy="8211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11280" imgH="253800" progId="Equation.DSMT4">
                  <p:embed/>
                </p:oleObj>
              </mc:Choice>
              <mc:Fallback>
                <p:oleObj name="Equation" r:id="rId3" imgW="1511280" imgH="253800" progId="Equation.DSMT4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5520" y="2391861"/>
                        <a:ext cx="4885630" cy="821114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63500">
                        <a:solidFill>
                          <a:srgbClr val="008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Oval 9"/>
          <p:cNvSpPr/>
          <p:nvPr/>
        </p:nvSpPr>
        <p:spPr>
          <a:xfrm>
            <a:off x="7104112" y="2348880"/>
            <a:ext cx="288032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1" name="Oval 10"/>
          <p:cNvSpPr/>
          <p:nvPr/>
        </p:nvSpPr>
        <p:spPr>
          <a:xfrm>
            <a:off x="7108885" y="1799710"/>
            <a:ext cx="288032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" name="Oval 11"/>
          <p:cNvSpPr/>
          <p:nvPr/>
        </p:nvSpPr>
        <p:spPr>
          <a:xfrm>
            <a:off x="7104112" y="2626786"/>
            <a:ext cx="288032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" name="Oval 12"/>
          <p:cNvSpPr/>
          <p:nvPr/>
        </p:nvSpPr>
        <p:spPr>
          <a:xfrm>
            <a:off x="7104112" y="2893277"/>
            <a:ext cx="288032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4" name="Oval 13"/>
          <p:cNvSpPr/>
          <p:nvPr/>
        </p:nvSpPr>
        <p:spPr>
          <a:xfrm>
            <a:off x="7117559" y="1543345"/>
            <a:ext cx="288032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5" name="Oval 14"/>
          <p:cNvSpPr/>
          <p:nvPr/>
        </p:nvSpPr>
        <p:spPr>
          <a:xfrm>
            <a:off x="7117559" y="3154415"/>
            <a:ext cx="288032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" name="Oval 15"/>
          <p:cNvSpPr/>
          <p:nvPr/>
        </p:nvSpPr>
        <p:spPr>
          <a:xfrm>
            <a:off x="7104112" y="4797152"/>
            <a:ext cx="288032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" name="Oval 16"/>
          <p:cNvSpPr/>
          <p:nvPr/>
        </p:nvSpPr>
        <p:spPr>
          <a:xfrm>
            <a:off x="7104112" y="5661248"/>
            <a:ext cx="288032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" name="Oval 17"/>
          <p:cNvSpPr/>
          <p:nvPr/>
        </p:nvSpPr>
        <p:spPr>
          <a:xfrm>
            <a:off x="4439816" y="2564904"/>
            <a:ext cx="360040" cy="4320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" name="TextBox 18"/>
          <p:cNvSpPr txBox="1"/>
          <p:nvPr/>
        </p:nvSpPr>
        <p:spPr>
          <a:xfrm>
            <a:off x="1524000" y="1700809"/>
            <a:ext cx="1403648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Estimated</a:t>
            </a:r>
          </a:p>
          <a:p>
            <a:r>
              <a:rPr lang="en-US" b="1" dirty="0"/>
              <a:t>no. taxa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FD5C8-A9FA-3F10-DF50-016BAB667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084EEC1-9609-E00B-F478-686B9905E3F4}"/>
              </a:ext>
            </a:extLst>
          </p:cNvPr>
          <p:cNvGraphicFramePr>
            <a:graphicFrameLocks noGrp="1"/>
          </p:cNvGraphicFramePr>
          <p:nvPr/>
        </p:nvGraphicFramePr>
        <p:xfrm>
          <a:off x="2909981" y="300989"/>
          <a:ext cx="6312024" cy="617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5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13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13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13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13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133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133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133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42000">
                <a:tc rowSpan="2">
                  <a:txBody>
                    <a:bodyPr/>
                    <a:lstStyle/>
                    <a:p>
                      <a:r>
                        <a:rPr lang="nb-NO" dirty="0" err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Taxon</a:t>
                      </a:r>
                      <a:endParaRPr lang="nb-NO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b">
                    <a:noFill/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noProof="0" dirty="0">
                          <a:solidFill>
                            <a:srgbClr val="FF0000"/>
                          </a:solidFill>
                        </a:rPr>
                        <a:t>Time intervals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nb-N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b-N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b-N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b-N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b-N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b-N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b-N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 vMerge="1">
                  <a:txBody>
                    <a:bodyPr/>
                    <a:lstStyle/>
                    <a:p>
                      <a:endParaRPr lang="nb-N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1400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400" b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400" b="1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400" b="1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400" b="1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400" b="1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400" b="1" dirty="0"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400" b="1" dirty="0">
                          <a:solidFill>
                            <a:srgbClr val="FF0000"/>
                          </a:solidFill>
                        </a:rPr>
                        <a:t>8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C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D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E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F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G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H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I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J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L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M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N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O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P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Q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R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S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T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B82568C5-4929-AF95-F1B8-19152199D94D}"/>
              </a:ext>
            </a:extLst>
          </p:cNvPr>
          <p:cNvSpPr/>
          <p:nvPr/>
        </p:nvSpPr>
        <p:spPr>
          <a:xfrm>
            <a:off x="6960096" y="692696"/>
            <a:ext cx="576064" cy="590465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E6D15871-8D92-DE73-9F3F-9CB3E13E0D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75520" y="2391861"/>
          <a:ext cx="4885630" cy="8211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11280" imgH="253800" progId="Equation.DSMT4">
                  <p:embed/>
                </p:oleObj>
              </mc:Choice>
              <mc:Fallback>
                <p:oleObj name="Equation" r:id="rId3" imgW="1511280" imgH="253800" progId="Equation.DSMT4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E6D15871-8D92-DE73-9F3F-9CB3E13E0D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5520" y="2391861"/>
                        <a:ext cx="4885630" cy="821114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63500">
                        <a:solidFill>
                          <a:srgbClr val="008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Oval 9">
            <a:extLst>
              <a:ext uri="{FF2B5EF4-FFF2-40B4-BE49-F238E27FC236}">
                <a16:creationId xmlns:a16="http://schemas.microsoft.com/office/drawing/2014/main" id="{D3DBE110-600B-659E-98DE-49CDAA702399}"/>
              </a:ext>
            </a:extLst>
          </p:cNvPr>
          <p:cNvSpPr/>
          <p:nvPr/>
        </p:nvSpPr>
        <p:spPr>
          <a:xfrm>
            <a:off x="7104112" y="2348880"/>
            <a:ext cx="288032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31EA53B-B74C-9808-74B7-A11AF787378B}"/>
              </a:ext>
            </a:extLst>
          </p:cNvPr>
          <p:cNvSpPr/>
          <p:nvPr/>
        </p:nvSpPr>
        <p:spPr>
          <a:xfrm>
            <a:off x="7108885" y="1799710"/>
            <a:ext cx="288032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E22E337-8480-1495-F73C-BF054758A5C6}"/>
              </a:ext>
            </a:extLst>
          </p:cNvPr>
          <p:cNvSpPr/>
          <p:nvPr/>
        </p:nvSpPr>
        <p:spPr>
          <a:xfrm>
            <a:off x="7104112" y="2626786"/>
            <a:ext cx="288032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BF1361B-2F1E-A014-FACC-4A3EF16FF941}"/>
              </a:ext>
            </a:extLst>
          </p:cNvPr>
          <p:cNvSpPr/>
          <p:nvPr/>
        </p:nvSpPr>
        <p:spPr>
          <a:xfrm>
            <a:off x="7104112" y="2893277"/>
            <a:ext cx="288032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523D07C-610B-75F5-8BA7-ABCA5287CDB1}"/>
              </a:ext>
            </a:extLst>
          </p:cNvPr>
          <p:cNvSpPr/>
          <p:nvPr/>
        </p:nvSpPr>
        <p:spPr>
          <a:xfrm>
            <a:off x="7117559" y="1543345"/>
            <a:ext cx="288032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F1BCC16-210E-483D-9620-E47DD022D2D3}"/>
              </a:ext>
            </a:extLst>
          </p:cNvPr>
          <p:cNvSpPr/>
          <p:nvPr/>
        </p:nvSpPr>
        <p:spPr>
          <a:xfrm>
            <a:off x="7117559" y="3154415"/>
            <a:ext cx="288032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1EB9C3F-3057-1F9F-4076-190CB43262D2}"/>
              </a:ext>
            </a:extLst>
          </p:cNvPr>
          <p:cNvSpPr/>
          <p:nvPr/>
        </p:nvSpPr>
        <p:spPr>
          <a:xfrm>
            <a:off x="7104112" y="4797152"/>
            <a:ext cx="288032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578B902-2989-3E53-9920-186FC5DAA9FD}"/>
              </a:ext>
            </a:extLst>
          </p:cNvPr>
          <p:cNvSpPr/>
          <p:nvPr/>
        </p:nvSpPr>
        <p:spPr>
          <a:xfrm>
            <a:off x="7104112" y="5661248"/>
            <a:ext cx="288032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E8A3E7C-9EC2-B16D-8A29-F93CA13F70C9}"/>
              </a:ext>
            </a:extLst>
          </p:cNvPr>
          <p:cNvSpPr/>
          <p:nvPr/>
        </p:nvSpPr>
        <p:spPr>
          <a:xfrm>
            <a:off x="4439816" y="2564904"/>
            <a:ext cx="360040" cy="4320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14D1A71-1D40-597D-7039-A4A8CCB9C3CC}"/>
              </a:ext>
            </a:extLst>
          </p:cNvPr>
          <p:cNvSpPr txBox="1"/>
          <p:nvPr/>
        </p:nvSpPr>
        <p:spPr>
          <a:xfrm>
            <a:off x="1524000" y="1700809"/>
            <a:ext cx="1403648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Estimated</a:t>
            </a:r>
          </a:p>
          <a:p>
            <a:r>
              <a:rPr lang="en-US" b="1" dirty="0"/>
              <a:t>no. taxa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ACC0E3-E814-9DA0-D02F-D017D57757A3}"/>
              </a:ext>
            </a:extLst>
          </p:cNvPr>
          <p:cNvSpPr txBox="1"/>
          <p:nvPr/>
        </p:nvSpPr>
        <p:spPr>
          <a:xfrm>
            <a:off x="9297233" y="2023974"/>
            <a:ext cx="201446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Compare with </a:t>
            </a:r>
          </a:p>
          <a:p>
            <a:r>
              <a:rPr lang="en-US" sz="2400" dirty="0"/>
              <a:t>range-through</a:t>
            </a:r>
          </a:p>
          <a:p>
            <a:r>
              <a:rPr lang="en-US" sz="2400" dirty="0"/>
              <a:t>= 10</a:t>
            </a:r>
          </a:p>
        </p:txBody>
      </p:sp>
    </p:spTree>
    <p:extLst>
      <p:ext uri="{BB962C8B-B14F-4D97-AF65-F5344CB8AC3E}">
        <p14:creationId xmlns:p14="http://schemas.microsoft.com/office/powerpoint/2010/main" val="26769824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909981" y="300989"/>
          <a:ext cx="6312024" cy="617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5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13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13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13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13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133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133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133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42000">
                <a:tc rowSpan="2">
                  <a:txBody>
                    <a:bodyPr/>
                    <a:lstStyle/>
                    <a:p>
                      <a:r>
                        <a:rPr lang="nb-NO" dirty="0" err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Taxon</a:t>
                      </a:r>
                      <a:endParaRPr lang="nb-NO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b">
                    <a:noFill/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noProof="0" dirty="0">
                          <a:solidFill>
                            <a:srgbClr val="FF0000"/>
                          </a:solidFill>
                        </a:rPr>
                        <a:t>Time intervals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nb-N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b-N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b-N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b-N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b-N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b-N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b-N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 vMerge="1">
                  <a:txBody>
                    <a:bodyPr/>
                    <a:lstStyle/>
                    <a:p>
                      <a:endParaRPr lang="nb-N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1400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400" b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400" b="1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400" b="1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400" b="1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400" b="1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400" b="1" dirty="0"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400" b="1" dirty="0">
                          <a:solidFill>
                            <a:srgbClr val="FF0000"/>
                          </a:solidFill>
                        </a:rPr>
                        <a:t>8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C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D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E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F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G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H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I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J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L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M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N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O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P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Q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R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S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T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384032" y="692696"/>
            <a:ext cx="1152128" cy="28803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graphicFrame>
        <p:nvGraphicFramePr>
          <p:cNvPr id="3074" name="Object 2"/>
          <p:cNvGraphicFramePr>
            <a:graphicFrameLocks noChangeAspect="1"/>
          </p:cNvGraphicFramePr>
          <p:nvPr/>
        </p:nvGraphicFramePr>
        <p:xfrm>
          <a:off x="2351584" y="2132857"/>
          <a:ext cx="2316162" cy="2852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41120" imgH="1282680" progId="Equation.DSMT4">
                  <p:embed/>
                </p:oleObj>
              </mc:Choice>
              <mc:Fallback>
                <p:oleObj name="Equation" r:id="rId3" imgW="1041120" imgH="1282680" progId="Equation.DSMT4">
                  <p:embed/>
                  <p:pic>
                    <p:nvPicPr>
                      <p:cNvPr id="307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584" y="2132857"/>
                        <a:ext cx="2316162" cy="28527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63500">
                        <a:solidFill>
                          <a:srgbClr val="008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/>
          <p:cNvSpPr/>
          <p:nvPr/>
        </p:nvSpPr>
        <p:spPr>
          <a:xfrm>
            <a:off x="6384032" y="2348880"/>
            <a:ext cx="1080120" cy="288032"/>
          </a:xfrm>
          <a:prstGeom prst="rect">
            <a:avLst/>
          </a:prstGeom>
          <a:solidFill>
            <a:srgbClr val="FFFF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0" name="Rectangle 9"/>
          <p:cNvSpPr/>
          <p:nvPr/>
        </p:nvSpPr>
        <p:spPr>
          <a:xfrm>
            <a:off x="6384032" y="3212976"/>
            <a:ext cx="1080120" cy="288032"/>
          </a:xfrm>
          <a:prstGeom prst="rect">
            <a:avLst/>
          </a:prstGeom>
          <a:solidFill>
            <a:srgbClr val="FFFF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1" name="Rectangle 10"/>
          <p:cNvSpPr/>
          <p:nvPr/>
        </p:nvSpPr>
        <p:spPr>
          <a:xfrm>
            <a:off x="6384032" y="5661248"/>
            <a:ext cx="1080120" cy="288032"/>
          </a:xfrm>
          <a:prstGeom prst="rect">
            <a:avLst/>
          </a:prstGeom>
          <a:solidFill>
            <a:srgbClr val="FFFF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" name="Oval 11"/>
          <p:cNvSpPr/>
          <p:nvPr/>
        </p:nvSpPr>
        <p:spPr>
          <a:xfrm>
            <a:off x="6384032" y="5661248"/>
            <a:ext cx="288032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" name="Oval 12"/>
          <p:cNvSpPr/>
          <p:nvPr/>
        </p:nvSpPr>
        <p:spPr>
          <a:xfrm>
            <a:off x="6384032" y="5949280"/>
            <a:ext cx="288032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4" name="Oval 13"/>
          <p:cNvSpPr/>
          <p:nvPr/>
        </p:nvSpPr>
        <p:spPr>
          <a:xfrm>
            <a:off x="6384032" y="3717032"/>
            <a:ext cx="288032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5" name="Oval 14"/>
          <p:cNvSpPr/>
          <p:nvPr/>
        </p:nvSpPr>
        <p:spPr>
          <a:xfrm>
            <a:off x="6384032" y="4581128"/>
            <a:ext cx="288032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" name="Oval 15"/>
          <p:cNvSpPr/>
          <p:nvPr/>
        </p:nvSpPr>
        <p:spPr>
          <a:xfrm>
            <a:off x="6384032" y="4293096"/>
            <a:ext cx="288032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" name="Oval 16"/>
          <p:cNvSpPr/>
          <p:nvPr/>
        </p:nvSpPr>
        <p:spPr>
          <a:xfrm>
            <a:off x="6384032" y="3212976"/>
            <a:ext cx="288032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" name="Oval 17"/>
          <p:cNvSpPr/>
          <p:nvPr/>
        </p:nvSpPr>
        <p:spPr>
          <a:xfrm>
            <a:off x="6384032" y="2348880"/>
            <a:ext cx="288032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" name="Rectangle 18"/>
          <p:cNvSpPr/>
          <p:nvPr/>
        </p:nvSpPr>
        <p:spPr>
          <a:xfrm>
            <a:off x="3143672" y="4221088"/>
            <a:ext cx="288032" cy="288032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" name="Rectangle 19"/>
          <p:cNvSpPr/>
          <p:nvPr/>
        </p:nvSpPr>
        <p:spPr>
          <a:xfrm>
            <a:off x="3215680" y="2924944"/>
            <a:ext cx="360040" cy="432048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" name="Oval 20"/>
          <p:cNvSpPr/>
          <p:nvPr/>
        </p:nvSpPr>
        <p:spPr>
          <a:xfrm>
            <a:off x="3431704" y="4653136"/>
            <a:ext cx="288032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2" name="TextBox 21"/>
          <p:cNvSpPr txBox="1"/>
          <p:nvPr/>
        </p:nvSpPr>
        <p:spPr>
          <a:xfrm>
            <a:off x="1524000" y="1412777"/>
            <a:ext cx="1403648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Extinction</a:t>
            </a:r>
          </a:p>
          <a:p>
            <a:r>
              <a:rPr lang="en-US" b="1" dirty="0"/>
              <a:t>probability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51584" y="2780928"/>
            <a:ext cx="2232248" cy="12961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" name="Rectangle 23"/>
          <p:cNvSpPr/>
          <p:nvPr/>
        </p:nvSpPr>
        <p:spPr>
          <a:xfrm>
            <a:off x="2351584" y="4212704"/>
            <a:ext cx="2232248" cy="728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0079C3-29B3-975C-4F0C-C73883B5289C}"/>
              </a:ext>
            </a:extLst>
          </p:cNvPr>
          <p:cNvSpPr txBox="1"/>
          <p:nvPr/>
        </p:nvSpPr>
        <p:spPr>
          <a:xfrm>
            <a:off x="9670942" y="2348880"/>
            <a:ext cx="17866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Extinction prob</a:t>
            </a:r>
          </a:p>
          <a:p>
            <a:r>
              <a:rPr lang="en-US" dirty="0"/>
              <a:t>= 1-survival prob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3" grpId="0" animBg="1"/>
      <p:bldP spid="23" grpId="1" animBg="1"/>
      <p:bldP spid="24" grpId="0" animBg="1"/>
      <p:bldP spid="24" grpId="1" animBg="1"/>
      <p:bldP spid="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909981" y="300989"/>
          <a:ext cx="6312024" cy="617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5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13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13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13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13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133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133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133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42000">
                <a:tc rowSpan="2">
                  <a:txBody>
                    <a:bodyPr/>
                    <a:lstStyle/>
                    <a:p>
                      <a:r>
                        <a:rPr lang="nb-NO" dirty="0" err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Taxon</a:t>
                      </a:r>
                      <a:endParaRPr lang="nb-NO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b">
                    <a:noFill/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noProof="0" dirty="0">
                          <a:solidFill>
                            <a:srgbClr val="FF0000"/>
                          </a:solidFill>
                        </a:rPr>
                        <a:t>Time intervals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nb-N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b-N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b-N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b-N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b-N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b-N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b-N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 vMerge="1">
                  <a:txBody>
                    <a:bodyPr/>
                    <a:lstStyle/>
                    <a:p>
                      <a:endParaRPr lang="nb-N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1400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400" b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400" b="1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400" b="1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400" b="1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400" b="1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400" b="1" dirty="0"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400" b="1" dirty="0">
                          <a:solidFill>
                            <a:srgbClr val="FF0000"/>
                          </a:solidFill>
                        </a:rPr>
                        <a:t>8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C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D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E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F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G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H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I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J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L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M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N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O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P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Q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R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S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T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384032" y="692696"/>
            <a:ext cx="1152128" cy="28803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graphicFrame>
        <p:nvGraphicFramePr>
          <p:cNvPr id="3074" name="Object 2"/>
          <p:cNvGraphicFramePr>
            <a:graphicFrameLocks noChangeAspect="1"/>
          </p:cNvGraphicFramePr>
          <p:nvPr/>
        </p:nvGraphicFramePr>
        <p:xfrm>
          <a:off x="2351584" y="2132857"/>
          <a:ext cx="2316162" cy="2852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41120" imgH="1282680" progId="Equation.DSMT4">
                  <p:embed/>
                </p:oleObj>
              </mc:Choice>
              <mc:Fallback>
                <p:oleObj name="Equation" r:id="rId3" imgW="1041120" imgH="1282680" progId="Equation.DSMT4">
                  <p:embed/>
                  <p:pic>
                    <p:nvPicPr>
                      <p:cNvPr id="307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584" y="2132857"/>
                        <a:ext cx="2316162" cy="28527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63500">
                        <a:solidFill>
                          <a:srgbClr val="008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/>
          <p:cNvSpPr/>
          <p:nvPr/>
        </p:nvSpPr>
        <p:spPr>
          <a:xfrm>
            <a:off x="6384032" y="2348880"/>
            <a:ext cx="1080120" cy="288032"/>
          </a:xfrm>
          <a:prstGeom prst="rect">
            <a:avLst/>
          </a:prstGeom>
          <a:solidFill>
            <a:srgbClr val="FFFF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0" name="Rectangle 9"/>
          <p:cNvSpPr/>
          <p:nvPr/>
        </p:nvSpPr>
        <p:spPr>
          <a:xfrm>
            <a:off x="6384032" y="3212976"/>
            <a:ext cx="1080120" cy="288032"/>
          </a:xfrm>
          <a:prstGeom prst="rect">
            <a:avLst/>
          </a:prstGeom>
          <a:solidFill>
            <a:srgbClr val="FFFF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1" name="Rectangle 10"/>
          <p:cNvSpPr/>
          <p:nvPr/>
        </p:nvSpPr>
        <p:spPr>
          <a:xfrm>
            <a:off x="6384032" y="5661248"/>
            <a:ext cx="1080120" cy="288032"/>
          </a:xfrm>
          <a:prstGeom prst="rect">
            <a:avLst/>
          </a:prstGeom>
          <a:solidFill>
            <a:srgbClr val="FFFF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" name="Oval 11"/>
          <p:cNvSpPr/>
          <p:nvPr/>
        </p:nvSpPr>
        <p:spPr>
          <a:xfrm>
            <a:off x="6384032" y="5661248"/>
            <a:ext cx="288032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" name="Oval 12"/>
          <p:cNvSpPr/>
          <p:nvPr/>
        </p:nvSpPr>
        <p:spPr>
          <a:xfrm>
            <a:off x="6384032" y="5949280"/>
            <a:ext cx="288032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4" name="Oval 13"/>
          <p:cNvSpPr/>
          <p:nvPr/>
        </p:nvSpPr>
        <p:spPr>
          <a:xfrm>
            <a:off x="6384032" y="3717032"/>
            <a:ext cx="288032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5" name="Oval 14"/>
          <p:cNvSpPr/>
          <p:nvPr/>
        </p:nvSpPr>
        <p:spPr>
          <a:xfrm>
            <a:off x="6384032" y="4581128"/>
            <a:ext cx="288032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" name="Oval 15"/>
          <p:cNvSpPr/>
          <p:nvPr/>
        </p:nvSpPr>
        <p:spPr>
          <a:xfrm>
            <a:off x="6384032" y="4293096"/>
            <a:ext cx="288032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" name="Oval 16"/>
          <p:cNvSpPr/>
          <p:nvPr/>
        </p:nvSpPr>
        <p:spPr>
          <a:xfrm>
            <a:off x="6384032" y="3212976"/>
            <a:ext cx="288032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" name="Oval 17"/>
          <p:cNvSpPr/>
          <p:nvPr/>
        </p:nvSpPr>
        <p:spPr>
          <a:xfrm>
            <a:off x="6384032" y="2348880"/>
            <a:ext cx="288032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" name="Rectangle 18"/>
          <p:cNvSpPr/>
          <p:nvPr/>
        </p:nvSpPr>
        <p:spPr>
          <a:xfrm>
            <a:off x="3143672" y="4221088"/>
            <a:ext cx="288032" cy="288032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" name="Rectangle 19"/>
          <p:cNvSpPr/>
          <p:nvPr/>
        </p:nvSpPr>
        <p:spPr>
          <a:xfrm>
            <a:off x="3215680" y="2924944"/>
            <a:ext cx="360040" cy="432048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" name="Oval 20"/>
          <p:cNvSpPr/>
          <p:nvPr/>
        </p:nvSpPr>
        <p:spPr>
          <a:xfrm>
            <a:off x="3431704" y="4653136"/>
            <a:ext cx="288032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2" name="TextBox 21"/>
          <p:cNvSpPr txBox="1"/>
          <p:nvPr/>
        </p:nvSpPr>
        <p:spPr>
          <a:xfrm>
            <a:off x="1524000" y="1412777"/>
            <a:ext cx="1403648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Extinction</a:t>
            </a:r>
          </a:p>
          <a:p>
            <a:r>
              <a:rPr lang="en-US" b="1" dirty="0"/>
              <a:t>probability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303688" y="4616560"/>
            <a:ext cx="648072" cy="369332"/>
          </a:xfrm>
          <a:prstGeom prst="rect">
            <a:avLst/>
          </a:prstGeom>
          <a:solidFill>
            <a:schemeClr val="bg1"/>
          </a:solidFill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3510093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909981" y="300989"/>
          <a:ext cx="6312024" cy="617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5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13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13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13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13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133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133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133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42000">
                <a:tc rowSpan="2">
                  <a:txBody>
                    <a:bodyPr/>
                    <a:lstStyle/>
                    <a:p>
                      <a:r>
                        <a:rPr lang="nb-NO" dirty="0" err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Taxon</a:t>
                      </a:r>
                      <a:endParaRPr lang="nb-NO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b">
                    <a:noFill/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noProof="0" dirty="0">
                          <a:solidFill>
                            <a:srgbClr val="FF0000"/>
                          </a:solidFill>
                        </a:rPr>
                        <a:t>Time intervals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nb-N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b-N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b-N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b-N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b-N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b-N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b-N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 vMerge="1">
                  <a:txBody>
                    <a:bodyPr/>
                    <a:lstStyle/>
                    <a:p>
                      <a:endParaRPr lang="nb-N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1400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400" b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400" b="1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400" b="1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400" b="1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400" b="1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400" b="1" dirty="0"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400" b="1" dirty="0">
                          <a:solidFill>
                            <a:srgbClr val="FF0000"/>
                          </a:solidFill>
                        </a:rPr>
                        <a:t>8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C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D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E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F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G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H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I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J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L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M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N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O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P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Q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R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S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lang="nb-NO" sz="12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T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1100" b="1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384032" y="692696"/>
            <a:ext cx="1152128" cy="28803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graphicFrame>
        <p:nvGraphicFramePr>
          <p:cNvPr id="3074" name="Object 2"/>
          <p:cNvGraphicFramePr>
            <a:graphicFrameLocks noChangeAspect="1"/>
          </p:cNvGraphicFramePr>
          <p:nvPr/>
        </p:nvGraphicFramePr>
        <p:xfrm>
          <a:off x="2351584" y="2132857"/>
          <a:ext cx="2316162" cy="2852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41120" imgH="1282680" progId="Equation.DSMT4">
                  <p:embed/>
                </p:oleObj>
              </mc:Choice>
              <mc:Fallback>
                <p:oleObj name="Equation" r:id="rId3" imgW="1041120" imgH="1282680" progId="Equation.DSMT4">
                  <p:embed/>
                  <p:pic>
                    <p:nvPicPr>
                      <p:cNvPr id="307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584" y="2132857"/>
                        <a:ext cx="2316162" cy="28527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63500">
                        <a:solidFill>
                          <a:srgbClr val="008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/>
          <p:cNvSpPr/>
          <p:nvPr/>
        </p:nvSpPr>
        <p:spPr>
          <a:xfrm>
            <a:off x="6384032" y="2348880"/>
            <a:ext cx="1080120" cy="288032"/>
          </a:xfrm>
          <a:prstGeom prst="rect">
            <a:avLst/>
          </a:prstGeom>
          <a:solidFill>
            <a:srgbClr val="FFFF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0" name="Rectangle 9"/>
          <p:cNvSpPr/>
          <p:nvPr/>
        </p:nvSpPr>
        <p:spPr>
          <a:xfrm>
            <a:off x="6384032" y="3212976"/>
            <a:ext cx="1080120" cy="288032"/>
          </a:xfrm>
          <a:prstGeom prst="rect">
            <a:avLst/>
          </a:prstGeom>
          <a:solidFill>
            <a:srgbClr val="FFFF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1" name="Rectangle 10"/>
          <p:cNvSpPr/>
          <p:nvPr/>
        </p:nvSpPr>
        <p:spPr>
          <a:xfrm>
            <a:off x="6384032" y="5661248"/>
            <a:ext cx="1080120" cy="288032"/>
          </a:xfrm>
          <a:prstGeom prst="rect">
            <a:avLst/>
          </a:prstGeom>
          <a:solidFill>
            <a:srgbClr val="FFFF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" name="Oval 11"/>
          <p:cNvSpPr/>
          <p:nvPr/>
        </p:nvSpPr>
        <p:spPr>
          <a:xfrm>
            <a:off x="6384032" y="5661248"/>
            <a:ext cx="288032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" name="Oval 12"/>
          <p:cNvSpPr/>
          <p:nvPr/>
        </p:nvSpPr>
        <p:spPr>
          <a:xfrm>
            <a:off x="6384032" y="5949280"/>
            <a:ext cx="288032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4" name="Oval 13"/>
          <p:cNvSpPr/>
          <p:nvPr/>
        </p:nvSpPr>
        <p:spPr>
          <a:xfrm>
            <a:off x="6384032" y="3717032"/>
            <a:ext cx="288032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5" name="Oval 14"/>
          <p:cNvSpPr/>
          <p:nvPr/>
        </p:nvSpPr>
        <p:spPr>
          <a:xfrm>
            <a:off x="6384032" y="4581128"/>
            <a:ext cx="288032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" name="Oval 15"/>
          <p:cNvSpPr/>
          <p:nvPr/>
        </p:nvSpPr>
        <p:spPr>
          <a:xfrm>
            <a:off x="6384032" y="4293096"/>
            <a:ext cx="288032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" name="Oval 16"/>
          <p:cNvSpPr/>
          <p:nvPr/>
        </p:nvSpPr>
        <p:spPr>
          <a:xfrm>
            <a:off x="6384032" y="3212976"/>
            <a:ext cx="288032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" name="Oval 17"/>
          <p:cNvSpPr/>
          <p:nvPr/>
        </p:nvSpPr>
        <p:spPr>
          <a:xfrm>
            <a:off x="6384032" y="2348880"/>
            <a:ext cx="288032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" name="Rectangle 18"/>
          <p:cNvSpPr/>
          <p:nvPr/>
        </p:nvSpPr>
        <p:spPr>
          <a:xfrm>
            <a:off x="3143672" y="4221088"/>
            <a:ext cx="288032" cy="288032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" name="Rectangle 19"/>
          <p:cNvSpPr/>
          <p:nvPr/>
        </p:nvSpPr>
        <p:spPr>
          <a:xfrm>
            <a:off x="3215680" y="2924944"/>
            <a:ext cx="360040" cy="432048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" name="Oval 20"/>
          <p:cNvSpPr/>
          <p:nvPr/>
        </p:nvSpPr>
        <p:spPr>
          <a:xfrm>
            <a:off x="3431704" y="4653136"/>
            <a:ext cx="288032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2" name="TextBox 21"/>
          <p:cNvSpPr txBox="1"/>
          <p:nvPr/>
        </p:nvSpPr>
        <p:spPr>
          <a:xfrm>
            <a:off x="1524000" y="1412777"/>
            <a:ext cx="1403648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Extinction</a:t>
            </a:r>
          </a:p>
          <a:p>
            <a:r>
              <a:rPr lang="en-US" b="1" dirty="0"/>
              <a:t>probability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303688" y="4616560"/>
            <a:ext cx="648072" cy="369332"/>
          </a:xfrm>
          <a:prstGeom prst="rect">
            <a:avLst/>
          </a:prstGeom>
          <a:solidFill>
            <a:schemeClr val="bg1"/>
          </a:solidFill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067219-3669-8FAD-B2CE-B08D6AB9ED11}"/>
              </a:ext>
            </a:extLst>
          </p:cNvPr>
          <p:cNvSpPr/>
          <p:nvPr/>
        </p:nvSpPr>
        <p:spPr>
          <a:xfrm>
            <a:off x="2991620" y="4005064"/>
            <a:ext cx="1247872" cy="1021941"/>
          </a:xfrm>
          <a:prstGeom prst="rect">
            <a:avLst/>
          </a:prstGeom>
          <a:noFill/>
          <a:ln w="38100">
            <a:solidFill>
              <a:srgbClr val="00FA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E27807-DE05-A2D9-F43E-F77C34BB7E74}"/>
              </a:ext>
            </a:extLst>
          </p:cNvPr>
          <p:cNvSpPr/>
          <p:nvPr/>
        </p:nvSpPr>
        <p:spPr>
          <a:xfrm>
            <a:off x="399526" y="3998149"/>
            <a:ext cx="1523803" cy="1021941"/>
          </a:xfrm>
          <a:prstGeom prst="rect">
            <a:avLst/>
          </a:prstGeom>
          <a:noFill/>
          <a:ln w="38100">
            <a:solidFill>
              <a:srgbClr val="00FA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83615B-522F-FB7C-9CD3-BC4DC1B6D7A0}"/>
              </a:ext>
            </a:extLst>
          </p:cNvPr>
          <p:cNvSpPr txBox="1"/>
          <p:nvPr/>
        </p:nvSpPr>
        <p:spPr>
          <a:xfrm>
            <a:off x="360040" y="4078813"/>
            <a:ext cx="148675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</a:t>
            </a:r>
            <a:r>
              <a:rPr lang="en-NO" dirty="0"/>
              <a:t>urvival </a:t>
            </a:r>
          </a:p>
          <a:p>
            <a:r>
              <a:rPr lang="en-GB" dirty="0"/>
              <a:t>P</a:t>
            </a:r>
            <a:r>
              <a:rPr lang="en-NO" dirty="0"/>
              <a:t>robability</a:t>
            </a:r>
          </a:p>
          <a:p>
            <a:r>
              <a:rPr lang="en-GB" dirty="0"/>
              <a:t>F</a:t>
            </a:r>
            <a:r>
              <a:rPr lang="en-NO" dirty="0"/>
              <a:t>rom T5 to T6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0A99436-5175-721C-70C7-824FD2AB8556}"/>
              </a:ext>
            </a:extLst>
          </p:cNvPr>
          <p:cNvSpPr/>
          <p:nvPr/>
        </p:nvSpPr>
        <p:spPr>
          <a:xfrm>
            <a:off x="3300592" y="3517557"/>
            <a:ext cx="938900" cy="432048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3EEBA9C-5362-6448-A8AC-B2DC5A9FFC47}"/>
              </a:ext>
            </a:extLst>
          </p:cNvPr>
          <p:cNvSpPr/>
          <p:nvPr/>
        </p:nvSpPr>
        <p:spPr>
          <a:xfrm>
            <a:off x="399645" y="3284984"/>
            <a:ext cx="1222727" cy="432048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B17E5E9-7ECF-A02E-F404-6E81C383AB44}"/>
              </a:ext>
            </a:extLst>
          </p:cNvPr>
          <p:cNvSpPr txBox="1"/>
          <p:nvPr/>
        </p:nvSpPr>
        <p:spPr>
          <a:xfrm>
            <a:off x="392103" y="3338630"/>
            <a:ext cx="11506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</a:t>
            </a:r>
            <a:r>
              <a:rPr lang="en-NO" dirty="0"/>
              <a:t>live in T5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DCE2FAE-01A2-E3AA-2CCB-1C8D001CAD43}"/>
              </a:ext>
            </a:extLst>
          </p:cNvPr>
          <p:cNvSpPr/>
          <p:nvPr/>
        </p:nvSpPr>
        <p:spPr>
          <a:xfrm>
            <a:off x="3158678" y="2952674"/>
            <a:ext cx="1222727" cy="432048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BC01C23-D449-8666-5FAB-14BF53302054}"/>
              </a:ext>
            </a:extLst>
          </p:cNvPr>
          <p:cNvSpPr/>
          <p:nvPr/>
        </p:nvSpPr>
        <p:spPr>
          <a:xfrm>
            <a:off x="400892" y="2802508"/>
            <a:ext cx="1771827" cy="432048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58B6CCC-7466-8C38-4F46-4C755B4248D6}"/>
              </a:ext>
            </a:extLst>
          </p:cNvPr>
          <p:cNvSpPr txBox="1"/>
          <p:nvPr/>
        </p:nvSpPr>
        <p:spPr>
          <a:xfrm>
            <a:off x="392103" y="2865224"/>
            <a:ext cx="17806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</a:t>
            </a:r>
            <a:r>
              <a:rPr lang="en-NO" dirty="0"/>
              <a:t>live in T 5 and 6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7D66C33-487B-AD63-91AC-186B1D49BA8D}"/>
              </a:ext>
            </a:extLst>
          </p:cNvPr>
          <p:cNvSpPr/>
          <p:nvPr/>
        </p:nvSpPr>
        <p:spPr>
          <a:xfrm>
            <a:off x="3495815" y="2234229"/>
            <a:ext cx="563568" cy="432048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33757897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1851</TotalTime>
  <Words>2591</Words>
  <Application>Microsoft Macintosh PowerPoint</Application>
  <PresentationFormat>Widescreen</PresentationFormat>
  <Paragraphs>1543</Paragraphs>
  <Slides>30</Slides>
  <Notes>27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Arial</vt:lpstr>
      <vt:lpstr>Calibri</vt:lpstr>
      <vt:lpstr>Calibri Light</vt:lpstr>
      <vt:lpstr>Cambria Math</vt:lpstr>
      <vt:lpstr>Office Theme</vt:lpstr>
      <vt:lpstr>Equation</vt:lpstr>
      <vt:lpstr>CorelDRAW</vt:lpstr>
      <vt:lpstr>PowerPoint Presentation</vt:lpstr>
      <vt:lpstr>PowerPoint Presentation</vt:lpstr>
      <vt:lpstr>Measuring Diversity Through Time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Sampling and the fossil record: Intro to CMR </dc:title>
  <dc:creator>Lee Hsiang Liow</dc:creator>
  <cp:lastModifiedBy>Lee Hsiang Liow</cp:lastModifiedBy>
  <cp:revision>123</cp:revision>
  <dcterms:created xsi:type="dcterms:W3CDTF">2022-08-03T09:19:39Z</dcterms:created>
  <dcterms:modified xsi:type="dcterms:W3CDTF">2026-09-02T08:06:53Z</dcterms:modified>
</cp:coreProperties>
</file>